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2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3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slides/charts/chart4.xml" ContentType="application/vnd.openxmlformats-officedocument.drawingml.chart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slides/charts/chart5.xml" ContentType="application/vnd.openxmlformats-officedocument.drawingml.chart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364122122dd4452" /><Relationship Type="http://schemas.openxmlformats.org/officeDocument/2006/relationships/extended-properties" Target="/docProps/app.xml" Id="R1bea08deaf1e4044" /><Relationship Type="http://schemas.openxmlformats.org/officeDocument/2006/relationships/officeDocument" Target="/ppt/presentation.xml" Id="R773c8a053f614e5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a91296fb02544c0"/>
  </p:sldMasterIdLst>
  <p:notesMasterIdLst>
    <p:notesMasterId xmlns:r="http://schemas.openxmlformats.org/officeDocument/2006/relationships" r:id="Rb0180498334143ae"/>
  </p:notesMasterIdLst>
  <p:sldIdLst>
    <p:sldId xmlns:r="http://schemas.openxmlformats.org/officeDocument/2006/relationships" id="256" r:id="Rcebe11b3168f4be4"/>
    <p:sldId xmlns:r="http://schemas.openxmlformats.org/officeDocument/2006/relationships" id="257" r:id="Rb5f2b2e5216c4ca1"/>
    <p:sldId xmlns:r="http://schemas.openxmlformats.org/officeDocument/2006/relationships" id="258" r:id="Raef8615363274e44"/>
    <p:sldId xmlns:r="http://schemas.openxmlformats.org/officeDocument/2006/relationships" id="259" r:id="Re343d472889b4d75"/>
    <p:sldId xmlns:r="http://schemas.openxmlformats.org/officeDocument/2006/relationships" id="260" r:id="R5122229d83c14d7b"/>
    <p:sldId xmlns:r="http://schemas.openxmlformats.org/officeDocument/2006/relationships" id="261" r:id="R4df95d4cb8ca431f"/>
    <p:sldId xmlns:r="http://schemas.openxmlformats.org/officeDocument/2006/relationships" id="262" r:id="Rbdb91921baf342a5"/>
    <p:sldId xmlns:r="http://schemas.openxmlformats.org/officeDocument/2006/relationships" id="263" r:id="R4a9c5785c5084ace"/>
    <p:sldId xmlns:r="http://schemas.openxmlformats.org/officeDocument/2006/relationships" id="264" r:id="R9cb01f89378247a4"/>
    <p:sldId xmlns:r="http://schemas.openxmlformats.org/officeDocument/2006/relationships" id="265" r:id="Rdc857cee92694ced"/>
    <p:sldId xmlns:r="http://schemas.openxmlformats.org/officeDocument/2006/relationships" id="266" r:id="R132c5f462e8e49dc"/>
    <p:sldId xmlns:r="http://schemas.openxmlformats.org/officeDocument/2006/relationships" id="267" r:id="R6477daef83a54d72"/>
    <p:sldId xmlns:r="http://schemas.openxmlformats.org/officeDocument/2006/relationships" id="268" r:id="R15b1c9687a7f43b1"/>
    <p:sldId xmlns:r="http://schemas.openxmlformats.org/officeDocument/2006/relationships" id="269" r:id="Rb9f707463a004eee"/>
    <p:sldId xmlns:r="http://schemas.openxmlformats.org/officeDocument/2006/relationships" id="270" r:id="Rfb784a613a4e4820"/>
    <p:sldId xmlns:r="http://schemas.openxmlformats.org/officeDocument/2006/relationships" id="271" r:id="R43e53640a6e042f7"/>
    <p:sldId xmlns:r="http://schemas.openxmlformats.org/officeDocument/2006/relationships" id="272" r:id="Rb5f15c69f8b74f7d"/>
    <p:sldId xmlns:r="http://schemas.openxmlformats.org/officeDocument/2006/relationships" id="273" r:id="R91a02103b4e3417b"/>
    <p:sldId xmlns:r="http://schemas.openxmlformats.org/officeDocument/2006/relationships" id="274" r:id="Rde071b75696a47cc"/>
    <p:sldId xmlns:r="http://schemas.openxmlformats.org/officeDocument/2006/relationships" id="275" r:id="R758ba226e56d4a19"/>
    <p:sldId xmlns:r="http://schemas.openxmlformats.org/officeDocument/2006/relationships" id="276" r:id="R8b033672d5ff44fd"/>
    <p:sldId xmlns:r="http://schemas.openxmlformats.org/officeDocument/2006/relationships" id="277" r:id="R26907c2e92b44e05"/>
    <p:sldId xmlns:r="http://schemas.openxmlformats.org/officeDocument/2006/relationships" id="278" r:id="R0c98e42403c54da5"/>
    <p:sldId xmlns:r="http://schemas.openxmlformats.org/officeDocument/2006/relationships" id="279" r:id="R53cf15d2b1214cd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869c646c51440a3" /><Relationship Type="http://schemas.openxmlformats.org/officeDocument/2006/relationships/slideMaster" Target="/ppt/slideMasters/slideMaster1.xml" Id="Rca91296fb02544c0" /><Relationship Type="http://schemas.openxmlformats.org/officeDocument/2006/relationships/notesMaster" Target="/ppt/notesMasters/notesMaster1.xml" Id="Rb0180498334143ae" /><Relationship Type="http://schemas.openxmlformats.org/officeDocument/2006/relationships/presProps" Target="/ppt/presProps.xml" Id="R528771a078f34b0a" /><Relationship Type="http://schemas.openxmlformats.org/officeDocument/2006/relationships/tableStyles" Target="/ppt/tableStyles.xml" Id="R3233ede0bb92407f" /><Relationship Type="http://schemas.openxmlformats.org/officeDocument/2006/relationships/slide" Target="/ppt/slides/slide1.xml" Id="Rcebe11b3168f4be4" /><Relationship Type="http://schemas.openxmlformats.org/officeDocument/2006/relationships/slide" Target="/ppt/slides/slide2.xml" Id="Rb5f2b2e5216c4ca1" /><Relationship Type="http://schemas.openxmlformats.org/officeDocument/2006/relationships/slide" Target="/ppt/slides/slide3.xml" Id="Raef8615363274e44" /><Relationship Type="http://schemas.openxmlformats.org/officeDocument/2006/relationships/slide" Target="/ppt/slides/slide4.xml" Id="Re343d472889b4d75" /><Relationship Type="http://schemas.openxmlformats.org/officeDocument/2006/relationships/slide" Target="/ppt/slides/slide5.xml" Id="R5122229d83c14d7b" /><Relationship Type="http://schemas.openxmlformats.org/officeDocument/2006/relationships/slide" Target="/ppt/slides/slide6.xml" Id="R4df95d4cb8ca431f" /><Relationship Type="http://schemas.openxmlformats.org/officeDocument/2006/relationships/slide" Target="/ppt/slides/slide7.xml" Id="Rbdb91921baf342a5" /><Relationship Type="http://schemas.openxmlformats.org/officeDocument/2006/relationships/slide" Target="/ppt/slides/slide8.xml" Id="R4a9c5785c5084ace" /><Relationship Type="http://schemas.openxmlformats.org/officeDocument/2006/relationships/slide" Target="/ppt/slides/slide9.xml" Id="R9cb01f89378247a4" /><Relationship Type="http://schemas.openxmlformats.org/officeDocument/2006/relationships/slide" Target="/ppt/slides/slide10.xml" Id="Rdc857cee92694ced" /><Relationship Type="http://schemas.openxmlformats.org/officeDocument/2006/relationships/slide" Target="/ppt/slides/slide11.xml" Id="R132c5f462e8e49dc" /><Relationship Type="http://schemas.openxmlformats.org/officeDocument/2006/relationships/slide" Target="/ppt/slides/slide12.xml" Id="R6477daef83a54d72" /><Relationship Type="http://schemas.openxmlformats.org/officeDocument/2006/relationships/slide" Target="/ppt/slides/slide13.xml" Id="R15b1c9687a7f43b1" /><Relationship Type="http://schemas.openxmlformats.org/officeDocument/2006/relationships/slide" Target="/ppt/slides/slide14.xml" Id="Rb9f707463a004eee" /><Relationship Type="http://schemas.openxmlformats.org/officeDocument/2006/relationships/slide" Target="/ppt/slides/slide15.xml" Id="Rfb784a613a4e4820" /><Relationship Type="http://schemas.openxmlformats.org/officeDocument/2006/relationships/slide" Target="/ppt/slides/slide16.xml" Id="R43e53640a6e042f7" /><Relationship Type="http://schemas.openxmlformats.org/officeDocument/2006/relationships/slide" Target="/ppt/slides/slide17.xml" Id="Rb5f15c69f8b74f7d" /><Relationship Type="http://schemas.openxmlformats.org/officeDocument/2006/relationships/slide" Target="/ppt/slides/slide18.xml" Id="R91a02103b4e3417b" /><Relationship Type="http://schemas.openxmlformats.org/officeDocument/2006/relationships/slide" Target="/ppt/slides/slide19.xml" Id="Rde071b75696a47cc" /><Relationship Type="http://schemas.openxmlformats.org/officeDocument/2006/relationships/slide" Target="/ppt/slides/slide20.xml" Id="R758ba226e56d4a19" /><Relationship Type="http://schemas.openxmlformats.org/officeDocument/2006/relationships/slide" Target="/ppt/slides/slide21.xml" Id="R8b033672d5ff44fd" /><Relationship Type="http://schemas.openxmlformats.org/officeDocument/2006/relationships/slide" Target="/ppt/slides/slide22.xml" Id="R26907c2e92b44e05" /><Relationship Type="http://schemas.openxmlformats.org/officeDocument/2006/relationships/slide" Target="/ppt/slides/slide23.xml" Id="R0c98e42403c54da5" /><Relationship Type="http://schemas.openxmlformats.org/officeDocument/2006/relationships/slide" Target="/ppt/slides/slide24.xml" Id="R53cf15d2b1214cd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1d295ad787d44a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9f55e6c40ab48f8" /><Relationship Type="http://schemas.openxmlformats.org/officeDocument/2006/relationships/notesMaster" Target="/ppt/notesMasters/notesMaster1.xml" Id="Ra59f8751588a46a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cd479473a694cdb" /><Relationship Type="http://schemas.openxmlformats.org/officeDocument/2006/relationships/notesMaster" Target="/ppt/notesMasters/notesMaster1.xml" Id="R474a6613ad9a490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a0f311c97ea455e" /><Relationship Type="http://schemas.openxmlformats.org/officeDocument/2006/relationships/notesMaster" Target="/ppt/notesMasters/notesMaster1.xml" Id="R7cafd9dbe6e94cc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f87745115f64a35" /><Relationship Type="http://schemas.openxmlformats.org/officeDocument/2006/relationships/notesMaster" Target="/ppt/notesMasters/notesMaster1.xml" Id="Rc40a013500cc401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dae7721b1ce48d8" /><Relationship Type="http://schemas.openxmlformats.org/officeDocument/2006/relationships/notesMaster" Target="/ppt/notesMasters/notesMaster1.xml" Id="R09a65d56b1b5403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461a2073bad46bc" /><Relationship Type="http://schemas.openxmlformats.org/officeDocument/2006/relationships/notesMaster" Target="/ppt/notesMasters/notesMaster1.xml" Id="R07bd2bd9df554d8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8f96ee65d6c4a66" /><Relationship Type="http://schemas.openxmlformats.org/officeDocument/2006/relationships/notesMaster" Target="/ppt/notesMasters/notesMaster1.xml" Id="Rb3a641957be549d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046beea30c04761" /><Relationship Type="http://schemas.openxmlformats.org/officeDocument/2006/relationships/notesMaster" Target="/ppt/notesMasters/notesMaster1.xml" Id="Rcd105c6e1beb41d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241ff8313854850" /><Relationship Type="http://schemas.openxmlformats.org/officeDocument/2006/relationships/notesMaster" Target="/ppt/notesMasters/notesMaster1.xml" Id="R3c99fa8c205b480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36b3d34cddc4520" /><Relationship Type="http://schemas.openxmlformats.org/officeDocument/2006/relationships/notesMaster" Target="/ppt/notesMasters/notesMaster1.xml" Id="R1b5c34d8649e46c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053c3e2603b462e" /><Relationship Type="http://schemas.openxmlformats.org/officeDocument/2006/relationships/notesMaster" Target="/ppt/notesMasters/notesMaster1.xml" Id="R1721a0db9c1d434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163794b636d48a1" /><Relationship Type="http://schemas.openxmlformats.org/officeDocument/2006/relationships/notesMaster" Target="/ppt/notesMasters/notesMaster1.xml" Id="Rfd5d2f3d0a3a4e3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a0e8bb789e54b66" /><Relationship Type="http://schemas.openxmlformats.org/officeDocument/2006/relationships/notesMaster" Target="/ppt/notesMasters/notesMaster1.xml" Id="R669b8d45d7d3488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b83de8950f543df" /><Relationship Type="http://schemas.openxmlformats.org/officeDocument/2006/relationships/notesMaster" Target="/ppt/notesMasters/notesMaster1.xml" Id="Rb8fa51dc75ee48d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3f92eb56ea84f48" /><Relationship Type="http://schemas.openxmlformats.org/officeDocument/2006/relationships/notesMaster" Target="/ppt/notesMasters/notesMaster1.xml" Id="R6cd8ae829fb14a4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3a0adb145594b1a" /><Relationship Type="http://schemas.openxmlformats.org/officeDocument/2006/relationships/notesMaster" Target="/ppt/notesMasters/notesMaster1.xml" Id="R9a472d3537fa4c9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4457ad6616a4d77" /><Relationship Type="http://schemas.openxmlformats.org/officeDocument/2006/relationships/notesMaster" Target="/ppt/notesMasters/notesMaster1.xml" Id="R7de0879c6eb0417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916a1ad964c4f71" /><Relationship Type="http://schemas.openxmlformats.org/officeDocument/2006/relationships/notesMaster" Target="/ppt/notesMasters/notesMaster1.xml" Id="R10d603b2f363460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88d1f0fcb90416b" /><Relationship Type="http://schemas.openxmlformats.org/officeDocument/2006/relationships/notesMaster" Target="/ppt/notesMasters/notesMaster1.xml" Id="Rd4183f04e446487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17590ac367c4559" /><Relationship Type="http://schemas.openxmlformats.org/officeDocument/2006/relationships/notesMaster" Target="/ppt/notesMasters/notesMaster1.xml" Id="R75fd14b66b504e7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915202fccd94009" /><Relationship Type="http://schemas.openxmlformats.org/officeDocument/2006/relationships/notesMaster" Target="/ppt/notesMasters/notesMaster1.xml" Id="R84ec25f607aa46a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cf05108c37e4bc0" /><Relationship Type="http://schemas.openxmlformats.org/officeDocument/2006/relationships/notesMaster" Target="/ppt/notesMasters/notesMaster1.xml" Id="Rceef0c5bb8af432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05e72dd15b74691" /><Relationship Type="http://schemas.openxmlformats.org/officeDocument/2006/relationships/notesMaster" Target="/ppt/notesMasters/notesMaster1.xml" Id="R4c7e716dd2d0447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581cc22a4454182" /><Relationship Type="http://schemas.openxmlformats.org/officeDocument/2006/relationships/notesMaster" Target="/ppt/notesMasters/notesMaster1.xml" Id="R6dd84339a7bc4a2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本章面向交通运输工程专业。不同地区的出租车服务节律能否帮助分时运营？</a:t>
            </a:r>
          </a:p>
          <a:p xmlns:a="http://schemas.openxmlformats.org/drawingml/2006/main">
            <a:r>
              <a:t>背景为第一章已有课程概念插画，不是I-94、纽约或天津的实地照片。</a:t>
            </a:r>
          </a:p>
          <a:p xmlns:a="http://schemas.openxmlformats.org/drawingml/2006/main">
            <a:r>
              <a:t>建议135分钟讲授与讨论 + 90分钟上机</a:t>
            </a:r>
          </a:p>
          <a:p xmlns:a="http://schemas.openxmlformats.org/drawingml/2006/main">
            <a:r>
              <a:t>课堂：https://lilinchao.github.io/traffic-book-practice/open-course/chapter-07/</a:t>
            </a:r>
          </a:p>
          <a:p xmlns:a="http://schemas.openxmlformats.org/drawingml/2006/main">
            <a:r>
              <a:t>数据：https://www.nyc.gov/site/tlc/about/tlc-trip-record-data.page</a:t>
            </a:r>
          </a:p>
          <a:p xmlns:a="http://schemas.openxmlformats.org/drawingml/2006/main">
            <a:r>
              <a:t>NYC TLC 2024年1月绿出租车，遵守原始数据条款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教学主线：不同地区的出租车服务节律能否帮助分时运营？</a:t>
            </a:r>
          </a:p>
          <a:p xmlns:a="http://schemas.openxmlformats.org/drawingml/2006/main">
            <a:r>
              <a:t>建议135分钟讲授与讨论 + 90分钟上机</a:t>
            </a:r>
          </a:p>
          <a:p xmlns:a="http://schemas.openxmlformats.org/drawingml/2006/main">
            <a:r>
              <a:t>课堂：https://lilinchao.github.io/traffic-book-practice/open-course/chapter-07/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来源：https://www.nyc.gov/site/tlc/about/tlc-trip-record-data.page</a:t>
            </a:r>
          </a:p>
          <a:p xmlns:a="http://schemas.openxmlformats.org/drawingml/2006/main">
            <a:r>
              <a:t>NYC TLC 2024年1月绿出租车，遵守原始数据条款</a:t>
            </a:r>
          </a:p>
          <a:p xmlns:a="http://schemas.openxmlformats.org/drawingml/2006/main">
            <a:r>
              <a:t>输入哈希：{"projects/data/taxi.json":"bb9544cd868c305f2a91dde353ce5e30142c47434839cd764c3adbc1e4fda887","chapters/data/algorithms/ch7.json":"f1ddfa575aac64e50a2c25272ddf06406dab18d5fcca97ef0e7eebb19e2e3eeb"}</a:t>
            </a:r>
          </a:p>
          <a:p xmlns:a="http://schemas.openxmlformats.org/drawingml/2006/main">
            <a:r>
              <a:t>课文源：符号释义与教学逻辑修订清洁合稿的已核验提取稿；本轮不修改书稿。</a:t>
            </a:r>
          </a:p>
          <a:p xmlns:a="http://schemas.openxmlformats.org/drawingml/2006/main">
            <a:r>
              <a:t>课程原创讲解CC BY-SA 4.0，代码MIT，第三方材料遵守原始条款。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地区差异需要放在时间背景下解释。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同一地区夜间活动与通勤相关时段不同，单看月总量难以支持分时运营研判。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TLC资料记录已实现的上车服务，不涵盖全部出行或未满足需求。不能据此直接推算缺少多少出租车。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课堂追问：一个地区记录少，可能对应哪些不同的服务与需求情形？</a:t>
            </a:r>
          </a:p>
          <a:p xmlns:a="http://schemas.openxmlformats.org/drawingml/2006/main">
            <a:r>
              <a:t>教学建议：先请学生预测参数变化方向，再运行网页对照；要求用交通对象、范围、分母和单位解释。</a:t>
            </a:r>
          </a:p>
          <a:p xmlns:a="http://schemas.openxmlformats.org/drawingml/2006/main">
            <a:r>
              <a:t>交互课堂：https://lilinchao.github.io/traffic-book-practice/open-course/chapter-07/#mission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来源：https://www.nyc.gov/site/tlc/about/tlc-trip-record-data.page</a:t>
            </a:r>
          </a:p>
          <a:p xmlns:a="http://schemas.openxmlformats.org/drawingml/2006/main">
            <a:r>
              <a:t>NYC TLC 2024年1月绿出租车，遵守原始数据条款</a:t>
            </a:r>
          </a:p>
          <a:p xmlns:a="http://schemas.openxmlformats.org/drawingml/2006/main">
            <a:r>
              <a:t>输入哈希：{"projects/data/taxi.json":"bb9544cd868c305f2a91dde353ce5e30142c47434839cd764c3adbc1e4fda887","chapters/data/algorithms/ch7.json":"f1ddfa575aac64e50a2c25272ddf06406dab18d5fcca97ef0e7eebb19e2e3eeb"}</a:t>
            </a:r>
          </a:p>
          <a:p xmlns:a="http://schemas.openxmlformats.org/drawingml/2006/main">
            <a:r>
              <a:t>课文源：符号释义与教学逻辑修订清洁合稿的已核验提取稿；本轮不修改书稿。</a:t>
            </a:r>
          </a:p>
          <a:p xmlns:a="http://schemas.openxmlformats.org/drawingml/2006/main">
            <a:r>
              <a:t>课程原创讲解CC BY-SA 4.0，代码MIT，第三方材料遵守原始条款。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每个矩阵位置都需要稳定的交通含义。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预测矩阵包含Manhattan、Brooklyn、Queens、Bronx四个固定区域，每行一个小时。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全月日型另用7类地区×24小时占比，包含EWR与Unknown。两个对象的用途和范围不同。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Y[t, n]：第t小时第n区域的保留上车记录数</a:t>
            </a:r>
          </a:p>
          <a:p xmlns:a="http://schemas.openxmlformats.org/drawingml/2006/main">
            <a:r>
              <a:t>t：按小时递增的时间索引。n：固定区域顺序。单位：条/小时。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课堂追问：训练和预测时交换两个区域的列顺序，会造成怎样的结果？</a:t>
            </a:r>
          </a:p>
          <a:p xmlns:a="http://schemas.openxmlformats.org/drawingml/2006/main">
            <a:r>
              <a:t>教学建议：先请学生预测参数变化方向，再运行网页对照；要求用交通对象、范围、分母和单位解释。</a:t>
            </a:r>
          </a:p>
          <a:p xmlns:a="http://schemas.openxmlformats.org/drawingml/2006/main">
            <a:r>
              <a:t>交互课堂：https://lilinchao.github.io/traffic-book-practice/open-course/chapter-07/#matrix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来源：https://www.nyc.gov/site/tlc/about/tlc-trip-record-data.page</a:t>
            </a:r>
          </a:p>
          <a:p xmlns:a="http://schemas.openxmlformats.org/drawingml/2006/main">
            <a:r>
              <a:t>NYC TLC 2024年1月绿出租车，遵守原始数据条款</a:t>
            </a:r>
          </a:p>
          <a:p xmlns:a="http://schemas.openxmlformats.org/drawingml/2006/main">
            <a:r>
              <a:t>输入哈希：{"projects/data/taxi.json":"bb9544cd868c305f2a91dde353ce5e30142c47434839cd764c3adbc1e4fda887","chapters/data/algorithms/ch7.json":"f1ddfa575aac64e50a2c25272ddf06406dab18d5fcca97ef0e7eebb19e2e3eeb"}</a:t>
            </a:r>
          </a:p>
          <a:p xmlns:a="http://schemas.openxmlformats.org/drawingml/2006/main">
            <a:r>
              <a:t>课文源：符号释义与教学逻辑修订清洁合稿的已核验提取稿；本轮不修改书稿。</a:t>
            </a:r>
          </a:p>
          <a:p xmlns:a="http://schemas.openxmlformats.org/drawingml/2006/main">
            <a:r>
              <a:t>课程原创讲解CC BY-SA 4.0，代码MIT，第三方材料遵守原始条款。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23个平日和8个周末日不能只比累计量。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固定地区与小时范围，分别除以对应日历日期数，再比较日均服务活动。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本页“平日”仅指周一至周五，未剔除节假日。夜间按记录所属日期的22—05时段筛选。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课堂追问：平日总量更大，是否就意味着每天的夜间服务更繁忙？</a:t>
            </a:r>
          </a:p>
          <a:p xmlns:a="http://schemas.openxmlformats.org/drawingml/2006/main">
            <a:r>
              <a:t>教学建议：先请学生预测参数变化方向，再运行网页对照；要求用交通对象、范围、分母和单位解释。</a:t>
            </a:r>
          </a:p>
          <a:p xmlns:a="http://schemas.openxmlformats.org/drawingml/2006/main">
            <a:r>
              <a:t>交互课堂：https://lilinchao.github.io/traffic-book-practice/open-course/chapter-07/#denominator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来源：https://www.nyc.gov/site/tlc/about/tlc-trip-record-data.page</a:t>
            </a:r>
          </a:p>
          <a:p xmlns:a="http://schemas.openxmlformats.org/drawingml/2006/main">
            <a:r>
              <a:t>NYC TLC 2024年1月绿出租车，遵守原始数据条款</a:t>
            </a:r>
          </a:p>
          <a:p xmlns:a="http://schemas.openxmlformats.org/drawingml/2006/main">
            <a:r>
              <a:t>输入哈希：{"projects/data/taxi.json":"bb9544cd868c305f2a91dde353ce5e30142c47434839cd764c3adbc1e4fda887","chapters/data/algorithms/ch7.json":"f1ddfa575aac64e50a2c25272ddf06406dab18d5fcca97ef0e7eebb19e2e3eeb"}</a:t>
            </a:r>
          </a:p>
          <a:p xmlns:a="http://schemas.openxmlformats.org/drawingml/2006/main">
            <a:r>
              <a:t>课文源：符号释义与教学逻辑修订清洁合稿的已核验提取稿；本轮不修改书稿。</a:t>
            </a:r>
          </a:p>
          <a:p xmlns:a="http://schemas.openxmlformats.org/drawingml/2006/main">
            <a:r>
              <a:t>课程原创讲解CC BY-SA 4.0，代码MIT，第三方材料遵守原始条款。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计算方式：根据真实观测在浏览器重新计算</a:t>
            </a:r>
          </a:p>
          <a:p xmlns:a="http://schemas.openxmlformats.org/drawingml/2006/main">
            <a:r>
              <a:t>默认参数：{"borough":"Queens"}</a:t>
            </a:r>
          </a:p>
          <a:p xmlns:a="http://schemas.openxmlformats.org/drawingml/2006/main">
            <a:r>
              <a:t>数据范围：56,549条保留上车记录，四区域预测与全月日型分别分析</a:t>
            </a:r>
          </a:p>
          <a:p xmlns:a="http://schemas.openxmlformats.org/drawingml/2006/main">
            <a:r>
              <a:t>结果解释：平日指周一至周五，不剔除节假日。日均按全部所选日历日期计算。零组仅表示本快照无保留记录，上车量不等于全部交通需求。</a:t>
            </a:r>
          </a:p>
          <a:p xmlns:a="http://schemas.openxmlformats.org/drawingml/2006/main">
            <a:r>
              <a:t>全部结果：{"columns":["日期类型","日历日期数","累计上车记录","日均上车记录"],"rows":[["平日",23,11177,485.95652173913044],["周末",8,3760,470]]}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默认网页：https://lilinchao.github.io/traffic-book-practice/open-course/chapter-07/#denominator</a:t>
            </a:r>
          </a:p>
          <a:p xmlns:a="http://schemas.openxmlformats.org/drawingml/2006/main">
            <a:r>
              <a:t>输入文件SHA256：{"projects/data/taxi.json":"bb9544cd868c305f2a91dde353ce5e30142c47434839cd764c3adbc1e4fda887","chapters/data/algorithms/ch7.json":"f1ddfa575aac64e50a2c25272ddf06406dab18d5fcca97ef0e7eebb19e2e3eeb"}</a:t>
            </a:r>
          </a:p>
          <a:p xmlns:a="http://schemas.openxmlformats.org/drawingml/2006/main">
            <a:r>
              <a:t>来源：https://www.nyc.gov/site/tlc/about/tlc-trip-record-data.page。NYC TLC 2024年1月绿出租车，遵守原始数据条款</a:t>
            </a:r>
          </a:p>
          <a:p xmlns:a="http://schemas.openxmlformats.org/drawingml/2006/main">
            <a:r>
              <a:t>本页图表为默认配置快照，课堂改变参数后以网页重新计算为准。图表与底层数据可编辑。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归一化会改变比较问题。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绝对上车量反映已实现服务规模，地区内部24小时占比用于比较日内节律。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占比高可能来自较小的分母，两个地区曲线相似也不等于运力需求相同。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课堂追问：如何同时保留地区规模和夜间占比，避免误读？</a:t>
            </a:r>
          </a:p>
          <a:p xmlns:a="http://schemas.openxmlformats.org/drawingml/2006/main">
            <a:r>
              <a:t>教学建议：先请学生预测参数变化方向，再运行网页对照；要求用交通对象、范围、分母和单位解释。</a:t>
            </a:r>
          </a:p>
          <a:p xmlns:a="http://schemas.openxmlformats.org/drawingml/2006/main">
            <a:r>
              <a:t>交互课堂：https://lilinchao.github.io/traffic-book-practice/open-course/chapter-07/#profile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来源：https://www.nyc.gov/site/tlc/about/tlc-trip-record-data.page</a:t>
            </a:r>
          </a:p>
          <a:p xmlns:a="http://schemas.openxmlformats.org/drawingml/2006/main">
            <a:r>
              <a:t>NYC TLC 2024年1月绿出租车，遵守原始数据条款</a:t>
            </a:r>
          </a:p>
          <a:p xmlns:a="http://schemas.openxmlformats.org/drawingml/2006/main">
            <a:r>
              <a:t>输入哈希：{"projects/data/taxi.json":"bb9544cd868c305f2a91dde353ce5e30142c47434839cd764c3adbc1e4fda887","chapters/data/algorithms/ch7.json":"f1ddfa575aac64e50a2c25272ddf06406dab18d5fcca97ef0e7eebb19e2e3eeb"}</a:t>
            </a:r>
          </a:p>
          <a:p xmlns:a="http://schemas.openxmlformats.org/drawingml/2006/main">
            <a:r>
              <a:t>课文源：符号释义与教学逻辑修订清洁合稿的已核验提取稿；本轮不修改书稿。</a:t>
            </a:r>
          </a:p>
          <a:p xmlns:a="http://schemas.openxmlformats.org/drawingml/2006/main">
            <a:r>
              <a:t>课程原创讲解CC BY-SA 4.0，代码MIT，第三方材料遵守原始条款。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计算方式：根据真实观测在浏览器重新计算</a:t>
            </a:r>
          </a:p>
          <a:p xmlns:a="http://schemas.openxmlformats.org/drawingml/2006/main">
            <a:r>
              <a:t>默认参数：{"day":"all"}</a:t>
            </a:r>
          </a:p>
          <a:p xmlns:a="http://schemas.openxmlformats.org/drawingml/2006/main">
            <a:r>
              <a:t>数据范围：56,549条保留上车记录，四区域预测与全月日型分别分析</a:t>
            </a:r>
          </a:p>
          <a:p xmlns:a="http://schemas.openxmlformats.org/drawingml/2006/main">
            <a:r>
              <a:t>结果解释：每条曲线的24小时占比之和为100%；它描述节律而非规模。原始计数同时列在表中，零总量时占比留空。空间单元是行政区，不是单个站点或个人轨迹。</a:t>
            </a:r>
          </a:p>
          <a:p xmlns:a="http://schemas.openxmlformats.org/drawingml/2006/main">
            <a:r>
              <a:t>全部结果：{"columns":["地区","小时","累计上车记录","地区内小时占比（%）","地区全天总量"],"rows":[["曼哈顿",0,290,0.8829081166656518,32846],["曼哈顿",1,192,0.584546063447604,32846],["曼哈顿",2,95,0.28922852097667906,32846],["曼哈顿",3,51,0.1552700481032698,32846],["曼哈顿",4,60,0.18267064482737624,32846],["曼哈顿",5,131,0.39883090787310477,32846],["曼哈顿",6,597,1.8175729160323937,32846],["曼哈顿",7,1717,5.227424952810083,32846],["曼哈顿",8,1931,5.878950252694392,32846],["曼哈顿",9,1999,6.085976983498751,32846],["曼哈顿",10,1981,6.031175790050539,32846],["曼哈顿",11,1921,5.848505145223163,32846],["曼哈顿",12,1859,5.659745478901541,32846],["曼哈顿",13,1964,5.979419107349449,32846],["曼哈顿",14,2185,6.652255982463618,32846],["曼哈顿",15,2584,7.86701577056567,32846],["曼哈顿",16,2629,8.004018754186202,32846],["曼哈顿",17,2720,8.28106923217439,32846],["曼哈顿",18,2481,7.553431163612007,32846],["曼哈顿",19,1944,5.91852889240699,32846],["曼哈顿",20,1365,4.1557571698228095,32846],["曼哈顿",21,966,2.9409973817207575,32846],["曼哈顿",22,678,2.0641782865493514,32846],["曼哈顿",23,506,1.5405224380442062,32846],["皇后区",0,491,3.2871393184709112,14937],["皇后区",1,354,2.3699538059851375,14937],["皇后区",2,274,1.8343710249715472,14937],["皇后区",3,235,1.5732744192274217,14937],["皇后区",4,172,1.1515029791792193,14937],["皇后区",5,111,0.7431211086563567,14937],["皇后区",6,177,1.1849769029925687,14937],["皇后区",7,380,2.5440182098145545,14937],["皇后区",8,553,3.7022159737564437,14937],["皇后区",9,623,4.170850907143335,14937],["皇后区",10,606,4.057039566177948,14937],["皇后区",11,698,4.6729597643435765,14937],["皇后区",12,698,4.6729597643435765,14937],["皇后区",13,784,5.248711253933186,14937],["皇后区",14,861,5.764209680658767,14937],["皇后区",15,966,6.467162080739104,14937],["皇后区",16,1092,7.310704960835509,14937],["皇后区",17,1219,8.160942625694585,14937],["皇后区",18,1217,8.147553056169244,14937],["皇后区",19,1013,6.781816964584588,14937],["皇后区",20,747,5.0010042177144,14937],["皇后区",21,573,3.836111669009841,14937],["皇后区",22,579,3.8762803775858607,14937],["皇后区",23,514,3.4411193680123184,14937],["布鲁克林",0,217,2.8010842906931717,7747],["布鲁克林",1,188,2.4267458370982316,7747],["布鲁克林",2,155,2.0007744933522655,7747],["布鲁克林",3,108,1.3940880340777075,7747],["布鲁克林",4,74,0.9552084677939847,7747],["布鲁克林",5,49,0.632502904350071,7747],["布鲁克林",6,57,0.7357686846521234,7747],["布鲁克林",7,135,1.7426100425971345,7747],["布鲁克林",8,227,2.930166516070737,7747],["布鲁克林",9,335,4.324254550148445,7747],["布鲁克林",10,331,4.2726216599974185,7747],["布鲁克林",11,372,4.801858784045437,7747],["布鲁克林",12,407,5.253646572866916,7747],["布鲁克林",13,413,5.331095908093456,7747],["布鲁克林",14,501,6.467019491416032,7747],["布鲁克林",15,501,6.467019491416032,7747],["布鲁克林",16,563,7.2673292887569385,7747],["布鲁克林",17,599,7.732025300116174,7747],["布鲁克林",18,638,8.235445979088679,7747],["布鲁克林",19,517,6.673551052020136,7747],["布鲁克林",20,440,5.679617916612883,7747],["布鲁克林",21,383,4.943849231960759,7747],["布鲁克林",22,310,4.001548986704531,7747],["布鲁克林",23,227,2.930166516070737,7747]]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默认网页：https://lilinchao.github.io/traffic-book-practice/open-course/chapter-07/#profile</a:t>
            </a:r>
          </a:p>
          <a:p xmlns:a="http://schemas.openxmlformats.org/drawingml/2006/main">
            <a:r>
              <a:t>输入文件SHA256：{"projects/data/taxi.json":"bb9544cd868c305f2a91dde353ce5e30142c47434839cd764c3adbc1e4fda887","chapters/data/algorithms/ch7.json":"f1ddfa575aac64e50a2c25272ddf06406dab18d5fcca97ef0e7eebb19e2e3eeb"}</a:t>
            </a:r>
          </a:p>
          <a:p xmlns:a="http://schemas.openxmlformats.org/drawingml/2006/main">
            <a:r>
              <a:t>来源：https://www.nyc.gov/site/tlc/about/tlc-trip-record-data.page。NYC TLC 2024年1月绿出租车，遵守原始数据条款</a:t>
            </a:r>
          </a:p>
          <a:p xmlns:a="http://schemas.openxmlformats.org/drawingml/2006/main">
            <a:r>
              <a:t>本页图表为默认配置快照，课堂改变参数后以网页重新计算为准。图表与底层数据可编辑。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相关性可以成为候选预测信息。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相邻时段与相邻地区可能相关，原因也可能是共同通勤节律或共同外部扰动。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滞后相关不自动证明交通活动从一个地区传到另一个地区，尤其不能直接认定拥堵传播。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课堂追问：两地区每天同时出现晚高峰，足以证明它们之间发生了传播吗？</a:t>
            </a:r>
          </a:p>
          <a:p xmlns:a="http://schemas.openxmlformats.org/drawingml/2006/main">
            <a:r>
              <a:t>教学建议：先请学生预测参数变化方向，再运行网页对照；要求用交通对象、范围、分母和单位解释。</a:t>
            </a:r>
          </a:p>
          <a:p xmlns:a="http://schemas.openxmlformats.org/drawingml/2006/main">
            <a:r>
              <a:t>交互课堂：https://lilinchao.github.io/traffic-book-practice/open-course/chapter-07/#dependence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来源：https://www.nyc.gov/site/tlc/about/tlc-trip-record-data.page</a:t>
            </a:r>
          </a:p>
          <a:p xmlns:a="http://schemas.openxmlformats.org/drawingml/2006/main">
            <a:r>
              <a:t>NYC TLC 2024年1月绿出租车，遵守原始数据条款</a:t>
            </a:r>
          </a:p>
          <a:p xmlns:a="http://schemas.openxmlformats.org/drawingml/2006/main">
            <a:r>
              <a:t>输入哈希：{"projects/data/taxi.json":"bb9544cd868c305f2a91dde353ce5e30142c47434839cd764c3adbc1e4fda887","chapters/data/algorithms/ch7.json":"f1ddfa575aac64e50a2c25272ddf06406dab18d5fcca97ef0e7eebb19e2e3eeb"}</a:t>
            </a:r>
          </a:p>
          <a:p xmlns:a="http://schemas.openxmlformats.org/drawingml/2006/main">
            <a:r>
              <a:t>课文源：符号释义与教学逻辑修订清洁合稿的已核验提取稿；本轮不修改书稿。</a:t>
            </a:r>
          </a:p>
          <a:p xmlns:a="http://schemas.openxmlformats.org/drawingml/2006/main">
            <a:r>
              <a:t>课程原创讲解CC BY-SA 4.0，代码MIT，第三方材料遵守原始条款。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“谁与谁相连”应有明确依据。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道路邻接、地理距离和历史流量相关可形成不同矩阵，分别表达设施联系、空间邻近或统计关系。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本章VAR使用四区域历史变量，不要求它们构成真实道路拓扑，不把系数矩阵冒称路网。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课堂追问：采用相关性构图时，为什么不能读取留出测试期的相关性？</a:t>
            </a:r>
          </a:p>
          <a:p xmlns:a="http://schemas.openxmlformats.org/drawingml/2006/main">
            <a:r>
              <a:t>教学建议：先请学生预测参数变化方向，再运行网页对照；要求用交通对象、范围、分母和单位解释。</a:t>
            </a:r>
          </a:p>
          <a:p xmlns:a="http://schemas.openxmlformats.org/drawingml/2006/main">
            <a:r>
              <a:t>交互课堂：https://lilinchao.github.io/traffic-book-practice/open-course/chapter-07/#adjacency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来源：https://www.nyc.gov/site/tlc/about/tlc-trip-record-data.page</a:t>
            </a:r>
          </a:p>
          <a:p xmlns:a="http://schemas.openxmlformats.org/drawingml/2006/main">
            <a:r>
              <a:t>NYC TLC 2024年1月绿出租车，遵守原始数据条款</a:t>
            </a:r>
          </a:p>
          <a:p xmlns:a="http://schemas.openxmlformats.org/drawingml/2006/main">
            <a:r>
              <a:t>输入哈希：{"projects/data/taxi.json":"bb9544cd868c305f2a91dde353ce5e30142c47434839cd764c3adbc1e4fda887","chapters/data/algorithms/ch7.json":"f1ddfa575aac64e50a2c25272ddf06406dab18d5fcca97ef0e7eebb19e2e3eeb"}</a:t>
            </a:r>
          </a:p>
          <a:p xmlns:a="http://schemas.openxmlformats.org/drawingml/2006/main">
            <a:r>
              <a:t>课文源：符号释义与教学逻辑修订清洁合稿的已核验提取稿；本轮不修改书稿。</a:t>
            </a:r>
          </a:p>
          <a:p xmlns:a="http://schemas.openxmlformats.org/drawingml/2006/main">
            <a:r>
              <a:t>课程原创讲解CC BY-SA 4.0，代码MIT，第三方材料遵守原始条款。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时间和空间口径要同步。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固定区域编码与小时网格，记录筛选条件和异常范围，保留输入哈希。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聚合为0只说明该快照无保留上车记录。如果上游存在采集缺失，仍需质量标记，不能断言没有出行。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课堂追问：缺失与真实零服务量混用，会怎样改变地区比较？</a:t>
            </a:r>
          </a:p>
          <a:p xmlns:a="http://schemas.openxmlformats.org/drawingml/2006/main">
            <a:r>
              <a:t>教学建议：先请学生预测参数变化方向，再运行网页对照；要求用交通对象、范围、分母和单位解释。</a:t>
            </a:r>
          </a:p>
          <a:p xmlns:a="http://schemas.openxmlformats.org/drawingml/2006/main">
            <a:r>
              <a:t>交互课堂：https://lilinchao.github.io/traffic-book-practice/open-course/chapter-07/#clean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来源：https://www.nyc.gov/site/tlc/about/tlc-trip-record-data.page</a:t>
            </a:r>
          </a:p>
          <a:p xmlns:a="http://schemas.openxmlformats.org/drawingml/2006/main">
            <a:r>
              <a:t>NYC TLC 2024年1月绿出租车，遵守原始数据条款</a:t>
            </a:r>
          </a:p>
          <a:p xmlns:a="http://schemas.openxmlformats.org/drawingml/2006/main">
            <a:r>
              <a:t>输入哈希：{"projects/data/taxi.json":"bb9544cd868c305f2a91dde353ce5e30142c47434839cd764c3adbc1e4fda887","chapters/data/algorithms/ch7.json":"f1ddfa575aac64e50a2c25272ddf06406dab18d5fcca97ef0e7eebb19e2e3eeb"}</a:t>
            </a:r>
          </a:p>
          <a:p xmlns:a="http://schemas.openxmlformats.org/drawingml/2006/main">
            <a:r>
              <a:t>课文源：符号释义与教学逻辑修订清洁合稿的已核验提取稿；本轮不修改书稿。</a:t>
            </a:r>
          </a:p>
          <a:p xmlns:a="http://schemas.openxmlformats.org/drawingml/2006/main">
            <a:r>
              <a:t>课程原创讲解CC BY-SA 4.0，代码MIT，第三方材料遵守原始条款。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分组方法取决于所比较的对象。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时空K近邻需要说明空间和时间距离的尺度；双阈值密度聚类分别限制空间邻近和时间邻近。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本课日型KMeans比较整天的168维占比向量，属于日型形态聚类，不是事件点的时空DBSCAN。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课堂追问：相似日期与相邻事件的聚类，为什么不能使用同一套解释？</a:t>
            </a:r>
          </a:p>
          <a:p xmlns:a="http://schemas.openxmlformats.org/drawingml/2006/main">
            <a:r>
              <a:t>教学建议：先请学生预测参数变化方向，再运行网页对照；要求用交通对象、范围、分母和单位解释。</a:t>
            </a:r>
          </a:p>
          <a:p xmlns:a="http://schemas.openxmlformats.org/drawingml/2006/main">
            <a:r>
              <a:t>交互课堂：https://lilinchao.github.io/traffic-book-practice/open-course/chapter-07/#cluster-method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来源：https://www.nyc.gov/site/tlc/about/tlc-trip-record-data.page</a:t>
            </a:r>
          </a:p>
          <a:p xmlns:a="http://schemas.openxmlformats.org/drawingml/2006/main">
            <a:r>
              <a:t>NYC TLC 2024年1月绿出租车，遵守原始数据条款</a:t>
            </a:r>
          </a:p>
          <a:p xmlns:a="http://schemas.openxmlformats.org/drawingml/2006/main">
            <a:r>
              <a:t>输入哈希：{"projects/data/taxi.json":"bb9544cd868c305f2a91dde353ce5e30142c47434839cd764c3adbc1e4fda887","chapters/data/algorithms/ch7.json":"f1ddfa575aac64e50a2c25272ddf06406dab18d5fcca97ef0e7eebb19e2e3eeb"}</a:t>
            </a:r>
          </a:p>
          <a:p xmlns:a="http://schemas.openxmlformats.org/drawingml/2006/main">
            <a:r>
              <a:t>课文源：符号释义与教学逻辑修订清洁合稿的已核验提取稿；本轮不修改书稿。</a:t>
            </a:r>
          </a:p>
          <a:p xmlns:a="http://schemas.openxmlformats.org/drawingml/2006/main">
            <a:r>
              <a:t>课程原创讲解CC BY-SA 4.0，代码MIT，第三方材料遵守原始条款。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多区域模型是否有价值，需要增量比较。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单区域AR只使用本区过去上车量，VAR还使用其他区域的过去上车量。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训练1—21日，验证22—24日选择滞后阶数，测试25—31日。各方法比较同一672个区域小时。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y_t = c + Σ_(l=1…p) A_l y_(t−l) + ε_t</a:t>
            </a:r>
          </a:p>
          <a:p xmlns:a="http://schemas.openxmlformats.org/drawingml/2006/main">
            <a:r>
              <a:t>y_t：第t小时四区域上车量向量，条/小时。c：截距向量。A_l：第l阶系数矩阵。p：最大滞后小时数。Σ：滞后阶求和。ε_t：创新误差向量。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课堂追问：加入区域信息后成绩提高，是否意味着找到了因果联系？</a:t>
            </a:r>
          </a:p>
          <a:p xmlns:a="http://schemas.openxmlformats.org/drawingml/2006/main">
            <a:r>
              <a:t>教学建议：先请学生预测参数变化方向，再运行网页对照；要求用交通对象、范围、分母和单位解释。</a:t>
            </a:r>
          </a:p>
          <a:p xmlns:a="http://schemas.openxmlformats.org/drawingml/2006/main">
            <a:r>
              <a:t>交互课堂：https://lilinchao.github.io/traffic-book-practice/open-course/chapter-07/#arvar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来源：https://www.nyc.gov/site/tlc/about/tlc-trip-record-data.page</a:t>
            </a:r>
          </a:p>
          <a:p xmlns:a="http://schemas.openxmlformats.org/drawingml/2006/main">
            <a:r>
              <a:t>NYC TLC 2024年1月绿出租车，遵守原始数据条款</a:t>
            </a:r>
          </a:p>
          <a:p xmlns:a="http://schemas.openxmlformats.org/drawingml/2006/main">
            <a:r>
              <a:t>输入哈希：{"projects/data/taxi.json":"bb9544cd868c305f2a91dde353ce5e30142c47434839cd764c3adbc1e4fda887","chapters/data/algorithms/ch7.json":"f1ddfa575aac64e50a2c25272ddf06406dab18d5fcca97ef0e7eebb19e2e3eeb"}</a:t>
            </a:r>
          </a:p>
          <a:p xmlns:a="http://schemas.openxmlformats.org/drawingml/2006/main">
            <a:r>
              <a:t>课文源：符号释义与教学逻辑修订清洁合稿的已核验提取稿；本轮不修改书稿。</a:t>
            </a:r>
          </a:p>
          <a:p xmlns:a="http://schemas.openxmlformats.org/drawingml/2006/main">
            <a:r>
              <a:t>课程原创讲解CC BY-SA 4.0，代码MIT，第三方材料遵守原始条款。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整体改善不保证所有区域受益。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分别查看四区域和合并样本，比较AR、VAR、历史同期与上一小时。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成绩来自冻结预测，网页实际重新计算所选区域的误差。滞后24小时由验证段选择。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课堂追问：如果曼哈顿改进明显而皇后区较差，应怎样写总体结论？</a:t>
            </a:r>
          </a:p>
          <a:p xmlns:a="http://schemas.openxmlformats.org/drawingml/2006/main">
            <a:r>
              <a:t>教学建议：先请学生预测参数变化方向，再运行网页对照；要求用交通对象、范围、分母和单位解释。</a:t>
            </a:r>
          </a:p>
          <a:p xmlns:a="http://schemas.openxmlformats.org/drawingml/2006/main">
            <a:r>
              <a:t>交互课堂：https://lilinchao.github.io/traffic-book-practice/open-course/chapter-07/#forecast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来源：https://www.nyc.gov/site/tlc/about/tlc-trip-record-data.page</a:t>
            </a:r>
          </a:p>
          <a:p xmlns:a="http://schemas.openxmlformats.org/drawingml/2006/main">
            <a:r>
              <a:t>NYC TLC 2024年1月绿出租车，遵守原始数据条款</a:t>
            </a:r>
          </a:p>
          <a:p xmlns:a="http://schemas.openxmlformats.org/drawingml/2006/main">
            <a:r>
              <a:t>输入哈希：{"projects/data/taxi.json":"bb9544cd868c305f2a91dde353ce5e30142c47434839cd764c3adbc1e4fda887","chapters/data/algorithms/ch7.json":"f1ddfa575aac64e50a2c25272ddf06406dab18d5fcca97ef0e7eebb19e2e3eeb"}</a:t>
            </a:r>
          </a:p>
          <a:p xmlns:a="http://schemas.openxmlformats.org/drawingml/2006/main">
            <a:r>
              <a:t>课文源：符号释义与教学逻辑修订清洁合稿的已核验提取稿；本轮不修改书稿。</a:t>
            </a:r>
          </a:p>
          <a:p xmlns:a="http://schemas.openxmlformats.org/drawingml/2006/main">
            <a:r>
              <a:t>课程原创讲解CC BY-SA 4.0，代码MIT，第三方材料遵守原始条款。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计算方式：根据冻结预测重新计算；不在浏览器拟合模型</a:t>
            </a:r>
          </a:p>
          <a:p xmlns:a="http://schemas.openxmlformats.org/drawingml/2006/main">
            <a:r>
              <a:t>默认参数：{"region":"all"}</a:t>
            </a:r>
          </a:p>
          <a:p xmlns:a="http://schemas.openxmlformats.org/drawingml/2006/main">
            <a:r>
              <a:t>数据范围：56,549条保留上车记录，四区域预测与全月日型分别分析</a:t>
            </a:r>
          </a:p>
          <a:p xmlns:a="http://schemas.openxmlformats.org/drawingml/2006/main">
            <a:r>
              <a:t>结果解释：训练1—21日，验证22—24日，测试25—31日。全体672区域小时，每个单独区域168小时。零组是本快照无保留记录。</a:t>
            </a:r>
          </a:p>
          <a:p xmlns:a="http://schemas.openxmlformats.org/drawingml/2006/main">
            <a:r>
              <a:t>全部结果：{"columns":["方法","样本数","MAE（条/小时）","RMSE（条/小时）","预测减实测（条/小时）"],"rows":[["单区域AR",672,4.436317020227514,7.0080028693044385,-0.034082576546039425],["多区域VAR",672,4.386168002182536,6.613795160738107,0.2665310881481223],["历史同期均值",672,4.23263888888889,7.447201722262099,-1.0352182539682542],["上一小时",672,5.505952380952381,9.350802104632521,-0.011904761904761904]]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默认网页：https://lilinchao.github.io/traffic-book-practice/open-course/chapter-07/#forecast</a:t>
            </a:r>
          </a:p>
          <a:p xmlns:a="http://schemas.openxmlformats.org/drawingml/2006/main">
            <a:r>
              <a:t>输入文件SHA256：{"projects/data/taxi.json":"bb9544cd868c305f2a91dde353ce5e30142c47434839cd764c3adbc1e4fda887","chapters/data/algorithms/ch7.json":"f1ddfa575aac64e50a2c25272ddf06406dab18d5fcca97ef0e7eebb19e2e3eeb"}</a:t>
            </a:r>
          </a:p>
          <a:p xmlns:a="http://schemas.openxmlformats.org/drawingml/2006/main">
            <a:r>
              <a:t>来源：https://www.nyc.gov/site/tlc/about/tlc-trip-record-data.page。NYC TLC 2024年1月绿出租车，遵守原始数据条款</a:t>
            </a:r>
          </a:p>
          <a:p xmlns:a="http://schemas.openxmlformats.org/drawingml/2006/main">
            <a:r>
              <a:t>本页图表为默认配置快照，课堂改变参数后以网页重新计算为准。图表与底层数据可编辑。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不同K值形成不同的服务日分组。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在全月31天的168维占比上执行已有KMeans，切换K和种子检查成员、各簇规模与原始日总量。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簇编号仅是标签，换编号不等于成员变化。单日小簇可能反映特殊日期，也可能不稳定。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课堂追问：一个只含一天的簇，能否直接定义为稳定的运营日型？</a:t>
            </a:r>
          </a:p>
          <a:p xmlns:a="http://schemas.openxmlformats.org/drawingml/2006/main">
            <a:r>
              <a:t>教学建议：先请学生预测参数变化方向，再运行网页对照；要求用交通对象、范围、分母和单位解释。</a:t>
            </a:r>
          </a:p>
          <a:p xmlns:a="http://schemas.openxmlformats.org/drawingml/2006/main">
            <a:r>
              <a:t>交互课堂：https://lilinchao.github.io/traffic-book-practice/open-course/chapter-07/#shape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来源：https://www.nyc.gov/site/tlc/about/tlc-trip-record-data.page</a:t>
            </a:r>
          </a:p>
          <a:p xmlns:a="http://schemas.openxmlformats.org/drawingml/2006/main">
            <a:r>
              <a:t>NYC TLC 2024年1月绿出租车，遵守原始数据条款</a:t>
            </a:r>
          </a:p>
          <a:p xmlns:a="http://schemas.openxmlformats.org/drawingml/2006/main">
            <a:r>
              <a:t>输入哈希：{"projects/data/taxi.json":"bb9544cd868c305f2a91dde353ce5e30142c47434839cd764c3adbc1e4fda887","chapters/data/algorithms/ch7.json":"f1ddfa575aac64e50a2c25272ddf06406dab18d5fcca97ef0e7eebb19e2e3eeb"}</a:t>
            </a:r>
          </a:p>
          <a:p xmlns:a="http://schemas.openxmlformats.org/drawingml/2006/main">
            <a:r>
              <a:t>课文源：符号释义与教学逻辑修订清洁合稿的已核验提取稿；本轮不修改书稿。</a:t>
            </a:r>
          </a:p>
          <a:p xmlns:a="http://schemas.openxmlformats.org/drawingml/2006/main">
            <a:r>
              <a:t>课程原创讲解CC BY-SA 4.0，代码MIT，第三方材料遵守原始条款。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计算方式：冻结KMeans成员与真实规模联合浏览</a:t>
            </a:r>
          </a:p>
          <a:p xmlns:a="http://schemas.openxmlformats.org/drawingml/2006/main">
            <a:r>
              <a:t>默认参数：{"k":"3","seed":"42"}</a:t>
            </a:r>
          </a:p>
          <a:p xmlns:a="http://schemas.openxmlformats.org/drawingml/2006/main">
            <a:r>
              <a:t>数据范围：56,549条保留上车记录，四区域预测与全月日型分别分析</a:t>
            </a:r>
          </a:p>
          <a:p xmlns:a="http://schemas.openxmlformats.org/drawingml/2006/main">
            <a:r>
              <a:t>结果解释：聚类使用31日×168维全日占比，不用上图总量拟合。表中查看成员并结合总量解释。簇编号可互换，不能直接比编号。</a:t>
            </a:r>
          </a:p>
          <a:p xmlns:a="http://schemas.openxmlformats.org/drawingml/2006/main">
            <a:r>
              <a:t>全部结果：{"columns":["日期","簇标签","原始日总量（条）"],"rows":[["01-01",3,1189],["01-02",2,1668],["01-03",2,1790],["01-04",2,2101],["01-05",2,2119],["01-06",1,1628],["01-07",3,1129],["01-08",2,1952],["01-09",2,2061],["01-10",2,2015],["01-11",2,2095],["01-12",2,2046],["01-13",3,1699],["01-14",1,1432],["01-15",1,1332],["01-16",2,1877],["01-17",2,2225],["01-18",2,2113],["01-19",2,1980],["01-20",1,1689],["01-21",3,1402],["01-22",2,1872],["01-23",2,1903],["01-24",2,2026],["01-25",2,2074],["01-26",2,2032],["01-27",1,1583],["01-28",1,1415],["01-29",2,1984],["01-30",2,2013],["01-31",2,2105]]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默认网页：https://lilinchao.github.io/traffic-book-practice/open-course/chapter-07/#shape</a:t>
            </a:r>
          </a:p>
          <a:p xmlns:a="http://schemas.openxmlformats.org/drawingml/2006/main">
            <a:r>
              <a:t>输入文件SHA256：{"projects/data/taxi.json":"bb9544cd868c305f2a91dde353ce5e30142c47434839cd764c3adbc1e4fda887","chapters/data/algorithms/ch7.json":"f1ddfa575aac64e50a2c25272ddf06406dab18d5fcca97ef0e7eebb19e2e3eeb"}</a:t>
            </a:r>
          </a:p>
          <a:p xmlns:a="http://schemas.openxmlformats.org/drawingml/2006/main">
            <a:r>
              <a:t>来源：https://www.nyc.gov/site/tlc/about/tlc-trip-record-data.page。NYC TLC 2024年1月绿出租车，遵守原始数据条款</a:t>
            </a:r>
          </a:p>
          <a:p xmlns:a="http://schemas.openxmlformats.org/drawingml/2006/main">
            <a:r>
              <a:t>本页图表为默认配置快照，课堂改变参数后以网页重新计算为准。图表与底层数据可编辑。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成员关系比簇编号更重要。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调整兰德指数ARI比较样本对是否共同分组，不受簇编号交换影响。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本课相对种子42核对。跨种子稳定只反映本样本内稳定性，不能证明跨月份有效。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课堂追问：为何轮廓系数较高还需要检查日期成员和样本量？</a:t>
            </a:r>
          </a:p>
          <a:p xmlns:a="http://schemas.openxmlformats.org/drawingml/2006/main">
            <a:r>
              <a:t>教学建议：先请学生预测参数变化方向，再运行网页对照；要求用交通对象、范围、分母和单位解释。</a:t>
            </a:r>
          </a:p>
          <a:p xmlns:a="http://schemas.openxmlformats.org/drawingml/2006/main">
            <a:r>
              <a:t>交互课堂：https://lilinchao.github.io/traffic-book-practice/open-course/chapter-07/#stability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来源：https://www.nyc.gov/site/tlc/about/tlc-trip-record-data.page</a:t>
            </a:r>
          </a:p>
          <a:p xmlns:a="http://schemas.openxmlformats.org/drawingml/2006/main">
            <a:r>
              <a:t>NYC TLC 2024年1月绿出租车，遵守原始数据条款</a:t>
            </a:r>
          </a:p>
          <a:p xmlns:a="http://schemas.openxmlformats.org/drawingml/2006/main">
            <a:r>
              <a:t>输入哈希：{"projects/data/taxi.json":"bb9544cd868c305f2a91dde353ce5e30142c47434839cd764c3adbc1e4fda887","chapters/data/algorithms/ch7.json":"f1ddfa575aac64e50a2c25272ddf06406dab18d5fcca97ef0e7eebb19e2e3eeb"}</a:t>
            </a:r>
          </a:p>
          <a:p xmlns:a="http://schemas.openxmlformats.org/drawingml/2006/main">
            <a:r>
              <a:t>课文源：符号释义与教学逻辑修订清洁合稿的已核验提取稿；本轮不修改书稿。</a:t>
            </a:r>
          </a:p>
          <a:p xmlns:a="http://schemas.openxmlformats.org/drawingml/2006/main">
            <a:r>
              <a:t>课程原创讲解CC BY-SA 4.0，代码MIT，第三方材料遵守原始条款。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计算方式：读取已有Python轮廓系数与ARI计算结果，不重新拟合</a:t>
            </a:r>
          </a:p>
          <a:p xmlns:a="http://schemas.openxmlformats.org/drawingml/2006/main">
            <a:r>
              <a:t>默认参数：{"k":"3"}</a:t>
            </a:r>
          </a:p>
          <a:p xmlns:a="http://schemas.openxmlformats.org/drawingml/2006/main">
            <a:r>
              <a:t>数据范围：56,549条保留上车记录，四区域预测与全月日型分别分析</a:t>
            </a:r>
          </a:p>
          <a:p xmlns:a="http://schemas.openxmlformats.org/drawingml/2006/main">
            <a:r>
              <a:t>结果解释：ARI比较成员配对，不受簇编号互换影响；跨种子稳定不等于跨月份稳定，也不是预测准确率。</a:t>
            </a:r>
          </a:p>
          <a:p xmlns:a="http://schemas.openxmlformats.org/drawingml/2006/main">
            <a:r>
              <a:t>全部结果：{"columns":["K","种子","样本内轮廓系数","相对种子42的ARI","最小簇日期数"],"rows":[[3,42,0.36717750059626875,1,4],[3,7,0.4277707046879564,0.9097112424065906,1],[3,19,0.4277707046879564,0.9097112424065906,1]]}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默认网页：https://lilinchao.github.io/traffic-book-practice/open-course/chapter-07/#stability</a:t>
            </a:r>
          </a:p>
          <a:p xmlns:a="http://schemas.openxmlformats.org/drawingml/2006/main">
            <a:r>
              <a:t>输入文件SHA256：{"projects/data/taxi.json":"bb9544cd868c305f2a91dde353ce5e30142c47434839cd764c3adbc1e4fda887","chapters/data/algorithms/ch7.json":"f1ddfa575aac64e50a2c25272ddf06406dab18d5fcca97ef0e7eebb19e2e3eeb"}</a:t>
            </a:r>
          </a:p>
          <a:p xmlns:a="http://schemas.openxmlformats.org/drawingml/2006/main">
            <a:r>
              <a:t>来源：https://www.nyc.gov/site/tlc/about/tlc-trip-record-data.page。NYC TLC 2024年1月绿出租车，遵守原始数据条款</a:t>
            </a:r>
          </a:p>
          <a:p xmlns:a="http://schemas.openxmlformats.org/drawingml/2006/main">
            <a:r>
              <a:t>本页图表为默认配置快照，课堂改变参数后以网页重新计算为准。图表与底层数据可编辑。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更复杂的算法仍需明确可用信息。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XGBoost可组合本区和邻区滞后特征。STGCN与DCRNN进一步用图结构刻画节点依赖。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图结构、标准化和超参数均应在训练与验证阶段确定。本课堂未宣称训练了图神经网络。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课堂追问：若未来测试期的路网结构发生改变，应追加什么适用性核查？</a:t>
            </a:r>
          </a:p>
          <a:p xmlns:a="http://schemas.openxmlformats.org/drawingml/2006/main">
            <a:r>
              <a:t>教学建议：先请学生预测参数变化方向，再运行网页对照；要求用交通对象、范围、分母和单位解释。</a:t>
            </a:r>
          </a:p>
          <a:p xmlns:a="http://schemas.openxmlformats.org/drawingml/2006/main">
            <a:r>
              <a:t>交互课堂：https://lilinchao.github.io/traffic-book-practice/open-course/chapter-07/#advanced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来源：https://www.nyc.gov/site/tlc/about/tlc-trip-record-data.page</a:t>
            </a:r>
          </a:p>
          <a:p xmlns:a="http://schemas.openxmlformats.org/drawingml/2006/main">
            <a:r>
              <a:t>NYC TLC 2024年1月绿出租车，遵守原始数据条款</a:t>
            </a:r>
          </a:p>
          <a:p xmlns:a="http://schemas.openxmlformats.org/drawingml/2006/main">
            <a:r>
              <a:t>输入哈希：{"projects/data/taxi.json":"bb9544cd868c305f2a91dde353ce5e30142c47434839cd764c3adbc1e4fda887","chapters/data/algorithms/ch7.json":"f1ddfa575aac64e50a2c25272ddf06406dab18d5fcca97ef0e7eebb19e2e3eeb"}</a:t>
            </a:r>
          </a:p>
          <a:p xmlns:a="http://schemas.openxmlformats.org/drawingml/2006/main">
            <a:r>
              <a:t>课文源：符号释义与教学逻辑修订清洁合稿的已核验提取稿；本轮不修改书稿。</a:t>
            </a:r>
          </a:p>
          <a:p xmlns:a="http://schemas.openxmlformats.org/drawingml/2006/main">
            <a:r>
              <a:t>课程原创讲解CC BY-SA 4.0，代码MIT，第三方材料遵守原始条款。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全月聚类和留出预测是两个独立分析。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全月日型使用了测试日期的形态，可用于事后运营复盘。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把这些全月标签直接作为测试期预测输入会引入未来信息，不能称为纯粹的留出预测。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课堂追问：若希望用日型做未来预测，训练、识别与评价流程应怎样重建？</a:t>
            </a:r>
          </a:p>
          <a:p xmlns:a="http://schemas.openxmlformats.org/drawingml/2006/main">
            <a:r>
              <a:t>教学建议：先请学生预测参数变化方向，再运行网页对照；要求用交通对象、范围、分母和单位解释。</a:t>
            </a:r>
          </a:p>
          <a:p xmlns:a="http://schemas.openxmlformats.org/drawingml/2006/main">
            <a:r>
              <a:t>交互课堂：https://lilinchao.github.io/traffic-book-practice/open-course/chapter-07/#boundary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来源：https://www.nyc.gov/site/tlc/about/tlc-trip-record-data.page</a:t>
            </a:r>
          </a:p>
          <a:p xmlns:a="http://schemas.openxmlformats.org/drawingml/2006/main">
            <a:r>
              <a:t>NYC TLC 2024年1月绿出租车，遵守原始数据条款</a:t>
            </a:r>
          </a:p>
          <a:p xmlns:a="http://schemas.openxmlformats.org/drawingml/2006/main">
            <a:r>
              <a:t>输入哈希：{"projects/data/taxi.json":"bb9544cd868c305f2a91dde353ce5e30142c47434839cd764c3adbc1e4fda887","chapters/data/algorithms/ch7.json":"f1ddfa575aac64e50a2c25272ddf06406dab18d5fcca97ef0e7eebb19e2e3eeb"}</a:t>
            </a:r>
          </a:p>
          <a:p xmlns:a="http://schemas.openxmlformats.org/drawingml/2006/main">
            <a:r>
              <a:t>课文源：符号释义与教学逻辑修订清洁合稿的已核验提取稿；本轮不修改书稿。</a:t>
            </a:r>
          </a:p>
          <a:p xmlns:a="http://schemas.openxmlformats.org/drawingml/2006/main">
            <a:r>
              <a:t>课程原创讲解CC BY-SA 4.0，代码MIT，第三方材料遵守原始条款。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改变评价区域，检查模型改善来自哪里。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代码实际读取四区域逐小时实测和冻结预测，重新计算样本数、MAE、RMSE与偏差。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通过修改region对比地区，保留原始规模。不要让归一化后的低误差掩盖绝对服务量偏差。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课堂追问：怎样向运营人员说明区域总误差和单小时误差的区别？</a:t>
            </a:r>
          </a:p>
          <a:p xmlns:a="http://schemas.openxmlformats.org/drawingml/2006/main">
            <a:r>
              <a:t>教学建议：先请学生预测参数变化方向，再运行网页对照；要求用交通对象、范围、分母和单位解释。</a:t>
            </a:r>
          </a:p>
          <a:p xmlns:a="http://schemas.openxmlformats.org/drawingml/2006/main">
            <a:r>
              <a:t>交互课堂：https://lilinchao.github.io/traffic-book-practice/open-course/chapter-07/#code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来源：https://www.nyc.gov/site/tlc/about/tlc-trip-record-data.page</a:t>
            </a:r>
          </a:p>
          <a:p xmlns:a="http://schemas.openxmlformats.org/drawingml/2006/main">
            <a:r>
              <a:t>NYC TLC 2024年1月绿出租车，遵守原始数据条款</a:t>
            </a:r>
          </a:p>
          <a:p xmlns:a="http://schemas.openxmlformats.org/drawingml/2006/main">
            <a:r>
              <a:t>输入哈希：{"projects/data/taxi.json":"bb9544cd868c305f2a91dde353ce5e30142c47434839cd764c3adbc1e4fda887","chapters/data/algorithms/ch7.json":"f1ddfa575aac64e50a2c25272ddf06406dab18d5fcca97ef0e7eebb19e2e3eeb"}</a:t>
            </a:r>
          </a:p>
          <a:p xmlns:a="http://schemas.openxmlformats.org/drawingml/2006/main">
            <a:r>
              <a:t>课文源：符号释义与教学逻辑修订清洁合稿的已核验提取稿；本轮不修改书稿。</a:t>
            </a:r>
          </a:p>
          <a:p xmlns:a="http://schemas.openxmlformats.org/drawingml/2006/main">
            <a:r>
              <a:t>课程原创讲解CC BY-SA 4.0，代码MIT，第三方材料遵守原始条款。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统计模式需要结合交通活动背景验证。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报告地区时段差异、AR/VAR比较和典型日期成员，联合解释原始规模与归一化形态。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将建议写为待核实的运营假设，补充空驶、等待、服务可用性及跨月观测。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课堂追问：你会选择哪两个地区或时段，优先开展补充调查？</a:t>
            </a:r>
          </a:p>
          <a:p xmlns:a="http://schemas.openxmlformats.org/drawingml/2006/main">
            <a:r>
              <a:t>教学建议：先请学生预测参数变化方向，再运行网页对照；要求用交通对象、范围、分母和单位解释。</a:t>
            </a:r>
          </a:p>
          <a:p xmlns:a="http://schemas.openxmlformats.org/drawingml/2006/main">
            <a:r>
              <a:t>交互课堂：https://lilinchao.github.io/traffic-book-practice/open-course/chapter-07/#project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来源：https://www.nyc.gov/site/tlc/about/tlc-trip-record-data.page</a:t>
            </a:r>
          </a:p>
          <a:p xmlns:a="http://schemas.openxmlformats.org/drawingml/2006/main">
            <a:r>
              <a:t>NYC TLC 2024年1月绿出租车，遵守原始数据条款</a:t>
            </a:r>
          </a:p>
          <a:p xmlns:a="http://schemas.openxmlformats.org/drawingml/2006/main">
            <a:r>
              <a:t>输入哈希：{"projects/data/taxi.json":"bb9544cd868c305f2a91dde353ce5e30142c47434839cd764c3adbc1e4fda887","chapters/data/algorithms/ch7.json":"f1ddfa575aac64e50a2c25272ddf06406dab18d5fcca97ef0e7eebb19e2e3eeb"}</a:t>
            </a:r>
          </a:p>
          <a:p xmlns:a="http://schemas.openxmlformats.org/drawingml/2006/main">
            <a:r>
              <a:t>课文源：符号释义与教学逻辑修订清洁合稿的已核验提取稿；本轮不修改书稿。</a:t>
            </a:r>
          </a:p>
          <a:p xmlns:a="http://schemas.openxmlformats.org/drawingml/2006/main">
            <a:r>
              <a:t>课程原创讲解CC BY-SA 4.0，代码MIT，第三方材料遵守原始条款。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教学主线：不同地区的出租车服务节律能否帮助分时运营？</a:t>
            </a:r>
          </a:p>
          <a:p xmlns:a="http://schemas.openxmlformats.org/drawingml/2006/main">
            <a:r>
              <a:t>建议135分钟讲授与讨论 + 90分钟上机</a:t>
            </a:r>
          </a:p>
          <a:p xmlns:a="http://schemas.openxmlformats.org/drawingml/2006/main">
            <a:r>
              <a:t>课堂：https://lilinchao.github.io/traffic-book-practice/open-course/chapter-07/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来源：https://www.nyc.gov/site/tlc/about/tlc-trip-record-data.page</a:t>
            </a:r>
          </a:p>
          <a:p xmlns:a="http://schemas.openxmlformats.org/drawingml/2006/main">
            <a:r>
              <a:t>NYC TLC 2024年1月绿出租车，遵守原始数据条款</a:t>
            </a:r>
          </a:p>
          <a:p xmlns:a="http://schemas.openxmlformats.org/drawingml/2006/main">
            <a:r>
              <a:t>输入哈希：{"projects/data/taxi.json":"bb9544cd868c305f2a91dde353ce5e30142c47434839cd764c3adbc1e4fda887","chapters/data/algorithms/ch7.json":"f1ddfa575aac64e50a2c25272ddf06406dab18d5fcca97ef0e7eebb19e2e3eeb"}</a:t>
            </a:r>
          </a:p>
          <a:p xmlns:a="http://schemas.openxmlformats.org/drawingml/2006/main">
            <a:r>
              <a:t>课文源：符号释义与教学逻辑修订清洁合稿的已核验提取稿；本轮不修改书稿。</a:t>
            </a:r>
          </a:p>
          <a:p xmlns:a="http://schemas.openxmlformats.org/drawingml/2006/main">
            <a:r>
              <a:t>课程原创讲解CC BY-SA 4.0，代码MIT，第三方材料遵守原始条款。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c6696d4b0948a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07e78db84ac4191" /><Relationship Type="http://schemas.openxmlformats.org/officeDocument/2006/relationships/slideLayout" Target="/ppt/slideLayouts/slideLayout1.xml" Id="R34db2e9f417041d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4db2e9f417041d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34e56fe7f8474c" /><Relationship Type="http://schemas.openxmlformats.org/officeDocument/2006/relationships/image" Target="/ppt/media/image.png" Id="R06bcae658d7e48b6" /><Relationship Type="http://schemas.openxmlformats.org/officeDocument/2006/relationships/notesSlide" Target="/ppt/notesSlides/notesSlide1.xml" Id="R639543c811764b0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f4a2fb467243b8" /><Relationship Type="http://schemas.openxmlformats.org/officeDocument/2006/relationships/hyperlink" Target="https://lilinchao.github.io/traffic-book-practice/open-course/chapter-07/" TargetMode="External" Id="R8972f730f36c4e20" /><Relationship Type="http://schemas.openxmlformats.org/officeDocument/2006/relationships/notesSlide" Target="/ppt/notesSlides/notesSlide2.xml" Id="R2165191817d348c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e758be5d3c4f1e" /><Relationship Type="http://schemas.openxmlformats.org/officeDocument/2006/relationships/hyperlink" Target="https://lilinchao.github.io/traffic-book-practice/open-course/chapter-07/#mission" TargetMode="External" Id="Rf412a6ac1462437d" /><Relationship Type="http://schemas.openxmlformats.org/officeDocument/2006/relationships/notesSlide" Target="/ppt/notesSlides/notesSlide3.xml" Id="R00495996b60e4ec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bfcf1e8497464c" /><Relationship Type="http://schemas.openxmlformats.org/officeDocument/2006/relationships/hyperlink" Target="https://lilinchao.github.io/traffic-book-practice/open-course/chapter-07/#matrix" TargetMode="External" Id="R63d3a3a896f44b16" /><Relationship Type="http://schemas.openxmlformats.org/officeDocument/2006/relationships/notesSlide" Target="/ppt/notesSlides/notesSlide4.xml" Id="Rb631d963b78e4c8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814681904f45f2" /><Relationship Type="http://schemas.openxmlformats.org/officeDocument/2006/relationships/hyperlink" Target="https://lilinchao.github.io/traffic-book-practice/open-course/chapter-07/#denominator" TargetMode="External" Id="R021bea09659b4ac4" /><Relationship Type="http://schemas.openxmlformats.org/officeDocument/2006/relationships/notesSlide" Target="/ppt/notesSlides/notesSlide5.xml" Id="R13b3cd00429e492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6406e465db4157" /><Relationship Type="http://schemas.openxmlformats.org/officeDocument/2006/relationships/chart" Target="/ppt/slides/charts/chart1.xml" Id="R7877a6e839e14efb" /><Relationship Type="http://schemas.openxmlformats.org/officeDocument/2006/relationships/hyperlink" Target="https://lilinchao.github.io/traffic-book-practice/open-course/chapter-07/#denominator" TargetMode="External" Id="R897474cdf2d546dc" /><Relationship Type="http://schemas.openxmlformats.org/officeDocument/2006/relationships/notesSlide" Target="/ppt/notesSlides/notesSlide6.xml" Id="R97c1e50aea0243b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aea7871dd148fb" /><Relationship Type="http://schemas.openxmlformats.org/officeDocument/2006/relationships/hyperlink" Target="https://lilinchao.github.io/traffic-book-practice/open-course/chapter-07/#profile" TargetMode="External" Id="Rb5b5235267bc456e" /><Relationship Type="http://schemas.openxmlformats.org/officeDocument/2006/relationships/notesSlide" Target="/ppt/notesSlides/notesSlide7.xml" Id="R1ef4fab5df714c9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47f9700bf14a2d" /><Relationship Type="http://schemas.openxmlformats.org/officeDocument/2006/relationships/chart" Target="/ppt/slides/charts/chart2.xml" Id="Rdef605d9579543c1" /><Relationship Type="http://schemas.openxmlformats.org/officeDocument/2006/relationships/hyperlink" Target="https://lilinchao.github.io/traffic-book-practice/open-course/chapter-07/#profile" TargetMode="External" Id="Rde9443497f864742" /><Relationship Type="http://schemas.openxmlformats.org/officeDocument/2006/relationships/notesSlide" Target="/ppt/notesSlides/notesSlide8.xml" Id="Rd0d7f97becd24ef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ecd7024ad44688" /><Relationship Type="http://schemas.openxmlformats.org/officeDocument/2006/relationships/hyperlink" Target="https://lilinchao.github.io/traffic-book-practice/open-course/chapter-07/#dependence" TargetMode="External" Id="R32c529ce7005496b" /><Relationship Type="http://schemas.openxmlformats.org/officeDocument/2006/relationships/notesSlide" Target="/ppt/notesSlides/notesSlide9.xml" Id="Rad0c5c0562ca47f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f8fda0176f491a" /><Relationship Type="http://schemas.openxmlformats.org/officeDocument/2006/relationships/hyperlink" Target="https://lilinchao.github.io/traffic-book-practice/open-course/chapter-07/#adjacency" TargetMode="External" Id="Ra1410100610745e4" /><Relationship Type="http://schemas.openxmlformats.org/officeDocument/2006/relationships/notesSlide" Target="/ppt/notesSlides/notesSlide10.xml" Id="R3b4c87cd620543b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4d886885ae4cdf" /><Relationship Type="http://schemas.openxmlformats.org/officeDocument/2006/relationships/hyperlink" Target="https://lilinchao.github.io/traffic-book-practice/open-course/chapter-07/#clean" TargetMode="External" Id="R1942e034960040f6" /><Relationship Type="http://schemas.openxmlformats.org/officeDocument/2006/relationships/notesSlide" Target="/ppt/notesSlides/notesSlide11.xml" Id="R23ef68b7cb684cb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c77286e26c4008" /><Relationship Type="http://schemas.openxmlformats.org/officeDocument/2006/relationships/hyperlink" Target="https://lilinchao.github.io/traffic-book-practice/open-course/chapter-07/#cluster-method" TargetMode="External" Id="Rb3d027c7a63c456f" /><Relationship Type="http://schemas.openxmlformats.org/officeDocument/2006/relationships/notesSlide" Target="/ppt/notesSlides/notesSlide12.xml" Id="R2c7684ad4cbc485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08022cc5364e64" /><Relationship Type="http://schemas.openxmlformats.org/officeDocument/2006/relationships/hyperlink" Target="https://lilinchao.github.io/traffic-book-practice/open-course/chapter-07/#arvar" TargetMode="External" Id="Ra5eb26bce4224bd5" /><Relationship Type="http://schemas.openxmlformats.org/officeDocument/2006/relationships/notesSlide" Target="/ppt/notesSlides/notesSlide13.xml" Id="Rcc7c0e1b0ad1435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8d59a7df7f4ece" /><Relationship Type="http://schemas.openxmlformats.org/officeDocument/2006/relationships/hyperlink" Target="https://lilinchao.github.io/traffic-book-practice/open-course/chapter-07/#forecast" TargetMode="External" Id="R005301283fe44c1d" /><Relationship Type="http://schemas.openxmlformats.org/officeDocument/2006/relationships/notesSlide" Target="/ppt/notesSlides/notesSlide14.xml" Id="Rd9ad1c9e5fba48e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c52491fb354e2f" /><Relationship Type="http://schemas.openxmlformats.org/officeDocument/2006/relationships/chart" Target="/ppt/slides/charts/chart3.xml" Id="R29cc0792034b428b" /><Relationship Type="http://schemas.openxmlformats.org/officeDocument/2006/relationships/hyperlink" Target="https://lilinchao.github.io/traffic-book-practice/open-course/chapter-07/#forecast" TargetMode="External" Id="R444ebf78346b4f49" /><Relationship Type="http://schemas.openxmlformats.org/officeDocument/2006/relationships/notesSlide" Target="/ppt/notesSlides/notesSlide15.xml" Id="R8a7f9013083a4c7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47a7f69a1945b1" /><Relationship Type="http://schemas.openxmlformats.org/officeDocument/2006/relationships/hyperlink" Target="https://lilinchao.github.io/traffic-book-practice/open-course/chapter-07/#shape" TargetMode="External" Id="R0b5559f9a06942f4" /><Relationship Type="http://schemas.openxmlformats.org/officeDocument/2006/relationships/notesSlide" Target="/ppt/notesSlides/notesSlide16.xml" Id="Ra911cc629d2d48d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1047dc89814a49" /><Relationship Type="http://schemas.openxmlformats.org/officeDocument/2006/relationships/chart" Target="/ppt/slides/charts/chart4.xml" Id="R5ee528cbab50468a" /><Relationship Type="http://schemas.openxmlformats.org/officeDocument/2006/relationships/hyperlink" Target="https://lilinchao.github.io/traffic-book-practice/open-course/chapter-07/#shape" TargetMode="External" Id="R12bac505a6de4a0c" /><Relationship Type="http://schemas.openxmlformats.org/officeDocument/2006/relationships/notesSlide" Target="/ppt/notesSlides/notesSlide17.xml" Id="R1bd8d3f7ee964e1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1acb2bbd3d4366" /><Relationship Type="http://schemas.openxmlformats.org/officeDocument/2006/relationships/hyperlink" Target="https://lilinchao.github.io/traffic-book-practice/open-course/chapter-07/#stability" TargetMode="External" Id="R4578e432d4b143c5" /><Relationship Type="http://schemas.openxmlformats.org/officeDocument/2006/relationships/notesSlide" Target="/ppt/notesSlides/notesSlide18.xml" Id="R53c63d5cc2b345d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3c65a9a3854aca" /><Relationship Type="http://schemas.openxmlformats.org/officeDocument/2006/relationships/chart" Target="/ppt/slides/charts/chart5.xml" Id="R38264f1b47e94505" /><Relationship Type="http://schemas.openxmlformats.org/officeDocument/2006/relationships/hyperlink" Target="https://lilinchao.github.io/traffic-book-practice/open-course/chapter-07/#stability" TargetMode="External" Id="R70382ffbe0bb4337" /><Relationship Type="http://schemas.openxmlformats.org/officeDocument/2006/relationships/notesSlide" Target="/ppt/notesSlides/notesSlide19.xml" Id="Rf4f22059150f4d4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f34e6bbe924206" /><Relationship Type="http://schemas.openxmlformats.org/officeDocument/2006/relationships/hyperlink" Target="https://lilinchao.github.io/traffic-book-practice/open-course/chapter-07/#advanced" TargetMode="External" Id="R6ef1574a69664769" /><Relationship Type="http://schemas.openxmlformats.org/officeDocument/2006/relationships/notesSlide" Target="/ppt/notesSlides/notesSlide20.xml" Id="R7e5f6d5f7ef6459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2ca32708fe46e2" /><Relationship Type="http://schemas.openxmlformats.org/officeDocument/2006/relationships/hyperlink" Target="https://lilinchao.github.io/traffic-book-practice/open-course/chapter-07/#boundary" TargetMode="External" Id="Rd2ca4846b2624a0c" /><Relationship Type="http://schemas.openxmlformats.org/officeDocument/2006/relationships/notesSlide" Target="/ppt/notesSlides/notesSlide21.xml" Id="R54fed4dcf829416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15eac8a64c4bef" /><Relationship Type="http://schemas.openxmlformats.org/officeDocument/2006/relationships/hyperlink" Target="https://lilinchao.github.io/traffic-book-practice/open-course/chapter-07/#code" TargetMode="External" Id="R81c9ce325968494a" /><Relationship Type="http://schemas.openxmlformats.org/officeDocument/2006/relationships/notesSlide" Target="/ppt/notesSlides/notesSlide22.xml" Id="Re1307ba8f6d744c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6faec478794924" /><Relationship Type="http://schemas.openxmlformats.org/officeDocument/2006/relationships/hyperlink" Target="https://lilinchao.github.io/traffic-book-practice/open-course/chapter-07/#project" TargetMode="External" Id="R27da03b984ae495c" /><Relationship Type="http://schemas.openxmlformats.org/officeDocument/2006/relationships/notesSlide" Target="/ppt/notesSlides/notesSlide23.xml" Id="Rb14685aa98b2496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7e10a5c1cc4d28" /><Relationship Type="http://schemas.openxmlformats.org/officeDocument/2006/relationships/hyperlink" Target="https://lilinchao.github.io/traffic-book-practice/open-course/chapter-07/" TargetMode="External" Id="R4e093f8c573143c7" /><Relationship Type="http://schemas.openxmlformats.org/officeDocument/2006/relationships/hyperlink" Target="https://lilinchao.github.io/traffic-book-practice/open-course/#project/ch07/code" TargetMode="External" Id="R7e96179603604e9f" /><Relationship Type="http://schemas.openxmlformats.org/officeDocument/2006/relationships/hyperlink" Target="https://lilinchao.github.io/traffic-book-practice/open-course/#cases" TargetMode="External" Id="Rd6987cf12f534d39" /><Relationship Type="http://schemas.openxmlformats.org/officeDocument/2006/relationships/notesSlide" Target="/ppt/notesSlides/notesSlide24.xml" Id="R07344f9bd93849a0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平日（23天）</c:v>
          </c:tx>
          <c:spPr>
            <a:solidFill xmlns:a="http://schemas.openxmlformats.org/drawingml/2006/main">
              <a:srgbClr val="087E82"/>
            </a:solidFill>
            <a:ln xmlns:a="http://schemas.openxmlformats.org/drawingml/2006/main" w="28575">
              <a:solidFill>
                <a:srgbClr val="087E82"/>
              </a:solidFill>
            </a:ln>
          </c:spPr>
          <c:marker>
            <c:symbol val="none"/>
          </c:marker>
          <c:cat>
            <c:strRef>
              <c:f>'Chart Data'!$A$2:$A$25</c:f>
              <c:strCache>
                <c:ptCount val="24"/>
                <c:pt idx="0">
                  <c:v>0时</c:v>
                </c:pt>
                <c:pt idx="1">
                  <c:v>1时</c:v>
                </c:pt>
                <c:pt idx="2">
                  <c:v>2时</c:v>
                </c:pt>
                <c:pt idx="3">
                  <c:v>3时</c:v>
                </c:pt>
                <c:pt idx="4">
                  <c:v>4时</c:v>
                </c:pt>
                <c:pt idx="5">
                  <c:v>5时</c:v>
                </c:pt>
                <c:pt idx="6">
                  <c:v>6时</c:v>
                </c:pt>
                <c:pt idx="7">
                  <c:v>7时</c:v>
                </c:pt>
                <c:pt idx="8">
                  <c:v>8时</c:v>
                </c:pt>
                <c:pt idx="9">
                  <c:v>9时</c:v>
                </c:pt>
                <c:pt idx="10">
                  <c:v>10时</c:v>
                </c:pt>
                <c:pt idx="11">
                  <c:v>11时</c:v>
                </c:pt>
                <c:pt idx="12">
                  <c:v>12时</c:v>
                </c:pt>
                <c:pt idx="13">
                  <c:v>13时</c:v>
                </c:pt>
                <c:pt idx="14">
                  <c:v>14时</c:v>
                </c:pt>
                <c:pt idx="15">
                  <c:v>15时</c:v>
                </c:pt>
                <c:pt idx="16">
                  <c:v>16时</c:v>
                </c:pt>
                <c:pt idx="17">
                  <c:v>17时</c:v>
                </c:pt>
                <c:pt idx="18">
                  <c:v>18时</c:v>
                </c:pt>
                <c:pt idx="19">
                  <c:v>19时</c:v>
                </c:pt>
                <c:pt idx="20">
                  <c:v>20时</c:v>
                </c:pt>
                <c:pt idx="21">
                  <c:v>21时</c:v>
                </c:pt>
                <c:pt idx="22">
                  <c:v>22时</c:v>
                </c:pt>
                <c:pt idx="23">
                  <c:v>23时</c:v>
                </c:pt>
              </c:strCache>
            </c:strRef>
          </c:cat>
          <c:val>
            <c:numRef>
              <c:f>'Chart Data'!$B$2:$B$25</c:f>
              <c:numCache>
                <c:formatCode>#,##0</c:formatCode>
                <c:ptCount val="24"/>
                <c:pt idx="0">
                  <c:v>11.56521739</c:v>
                </c:pt>
                <c:pt idx="1">
                  <c:v>6.73913043</c:v>
                </c:pt>
                <c:pt idx="2">
                  <c:v>5.04347826</c:v>
                </c:pt>
                <c:pt idx="3">
                  <c:v>4.47826087</c:v>
                </c:pt>
                <c:pt idx="4">
                  <c:v>3.95652174</c:v>
                </c:pt>
                <c:pt idx="5">
                  <c:v>2.82608696</c:v>
                </c:pt>
                <c:pt idx="6">
                  <c:v>5.34782609</c:v>
                </c:pt>
                <c:pt idx="7">
                  <c:v>14</c:v>
                </c:pt>
                <c:pt idx="8">
                  <c:v>20.7826087</c:v>
                </c:pt>
                <c:pt idx="9">
                  <c:v>21.82608696</c:v>
                </c:pt>
                <c:pt idx="10">
                  <c:v>20.69565217</c:v>
                </c:pt>
                <c:pt idx="11">
                  <c:v>23.52173913</c:v>
                </c:pt>
                <c:pt idx="12">
                  <c:v>23.47826087</c:v>
                </c:pt>
                <c:pt idx="13">
                  <c:v>26.56521739</c:v>
                </c:pt>
                <c:pt idx="14">
                  <c:v>28.30434783</c:v>
                </c:pt>
                <c:pt idx="15">
                  <c:v>32.39130435</c:v>
                </c:pt>
                <c:pt idx="16">
                  <c:v>38.04347826</c:v>
                </c:pt>
                <c:pt idx="17">
                  <c:v>42.39130435</c:v>
                </c:pt>
                <c:pt idx="18">
                  <c:v>43</c:v>
                </c:pt>
                <c:pt idx="19">
                  <c:v>33.47826087</c:v>
                </c:pt>
                <c:pt idx="20">
                  <c:v>25.08695652</c:v>
                </c:pt>
                <c:pt idx="21">
                  <c:v>18.2173913</c:v>
                </c:pt>
                <c:pt idx="22">
                  <c:v>18.86956522</c:v>
                </c:pt>
                <c:pt idx="23">
                  <c:v>15.34782609</c:v>
                </c:pt>
              </c:numCache>
            </c:numRef>
          </c:val>
          <c:smooth val="0"/>
        </c:ser>
        <c:ser>
          <c:idx val="1"/>
          <c:order val="1"/>
          <c:tx>
            <c:v>周末（8天）</c:v>
          </c:tx>
          <c:spPr>
            <a:solidFill xmlns:a="http://schemas.openxmlformats.org/drawingml/2006/main">
              <a:srgbClr val="B66C24"/>
            </a:solidFill>
            <a:ln xmlns:a="http://schemas.openxmlformats.org/drawingml/2006/main" w="28575">
              <a:solidFill>
                <a:srgbClr val="B66C24"/>
              </a:solidFill>
            </a:ln>
          </c:spPr>
          <c:marker>
            <c:symbol val="none"/>
          </c:marker>
          <c:cat>
            <c:strRef>
              <c:f>'Chart Data'!$C$2:$C$25</c:f>
              <c:strCache>
                <c:ptCount val="24"/>
                <c:pt idx="0">
                  <c:v>0时</c:v>
                </c:pt>
                <c:pt idx="1">
                  <c:v>1时</c:v>
                </c:pt>
                <c:pt idx="2">
                  <c:v>2时</c:v>
                </c:pt>
                <c:pt idx="3">
                  <c:v>3时</c:v>
                </c:pt>
                <c:pt idx="4">
                  <c:v>4时</c:v>
                </c:pt>
                <c:pt idx="5">
                  <c:v>5时</c:v>
                </c:pt>
                <c:pt idx="6">
                  <c:v>6时</c:v>
                </c:pt>
                <c:pt idx="7">
                  <c:v>7时</c:v>
                </c:pt>
                <c:pt idx="8">
                  <c:v>8时</c:v>
                </c:pt>
                <c:pt idx="9">
                  <c:v>9时</c:v>
                </c:pt>
                <c:pt idx="10">
                  <c:v>10时</c:v>
                </c:pt>
                <c:pt idx="11">
                  <c:v>11时</c:v>
                </c:pt>
                <c:pt idx="12">
                  <c:v>12时</c:v>
                </c:pt>
                <c:pt idx="13">
                  <c:v>13时</c:v>
                </c:pt>
                <c:pt idx="14">
                  <c:v>14时</c:v>
                </c:pt>
                <c:pt idx="15">
                  <c:v>15时</c:v>
                </c:pt>
                <c:pt idx="16">
                  <c:v>16时</c:v>
                </c:pt>
                <c:pt idx="17">
                  <c:v>17时</c:v>
                </c:pt>
                <c:pt idx="18">
                  <c:v>18时</c:v>
                </c:pt>
                <c:pt idx="19">
                  <c:v>19时</c:v>
                </c:pt>
                <c:pt idx="20">
                  <c:v>20时</c:v>
                </c:pt>
                <c:pt idx="21">
                  <c:v>21时</c:v>
                </c:pt>
                <c:pt idx="22">
                  <c:v>22时</c:v>
                </c:pt>
                <c:pt idx="23">
                  <c:v>23时</c:v>
                </c:pt>
              </c:strCache>
            </c:strRef>
          </c:cat>
          <c:val>
            <c:numRef>
              <c:f>'Chart Data'!$D$2:$D$25</c:f>
              <c:numCache>
                <c:formatCode>#,##0</c:formatCode>
                <c:ptCount val="24"/>
                <c:pt idx="0">
                  <c:v>28.125</c:v>
                </c:pt>
                <c:pt idx="1">
                  <c:v>24.875</c:v>
                </c:pt>
                <c:pt idx="2">
                  <c:v>19.75</c:v>
                </c:pt>
                <c:pt idx="3">
                  <c:v>16.5</c:v>
                </c:pt>
                <c:pt idx="4">
                  <c:v>10.125</c:v>
                </c:pt>
                <c:pt idx="5">
                  <c:v>5.75</c:v>
                </c:pt>
                <c:pt idx="6">
                  <c:v>6.75</c:v>
                </c:pt>
                <c:pt idx="7">
                  <c:v>7.25</c:v>
                </c:pt>
                <c:pt idx="8">
                  <c:v>9.375</c:v>
                </c:pt>
                <c:pt idx="9">
                  <c:v>15.125</c:v>
                </c:pt>
                <c:pt idx="10">
                  <c:v>16.25</c:v>
                </c:pt>
                <c:pt idx="11">
                  <c:v>19.625</c:v>
                </c:pt>
                <c:pt idx="12">
                  <c:v>19.75</c:v>
                </c:pt>
                <c:pt idx="13">
                  <c:v>21.625</c:v>
                </c:pt>
                <c:pt idx="14">
                  <c:v>26.25</c:v>
                </c:pt>
                <c:pt idx="15">
                  <c:v>27.625</c:v>
                </c:pt>
                <c:pt idx="16">
                  <c:v>27.125</c:v>
                </c:pt>
                <c:pt idx="17">
                  <c:v>30.5</c:v>
                </c:pt>
                <c:pt idx="18">
                  <c:v>28.5</c:v>
                </c:pt>
                <c:pt idx="19">
                  <c:v>30.375</c:v>
                </c:pt>
                <c:pt idx="20">
                  <c:v>21.25</c:v>
                </c:pt>
                <c:pt idx="21">
                  <c:v>19.25</c:v>
                </c:pt>
                <c:pt idx="22">
                  <c:v>18.125</c:v>
                </c:pt>
                <c:pt idx="23">
                  <c:v>20.125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tickLblSkip val="3"/>
        <c:tickMarkSkip val="3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CDAD5"/>
              </a:solidFill>
            </a:ln>
          </c:spPr>
        </c:majorGridlines>
        <c:numFmt formatCode="#,##0" sourceLinked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EFA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EFA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曼哈顿</c:v>
          </c:tx>
          <c:spPr>
            <a:solidFill xmlns:a="http://schemas.openxmlformats.org/drawingml/2006/main">
              <a:srgbClr val="087E82"/>
            </a:solidFill>
            <a:ln xmlns:a="http://schemas.openxmlformats.org/drawingml/2006/main" w="28575">
              <a:solidFill>
                <a:srgbClr val="087E82"/>
              </a:solidFill>
            </a:ln>
          </c:spPr>
          <c:marker>
            <c:symbol val="none"/>
          </c:marker>
          <c:cat>
            <c:strRef>
              <c:f>'Chart Data'!$A$2:$A$25</c:f>
              <c:strCache>
                <c:ptCount val="24"/>
                <c:pt idx="0">
                  <c:v>0时</c:v>
                </c:pt>
                <c:pt idx="1">
                  <c:v>1时</c:v>
                </c:pt>
                <c:pt idx="2">
                  <c:v>2时</c:v>
                </c:pt>
                <c:pt idx="3">
                  <c:v>3时</c:v>
                </c:pt>
                <c:pt idx="4">
                  <c:v>4时</c:v>
                </c:pt>
                <c:pt idx="5">
                  <c:v>5时</c:v>
                </c:pt>
                <c:pt idx="6">
                  <c:v>6时</c:v>
                </c:pt>
                <c:pt idx="7">
                  <c:v>7时</c:v>
                </c:pt>
                <c:pt idx="8">
                  <c:v>8时</c:v>
                </c:pt>
                <c:pt idx="9">
                  <c:v>9时</c:v>
                </c:pt>
                <c:pt idx="10">
                  <c:v>10时</c:v>
                </c:pt>
                <c:pt idx="11">
                  <c:v>11时</c:v>
                </c:pt>
                <c:pt idx="12">
                  <c:v>12时</c:v>
                </c:pt>
                <c:pt idx="13">
                  <c:v>13时</c:v>
                </c:pt>
                <c:pt idx="14">
                  <c:v>14时</c:v>
                </c:pt>
                <c:pt idx="15">
                  <c:v>15时</c:v>
                </c:pt>
                <c:pt idx="16">
                  <c:v>16时</c:v>
                </c:pt>
                <c:pt idx="17">
                  <c:v>17时</c:v>
                </c:pt>
                <c:pt idx="18">
                  <c:v>18时</c:v>
                </c:pt>
                <c:pt idx="19">
                  <c:v>19时</c:v>
                </c:pt>
                <c:pt idx="20">
                  <c:v>20时</c:v>
                </c:pt>
                <c:pt idx="21">
                  <c:v>21时</c:v>
                </c:pt>
                <c:pt idx="22">
                  <c:v>22时</c:v>
                </c:pt>
                <c:pt idx="23">
                  <c:v>23时</c:v>
                </c:pt>
              </c:strCache>
            </c:strRef>
          </c:cat>
          <c:val>
            <c:numRef>
              <c:f>'Chart Data'!$B$2:$B$25</c:f>
              <c:numCache>
                <c:formatCode>#,##0</c:formatCode>
                <c:ptCount val="24"/>
                <c:pt idx="0">
                  <c:v>0.88290812</c:v>
                </c:pt>
                <c:pt idx="1">
                  <c:v>0.58454606</c:v>
                </c:pt>
                <c:pt idx="2">
                  <c:v>0.28922852</c:v>
                </c:pt>
                <c:pt idx="3">
                  <c:v>0.15527005</c:v>
                </c:pt>
                <c:pt idx="4">
                  <c:v>0.18267064</c:v>
                </c:pt>
                <c:pt idx="5">
                  <c:v>0.39883091</c:v>
                </c:pt>
                <c:pt idx="6">
                  <c:v>1.81757292</c:v>
                </c:pt>
                <c:pt idx="7">
                  <c:v>5.22742495</c:v>
                </c:pt>
                <c:pt idx="8">
                  <c:v>5.87895025</c:v>
                </c:pt>
                <c:pt idx="9">
                  <c:v>6.08597698</c:v>
                </c:pt>
                <c:pt idx="10">
                  <c:v>6.03117579</c:v>
                </c:pt>
                <c:pt idx="11">
                  <c:v>5.84850515</c:v>
                </c:pt>
                <c:pt idx="12">
                  <c:v>5.65974548</c:v>
                </c:pt>
                <c:pt idx="13">
                  <c:v>5.97941911</c:v>
                </c:pt>
                <c:pt idx="14">
                  <c:v>6.65225598</c:v>
                </c:pt>
                <c:pt idx="15">
                  <c:v>7.86701577</c:v>
                </c:pt>
                <c:pt idx="16">
                  <c:v>8.00401875</c:v>
                </c:pt>
                <c:pt idx="17">
                  <c:v>8.28106923</c:v>
                </c:pt>
                <c:pt idx="18">
                  <c:v>7.55343116</c:v>
                </c:pt>
                <c:pt idx="19">
                  <c:v>5.91852889</c:v>
                </c:pt>
                <c:pt idx="20">
                  <c:v>4.15575717</c:v>
                </c:pt>
                <c:pt idx="21">
                  <c:v>2.94099738</c:v>
                </c:pt>
                <c:pt idx="22">
                  <c:v>2.06417829</c:v>
                </c:pt>
                <c:pt idx="23">
                  <c:v>1.54052244</c:v>
                </c:pt>
              </c:numCache>
            </c:numRef>
          </c:val>
          <c:smooth val="0"/>
        </c:ser>
        <c:ser>
          <c:idx val="1"/>
          <c:order val="1"/>
          <c:tx>
            <c:v>皇后区</c:v>
          </c:tx>
          <c:spPr>
            <a:solidFill xmlns:a="http://schemas.openxmlformats.org/drawingml/2006/main">
              <a:srgbClr val="B66C24"/>
            </a:solidFill>
            <a:ln xmlns:a="http://schemas.openxmlformats.org/drawingml/2006/main" w="28575">
              <a:solidFill>
                <a:srgbClr val="B66C24"/>
              </a:solidFill>
            </a:ln>
          </c:spPr>
          <c:marker>
            <c:symbol val="none"/>
          </c:marker>
          <c:cat>
            <c:strRef>
              <c:f>'Chart Data'!$C$2:$C$25</c:f>
              <c:strCache>
                <c:ptCount val="24"/>
                <c:pt idx="0">
                  <c:v>0时</c:v>
                </c:pt>
                <c:pt idx="1">
                  <c:v>1时</c:v>
                </c:pt>
                <c:pt idx="2">
                  <c:v>2时</c:v>
                </c:pt>
                <c:pt idx="3">
                  <c:v>3时</c:v>
                </c:pt>
                <c:pt idx="4">
                  <c:v>4时</c:v>
                </c:pt>
                <c:pt idx="5">
                  <c:v>5时</c:v>
                </c:pt>
                <c:pt idx="6">
                  <c:v>6时</c:v>
                </c:pt>
                <c:pt idx="7">
                  <c:v>7时</c:v>
                </c:pt>
                <c:pt idx="8">
                  <c:v>8时</c:v>
                </c:pt>
                <c:pt idx="9">
                  <c:v>9时</c:v>
                </c:pt>
                <c:pt idx="10">
                  <c:v>10时</c:v>
                </c:pt>
                <c:pt idx="11">
                  <c:v>11时</c:v>
                </c:pt>
                <c:pt idx="12">
                  <c:v>12时</c:v>
                </c:pt>
                <c:pt idx="13">
                  <c:v>13时</c:v>
                </c:pt>
                <c:pt idx="14">
                  <c:v>14时</c:v>
                </c:pt>
                <c:pt idx="15">
                  <c:v>15时</c:v>
                </c:pt>
                <c:pt idx="16">
                  <c:v>16时</c:v>
                </c:pt>
                <c:pt idx="17">
                  <c:v>17时</c:v>
                </c:pt>
                <c:pt idx="18">
                  <c:v>18时</c:v>
                </c:pt>
                <c:pt idx="19">
                  <c:v>19时</c:v>
                </c:pt>
                <c:pt idx="20">
                  <c:v>20时</c:v>
                </c:pt>
                <c:pt idx="21">
                  <c:v>21时</c:v>
                </c:pt>
                <c:pt idx="22">
                  <c:v>22时</c:v>
                </c:pt>
                <c:pt idx="23">
                  <c:v>23时</c:v>
                </c:pt>
              </c:strCache>
            </c:strRef>
          </c:cat>
          <c:val>
            <c:numRef>
              <c:f>'Chart Data'!$D$2:$D$25</c:f>
              <c:numCache>
                <c:formatCode>#,##0</c:formatCode>
                <c:ptCount val="24"/>
                <c:pt idx="0">
                  <c:v>3.28713932</c:v>
                </c:pt>
                <c:pt idx="1">
                  <c:v>2.36995381</c:v>
                </c:pt>
                <c:pt idx="2">
                  <c:v>1.83437102</c:v>
                </c:pt>
                <c:pt idx="3">
                  <c:v>1.57327442</c:v>
                </c:pt>
                <c:pt idx="4">
                  <c:v>1.15150298</c:v>
                </c:pt>
                <c:pt idx="5">
                  <c:v>0.74312111</c:v>
                </c:pt>
                <c:pt idx="6">
                  <c:v>1.1849769</c:v>
                </c:pt>
                <c:pt idx="7">
                  <c:v>2.54401821</c:v>
                </c:pt>
                <c:pt idx="8">
                  <c:v>3.70221597</c:v>
                </c:pt>
                <c:pt idx="9">
                  <c:v>4.17085091</c:v>
                </c:pt>
                <c:pt idx="10">
                  <c:v>4.05703957</c:v>
                </c:pt>
                <c:pt idx="11">
                  <c:v>4.67295976</c:v>
                </c:pt>
                <c:pt idx="12">
                  <c:v>4.67295976</c:v>
                </c:pt>
                <c:pt idx="13">
                  <c:v>5.24871125</c:v>
                </c:pt>
                <c:pt idx="14">
                  <c:v>5.76420968</c:v>
                </c:pt>
                <c:pt idx="15">
                  <c:v>6.46716208</c:v>
                </c:pt>
                <c:pt idx="16">
                  <c:v>7.31070496</c:v>
                </c:pt>
                <c:pt idx="17">
                  <c:v>8.16094263</c:v>
                </c:pt>
                <c:pt idx="18">
                  <c:v>8.14755306</c:v>
                </c:pt>
                <c:pt idx="19">
                  <c:v>6.78181696</c:v>
                </c:pt>
                <c:pt idx="20">
                  <c:v>5.00100422</c:v>
                </c:pt>
                <c:pt idx="21">
                  <c:v>3.83611167</c:v>
                </c:pt>
                <c:pt idx="22">
                  <c:v>3.87628038</c:v>
                </c:pt>
                <c:pt idx="23">
                  <c:v>3.44111937</c:v>
                </c:pt>
              </c:numCache>
            </c:numRef>
          </c:val>
          <c:smooth val="0"/>
        </c:ser>
        <c:ser>
          <c:idx val="2"/>
          <c:order val="2"/>
          <c:tx>
            <c:v>布鲁克林</c:v>
          </c:tx>
          <c:spPr>
            <a:solidFill xmlns:a="http://schemas.openxmlformats.org/drawingml/2006/main">
              <a:srgbClr val="4868B0"/>
            </a:solidFill>
            <a:ln xmlns:a="http://schemas.openxmlformats.org/drawingml/2006/main" w="28575">
              <a:solidFill>
                <a:srgbClr val="4868B0"/>
              </a:solidFill>
            </a:ln>
          </c:spPr>
          <c:marker>
            <c:symbol val="none"/>
          </c:marker>
          <c:cat>
            <c:strRef>
              <c:f>'Chart Data'!$E$2:$E$25</c:f>
              <c:strCache>
                <c:ptCount val="24"/>
                <c:pt idx="0">
                  <c:v>0时</c:v>
                </c:pt>
                <c:pt idx="1">
                  <c:v>1时</c:v>
                </c:pt>
                <c:pt idx="2">
                  <c:v>2时</c:v>
                </c:pt>
                <c:pt idx="3">
                  <c:v>3时</c:v>
                </c:pt>
                <c:pt idx="4">
                  <c:v>4时</c:v>
                </c:pt>
                <c:pt idx="5">
                  <c:v>5时</c:v>
                </c:pt>
                <c:pt idx="6">
                  <c:v>6时</c:v>
                </c:pt>
                <c:pt idx="7">
                  <c:v>7时</c:v>
                </c:pt>
                <c:pt idx="8">
                  <c:v>8时</c:v>
                </c:pt>
                <c:pt idx="9">
                  <c:v>9时</c:v>
                </c:pt>
                <c:pt idx="10">
                  <c:v>10时</c:v>
                </c:pt>
                <c:pt idx="11">
                  <c:v>11时</c:v>
                </c:pt>
                <c:pt idx="12">
                  <c:v>12时</c:v>
                </c:pt>
                <c:pt idx="13">
                  <c:v>13时</c:v>
                </c:pt>
                <c:pt idx="14">
                  <c:v>14时</c:v>
                </c:pt>
                <c:pt idx="15">
                  <c:v>15时</c:v>
                </c:pt>
                <c:pt idx="16">
                  <c:v>16时</c:v>
                </c:pt>
                <c:pt idx="17">
                  <c:v>17时</c:v>
                </c:pt>
                <c:pt idx="18">
                  <c:v>18时</c:v>
                </c:pt>
                <c:pt idx="19">
                  <c:v>19时</c:v>
                </c:pt>
                <c:pt idx="20">
                  <c:v>20时</c:v>
                </c:pt>
                <c:pt idx="21">
                  <c:v>21时</c:v>
                </c:pt>
                <c:pt idx="22">
                  <c:v>22时</c:v>
                </c:pt>
                <c:pt idx="23">
                  <c:v>23时</c:v>
                </c:pt>
              </c:strCache>
            </c:strRef>
          </c:cat>
          <c:val>
            <c:numRef>
              <c:f>'Chart Data'!$F$2:$F$25</c:f>
              <c:numCache>
                <c:formatCode>#,##0</c:formatCode>
                <c:ptCount val="24"/>
                <c:pt idx="0">
                  <c:v>2.80108429</c:v>
                </c:pt>
                <c:pt idx="1">
                  <c:v>2.42674584</c:v>
                </c:pt>
                <c:pt idx="2">
                  <c:v>2.00077449</c:v>
                </c:pt>
                <c:pt idx="3">
                  <c:v>1.39408803</c:v>
                </c:pt>
                <c:pt idx="4">
                  <c:v>0.95520847</c:v>
                </c:pt>
                <c:pt idx="5">
                  <c:v>0.6325029</c:v>
                </c:pt>
                <c:pt idx="6">
                  <c:v>0.73576868</c:v>
                </c:pt>
                <c:pt idx="7">
                  <c:v>1.74261004</c:v>
                </c:pt>
                <c:pt idx="8">
                  <c:v>2.93016652</c:v>
                </c:pt>
                <c:pt idx="9">
                  <c:v>4.32425455</c:v>
                </c:pt>
                <c:pt idx="10">
                  <c:v>4.27262166</c:v>
                </c:pt>
                <c:pt idx="11">
                  <c:v>4.80185878</c:v>
                </c:pt>
                <c:pt idx="12">
                  <c:v>5.25364657</c:v>
                </c:pt>
                <c:pt idx="13">
                  <c:v>5.33109591</c:v>
                </c:pt>
                <c:pt idx="14">
                  <c:v>6.46701949</c:v>
                </c:pt>
                <c:pt idx="15">
                  <c:v>6.46701949</c:v>
                </c:pt>
                <c:pt idx="16">
                  <c:v>7.26732929</c:v>
                </c:pt>
                <c:pt idx="17">
                  <c:v>7.7320253</c:v>
                </c:pt>
                <c:pt idx="18">
                  <c:v>8.23544598</c:v>
                </c:pt>
                <c:pt idx="19">
                  <c:v>6.67355105</c:v>
                </c:pt>
                <c:pt idx="20">
                  <c:v>5.67961792</c:v>
                </c:pt>
                <c:pt idx="21">
                  <c:v>4.94384923</c:v>
                </c:pt>
                <c:pt idx="22">
                  <c:v>4.00154899</c:v>
                </c:pt>
                <c:pt idx="23">
                  <c:v>2.93016652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tickLblSkip val="3"/>
        <c:tickMarkSkip val="3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CDAD5"/>
              </a:solidFill>
            </a:ln>
          </c:spPr>
        </c:majorGridlines>
        <c:numFmt formatCode="#,##0" sourceLinked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EFA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EFA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MAE</c:v>
          </c:tx>
          <c:spPr>
            <a:solidFill xmlns:a="http://schemas.openxmlformats.org/drawingml/2006/main">
              <a:srgbClr val="087E82"/>
            </a:solidFill>
            <a:ln xmlns:a="http://schemas.openxmlformats.org/drawingml/2006/main" w="28575">
              <a:solidFill>
                <a:srgbClr val="087E82"/>
              </a:solidFill>
            </a:ln>
          </c:spPr>
          <c:cat>
            <c:strRef>
              <c:f>'Chart Data'!$A$2:$A$5</c:f>
              <c:strCache>
                <c:ptCount val="4"/>
                <c:pt idx="0">
                  <c:v>单区域AR</c:v>
                </c:pt>
                <c:pt idx="1">
                  <c:v>多区域VAR</c:v>
                </c:pt>
                <c:pt idx="2">
                  <c:v>历史同期均值</c:v>
                </c:pt>
                <c:pt idx="3">
                  <c:v>上一小时</c:v>
                </c:pt>
              </c:strCache>
            </c:strRef>
          </c:cat>
          <c:val>
            <c:numRef>
              <c:f>'Chart Data'!$B$2:$B$5</c:f>
              <c:numCache>
                <c:formatCode>#,##0</c:formatCode>
                <c:ptCount val="4"/>
                <c:pt idx="0">
                  <c:v>4.43631702</c:v>
                </c:pt>
                <c:pt idx="1">
                  <c:v>4.386168</c:v>
                </c:pt>
                <c:pt idx="2">
                  <c:v>4.23263889</c:v>
                </c:pt>
                <c:pt idx="3">
                  <c:v>5.50595238</c:v>
                </c:pt>
              </c:numCache>
            </c:numRef>
          </c:val>
        </c:ser>
        <c:ser>
          <c:idx val="1"/>
          <c:order val="1"/>
          <c:tx>
            <c:v>RMSE</c:v>
          </c:tx>
          <c:spPr>
            <a:solidFill xmlns:a="http://schemas.openxmlformats.org/drawingml/2006/main">
              <a:srgbClr val="B66C24"/>
            </a:solidFill>
            <a:ln xmlns:a="http://schemas.openxmlformats.org/drawingml/2006/main" w="28575">
              <a:solidFill>
                <a:srgbClr val="B66C24"/>
              </a:solidFill>
            </a:ln>
          </c:spPr>
          <c:cat>
            <c:strRef>
              <c:f>'Chart Data'!$C$2:$C$5</c:f>
              <c:strCache>
                <c:ptCount val="4"/>
                <c:pt idx="0">
                  <c:v>单区域AR</c:v>
                </c:pt>
                <c:pt idx="1">
                  <c:v>多区域VAR</c:v>
                </c:pt>
                <c:pt idx="2">
                  <c:v>历史同期均值</c:v>
                </c:pt>
                <c:pt idx="3">
                  <c:v>上一小时</c:v>
                </c:pt>
              </c:strCache>
            </c:strRef>
          </c:cat>
          <c:val>
            <c:numRef>
              <c:f>'Chart Data'!$D$2:$D$5</c:f>
              <c:numCache>
                <c:formatCode>#,##0</c:formatCode>
                <c:ptCount val="4"/>
                <c:pt idx="0">
                  <c:v>7.00800287</c:v>
                </c:pt>
                <c:pt idx="1">
                  <c:v>6.61379516</c:v>
                </c:pt>
                <c:pt idx="2">
                  <c:v>7.44720172</c:v>
                </c:pt>
                <c:pt idx="3">
                  <c:v>9.3508021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in val="0.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CDAD5"/>
              </a:solidFill>
            </a:ln>
          </c:spPr>
        </c:majorGridlines>
        <c:numFmt formatCode="#,##0" sourceLinked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EFA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EFA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原始日总量</c:v>
          </c:tx>
          <c:spPr>
            <a:solidFill xmlns:a="http://schemas.openxmlformats.org/drawingml/2006/main">
              <a:srgbClr val="087E82"/>
            </a:solidFill>
            <a:ln xmlns:a="http://schemas.openxmlformats.org/drawingml/2006/main" w="28575">
              <a:solidFill>
                <a:srgbClr val="087E82"/>
              </a:solidFill>
            </a:ln>
          </c:spPr>
          <c:cat>
            <c:strRef>
              <c:f>'Chart Data'!$A$2:$A$32</c:f>
              <c:strCache>
                <c:ptCount val="31"/>
                <c:pt idx="0">
                  <c:v>01-01</c:v>
                </c:pt>
                <c:pt idx="1">
                  <c:v>01-02</c:v>
                </c:pt>
                <c:pt idx="2">
                  <c:v>01-03</c:v>
                </c:pt>
                <c:pt idx="3">
                  <c:v>01-04</c:v>
                </c:pt>
                <c:pt idx="4">
                  <c:v>01-05</c:v>
                </c:pt>
                <c:pt idx="5">
                  <c:v>01-06</c:v>
                </c:pt>
                <c:pt idx="6">
                  <c:v>01-07</c:v>
                </c:pt>
                <c:pt idx="7">
                  <c:v>01-08</c:v>
                </c:pt>
                <c:pt idx="8">
                  <c:v>01-09</c:v>
                </c:pt>
                <c:pt idx="9">
                  <c:v>01-10</c:v>
                </c:pt>
                <c:pt idx="10">
                  <c:v>01-11</c:v>
                </c:pt>
                <c:pt idx="11">
                  <c:v>01-12</c:v>
                </c:pt>
                <c:pt idx="12">
                  <c:v>01-13</c:v>
                </c:pt>
                <c:pt idx="13">
                  <c:v>01-14</c:v>
                </c:pt>
                <c:pt idx="14">
                  <c:v>01-15</c:v>
                </c:pt>
                <c:pt idx="15">
                  <c:v>01-16</c:v>
                </c:pt>
                <c:pt idx="16">
                  <c:v>01-17</c:v>
                </c:pt>
                <c:pt idx="17">
                  <c:v>01-18</c:v>
                </c:pt>
                <c:pt idx="18">
                  <c:v>01-19</c:v>
                </c:pt>
                <c:pt idx="19">
                  <c:v>01-20</c:v>
                </c:pt>
                <c:pt idx="20">
                  <c:v>01-21</c:v>
                </c:pt>
                <c:pt idx="21">
                  <c:v>01-22</c:v>
                </c:pt>
                <c:pt idx="22">
                  <c:v>01-23</c:v>
                </c:pt>
                <c:pt idx="23">
                  <c:v>01-24</c:v>
                </c:pt>
                <c:pt idx="24">
                  <c:v>01-25</c:v>
                </c:pt>
                <c:pt idx="25">
                  <c:v>01-26</c:v>
                </c:pt>
                <c:pt idx="26">
                  <c:v>01-27</c:v>
                </c:pt>
                <c:pt idx="27">
                  <c:v>01-28</c:v>
                </c:pt>
                <c:pt idx="28">
                  <c:v>01-29</c:v>
                </c:pt>
                <c:pt idx="29">
                  <c:v>01-30</c:v>
                </c:pt>
                <c:pt idx="30">
                  <c:v>01-31</c:v>
                </c:pt>
              </c:strCache>
            </c:strRef>
          </c:cat>
          <c:val>
            <c:numRef>
              <c:f>'Chart Data'!$B$2:$B$32</c:f>
              <c:numCache>
                <c:formatCode>#,##0</c:formatCode>
                <c:ptCount val="31"/>
                <c:pt idx="0">
                  <c:v>1189</c:v>
                </c:pt>
                <c:pt idx="1">
                  <c:v>1668</c:v>
                </c:pt>
                <c:pt idx="2">
                  <c:v>1790</c:v>
                </c:pt>
                <c:pt idx="3">
                  <c:v>2101</c:v>
                </c:pt>
                <c:pt idx="4">
                  <c:v>2119</c:v>
                </c:pt>
                <c:pt idx="5">
                  <c:v>1628</c:v>
                </c:pt>
                <c:pt idx="6">
                  <c:v>1129</c:v>
                </c:pt>
                <c:pt idx="7">
                  <c:v>1952</c:v>
                </c:pt>
                <c:pt idx="8">
                  <c:v>2061</c:v>
                </c:pt>
                <c:pt idx="9">
                  <c:v>2015</c:v>
                </c:pt>
                <c:pt idx="10">
                  <c:v>2095</c:v>
                </c:pt>
                <c:pt idx="11">
                  <c:v>2046</c:v>
                </c:pt>
                <c:pt idx="12">
                  <c:v>1699</c:v>
                </c:pt>
                <c:pt idx="13">
                  <c:v>1432</c:v>
                </c:pt>
                <c:pt idx="14">
                  <c:v>1332</c:v>
                </c:pt>
                <c:pt idx="15">
                  <c:v>1877</c:v>
                </c:pt>
                <c:pt idx="16">
                  <c:v>2225</c:v>
                </c:pt>
                <c:pt idx="17">
                  <c:v>2113</c:v>
                </c:pt>
                <c:pt idx="18">
                  <c:v>1980</c:v>
                </c:pt>
                <c:pt idx="19">
                  <c:v>1689</c:v>
                </c:pt>
                <c:pt idx="20">
                  <c:v>1402</c:v>
                </c:pt>
                <c:pt idx="21">
                  <c:v>1872</c:v>
                </c:pt>
                <c:pt idx="22">
                  <c:v>1903</c:v>
                </c:pt>
                <c:pt idx="23">
                  <c:v>2026</c:v>
                </c:pt>
                <c:pt idx="24">
                  <c:v>2074</c:v>
                </c:pt>
                <c:pt idx="25">
                  <c:v>2032</c:v>
                </c:pt>
                <c:pt idx="26">
                  <c:v>1583</c:v>
                </c:pt>
                <c:pt idx="27">
                  <c:v>1415</c:v>
                </c:pt>
                <c:pt idx="28">
                  <c:v>1984</c:v>
                </c:pt>
                <c:pt idx="29">
                  <c:v>2013</c:v>
                </c:pt>
                <c:pt idx="30">
                  <c:v>2105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tickLblSkip val="4"/>
        <c:tickMarkSkip val="4"/>
      </c:catAx>
      <c:valAx>
        <c:axId val="48672768"/>
        <c:scaling>
          <c:orientation val="minMax"/>
          <c:min val="0.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CDAD5"/>
              </a:solidFill>
            </a:ln>
          </c:spPr>
        </c:majorGridlines>
        <c:numFmt formatCode="#,##0" sourceLinked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EFA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EFA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ARI</c:v>
          </c:tx>
          <c:spPr>
            <a:solidFill xmlns:a="http://schemas.openxmlformats.org/drawingml/2006/main">
              <a:srgbClr val="087E82"/>
            </a:solidFill>
            <a:ln xmlns:a="http://schemas.openxmlformats.org/drawingml/2006/main" w="28575">
              <a:solidFill>
                <a:srgbClr val="087E82"/>
              </a:solidFill>
            </a:ln>
          </c:spPr>
          <c:cat>
            <c:strRef>
              <c:f>'Chart Data'!$A$2:$A$4</c:f>
              <c:strCache>
                <c:ptCount val="3"/>
                <c:pt idx="0">
                  <c:v>种子42</c:v>
                </c:pt>
                <c:pt idx="1">
                  <c:v>种子7</c:v>
                </c:pt>
                <c:pt idx="2">
                  <c:v>种子19</c:v>
                </c:pt>
              </c:strCache>
            </c:strRef>
          </c:cat>
          <c:val>
            <c:numRef>
              <c:f>'Chart Data'!$B$2:$B$4</c:f>
              <c:numCache>
                <c:formatCode>#,##0</c:formatCode>
                <c:ptCount val="3"/>
                <c:pt idx="0">
                  <c:v>1</c:v>
                </c:pt>
                <c:pt idx="1">
                  <c:v>0.90971124</c:v>
                </c:pt>
                <c:pt idx="2">
                  <c:v>0.90971124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in val="0.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CDAD5"/>
              </a:solidFill>
            </a:ln>
          </c:spPr>
        </c:majorGridlines>
        <c:numFmt formatCode="0.000" sourceLinked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EFA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EFA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2E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bcae658d7e48b6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第7章">
            <a:extLst xmlns:a="http://schemas.openxmlformats.org/drawingml/2006/main">
              <a:ext uri="{FF2B5EF4-FFF2-40B4-BE49-F238E27FC236}">
                <a16:creationId xmlns:a16="http://schemas.microsoft.com/office/drawing/2014/main" id="{6105E7D9-724A-455B-9E73-53BA78968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19225"/>
            <a:ext cx="666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EABB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0">
                <a:solidFill>
                  <a:srgbClr val="EABB76"/>
                </a:solidFill>
                <a:latin typeface="Microsoft YaHei"/>
                <a:ea typeface="Microsoft YaHei"/>
                <a:cs typeface="Microsoft YaHei"/>
              </a:rPr>
              <a:t>第7章</a:t>
            </a:r>
          </a:p>
        </p:txBody>
      </p:sp>
      <p:sp>
        <p:nvSpPr>
          <p:cNvPr id="3" name="交通时空数据分析">
            <a:extLst xmlns:a="http://schemas.openxmlformats.org/drawingml/2006/main">
              <a:ext uri="{FF2B5EF4-FFF2-40B4-BE49-F238E27FC236}">
                <a16:creationId xmlns:a16="http://schemas.microsoft.com/office/drawing/2014/main" id="{63088CF8-81EF-431C-B281-ABBE44F8F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71725"/>
            <a:ext cx="94297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交通时空数据分析</a:t>
            </a:r>
          </a:p>
        </p:txBody>
      </p:sp>
      <p:sp>
        <p:nvSpPr>
          <p:cNvPr id="4" name="交通数据挖掘理论与应用">
            <a:extLst xmlns:a="http://schemas.openxmlformats.org/drawingml/2006/main">
              <a:ext uri="{FF2B5EF4-FFF2-40B4-BE49-F238E27FC236}">
                <a16:creationId xmlns:a16="http://schemas.microsoft.com/office/drawing/2014/main" id="{DA8DF7A3-4841-4E5D-BED0-A51385B68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1000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D9EC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D9ECE8"/>
                </a:solidFill>
                <a:latin typeface="Microsoft YaHei"/>
                <a:ea typeface="Microsoft YaHei"/>
                <a:cs typeface="Microsoft YaHei"/>
              </a:rPr>
              <a:t>交通数据挖掘理论与应用</a:t>
            </a:r>
          </a:p>
        </p:txBody>
      </p:sp>
      <p:sp>
        <p:nvSpPr>
          <p:cNvPr id="5" name="不同地区的出租车服务节律能否帮助分时运营？">
            <a:extLst xmlns:a="http://schemas.openxmlformats.org/drawingml/2006/main">
              <a:ext uri="{FF2B5EF4-FFF2-40B4-BE49-F238E27FC236}">
                <a16:creationId xmlns:a16="http://schemas.microsoft.com/office/drawing/2014/main" id="{FDD0F79B-3D5B-4811-94B7-C01B9CA8A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72075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D9EC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D9ECE8"/>
                </a:solidFill>
                <a:latin typeface="Microsoft YaHei"/>
                <a:ea typeface="Microsoft YaHei"/>
                <a:cs typeface="Microsoft YaHei"/>
              </a:rPr>
              <a:t>不同地区的出租车服务节律能否帮助分时运营？</a:t>
            </a:r>
          </a:p>
        </p:txBody>
      </p:sp>
    </p:spTree>
    <p:extLst>
      <p:ext uri="{BB962C8B-B14F-4D97-AF65-F5344CB8AC3E}">
        <p14:creationId xmlns:p14="http://schemas.microsoft.com/office/powerpoint/2010/main" val="1990402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本章学习目标">
            <a:extLst xmlns:a="http://schemas.openxmlformats.org/drawingml/2006/main">
              <a:ext uri="{FF2B5EF4-FFF2-40B4-BE49-F238E27FC236}">
                <a16:creationId xmlns:a16="http://schemas.microsoft.com/office/drawing/2014/main" id="{7712BF6F-F247-4A69-A6E8-1F4863D29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本章学习目标</a:t>
            </a:r>
          </a:p>
        </p:txBody>
      </p:sp>
      <p:sp>
        <p:nvSpPr>
          <p:cNvPr id="2" name="第7章 交通时空数据分析">
            <a:extLst xmlns:a="http://schemas.openxmlformats.org/drawingml/2006/main">
              <a:ext uri="{FF2B5EF4-FFF2-40B4-BE49-F238E27FC236}">
                <a16:creationId xmlns:a16="http://schemas.microsoft.com/office/drawing/2014/main" id="{23F1AF11-9CE7-4E00-BEF0-AA208509E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第7章 交通时空数据分析</a:t>
            </a:r>
          </a:p>
        </p:txBody>
      </p:sp>
      <p:sp>
        <p:nvSpPr>
          <p:cNvPr id="3" name="02">
            <a:extLst xmlns:a="http://schemas.openxmlformats.org/drawingml/2006/main">
              <a:ext uri="{FF2B5EF4-FFF2-40B4-BE49-F238E27FC236}">
                <a16:creationId xmlns:a16="http://schemas.microsoft.com/office/drawing/2014/main" id="{10E9CFE3-4D13-4C0A-913A-A37B4B930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建立地区、时间与变量顺序明确的时空矩阵。">
            <a:extLst xmlns:a="http://schemas.openxmlformats.org/drawingml/2006/main">
              <a:ext uri="{FF2B5EF4-FFF2-40B4-BE49-F238E27FC236}">
                <a16:creationId xmlns:a16="http://schemas.microsoft.com/office/drawing/2014/main" id="{65B0D38C-F252-4F43-9003-499FB768A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建立地区、时间与变量顺序明确的时空矩阵。</a:t>
            </a:r>
          </a:p>
        </p:txBody>
      </p:sp>
      <p:sp>
        <p:nvSpPr>
          <p:cNvPr id="5" name="比较绝对规模与地区内部出行节律。">
            <a:extLst xmlns:a="http://schemas.openxmlformats.org/drawingml/2006/main">
              <a:ext uri="{FF2B5EF4-FFF2-40B4-BE49-F238E27FC236}">
                <a16:creationId xmlns:a16="http://schemas.microsoft.com/office/drawing/2014/main" id="{F6622580-0C62-40ED-A66F-75931A5D0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比较绝对规模与地区内部出行节律。</a:t>
            </a:r>
          </a:p>
        </p:txBody>
      </p:sp>
      <p:sp>
        <p:nvSpPr>
          <p:cNvPr id="6" name="在共同区域小时上比较AR与VAR。">
            <a:extLst xmlns:a="http://schemas.openxmlformats.org/drawingml/2006/main">
              <a:ext uri="{FF2B5EF4-FFF2-40B4-BE49-F238E27FC236}">
                <a16:creationId xmlns:a16="http://schemas.microsoft.com/office/drawing/2014/main" id="{5FE3A61D-1EBD-43D1-9517-3760CA4EB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67125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在共同区域小时上比较AR与VAR。</a:t>
            </a:r>
          </a:p>
        </p:txBody>
      </p:sp>
      <p:sp>
        <p:nvSpPr>
          <p:cNvPr id="7" name="理解日型聚类的稳定性及其运营解释边界。">
            <a:extLst xmlns:a="http://schemas.openxmlformats.org/drawingml/2006/main">
              <a:ext uri="{FF2B5EF4-FFF2-40B4-BE49-F238E27FC236}">
                <a16:creationId xmlns:a16="http://schemas.microsoft.com/office/drawing/2014/main" id="{BCE9F87E-9A8F-49D2-BE1A-6A9E79C47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9625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理解日型聚类的稳定性及其运营解释边界。</a:t>
            </a:r>
          </a:p>
        </p:txBody>
      </p:sp>
      <p:sp>
        <p:nvSpPr>
          <p:cNvPr id="8" name="link">
            <a:extLst xmlns:a="http://schemas.openxmlformats.org/drawingml/2006/main">
              <a:ext uri="{FF2B5EF4-FFF2-40B4-BE49-F238E27FC236}">
                <a16:creationId xmlns:a16="http://schemas.microsoft.com/office/drawing/2014/main" id="{5AE21945-43A9-4FBE-9DA4-E4D14DDB0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972f730f36c4e20"/>
              </a:rPr>
              <a:t>配套交互课堂与章节实践</a:t>
            </a:r>
          </a:p>
        </p:txBody>
      </p:sp>
    </p:spTree>
    <p:extLst>
      <p:ext uri="{BB962C8B-B14F-4D97-AF65-F5344CB8AC3E}">
        <p14:creationId xmlns:p14="http://schemas.microsoft.com/office/powerpoint/2010/main" val="14025451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分区分时的出租车服务分析">
            <a:extLst xmlns:a="http://schemas.openxmlformats.org/drawingml/2006/main">
              <a:ext uri="{FF2B5EF4-FFF2-40B4-BE49-F238E27FC236}">
                <a16:creationId xmlns:a16="http://schemas.microsoft.com/office/drawing/2014/main" id="{EC4DF403-E7DC-494E-8CEE-AEE49708B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分区分时的出租车服务分析</a:t>
            </a:r>
          </a:p>
        </p:txBody>
      </p:sp>
      <p:sp>
        <p:nvSpPr>
          <p:cNvPr id="2" name="第7章 交通时空数据分析   7.1">
            <a:extLst xmlns:a="http://schemas.openxmlformats.org/drawingml/2006/main">
              <a:ext uri="{FF2B5EF4-FFF2-40B4-BE49-F238E27FC236}">
                <a16:creationId xmlns:a16="http://schemas.microsoft.com/office/drawing/2014/main" id="{FDCB5675-1083-4FBB-97BD-156C7971F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第7章 交通时空数据分析   7.1</a:t>
            </a:r>
          </a:p>
        </p:txBody>
      </p:sp>
      <p:sp>
        <p:nvSpPr>
          <p:cNvPr id="3" name="03">
            <a:extLst xmlns:a="http://schemas.openxmlformats.org/drawingml/2006/main">
              <a:ext uri="{FF2B5EF4-FFF2-40B4-BE49-F238E27FC236}">
                <a16:creationId xmlns:a16="http://schemas.microsoft.com/office/drawing/2014/main" id="{3CC08D8F-6E31-4AD3-BE08-3391FF3C4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地区差异需要放在时间背景下解释。">
            <a:extLst xmlns:a="http://schemas.openxmlformats.org/drawingml/2006/main">
              <a:ext uri="{FF2B5EF4-FFF2-40B4-BE49-F238E27FC236}">
                <a16:creationId xmlns:a16="http://schemas.microsoft.com/office/drawing/2014/main" id="{00A10C22-032F-4F97-8C27-085C3686F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地区差异需要放在时间背景下解释。</a:t>
            </a:r>
          </a:p>
        </p:txBody>
      </p:sp>
      <p:sp>
        <p:nvSpPr>
          <p:cNvPr id="5" name="同一地区夜间活动与通勤相关时段不同，单看月总量难以支">
            <a:extLst xmlns:a="http://schemas.openxmlformats.org/drawingml/2006/main">
              <a:ext uri="{FF2B5EF4-FFF2-40B4-BE49-F238E27FC236}">
                <a16:creationId xmlns:a16="http://schemas.microsoft.com/office/drawing/2014/main" id="{A0320DE9-9239-48A4-B3DA-780149F8B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同一地区夜间活动与通勤相关时段不同，单看月总量难以支持分时运营研判。</a:t>
            </a:r>
          </a:p>
        </p:txBody>
      </p:sp>
      <p:sp>
        <p:nvSpPr>
          <p:cNvPr id="6" name="TLC资料记录已实现的上车服务，不涵盖全部出行或未满">
            <a:extLst xmlns:a="http://schemas.openxmlformats.org/drawingml/2006/main">
              <a:ext uri="{FF2B5EF4-FFF2-40B4-BE49-F238E27FC236}">
                <a16:creationId xmlns:a16="http://schemas.microsoft.com/office/drawing/2014/main" id="{9E0A701F-56D9-46A9-8BBD-21AEEA08F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TLC资料记录已实现的上车服务，不涵盖全部出行或未满足需求。不能据此直接推</a:t>
            </a:r>
          </a:p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算缺少多少出租车。</a:t>
            </a:r>
          </a:p>
        </p:txBody>
      </p:sp>
      <p:sp>
        <p:nvSpPr>
          <p:cNvPr id="7" name="课堂讨论：一个地区记录少，可能对应哪些不同的服务与需">
            <a:extLst xmlns:a="http://schemas.openxmlformats.org/drawingml/2006/main">
              <a:ext uri="{FF2B5EF4-FFF2-40B4-BE49-F238E27FC236}">
                <a16:creationId xmlns:a16="http://schemas.microsoft.com/office/drawing/2014/main" id="{EF6F252F-FDD8-4000-BAEC-D92161CEB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课堂讨论：一个地区记录少，可能对应哪些不同的服务与需求情形？</a:t>
            </a:r>
          </a:p>
        </p:txBody>
      </p:sp>
      <p:sp>
        <p:nvSpPr>
          <p:cNvPr id="8" name="link">
            <a:extLst xmlns:a="http://schemas.openxmlformats.org/drawingml/2006/main">
              <a:ext uri="{FF2B5EF4-FFF2-40B4-BE49-F238E27FC236}">
                <a16:creationId xmlns:a16="http://schemas.microsoft.com/office/drawing/2014/main" id="{EF967C94-B729-4BA7-BC24-65ACD0308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412a6ac1462437d"/>
              </a:rPr>
              <a:t>打开课堂讲解与配套案例</a:t>
            </a:r>
          </a:p>
        </p:txBody>
      </p:sp>
    </p:spTree>
    <p:extLst>
      <p:ext uri="{BB962C8B-B14F-4D97-AF65-F5344CB8AC3E}">
        <p14:creationId xmlns:p14="http://schemas.microsoft.com/office/powerpoint/2010/main" val="5458342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地区—小时矩阵">
            <a:extLst xmlns:a="http://schemas.openxmlformats.org/drawingml/2006/main">
              <a:ext uri="{FF2B5EF4-FFF2-40B4-BE49-F238E27FC236}">
                <a16:creationId xmlns:a16="http://schemas.microsoft.com/office/drawing/2014/main" id="{701EC24E-BD39-407D-A92A-3D8C60C88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地区—小时矩阵</a:t>
            </a:r>
          </a:p>
        </p:txBody>
      </p:sp>
      <p:sp>
        <p:nvSpPr>
          <p:cNvPr id="2" name="第7章 交通时空数据分析   7.1">
            <a:extLst xmlns:a="http://schemas.openxmlformats.org/drawingml/2006/main">
              <a:ext uri="{FF2B5EF4-FFF2-40B4-BE49-F238E27FC236}">
                <a16:creationId xmlns:a16="http://schemas.microsoft.com/office/drawing/2014/main" id="{E615990E-517D-496B-BE17-D0F239C9D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第7章 交通时空数据分析   7.1</a:t>
            </a:r>
          </a:p>
        </p:txBody>
      </p:sp>
      <p:sp>
        <p:nvSpPr>
          <p:cNvPr id="3" name="04">
            <a:extLst xmlns:a="http://schemas.openxmlformats.org/drawingml/2006/main">
              <a:ext uri="{FF2B5EF4-FFF2-40B4-BE49-F238E27FC236}">
                <a16:creationId xmlns:a16="http://schemas.microsoft.com/office/drawing/2014/main" id="{666BEEF2-3A10-4B6E-9E53-E490227DB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每个矩阵位置都需要稳定的交通含义。">
            <a:extLst xmlns:a="http://schemas.openxmlformats.org/drawingml/2006/main">
              <a:ext uri="{FF2B5EF4-FFF2-40B4-BE49-F238E27FC236}">
                <a16:creationId xmlns:a16="http://schemas.microsoft.com/office/drawing/2014/main" id="{F99C5B4D-C72B-42D7-83AC-31810FA66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每个矩阵位置都需要稳定的交通含义。</a:t>
            </a:r>
          </a:p>
        </p:txBody>
      </p:sp>
      <p:sp>
        <p:nvSpPr>
          <p:cNvPr id="5" name="Y[t, n]：第t小时第n区域的保留上车记录数">
            <a:extLst xmlns:a="http://schemas.openxmlformats.org/drawingml/2006/main">
              <a:ext uri="{FF2B5EF4-FFF2-40B4-BE49-F238E27FC236}">
                <a16:creationId xmlns:a16="http://schemas.microsoft.com/office/drawing/2014/main" id="{8EB5DA42-EA5F-478D-B2B9-497ED1D4F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108204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Y[t, n]：第t小时第n区域的保留上车记录数</a:t>
            </a:r>
          </a:p>
        </p:txBody>
      </p:sp>
      <p:sp>
        <p:nvSpPr>
          <p:cNvPr id="6" name="t：按小时递增的时间索引。n：固定区域顺序。单位：条">
            <a:extLst xmlns:a="http://schemas.openxmlformats.org/drawingml/2006/main">
              <a:ext uri="{FF2B5EF4-FFF2-40B4-BE49-F238E27FC236}">
                <a16:creationId xmlns:a16="http://schemas.microsoft.com/office/drawing/2014/main" id="{19C27B31-0B70-4B6E-A6C8-71662527E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t：按小时递增的时间索引。n：固定区域顺序。单位：条/小时。</a:t>
            </a:r>
          </a:p>
        </p:txBody>
      </p:sp>
      <p:sp>
        <p:nvSpPr>
          <p:cNvPr id="7" name="预测矩阵包含Manhattan、Brooklyn、Q">
            <a:extLst xmlns:a="http://schemas.openxmlformats.org/drawingml/2006/main">
              <a:ext uri="{FF2B5EF4-FFF2-40B4-BE49-F238E27FC236}">
                <a16:creationId xmlns:a16="http://schemas.microsoft.com/office/drawing/2014/main" id="{88D72136-1A47-499F-9A90-4CCB3A24D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预测矩阵包含Manhattan、Brooklyn、Queens、Bronx四个固定区域，每行一个小时。</a:t>
            </a:r>
          </a:p>
        </p:txBody>
      </p:sp>
      <p:sp>
        <p:nvSpPr>
          <p:cNvPr id="8" name="link">
            <a:extLst xmlns:a="http://schemas.openxmlformats.org/drawingml/2006/main">
              <a:ext uri="{FF2B5EF4-FFF2-40B4-BE49-F238E27FC236}">
                <a16:creationId xmlns:a16="http://schemas.microsoft.com/office/drawing/2014/main" id="{B690981E-73B6-4E89-BC17-265A90002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3d3a3a896f44b16"/>
              </a:rPr>
              <a:t>公式解释与交通问题讨论</a:t>
            </a:r>
          </a:p>
        </p:txBody>
      </p:sp>
    </p:spTree>
    <p:extLst>
      <p:ext uri="{BB962C8B-B14F-4D97-AF65-F5344CB8AC3E}">
        <p14:creationId xmlns:p14="http://schemas.microsoft.com/office/powerpoint/2010/main" val="15311601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日期分母与分时运营比较">
            <a:extLst xmlns:a="http://schemas.openxmlformats.org/drawingml/2006/main">
              <a:ext uri="{FF2B5EF4-FFF2-40B4-BE49-F238E27FC236}">
                <a16:creationId xmlns:a16="http://schemas.microsoft.com/office/drawing/2014/main" id="{B90D46CA-886B-4DBB-81CB-BD0A9994A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日期分母与分时运营比较</a:t>
            </a:r>
          </a:p>
        </p:txBody>
      </p:sp>
      <p:sp>
        <p:nvSpPr>
          <p:cNvPr id="2" name="第7章 交通时空数据分析   7.3">
            <a:extLst xmlns:a="http://schemas.openxmlformats.org/drawingml/2006/main">
              <a:ext uri="{FF2B5EF4-FFF2-40B4-BE49-F238E27FC236}">
                <a16:creationId xmlns:a16="http://schemas.microsoft.com/office/drawing/2014/main" id="{23BA8F70-2E0C-44F8-8285-D75070244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第7章 交通时空数据分析   7.3</a:t>
            </a:r>
          </a:p>
        </p:txBody>
      </p:sp>
      <p:sp>
        <p:nvSpPr>
          <p:cNvPr id="3" name="05">
            <a:extLst xmlns:a="http://schemas.openxmlformats.org/drawingml/2006/main">
              <a:ext uri="{FF2B5EF4-FFF2-40B4-BE49-F238E27FC236}">
                <a16:creationId xmlns:a16="http://schemas.microsoft.com/office/drawing/2014/main" id="{90E862DD-98A3-4225-8D18-D7F9F8891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23个平日和8个周末日不能只比累计量。">
            <a:extLst xmlns:a="http://schemas.openxmlformats.org/drawingml/2006/main">
              <a:ext uri="{FF2B5EF4-FFF2-40B4-BE49-F238E27FC236}">
                <a16:creationId xmlns:a16="http://schemas.microsoft.com/office/drawing/2014/main" id="{E9CB9C38-BD24-4A60-99DC-FD488A1D5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23个平日和8个周末日不能只比累计量。</a:t>
            </a:r>
          </a:p>
        </p:txBody>
      </p:sp>
      <p:sp>
        <p:nvSpPr>
          <p:cNvPr id="5" name="固定地区与小时范围，分别除以对应日历日期数，再比较日">
            <a:extLst xmlns:a="http://schemas.openxmlformats.org/drawingml/2006/main">
              <a:ext uri="{FF2B5EF4-FFF2-40B4-BE49-F238E27FC236}">
                <a16:creationId xmlns:a16="http://schemas.microsoft.com/office/drawing/2014/main" id="{3DCCE036-F88C-46DF-B868-F59919FF6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固定地区与小时范围，分别除以对应日历日期数，再比较日均服务活动。</a:t>
            </a:r>
          </a:p>
        </p:txBody>
      </p:sp>
      <p:sp>
        <p:nvSpPr>
          <p:cNvPr id="6" name="本页“平日”仅指周一至周五，未剔除节假日。夜间按记录">
            <a:extLst xmlns:a="http://schemas.openxmlformats.org/drawingml/2006/main">
              <a:ext uri="{FF2B5EF4-FFF2-40B4-BE49-F238E27FC236}">
                <a16:creationId xmlns:a16="http://schemas.microsoft.com/office/drawing/2014/main" id="{6FAF6520-FA54-4BAE-89E6-657D4946F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本页“平日”仅指周一至周五，未剔除节假日。夜间按记录所属日期的22—05时</a:t>
            </a:r>
          </a:p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段筛选。</a:t>
            </a:r>
          </a:p>
        </p:txBody>
      </p:sp>
      <p:sp>
        <p:nvSpPr>
          <p:cNvPr id="7" name="课堂讨论：平日总量更大，是否就意味着每天的夜间服务更">
            <a:extLst xmlns:a="http://schemas.openxmlformats.org/drawingml/2006/main">
              <a:ext uri="{FF2B5EF4-FFF2-40B4-BE49-F238E27FC236}">
                <a16:creationId xmlns:a16="http://schemas.microsoft.com/office/drawing/2014/main" id="{2C56876F-4EB5-45CA-B865-BEB8CAB07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课堂讨论：平日总量更大，是否就意味着每天的夜间服务更繁忙？</a:t>
            </a:r>
          </a:p>
        </p:txBody>
      </p:sp>
      <p:sp>
        <p:nvSpPr>
          <p:cNvPr id="8" name="link">
            <a:extLst xmlns:a="http://schemas.openxmlformats.org/drawingml/2006/main">
              <a:ext uri="{FF2B5EF4-FFF2-40B4-BE49-F238E27FC236}">
                <a16:creationId xmlns:a16="http://schemas.microsoft.com/office/drawing/2014/main" id="{3276B6A2-964F-467B-9BAA-F9F60F381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21bea09659b4ac4"/>
              </a:rPr>
              <a:t>打开交互实验，观察参数变化</a:t>
            </a:r>
          </a:p>
        </p:txBody>
      </p:sp>
    </p:spTree>
    <p:extLst>
      <p:ext uri="{BB962C8B-B14F-4D97-AF65-F5344CB8AC3E}">
        <p14:creationId xmlns:p14="http://schemas.microsoft.com/office/powerpoint/2010/main" val="431846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日期分母与分时运营比较：计算结果">
            <a:extLst xmlns:a="http://schemas.openxmlformats.org/drawingml/2006/main">
              <a:ext uri="{FF2B5EF4-FFF2-40B4-BE49-F238E27FC236}">
                <a16:creationId xmlns:a16="http://schemas.microsoft.com/office/drawing/2014/main" id="{ED276A6A-0DDA-4348-A766-941E35D4C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日期分母与分时运营比较：计算结果</a:t>
            </a:r>
          </a:p>
        </p:txBody>
      </p:sp>
      <p:sp>
        <p:nvSpPr>
          <p:cNvPr id="2" name="第7章 交通时空数据分析   7.3">
            <a:extLst xmlns:a="http://schemas.openxmlformats.org/drawingml/2006/main">
              <a:ext uri="{FF2B5EF4-FFF2-40B4-BE49-F238E27FC236}">
                <a16:creationId xmlns:a16="http://schemas.microsoft.com/office/drawing/2014/main" id="{6230628C-4F43-4769-867A-3D69E02C4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第7章 交通时空数据分析   7.3</a:t>
            </a:r>
          </a:p>
        </p:txBody>
      </p:sp>
      <p:sp>
        <p:nvSpPr>
          <p:cNvPr id="3" name="06">
            <a:extLst xmlns:a="http://schemas.openxmlformats.org/drawingml/2006/main">
              <a:ext uri="{FF2B5EF4-FFF2-40B4-BE49-F238E27FC236}">
                <a16:creationId xmlns:a16="http://schemas.microsoft.com/office/drawing/2014/main" id="{C73636AF-D170-4B86-91D6-FD7E6A4CE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根据真实观测在浏览器重新计算">
            <a:extLst xmlns:a="http://schemas.openxmlformats.org/drawingml/2006/main">
              <a:ext uri="{FF2B5EF4-FFF2-40B4-BE49-F238E27FC236}">
                <a16:creationId xmlns:a16="http://schemas.microsoft.com/office/drawing/2014/main" id="{A8163C99-FA92-4347-9E56-C386D2E2E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820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根据真实观测在浏览器重新计算</a:t>
            </a:r>
          </a:p>
        </p:txBody>
      </p:sp>
      <p:sp>
        <p:nvSpPr>
          <p:cNvPr id="5" name="默认配置：地区：皇后区">
            <a:extLst xmlns:a="http://schemas.openxmlformats.org/drawingml/2006/main">
              <a:ext uri="{FF2B5EF4-FFF2-40B4-BE49-F238E27FC236}">
                <a16:creationId xmlns:a16="http://schemas.microsoft.com/office/drawing/2014/main" id="{280A6B3B-5013-41DC-81B6-73289F844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默认配置：地区：皇后区</a:t>
            </a:r>
          </a:p>
        </p:txBody>
      </p:sp>
      <p:sp>
        <p:nvSpPr>
          <p:cNvPr id="6" name="每日日均该小时上车记录（条）">
            <a:extLst xmlns:a="http://schemas.openxmlformats.org/drawingml/2006/main">
              <a:ext uri="{FF2B5EF4-FFF2-40B4-BE49-F238E27FC236}">
                <a16:creationId xmlns:a16="http://schemas.microsoft.com/office/drawing/2014/main" id="{BB2A6F31-232C-4BA4-9F4B-F04615FBF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每日日均该小时上车记录（条）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85800" y="2390775"/>
          <a:ext xmlns:a="http://schemas.openxmlformats.org/drawingml/2006/main" cx="10820400" cy="29432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877a6e839e14efb"/>
          </a:graphicData>
        </a:graphic>
      </p:graphicFrame>
      <p:sp>
        <p:nvSpPr>
          <p:cNvPr id="8" name="平日指周一至周五，不剔除节假日。">
            <a:extLst xmlns:a="http://schemas.openxmlformats.org/drawingml/2006/main">
              <a:ext uri="{FF2B5EF4-FFF2-40B4-BE49-F238E27FC236}">
                <a16:creationId xmlns:a16="http://schemas.microsoft.com/office/drawing/2014/main" id="{E6FEB36B-CF4F-4A40-9637-13B59A5A9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平日指周一至周五，不剔除节假日。</a:t>
            </a:r>
          </a:p>
        </p:txBody>
      </p:sp>
      <p:sp>
        <p:nvSpPr>
          <p:cNvPr id="9" name="link">
            <a:extLst xmlns:a="http://schemas.openxmlformats.org/drawingml/2006/main">
              <a:ext uri="{FF2B5EF4-FFF2-40B4-BE49-F238E27FC236}">
                <a16:creationId xmlns:a16="http://schemas.microsoft.com/office/drawing/2014/main" id="{E4081D86-2D00-4719-932D-A7EFA7F21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97474cdf2d546dc"/>
              </a:rPr>
              <a:t>修改参数并查看完整结果表</a:t>
            </a:r>
          </a:p>
        </p:txBody>
      </p:sp>
    </p:spTree>
    <p:extLst>
      <p:ext uri="{BB962C8B-B14F-4D97-AF65-F5344CB8AC3E}">
        <p14:creationId xmlns:p14="http://schemas.microsoft.com/office/powerpoint/2010/main" val="169979250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服务规模与日内节律">
            <a:extLst xmlns:a="http://schemas.openxmlformats.org/drawingml/2006/main">
              <a:ext uri="{FF2B5EF4-FFF2-40B4-BE49-F238E27FC236}">
                <a16:creationId xmlns:a16="http://schemas.microsoft.com/office/drawing/2014/main" id="{6A0B040D-FDA1-4B85-8628-17FED3805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服务规模与日内节律</a:t>
            </a:r>
          </a:p>
        </p:txBody>
      </p:sp>
      <p:sp>
        <p:nvSpPr>
          <p:cNvPr id="2" name="第7章 交通时空数据分析   7.1 / 7.4">
            <a:extLst xmlns:a="http://schemas.openxmlformats.org/drawingml/2006/main">
              <a:ext uri="{FF2B5EF4-FFF2-40B4-BE49-F238E27FC236}">
                <a16:creationId xmlns:a16="http://schemas.microsoft.com/office/drawing/2014/main" id="{EB8B2E7E-CC04-45A0-89F0-C0E04DAFE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第7章 交通时空数据分析   7.1 / 7.4</a:t>
            </a:r>
          </a:p>
        </p:txBody>
      </p:sp>
      <p:sp>
        <p:nvSpPr>
          <p:cNvPr id="3" name="07">
            <a:extLst xmlns:a="http://schemas.openxmlformats.org/drawingml/2006/main">
              <a:ext uri="{FF2B5EF4-FFF2-40B4-BE49-F238E27FC236}">
                <a16:creationId xmlns:a16="http://schemas.microsoft.com/office/drawing/2014/main" id="{DBE74EA5-DA01-4F12-B5BB-D32F11E00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" name="归一化会改变比较问题。">
            <a:extLst xmlns:a="http://schemas.openxmlformats.org/drawingml/2006/main">
              <a:ext uri="{FF2B5EF4-FFF2-40B4-BE49-F238E27FC236}">
                <a16:creationId xmlns:a16="http://schemas.microsoft.com/office/drawing/2014/main" id="{912BDAE5-E131-4126-8201-90DD2B65D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归一化会改变比较问题。</a:t>
            </a:r>
          </a:p>
        </p:txBody>
      </p:sp>
      <p:sp>
        <p:nvSpPr>
          <p:cNvPr id="5" name="绝对上车量反映已实现服务规模，地区内部24小时占比用">
            <a:extLst xmlns:a="http://schemas.openxmlformats.org/drawingml/2006/main">
              <a:ext uri="{FF2B5EF4-FFF2-40B4-BE49-F238E27FC236}">
                <a16:creationId xmlns:a16="http://schemas.microsoft.com/office/drawing/2014/main" id="{5E40B5B2-2DB3-461C-878F-B242C5659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绝对上车量反映已实现服务规模，地区内部24小时占比用于比较日内节律。</a:t>
            </a:r>
          </a:p>
        </p:txBody>
      </p:sp>
      <p:sp>
        <p:nvSpPr>
          <p:cNvPr id="6" name="占比高可能来自较小的分母，两个地区曲线相似也不等于运">
            <a:extLst xmlns:a="http://schemas.openxmlformats.org/drawingml/2006/main">
              <a:ext uri="{FF2B5EF4-FFF2-40B4-BE49-F238E27FC236}">
                <a16:creationId xmlns:a16="http://schemas.microsoft.com/office/drawing/2014/main" id="{FD18A637-72C4-4D32-A5D8-7F00DA3DF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占比高可能来自较小的分母，两个地区曲线相似也不等于运力需求相同。</a:t>
            </a:r>
          </a:p>
        </p:txBody>
      </p:sp>
      <p:sp>
        <p:nvSpPr>
          <p:cNvPr id="7" name="课堂讨论：如何同时保留地区规模和夜间占比，避免误读？">
            <a:extLst xmlns:a="http://schemas.openxmlformats.org/drawingml/2006/main">
              <a:ext uri="{FF2B5EF4-FFF2-40B4-BE49-F238E27FC236}">
                <a16:creationId xmlns:a16="http://schemas.microsoft.com/office/drawing/2014/main" id="{9E044BB1-5405-45B5-A12E-24A5344F4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课堂讨论：如何同时保留地区规模和夜间占比，避免误读？</a:t>
            </a:r>
          </a:p>
        </p:txBody>
      </p:sp>
      <p:sp>
        <p:nvSpPr>
          <p:cNvPr id="8" name="link">
            <a:extLst xmlns:a="http://schemas.openxmlformats.org/drawingml/2006/main">
              <a:ext uri="{FF2B5EF4-FFF2-40B4-BE49-F238E27FC236}">
                <a16:creationId xmlns:a16="http://schemas.microsoft.com/office/drawing/2014/main" id="{AACF2C3F-769A-48DB-85BE-7FAA7B60B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5b5235267bc456e"/>
              </a:rPr>
              <a:t>打开交互实验，观察参数变化</a:t>
            </a:r>
          </a:p>
        </p:txBody>
      </p:sp>
    </p:spTree>
    <p:extLst>
      <p:ext uri="{BB962C8B-B14F-4D97-AF65-F5344CB8AC3E}">
        <p14:creationId xmlns:p14="http://schemas.microsoft.com/office/powerpoint/2010/main" val="21145698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服务规模与日内节律：计算结果">
            <a:extLst xmlns:a="http://schemas.openxmlformats.org/drawingml/2006/main">
              <a:ext uri="{FF2B5EF4-FFF2-40B4-BE49-F238E27FC236}">
                <a16:creationId xmlns:a16="http://schemas.microsoft.com/office/drawing/2014/main" id="{BF87A511-2485-4D57-BA2D-BC11989E6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服务规模与日内节律：计算结果</a:t>
            </a:r>
          </a:p>
        </p:txBody>
      </p:sp>
      <p:sp>
        <p:nvSpPr>
          <p:cNvPr id="2" name="第7章 交通时空数据分析   7.1 / 7.4">
            <a:extLst xmlns:a="http://schemas.openxmlformats.org/drawingml/2006/main">
              <a:ext uri="{FF2B5EF4-FFF2-40B4-BE49-F238E27FC236}">
                <a16:creationId xmlns:a16="http://schemas.microsoft.com/office/drawing/2014/main" id="{93094C49-7655-4756-BBC4-A1697E7E3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第7章 交通时空数据分析   7.1 / 7.4</a:t>
            </a:r>
          </a:p>
        </p:txBody>
      </p:sp>
      <p:sp>
        <p:nvSpPr>
          <p:cNvPr id="3" name="08">
            <a:extLst xmlns:a="http://schemas.openxmlformats.org/drawingml/2006/main">
              <a:ext uri="{FF2B5EF4-FFF2-40B4-BE49-F238E27FC236}">
                <a16:creationId xmlns:a16="http://schemas.microsoft.com/office/drawing/2014/main" id="{2433C255-96A2-4E4D-A42E-BC946525E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" name="根据真实观测在浏览器重新计算">
            <a:extLst xmlns:a="http://schemas.openxmlformats.org/drawingml/2006/main">
              <a:ext uri="{FF2B5EF4-FFF2-40B4-BE49-F238E27FC236}">
                <a16:creationId xmlns:a16="http://schemas.microsoft.com/office/drawing/2014/main" id="{A3FDD802-85FC-4707-8597-AA290BCC0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820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根据真实观测在浏览器重新计算</a:t>
            </a:r>
          </a:p>
        </p:txBody>
      </p:sp>
      <p:sp>
        <p:nvSpPr>
          <p:cNvPr id="5" name="默认配置：日期类型：全部日期">
            <a:extLst xmlns:a="http://schemas.openxmlformats.org/drawingml/2006/main">
              <a:ext uri="{FF2B5EF4-FFF2-40B4-BE49-F238E27FC236}">
                <a16:creationId xmlns:a16="http://schemas.microsoft.com/office/drawing/2014/main" id="{F202601B-D936-4D17-A3D0-3B9D8215E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默认配置：日期类型：全部日期</a:t>
            </a:r>
          </a:p>
        </p:txBody>
      </p:sp>
      <p:sp>
        <p:nvSpPr>
          <p:cNvPr id="6" name="各地区内部小时占比（%）">
            <a:extLst xmlns:a="http://schemas.openxmlformats.org/drawingml/2006/main">
              <a:ext uri="{FF2B5EF4-FFF2-40B4-BE49-F238E27FC236}">
                <a16:creationId xmlns:a16="http://schemas.microsoft.com/office/drawing/2014/main" id="{7555D6BA-47CB-41D8-8257-533B8AEA0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各地区内部小时占比（%）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85800" y="2390775"/>
          <a:ext xmlns:a="http://schemas.openxmlformats.org/drawingml/2006/main" cx="10820400" cy="29432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ef605d9579543c1"/>
          </a:graphicData>
        </a:graphic>
      </p:graphicFrame>
      <p:sp>
        <p:nvSpPr>
          <p:cNvPr id="8" name="每条曲线的24小时占比之和为100%；它描述节律而非">
            <a:extLst xmlns:a="http://schemas.openxmlformats.org/drawingml/2006/main">
              <a:ext uri="{FF2B5EF4-FFF2-40B4-BE49-F238E27FC236}">
                <a16:creationId xmlns:a16="http://schemas.microsoft.com/office/drawing/2014/main" id="{EAFA2466-0D75-4F23-9A69-D73880A87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每条曲线的24小时占比之和为100%；它描述节律而非规模。</a:t>
            </a:r>
          </a:p>
        </p:txBody>
      </p:sp>
      <p:sp>
        <p:nvSpPr>
          <p:cNvPr id="9" name="link">
            <a:extLst xmlns:a="http://schemas.openxmlformats.org/drawingml/2006/main">
              <a:ext uri="{FF2B5EF4-FFF2-40B4-BE49-F238E27FC236}">
                <a16:creationId xmlns:a16="http://schemas.microsoft.com/office/drawing/2014/main" id="{C513132D-D1C3-4CF7-B3B7-2B1D89B97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e9443497f864742"/>
              </a:rPr>
              <a:t>修改参数并查看完整结果表</a:t>
            </a:r>
          </a:p>
        </p:txBody>
      </p:sp>
    </p:spTree>
    <p:extLst>
      <p:ext uri="{BB962C8B-B14F-4D97-AF65-F5344CB8AC3E}">
        <p14:creationId xmlns:p14="http://schemas.microsoft.com/office/powerpoint/2010/main" val="26558766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时间关联与区域关联">
            <a:extLst xmlns:a="http://schemas.openxmlformats.org/drawingml/2006/main">
              <a:ext uri="{FF2B5EF4-FFF2-40B4-BE49-F238E27FC236}">
                <a16:creationId xmlns:a16="http://schemas.microsoft.com/office/drawing/2014/main" id="{C8ACA8F3-4EBD-48C7-B308-53C034676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时间关联与区域关联</a:t>
            </a:r>
          </a:p>
        </p:txBody>
      </p:sp>
      <p:sp>
        <p:nvSpPr>
          <p:cNvPr id="2" name="第7章 交通时空数据分析   7.2">
            <a:extLst xmlns:a="http://schemas.openxmlformats.org/drawingml/2006/main">
              <a:ext uri="{FF2B5EF4-FFF2-40B4-BE49-F238E27FC236}">
                <a16:creationId xmlns:a16="http://schemas.microsoft.com/office/drawing/2014/main" id="{0029ED3A-117A-4788-BA35-17F06E050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第7章 交通时空数据分析   7.2</a:t>
            </a:r>
          </a:p>
        </p:txBody>
      </p:sp>
      <p:sp>
        <p:nvSpPr>
          <p:cNvPr id="3" name="09">
            <a:extLst xmlns:a="http://schemas.openxmlformats.org/drawingml/2006/main">
              <a:ext uri="{FF2B5EF4-FFF2-40B4-BE49-F238E27FC236}">
                <a16:creationId xmlns:a16="http://schemas.microsoft.com/office/drawing/2014/main" id="{2B9BF761-153C-4F42-ADC4-11763AC5D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" name="相关性可以成为候选预测信息。">
            <a:extLst xmlns:a="http://schemas.openxmlformats.org/drawingml/2006/main">
              <a:ext uri="{FF2B5EF4-FFF2-40B4-BE49-F238E27FC236}">
                <a16:creationId xmlns:a16="http://schemas.microsoft.com/office/drawing/2014/main" id="{8978A91A-7A24-4DE9-82DC-FC3D38D79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相关性可以成为候选预测信息。</a:t>
            </a:r>
          </a:p>
        </p:txBody>
      </p:sp>
      <p:sp>
        <p:nvSpPr>
          <p:cNvPr id="5" name="相邻时段与相邻地区可能相关，原因也可能是共同通勤节律">
            <a:extLst xmlns:a="http://schemas.openxmlformats.org/drawingml/2006/main">
              <a:ext uri="{FF2B5EF4-FFF2-40B4-BE49-F238E27FC236}">
                <a16:creationId xmlns:a16="http://schemas.microsoft.com/office/drawing/2014/main" id="{9101AA7C-C930-4D38-BCAE-8DC03020E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相邻时段与相邻地区可能相关，原因也可能是共同通勤节律或共同外部扰动。</a:t>
            </a:r>
          </a:p>
        </p:txBody>
      </p:sp>
      <p:sp>
        <p:nvSpPr>
          <p:cNvPr id="6" name="滞后相关不自动证明交通活动从一个地区传到另一个地区，">
            <a:extLst xmlns:a="http://schemas.openxmlformats.org/drawingml/2006/main">
              <a:ext uri="{FF2B5EF4-FFF2-40B4-BE49-F238E27FC236}">
                <a16:creationId xmlns:a16="http://schemas.microsoft.com/office/drawing/2014/main" id="{050ACF80-0804-4910-A290-ED85EA5CB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滞后相关不自动证明交通活动从一个地区传到另一个地区，尤其不能直接认定拥堵</a:t>
            </a:r>
          </a:p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传播。</a:t>
            </a:r>
          </a:p>
        </p:txBody>
      </p:sp>
      <p:sp>
        <p:nvSpPr>
          <p:cNvPr id="7" name="课堂讨论：两地区每天同时出现晚高峰，足以证明它们之间">
            <a:extLst xmlns:a="http://schemas.openxmlformats.org/drawingml/2006/main">
              <a:ext uri="{FF2B5EF4-FFF2-40B4-BE49-F238E27FC236}">
                <a16:creationId xmlns:a16="http://schemas.microsoft.com/office/drawing/2014/main" id="{73092FE2-6CA3-49D8-AC40-D9CD4B061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课堂讨论：两地区每天同时出现晚高峰，足以证明它们之间发生了传播吗？</a:t>
            </a:r>
          </a:p>
        </p:txBody>
      </p:sp>
      <p:sp>
        <p:nvSpPr>
          <p:cNvPr id="8" name="link">
            <a:extLst xmlns:a="http://schemas.openxmlformats.org/drawingml/2006/main">
              <a:ext uri="{FF2B5EF4-FFF2-40B4-BE49-F238E27FC236}">
                <a16:creationId xmlns:a16="http://schemas.microsoft.com/office/drawing/2014/main" id="{9901E735-4BCC-4E30-83B6-0D265D560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2c529ce7005496b"/>
              </a:rPr>
              <a:t>打开课堂讲解与配套案例</a:t>
            </a:r>
          </a:p>
        </p:txBody>
      </p:sp>
    </p:spTree>
    <p:extLst>
      <p:ext uri="{BB962C8B-B14F-4D97-AF65-F5344CB8AC3E}">
        <p14:creationId xmlns:p14="http://schemas.microsoft.com/office/powerpoint/2010/main" val="104759154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邻接矩阵的交通含义">
            <a:extLst xmlns:a="http://schemas.openxmlformats.org/drawingml/2006/main">
              <a:ext uri="{FF2B5EF4-FFF2-40B4-BE49-F238E27FC236}">
                <a16:creationId xmlns:a16="http://schemas.microsoft.com/office/drawing/2014/main" id="{FE24F81A-4F65-4CEE-902D-9E9CF3DF1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邻接矩阵的交通含义</a:t>
            </a:r>
          </a:p>
        </p:txBody>
      </p:sp>
      <p:sp>
        <p:nvSpPr>
          <p:cNvPr id="2" name="第7章 交通时空数据分析   7.2">
            <a:extLst xmlns:a="http://schemas.openxmlformats.org/drawingml/2006/main">
              <a:ext uri="{FF2B5EF4-FFF2-40B4-BE49-F238E27FC236}">
                <a16:creationId xmlns:a16="http://schemas.microsoft.com/office/drawing/2014/main" id="{10A21252-83B4-4FC1-A2F2-718A829C5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第7章 交通时空数据分析   7.2</a:t>
            </a:r>
          </a:p>
        </p:txBody>
      </p:sp>
      <p:sp>
        <p:nvSpPr>
          <p:cNvPr id="3" name="10">
            <a:extLst xmlns:a="http://schemas.openxmlformats.org/drawingml/2006/main">
              <a:ext uri="{FF2B5EF4-FFF2-40B4-BE49-F238E27FC236}">
                <a16:creationId xmlns:a16="http://schemas.microsoft.com/office/drawing/2014/main" id="{D0F827FC-9D48-47CE-AD94-6E848D134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4" name="“谁与谁相连”应有明确依据。">
            <a:extLst xmlns:a="http://schemas.openxmlformats.org/drawingml/2006/main">
              <a:ext uri="{FF2B5EF4-FFF2-40B4-BE49-F238E27FC236}">
                <a16:creationId xmlns:a16="http://schemas.microsoft.com/office/drawing/2014/main" id="{5EABF038-3E59-4A37-9C1C-21E4654E6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“谁与谁相连”应有明确依据。</a:t>
            </a:r>
          </a:p>
        </p:txBody>
      </p:sp>
      <p:sp>
        <p:nvSpPr>
          <p:cNvPr id="5" name="道路邻接、地理距离和历史流量相关可形成不同矩阵，分别">
            <a:extLst xmlns:a="http://schemas.openxmlformats.org/drawingml/2006/main">
              <a:ext uri="{FF2B5EF4-FFF2-40B4-BE49-F238E27FC236}">
                <a16:creationId xmlns:a16="http://schemas.microsoft.com/office/drawing/2014/main" id="{147FB623-E8FF-439B-AA91-26830C2DF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道路邻接、地理距离和历史流量相关可形成不同矩阵，分别表达设施联系、空间邻</a:t>
            </a:r>
          </a:p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近或统计关系。</a:t>
            </a:r>
          </a:p>
        </p:txBody>
      </p:sp>
      <p:sp>
        <p:nvSpPr>
          <p:cNvPr id="6" name="本章VAR使用四区域历史变量，不要求它们构成真实道路">
            <a:extLst xmlns:a="http://schemas.openxmlformats.org/drawingml/2006/main">
              <a:ext uri="{FF2B5EF4-FFF2-40B4-BE49-F238E27FC236}">
                <a16:creationId xmlns:a16="http://schemas.microsoft.com/office/drawing/2014/main" id="{38F9ADFB-56E3-48C3-B200-2554E00A6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本章VAR使用四区域历史变量，不要求它们构成真实道路拓扑，不把系数矩阵冒称</a:t>
            </a:r>
          </a:p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路网。</a:t>
            </a:r>
          </a:p>
        </p:txBody>
      </p:sp>
      <p:sp>
        <p:nvSpPr>
          <p:cNvPr id="7" name="课堂讨论：采用相关性构图时，为什么不能读取留出测试期">
            <a:extLst xmlns:a="http://schemas.openxmlformats.org/drawingml/2006/main">
              <a:ext uri="{FF2B5EF4-FFF2-40B4-BE49-F238E27FC236}">
                <a16:creationId xmlns:a16="http://schemas.microsoft.com/office/drawing/2014/main" id="{B57F9F42-14FA-42AF-8992-4C8C0BB8A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课堂讨论：采用相关性构图时，为什么不能读取留出测试期的相关性？</a:t>
            </a:r>
          </a:p>
        </p:txBody>
      </p:sp>
      <p:sp>
        <p:nvSpPr>
          <p:cNvPr id="8" name="link">
            <a:extLst xmlns:a="http://schemas.openxmlformats.org/drawingml/2006/main">
              <a:ext uri="{FF2B5EF4-FFF2-40B4-BE49-F238E27FC236}">
                <a16:creationId xmlns:a16="http://schemas.microsoft.com/office/drawing/2014/main" id="{65445213-2FAD-4FE9-A300-2D7E886BD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1410100610745e4"/>
              </a:rPr>
              <a:t>打开课堂讲解与配套案例</a:t>
            </a:r>
          </a:p>
        </p:txBody>
      </p:sp>
    </p:spTree>
    <p:extLst>
      <p:ext uri="{BB962C8B-B14F-4D97-AF65-F5344CB8AC3E}">
        <p14:creationId xmlns:p14="http://schemas.microsoft.com/office/powerpoint/2010/main" val="211683881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时空资料的对齐与零值">
            <a:extLst xmlns:a="http://schemas.openxmlformats.org/drawingml/2006/main">
              <a:ext uri="{FF2B5EF4-FFF2-40B4-BE49-F238E27FC236}">
                <a16:creationId xmlns:a16="http://schemas.microsoft.com/office/drawing/2014/main" id="{8B979EC1-8F72-4388-9482-64B7477B0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时空资料的对齐与零值</a:t>
            </a:r>
          </a:p>
        </p:txBody>
      </p:sp>
      <p:sp>
        <p:nvSpPr>
          <p:cNvPr id="2" name="第7章 交通时空数据分析   7.3">
            <a:extLst xmlns:a="http://schemas.openxmlformats.org/drawingml/2006/main">
              <a:ext uri="{FF2B5EF4-FFF2-40B4-BE49-F238E27FC236}">
                <a16:creationId xmlns:a16="http://schemas.microsoft.com/office/drawing/2014/main" id="{08F1A00F-01EA-4771-B368-45E1A9A62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第7章 交通时空数据分析   7.3</a:t>
            </a:r>
          </a:p>
        </p:txBody>
      </p:sp>
      <p:sp>
        <p:nvSpPr>
          <p:cNvPr id="3" name="11">
            <a:extLst xmlns:a="http://schemas.openxmlformats.org/drawingml/2006/main">
              <a:ext uri="{FF2B5EF4-FFF2-40B4-BE49-F238E27FC236}">
                <a16:creationId xmlns:a16="http://schemas.microsoft.com/office/drawing/2014/main" id="{A8E73023-806D-498C-A407-5E08D180E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4" name="时间和空间口径要同步。">
            <a:extLst xmlns:a="http://schemas.openxmlformats.org/drawingml/2006/main">
              <a:ext uri="{FF2B5EF4-FFF2-40B4-BE49-F238E27FC236}">
                <a16:creationId xmlns:a16="http://schemas.microsoft.com/office/drawing/2014/main" id="{EE05DE19-2B3C-4BCE-A9D2-64039D7E3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时间和空间口径要同步。</a:t>
            </a:r>
          </a:p>
        </p:txBody>
      </p:sp>
      <p:sp>
        <p:nvSpPr>
          <p:cNvPr id="5" name="固定区域编码与小时网格，记录筛选条件和异常范围，保留">
            <a:extLst xmlns:a="http://schemas.openxmlformats.org/drawingml/2006/main">
              <a:ext uri="{FF2B5EF4-FFF2-40B4-BE49-F238E27FC236}">
                <a16:creationId xmlns:a16="http://schemas.microsoft.com/office/drawing/2014/main" id="{B973CDFD-358A-420C-8369-7C35A2D0A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固定区域编码与小时网格，记录筛选条件和异常范围，保留输入哈希。</a:t>
            </a:r>
          </a:p>
        </p:txBody>
      </p:sp>
      <p:sp>
        <p:nvSpPr>
          <p:cNvPr id="6" name="聚合为0只说明该快照无保留上车记录。如果上游存在采集">
            <a:extLst xmlns:a="http://schemas.openxmlformats.org/drawingml/2006/main">
              <a:ext uri="{FF2B5EF4-FFF2-40B4-BE49-F238E27FC236}">
                <a16:creationId xmlns:a16="http://schemas.microsoft.com/office/drawing/2014/main" id="{2D831426-1A8E-481C-85AD-9E0BCC6F1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聚合为0只说明该快照无保留上车记录。如果上游存在采集缺失，仍需质量标记，</a:t>
            </a:r>
          </a:p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不能断言没有出行。</a:t>
            </a:r>
          </a:p>
        </p:txBody>
      </p:sp>
      <p:sp>
        <p:nvSpPr>
          <p:cNvPr id="7" name="课堂讨论：缺失与真实零服务量混用，会怎样改变地区比较">
            <a:extLst xmlns:a="http://schemas.openxmlformats.org/drawingml/2006/main">
              <a:ext uri="{FF2B5EF4-FFF2-40B4-BE49-F238E27FC236}">
                <a16:creationId xmlns:a16="http://schemas.microsoft.com/office/drawing/2014/main" id="{AFC7BEC1-A299-4C9A-834E-268DCE53D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课堂讨论：缺失与真实零服务量混用，会怎样改变地区比较？</a:t>
            </a:r>
          </a:p>
        </p:txBody>
      </p:sp>
      <p:sp>
        <p:nvSpPr>
          <p:cNvPr id="8" name="link">
            <a:extLst xmlns:a="http://schemas.openxmlformats.org/drawingml/2006/main">
              <a:ext uri="{FF2B5EF4-FFF2-40B4-BE49-F238E27FC236}">
                <a16:creationId xmlns:a16="http://schemas.microsoft.com/office/drawing/2014/main" id="{FDA8C192-7F32-4BCE-BCBE-618449784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942e034960040f6"/>
              </a:rPr>
              <a:t>打开课堂讲解与配套案例</a:t>
            </a:r>
          </a:p>
        </p:txBody>
      </p:sp>
    </p:spTree>
    <p:extLst>
      <p:ext uri="{BB962C8B-B14F-4D97-AF65-F5344CB8AC3E}">
        <p14:creationId xmlns:p14="http://schemas.microsoft.com/office/powerpoint/2010/main" val="209169036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时空相似性与聚类">
            <a:extLst xmlns:a="http://schemas.openxmlformats.org/drawingml/2006/main">
              <a:ext uri="{FF2B5EF4-FFF2-40B4-BE49-F238E27FC236}">
                <a16:creationId xmlns:a16="http://schemas.microsoft.com/office/drawing/2014/main" id="{D023E4C1-9783-49EB-A7EE-279BC8B50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时空相似性与聚类</a:t>
            </a:r>
          </a:p>
        </p:txBody>
      </p:sp>
      <p:sp>
        <p:nvSpPr>
          <p:cNvPr id="2" name="第7章 交通时空数据分析   7.4">
            <a:extLst xmlns:a="http://schemas.openxmlformats.org/drawingml/2006/main">
              <a:ext uri="{FF2B5EF4-FFF2-40B4-BE49-F238E27FC236}">
                <a16:creationId xmlns:a16="http://schemas.microsoft.com/office/drawing/2014/main" id="{99691ED3-456A-484E-9336-F31FDFA27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第7章 交通时空数据分析   7.4</a:t>
            </a:r>
          </a:p>
        </p:txBody>
      </p:sp>
      <p:sp>
        <p:nvSpPr>
          <p:cNvPr id="3" name="12">
            <a:extLst xmlns:a="http://schemas.openxmlformats.org/drawingml/2006/main">
              <a:ext uri="{FF2B5EF4-FFF2-40B4-BE49-F238E27FC236}">
                <a16:creationId xmlns:a16="http://schemas.microsoft.com/office/drawing/2014/main" id="{639735C2-E171-4F4A-B9E1-B22EADC46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4" name="分组方法取决于所比较的对象。">
            <a:extLst xmlns:a="http://schemas.openxmlformats.org/drawingml/2006/main">
              <a:ext uri="{FF2B5EF4-FFF2-40B4-BE49-F238E27FC236}">
                <a16:creationId xmlns:a16="http://schemas.microsoft.com/office/drawing/2014/main" id="{8A817EFE-9249-4CF9-8848-1D176A4AC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分组方法取决于所比较的对象。</a:t>
            </a:r>
          </a:p>
        </p:txBody>
      </p:sp>
      <p:sp>
        <p:nvSpPr>
          <p:cNvPr id="5" name="时空K近邻需要说明空间和时间距离的尺度；双阈值密度聚">
            <a:extLst xmlns:a="http://schemas.openxmlformats.org/drawingml/2006/main">
              <a:ext uri="{FF2B5EF4-FFF2-40B4-BE49-F238E27FC236}">
                <a16:creationId xmlns:a16="http://schemas.microsoft.com/office/drawing/2014/main" id="{CA682A48-A419-4AE0-9A9A-EAB420DB0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时空K近邻需要说明空间和时间距离的尺度；双阈值密度聚类分别限制空间邻近和</a:t>
            </a:r>
          </a:p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时间邻近。</a:t>
            </a:r>
          </a:p>
        </p:txBody>
      </p:sp>
      <p:sp>
        <p:nvSpPr>
          <p:cNvPr id="6" name="本课日型KMeans比较整天的168维占比向量，属于">
            <a:extLst xmlns:a="http://schemas.openxmlformats.org/drawingml/2006/main">
              <a:ext uri="{FF2B5EF4-FFF2-40B4-BE49-F238E27FC236}">
                <a16:creationId xmlns:a16="http://schemas.microsoft.com/office/drawing/2014/main" id="{132CA6E7-3211-4ED3-885C-342AE238C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本课日型KMeans比较整天的168维占比向量，属于日型形态聚类，不是事件点的时</a:t>
            </a:r>
          </a:p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空DBSCAN。</a:t>
            </a:r>
          </a:p>
        </p:txBody>
      </p:sp>
      <p:sp>
        <p:nvSpPr>
          <p:cNvPr id="7" name="课堂讨论：相似日期与相邻事件的聚类，为什么不能使用同">
            <a:extLst xmlns:a="http://schemas.openxmlformats.org/drawingml/2006/main">
              <a:ext uri="{FF2B5EF4-FFF2-40B4-BE49-F238E27FC236}">
                <a16:creationId xmlns:a16="http://schemas.microsoft.com/office/drawing/2014/main" id="{3DD7E799-2350-4873-A2B6-286ADFA73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课堂讨论：相似日期与相邻事件的聚类，为什么不能使用同一套解释？</a:t>
            </a:r>
          </a:p>
        </p:txBody>
      </p:sp>
      <p:sp>
        <p:nvSpPr>
          <p:cNvPr id="8" name="link">
            <a:extLst xmlns:a="http://schemas.openxmlformats.org/drawingml/2006/main">
              <a:ext uri="{FF2B5EF4-FFF2-40B4-BE49-F238E27FC236}">
                <a16:creationId xmlns:a16="http://schemas.microsoft.com/office/drawing/2014/main" id="{E176870B-D405-4A18-B82D-4344729B4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3d027c7a63c456f"/>
              </a:rPr>
              <a:t>打开课堂讲解与配套案例</a:t>
            </a:r>
          </a:p>
        </p:txBody>
      </p:sp>
    </p:spTree>
    <p:extLst>
      <p:ext uri="{BB962C8B-B14F-4D97-AF65-F5344CB8AC3E}">
        <p14:creationId xmlns:p14="http://schemas.microsoft.com/office/powerpoint/2010/main" val="138678595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AR与VAR的信息差异">
            <a:extLst xmlns:a="http://schemas.openxmlformats.org/drawingml/2006/main">
              <a:ext uri="{FF2B5EF4-FFF2-40B4-BE49-F238E27FC236}">
                <a16:creationId xmlns:a16="http://schemas.microsoft.com/office/drawing/2014/main" id="{6D68BC11-D5FC-40EA-96BA-CC6F26FD7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AR与VAR的信息差异</a:t>
            </a:r>
          </a:p>
        </p:txBody>
      </p:sp>
      <p:sp>
        <p:nvSpPr>
          <p:cNvPr id="2" name="第7章 交通时空数据分析   7.5">
            <a:extLst xmlns:a="http://schemas.openxmlformats.org/drawingml/2006/main">
              <a:ext uri="{FF2B5EF4-FFF2-40B4-BE49-F238E27FC236}">
                <a16:creationId xmlns:a16="http://schemas.microsoft.com/office/drawing/2014/main" id="{FF5B4513-C94B-4358-9649-A3797391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第7章 交通时空数据分析   7.5</a:t>
            </a:r>
          </a:p>
        </p:txBody>
      </p:sp>
      <p:sp>
        <p:nvSpPr>
          <p:cNvPr id="3" name="13">
            <a:extLst xmlns:a="http://schemas.openxmlformats.org/drawingml/2006/main">
              <a:ext uri="{FF2B5EF4-FFF2-40B4-BE49-F238E27FC236}">
                <a16:creationId xmlns:a16="http://schemas.microsoft.com/office/drawing/2014/main" id="{E8C94E2C-04D7-4270-8305-66DCDD824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4" name="多区域模型是否有价值，需要增量比较。">
            <a:extLst xmlns:a="http://schemas.openxmlformats.org/drawingml/2006/main">
              <a:ext uri="{FF2B5EF4-FFF2-40B4-BE49-F238E27FC236}">
                <a16:creationId xmlns:a16="http://schemas.microsoft.com/office/drawing/2014/main" id="{EF1D38D7-3DFB-4472-AA59-F5B1805B8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多区域模型是否有价值，需要增量比较。</a:t>
            </a:r>
          </a:p>
        </p:txBody>
      </p:sp>
      <p:sp>
        <p:nvSpPr>
          <p:cNvPr id="5" name="y_t = c + Σ_(l=1…p) A_l y_">
            <a:extLst xmlns:a="http://schemas.openxmlformats.org/drawingml/2006/main">
              <a:ext uri="{FF2B5EF4-FFF2-40B4-BE49-F238E27FC236}">
                <a16:creationId xmlns:a16="http://schemas.microsoft.com/office/drawing/2014/main" id="{C1B342D7-7925-448B-B7C6-2F5CB52A0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108204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y_t = c + Σ_(l=1…p) A_l y_(t−l) + ε_t</a:t>
            </a:r>
          </a:p>
        </p:txBody>
      </p:sp>
      <p:sp>
        <p:nvSpPr>
          <p:cNvPr id="6" name="y_t：第t小时四区域上车量向量，条/小时。c：截距">
            <a:extLst xmlns:a="http://schemas.openxmlformats.org/drawingml/2006/main">
              <a:ext uri="{FF2B5EF4-FFF2-40B4-BE49-F238E27FC236}">
                <a16:creationId xmlns:a16="http://schemas.microsoft.com/office/drawing/2014/main" id="{D28734D8-58A4-411A-A2A5-E22E5108C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y_t：第t小时四区域上车量向量，条/小时。c：截距向量。A_l：第l阶系数矩阵。p：最大滞后小时数。Σ：滞后阶求和。ε_t：创新误差向量。</a:t>
            </a:r>
          </a:p>
        </p:txBody>
      </p:sp>
      <p:sp>
        <p:nvSpPr>
          <p:cNvPr id="7" name="单区域AR只使用本区过去上车量，VAR还使用其他区域">
            <a:extLst xmlns:a="http://schemas.openxmlformats.org/drawingml/2006/main">
              <a:ext uri="{FF2B5EF4-FFF2-40B4-BE49-F238E27FC236}">
                <a16:creationId xmlns:a16="http://schemas.microsoft.com/office/drawing/2014/main" id="{B44B682D-CD9C-4976-BAFD-7AD848867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单区域AR只使用本区过去上车量，VAR还使用其他区域的过去上车量。</a:t>
            </a:r>
          </a:p>
        </p:txBody>
      </p:sp>
      <p:sp>
        <p:nvSpPr>
          <p:cNvPr id="8" name="link">
            <a:extLst xmlns:a="http://schemas.openxmlformats.org/drawingml/2006/main">
              <a:ext uri="{FF2B5EF4-FFF2-40B4-BE49-F238E27FC236}">
                <a16:creationId xmlns:a16="http://schemas.microsoft.com/office/drawing/2014/main" id="{4E982D86-D1E2-4864-AFDC-F15F1CD1D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5eb26bce4224bd5"/>
              </a:rPr>
              <a:t>公式解释与交通问题讨论</a:t>
            </a:r>
          </a:p>
        </p:txBody>
      </p:sp>
    </p:spTree>
    <p:extLst>
      <p:ext uri="{BB962C8B-B14F-4D97-AF65-F5344CB8AC3E}">
        <p14:creationId xmlns:p14="http://schemas.microsoft.com/office/powerpoint/2010/main" val="100077649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分区域预测成绩">
            <a:extLst xmlns:a="http://schemas.openxmlformats.org/drawingml/2006/main">
              <a:ext uri="{FF2B5EF4-FFF2-40B4-BE49-F238E27FC236}">
                <a16:creationId xmlns:a16="http://schemas.microsoft.com/office/drawing/2014/main" id="{7CE2A709-200E-4C8E-936E-996BE3CD7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分区域预测成绩</a:t>
            </a:r>
          </a:p>
        </p:txBody>
      </p:sp>
      <p:sp>
        <p:nvSpPr>
          <p:cNvPr id="2" name="第7章 交通时空数据分析   7.5 / 7.6">
            <a:extLst xmlns:a="http://schemas.openxmlformats.org/drawingml/2006/main">
              <a:ext uri="{FF2B5EF4-FFF2-40B4-BE49-F238E27FC236}">
                <a16:creationId xmlns:a16="http://schemas.microsoft.com/office/drawing/2014/main" id="{3A0EA312-319A-485B-80E2-133AB481E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第7章 交通时空数据分析   7.5 / 7.6</a:t>
            </a:r>
          </a:p>
        </p:txBody>
      </p:sp>
      <p:sp>
        <p:nvSpPr>
          <p:cNvPr id="3" name="14">
            <a:extLst xmlns:a="http://schemas.openxmlformats.org/drawingml/2006/main">
              <a:ext uri="{FF2B5EF4-FFF2-40B4-BE49-F238E27FC236}">
                <a16:creationId xmlns:a16="http://schemas.microsoft.com/office/drawing/2014/main" id="{76FF10B6-89C7-4CAD-8800-3B121B1D2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4" name="整体改善不保证所有区域受益。">
            <a:extLst xmlns:a="http://schemas.openxmlformats.org/drawingml/2006/main">
              <a:ext uri="{FF2B5EF4-FFF2-40B4-BE49-F238E27FC236}">
                <a16:creationId xmlns:a16="http://schemas.microsoft.com/office/drawing/2014/main" id="{55E48A37-EB00-43C6-B0BC-0B06B2ABB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整体改善不保证所有区域受益。</a:t>
            </a:r>
          </a:p>
        </p:txBody>
      </p:sp>
      <p:sp>
        <p:nvSpPr>
          <p:cNvPr id="5" name="分别查看四区域和合并样本，比较AR、VAR、历史同期">
            <a:extLst xmlns:a="http://schemas.openxmlformats.org/drawingml/2006/main">
              <a:ext uri="{FF2B5EF4-FFF2-40B4-BE49-F238E27FC236}">
                <a16:creationId xmlns:a16="http://schemas.microsoft.com/office/drawing/2014/main" id="{0CB923B9-B0CC-4DFC-BA37-A06E47346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分别查看四区域和合并样本，比较AR、VAR、历史同期与上一小时。</a:t>
            </a:r>
          </a:p>
        </p:txBody>
      </p:sp>
      <p:sp>
        <p:nvSpPr>
          <p:cNvPr id="6" name="成绩来自冻结预测，网页实际重新计算所选区域的误差。滞">
            <a:extLst xmlns:a="http://schemas.openxmlformats.org/drawingml/2006/main">
              <a:ext uri="{FF2B5EF4-FFF2-40B4-BE49-F238E27FC236}">
                <a16:creationId xmlns:a16="http://schemas.microsoft.com/office/drawing/2014/main" id="{34438D25-C840-4153-B24D-477815C63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成绩来自冻结预测，网页实际重新计算所选区域的误差。滞后24小时由验证段选</a:t>
            </a:r>
          </a:p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择。</a:t>
            </a:r>
          </a:p>
        </p:txBody>
      </p:sp>
      <p:sp>
        <p:nvSpPr>
          <p:cNvPr id="7" name="课堂讨论：如果曼哈顿改进明显而皇后区较差，应怎样写总">
            <a:extLst xmlns:a="http://schemas.openxmlformats.org/drawingml/2006/main">
              <a:ext uri="{FF2B5EF4-FFF2-40B4-BE49-F238E27FC236}">
                <a16:creationId xmlns:a16="http://schemas.microsoft.com/office/drawing/2014/main" id="{5695EB9E-61A0-461D-A0C1-4FD03826A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课堂讨论：如果曼哈顿改进明显而皇后区较差，应怎样写总体结论？</a:t>
            </a:r>
          </a:p>
        </p:txBody>
      </p:sp>
      <p:sp>
        <p:nvSpPr>
          <p:cNvPr id="8" name="link">
            <a:extLst xmlns:a="http://schemas.openxmlformats.org/drawingml/2006/main">
              <a:ext uri="{FF2B5EF4-FFF2-40B4-BE49-F238E27FC236}">
                <a16:creationId xmlns:a16="http://schemas.microsoft.com/office/drawing/2014/main" id="{0697A04D-3263-41E5-AB54-58A1E3412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05301283fe44c1d"/>
              </a:rPr>
              <a:t>打开交互实验，观察参数变化</a:t>
            </a:r>
          </a:p>
        </p:txBody>
      </p:sp>
    </p:spTree>
    <p:extLst>
      <p:ext uri="{BB962C8B-B14F-4D97-AF65-F5344CB8AC3E}">
        <p14:creationId xmlns:p14="http://schemas.microsoft.com/office/powerpoint/2010/main" val="201578064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分区域预测成绩：计算结果">
            <a:extLst xmlns:a="http://schemas.openxmlformats.org/drawingml/2006/main">
              <a:ext uri="{FF2B5EF4-FFF2-40B4-BE49-F238E27FC236}">
                <a16:creationId xmlns:a16="http://schemas.microsoft.com/office/drawing/2014/main" id="{7296075F-DDA2-4CE4-B473-275497EE9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分区域预测成绩：计算结果</a:t>
            </a:r>
          </a:p>
        </p:txBody>
      </p:sp>
      <p:sp>
        <p:nvSpPr>
          <p:cNvPr id="2" name="第7章 交通时空数据分析   7.5 / 7.6">
            <a:extLst xmlns:a="http://schemas.openxmlformats.org/drawingml/2006/main">
              <a:ext uri="{FF2B5EF4-FFF2-40B4-BE49-F238E27FC236}">
                <a16:creationId xmlns:a16="http://schemas.microsoft.com/office/drawing/2014/main" id="{AF8D763A-6BF1-4C87-9BFD-8C7BC8C8E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第7章 交通时空数据分析   7.5 / 7.6</a:t>
            </a:r>
          </a:p>
        </p:txBody>
      </p:sp>
      <p:sp>
        <p:nvSpPr>
          <p:cNvPr id="3" name="15">
            <a:extLst xmlns:a="http://schemas.openxmlformats.org/drawingml/2006/main">
              <a:ext uri="{FF2B5EF4-FFF2-40B4-BE49-F238E27FC236}">
                <a16:creationId xmlns:a16="http://schemas.microsoft.com/office/drawing/2014/main" id="{4447CAFA-FCF8-4414-AFFB-517841DD1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4" name="根据冻结预测重新计算；不在浏览器拟合模型">
            <a:extLst xmlns:a="http://schemas.openxmlformats.org/drawingml/2006/main">
              <a:ext uri="{FF2B5EF4-FFF2-40B4-BE49-F238E27FC236}">
                <a16:creationId xmlns:a16="http://schemas.microsoft.com/office/drawing/2014/main" id="{067B8538-8545-4884-B5E1-0C65383A6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820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根据冻结预测重新计算；不在浏览器拟合模型</a:t>
            </a:r>
          </a:p>
        </p:txBody>
      </p:sp>
      <p:sp>
        <p:nvSpPr>
          <p:cNvPr id="5" name="默认配置：区域：四区域">
            <a:extLst xmlns:a="http://schemas.openxmlformats.org/drawingml/2006/main">
              <a:ext uri="{FF2B5EF4-FFF2-40B4-BE49-F238E27FC236}">
                <a16:creationId xmlns:a16="http://schemas.microsoft.com/office/drawing/2014/main" id="{ECF31358-9AB6-42C4-907B-67066770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默认配置：区域：四区域</a:t>
            </a:r>
          </a:p>
        </p:txBody>
      </p:sp>
      <p:sp>
        <p:nvSpPr>
          <p:cNvPr id="6" name="误差（条/小时）">
            <a:extLst xmlns:a="http://schemas.openxmlformats.org/drawingml/2006/main">
              <a:ext uri="{FF2B5EF4-FFF2-40B4-BE49-F238E27FC236}">
                <a16:creationId xmlns:a16="http://schemas.microsoft.com/office/drawing/2014/main" id="{93B7F29C-6BFD-4DAC-A9AF-CEF25A26A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误差（条/小时）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85800" y="2390775"/>
          <a:ext xmlns:a="http://schemas.openxmlformats.org/drawingml/2006/main" cx="10820400" cy="29432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9cc0792034b428b"/>
          </a:graphicData>
        </a:graphic>
      </p:graphicFrame>
      <p:sp>
        <p:nvSpPr>
          <p:cNvPr id="8" name="训练1—21日，验证22—24日，测试25—31日。">
            <a:extLst xmlns:a="http://schemas.openxmlformats.org/drawingml/2006/main">
              <a:ext uri="{FF2B5EF4-FFF2-40B4-BE49-F238E27FC236}">
                <a16:creationId xmlns:a16="http://schemas.microsoft.com/office/drawing/2014/main" id="{89F47347-0370-4ED6-A309-BAFEE4B6E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训练1—21日，验证22—24日，测试25—31日。</a:t>
            </a:r>
          </a:p>
        </p:txBody>
      </p:sp>
      <p:sp>
        <p:nvSpPr>
          <p:cNvPr id="9" name="link">
            <a:extLst xmlns:a="http://schemas.openxmlformats.org/drawingml/2006/main">
              <a:ext uri="{FF2B5EF4-FFF2-40B4-BE49-F238E27FC236}">
                <a16:creationId xmlns:a16="http://schemas.microsoft.com/office/drawing/2014/main" id="{605AA02B-0BE1-4AC8-8D34-7DC52A389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44ebf78346b4f49"/>
              </a:rPr>
              <a:t>修改参数并查看完整结果表</a:t>
            </a:r>
          </a:p>
        </p:txBody>
      </p:sp>
    </p:spTree>
    <p:extLst>
      <p:ext uri="{BB962C8B-B14F-4D97-AF65-F5344CB8AC3E}">
        <p14:creationId xmlns:p14="http://schemas.microsoft.com/office/powerpoint/2010/main" val="144635242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日型数量与样本成员">
            <a:extLst xmlns:a="http://schemas.openxmlformats.org/drawingml/2006/main">
              <a:ext uri="{FF2B5EF4-FFF2-40B4-BE49-F238E27FC236}">
                <a16:creationId xmlns:a16="http://schemas.microsoft.com/office/drawing/2014/main" id="{0FE0E637-31C2-4AC1-9E29-16463DD82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日型数量与样本成员</a:t>
            </a:r>
          </a:p>
        </p:txBody>
      </p:sp>
      <p:sp>
        <p:nvSpPr>
          <p:cNvPr id="2" name="第7章 交通时空数据分析   7.4">
            <a:extLst xmlns:a="http://schemas.openxmlformats.org/drawingml/2006/main">
              <a:ext uri="{FF2B5EF4-FFF2-40B4-BE49-F238E27FC236}">
                <a16:creationId xmlns:a16="http://schemas.microsoft.com/office/drawing/2014/main" id="{780891C9-F956-4DEE-B8F3-77B5EAFC7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第7章 交通时空数据分析   7.4</a:t>
            </a:r>
          </a:p>
        </p:txBody>
      </p:sp>
      <p:sp>
        <p:nvSpPr>
          <p:cNvPr id="3" name="16">
            <a:extLst xmlns:a="http://schemas.openxmlformats.org/drawingml/2006/main">
              <a:ext uri="{FF2B5EF4-FFF2-40B4-BE49-F238E27FC236}">
                <a16:creationId xmlns:a16="http://schemas.microsoft.com/office/drawing/2014/main" id="{3F22BED7-2EE4-4AB5-B6FF-D63D62877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4" name="不同K值形成不同的服务日分组。">
            <a:extLst xmlns:a="http://schemas.openxmlformats.org/drawingml/2006/main">
              <a:ext uri="{FF2B5EF4-FFF2-40B4-BE49-F238E27FC236}">
                <a16:creationId xmlns:a16="http://schemas.microsoft.com/office/drawing/2014/main" id="{7BC58FB9-3A3F-4525-8D51-DB9DEFEF6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不同K值形成不同的服务日分组。</a:t>
            </a:r>
          </a:p>
        </p:txBody>
      </p:sp>
      <p:sp>
        <p:nvSpPr>
          <p:cNvPr id="5" name="在全月31天的168维占比上执行已有KMeans，切">
            <a:extLst xmlns:a="http://schemas.openxmlformats.org/drawingml/2006/main">
              <a:ext uri="{FF2B5EF4-FFF2-40B4-BE49-F238E27FC236}">
                <a16:creationId xmlns:a16="http://schemas.microsoft.com/office/drawing/2014/main" id="{0C02F428-415E-44AE-AE6C-EB7C977EC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在全月31天的168维占比上执行已有KMeans，切换K和种子检查成员、各簇规模与</a:t>
            </a:r>
          </a:p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原始日总量。</a:t>
            </a:r>
          </a:p>
        </p:txBody>
      </p:sp>
      <p:sp>
        <p:nvSpPr>
          <p:cNvPr id="6" name="簇编号仅是标签，换编号不等于成员变化。单日小簇可能反">
            <a:extLst xmlns:a="http://schemas.openxmlformats.org/drawingml/2006/main">
              <a:ext uri="{FF2B5EF4-FFF2-40B4-BE49-F238E27FC236}">
                <a16:creationId xmlns:a16="http://schemas.microsoft.com/office/drawing/2014/main" id="{5E18895F-A3E8-42DD-9A5C-1E2BAEF7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簇编号仅是标签，换编号不等于成员变化。单日小簇可能反映特殊日期，也可能不</a:t>
            </a:r>
          </a:p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稳定。</a:t>
            </a:r>
          </a:p>
        </p:txBody>
      </p:sp>
      <p:sp>
        <p:nvSpPr>
          <p:cNvPr id="7" name="课堂讨论：一个只含一天的簇，能否直接定义为稳定的运营">
            <a:extLst xmlns:a="http://schemas.openxmlformats.org/drawingml/2006/main">
              <a:ext uri="{FF2B5EF4-FFF2-40B4-BE49-F238E27FC236}">
                <a16:creationId xmlns:a16="http://schemas.microsoft.com/office/drawing/2014/main" id="{C46B9FAC-E2F0-43B3-A294-81887F479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课堂讨论：一个只含一天的簇，能否直接定义为稳定的运营日型？</a:t>
            </a:r>
          </a:p>
        </p:txBody>
      </p:sp>
      <p:sp>
        <p:nvSpPr>
          <p:cNvPr id="8" name="link">
            <a:extLst xmlns:a="http://schemas.openxmlformats.org/drawingml/2006/main">
              <a:ext uri="{FF2B5EF4-FFF2-40B4-BE49-F238E27FC236}">
                <a16:creationId xmlns:a16="http://schemas.microsoft.com/office/drawing/2014/main" id="{D3814D18-5F70-4649-B951-0683D8449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b5559f9a06942f4"/>
              </a:rPr>
              <a:t>打开交互实验，观察参数变化</a:t>
            </a:r>
          </a:p>
        </p:txBody>
      </p:sp>
    </p:spTree>
    <p:extLst>
      <p:ext uri="{BB962C8B-B14F-4D97-AF65-F5344CB8AC3E}">
        <p14:creationId xmlns:p14="http://schemas.microsoft.com/office/powerpoint/2010/main" val="5635439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日型数量与样本成员：计算结果">
            <a:extLst xmlns:a="http://schemas.openxmlformats.org/drawingml/2006/main">
              <a:ext uri="{FF2B5EF4-FFF2-40B4-BE49-F238E27FC236}">
                <a16:creationId xmlns:a16="http://schemas.microsoft.com/office/drawing/2014/main" id="{02EDCC34-BD79-43FE-8399-BD7F61E8E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日型数量与样本成员：计算结果</a:t>
            </a:r>
          </a:p>
        </p:txBody>
      </p:sp>
      <p:sp>
        <p:nvSpPr>
          <p:cNvPr id="2" name="第7章 交通时空数据分析   7.4">
            <a:extLst xmlns:a="http://schemas.openxmlformats.org/drawingml/2006/main">
              <a:ext uri="{FF2B5EF4-FFF2-40B4-BE49-F238E27FC236}">
                <a16:creationId xmlns:a16="http://schemas.microsoft.com/office/drawing/2014/main" id="{A746C101-28E5-46C4-BEC9-1A5926E69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第7章 交通时空数据分析   7.4</a:t>
            </a:r>
          </a:p>
        </p:txBody>
      </p:sp>
      <p:sp>
        <p:nvSpPr>
          <p:cNvPr id="3" name="17">
            <a:extLst xmlns:a="http://schemas.openxmlformats.org/drawingml/2006/main">
              <a:ext uri="{FF2B5EF4-FFF2-40B4-BE49-F238E27FC236}">
                <a16:creationId xmlns:a16="http://schemas.microsoft.com/office/drawing/2014/main" id="{EBF29679-C8E4-495C-995F-953A15238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4" name="冻结KMeans成员与真实规模联合浏览">
            <a:extLst xmlns:a="http://schemas.openxmlformats.org/drawingml/2006/main">
              <a:ext uri="{FF2B5EF4-FFF2-40B4-BE49-F238E27FC236}">
                <a16:creationId xmlns:a16="http://schemas.microsoft.com/office/drawing/2014/main" id="{45CF4DE3-2C14-4989-8E22-ECB8BE320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820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冻结KMeans成员与真实规模联合浏览</a:t>
            </a:r>
          </a:p>
        </p:txBody>
      </p:sp>
      <p:sp>
        <p:nvSpPr>
          <p:cNvPr id="5" name="默认配置：日型数量K：3，随机种子：42">
            <a:extLst xmlns:a="http://schemas.openxmlformats.org/drawingml/2006/main">
              <a:ext uri="{FF2B5EF4-FFF2-40B4-BE49-F238E27FC236}">
                <a16:creationId xmlns:a16="http://schemas.microsoft.com/office/drawing/2014/main" id="{DE55EC93-957C-4635-8305-AF1EB4A7E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默认配置：日型数量K：3，随机种子：42</a:t>
            </a:r>
          </a:p>
        </p:txBody>
      </p:sp>
      <p:sp>
        <p:nvSpPr>
          <p:cNvPr id="6" name="保留上车记录（日总量）">
            <a:extLst xmlns:a="http://schemas.openxmlformats.org/drawingml/2006/main">
              <a:ext uri="{FF2B5EF4-FFF2-40B4-BE49-F238E27FC236}">
                <a16:creationId xmlns:a16="http://schemas.microsoft.com/office/drawing/2014/main" id="{3F8EFDA9-A28B-48E6-9F64-87C87F644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保留上车记录（日总量）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85800" y="2390775"/>
          <a:ext xmlns:a="http://schemas.openxmlformats.org/drawingml/2006/main" cx="10820400" cy="29432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ee528cbab50468a"/>
          </a:graphicData>
        </a:graphic>
      </p:graphicFrame>
      <p:sp>
        <p:nvSpPr>
          <p:cNvPr id="8" name="聚类使用168维占比。此图保留原始日规模，成员见课堂">
            <a:extLst xmlns:a="http://schemas.openxmlformats.org/drawingml/2006/main">
              <a:ext uri="{FF2B5EF4-FFF2-40B4-BE49-F238E27FC236}">
                <a16:creationId xmlns:a16="http://schemas.microsoft.com/office/drawing/2014/main" id="{F32DE4E4-BB1C-4553-B216-6F0043FF4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聚类使用168维占比。此图保留原始日规模，成员见课堂表格。</a:t>
            </a:r>
          </a:p>
        </p:txBody>
      </p:sp>
      <p:sp>
        <p:nvSpPr>
          <p:cNvPr id="9" name="link">
            <a:extLst xmlns:a="http://schemas.openxmlformats.org/drawingml/2006/main">
              <a:ext uri="{FF2B5EF4-FFF2-40B4-BE49-F238E27FC236}">
                <a16:creationId xmlns:a16="http://schemas.microsoft.com/office/drawing/2014/main" id="{CFE1B4DF-CF13-42A7-B92E-1E3487B05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2bac505a6de4a0c"/>
              </a:rPr>
              <a:t>修改参数并查看完整结果表</a:t>
            </a:r>
          </a:p>
        </p:txBody>
      </p:sp>
    </p:spTree>
    <p:extLst>
      <p:ext uri="{BB962C8B-B14F-4D97-AF65-F5344CB8AC3E}">
        <p14:creationId xmlns:p14="http://schemas.microsoft.com/office/powerpoint/2010/main" val="124153145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聚类的跨种子稳定性">
            <a:extLst xmlns:a="http://schemas.openxmlformats.org/drawingml/2006/main">
              <a:ext uri="{FF2B5EF4-FFF2-40B4-BE49-F238E27FC236}">
                <a16:creationId xmlns:a16="http://schemas.microsoft.com/office/drawing/2014/main" id="{63409F65-9D75-43B8-B944-31917FA7E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聚类的跨种子稳定性</a:t>
            </a:r>
          </a:p>
        </p:txBody>
      </p:sp>
      <p:sp>
        <p:nvSpPr>
          <p:cNvPr id="2" name="第7章 交通时空数据分析   7.4 / 7.6">
            <a:extLst xmlns:a="http://schemas.openxmlformats.org/drawingml/2006/main">
              <a:ext uri="{FF2B5EF4-FFF2-40B4-BE49-F238E27FC236}">
                <a16:creationId xmlns:a16="http://schemas.microsoft.com/office/drawing/2014/main" id="{1F0BA3FD-BA5C-4E20-BBE4-FB5073356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第7章 交通时空数据分析   7.4 / 7.6</a:t>
            </a:r>
          </a:p>
        </p:txBody>
      </p:sp>
      <p:sp>
        <p:nvSpPr>
          <p:cNvPr id="3" name="18">
            <a:extLst xmlns:a="http://schemas.openxmlformats.org/drawingml/2006/main">
              <a:ext uri="{FF2B5EF4-FFF2-40B4-BE49-F238E27FC236}">
                <a16:creationId xmlns:a16="http://schemas.microsoft.com/office/drawing/2014/main" id="{919BCB89-C9A0-4E2C-B3F5-768E3798B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4" name="成员关系比簇编号更重要。">
            <a:extLst xmlns:a="http://schemas.openxmlformats.org/drawingml/2006/main">
              <a:ext uri="{FF2B5EF4-FFF2-40B4-BE49-F238E27FC236}">
                <a16:creationId xmlns:a16="http://schemas.microsoft.com/office/drawing/2014/main" id="{ECCF1BE6-EF3D-42F2-BC1D-9C928E72D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成员关系比簇编号更重要。</a:t>
            </a:r>
          </a:p>
        </p:txBody>
      </p:sp>
      <p:sp>
        <p:nvSpPr>
          <p:cNvPr id="5" name="调整兰德指数ARI比较样本对是否共同分组，不受簇编号">
            <a:extLst xmlns:a="http://schemas.openxmlformats.org/drawingml/2006/main">
              <a:ext uri="{FF2B5EF4-FFF2-40B4-BE49-F238E27FC236}">
                <a16:creationId xmlns:a16="http://schemas.microsoft.com/office/drawing/2014/main" id="{691FCB96-44FA-4371-B72E-D203CB64A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调整兰德指数ARI比较样本对是否共同分组，不受簇编号交换影响。</a:t>
            </a:r>
          </a:p>
        </p:txBody>
      </p:sp>
      <p:sp>
        <p:nvSpPr>
          <p:cNvPr id="6" name="本课相对种子42核对。跨种子稳定只反映本样本内稳定性">
            <a:extLst xmlns:a="http://schemas.openxmlformats.org/drawingml/2006/main">
              <a:ext uri="{FF2B5EF4-FFF2-40B4-BE49-F238E27FC236}">
                <a16:creationId xmlns:a16="http://schemas.microsoft.com/office/drawing/2014/main" id="{865FAD59-4676-4CA2-8463-BBC8FF247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本课相对种子42核对。跨种子稳定只反映本样本内稳定性，不能证明跨月份有效。</a:t>
            </a:r>
          </a:p>
        </p:txBody>
      </p:sp>
      <p:sp>
        <p:nvSpPr>
          <p:cNvPr id="7" name="课堂讨论：为何轮廓系数较高还需要检查日期成员和样本量">
            <a:extLst xmlns:a="http://schemas.openxmlformats.org/drawingml/2006/main">
              <a:ext uri="{FF2B5EF4-FFF2-40B4-BE49-F238E27FC236}">
                <a16:creationId xmlns:a16="http://schemas.microsoft.com/office/drawing/2014/main" id="{95E32ED5-2EE9-4D85-9816-5BDD9C05F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课堂讨论：为何轮廓系数较高还需要检查日期成员和样本量？</a:t>
            </a:r>
          </a:p>
        </p:txBody>
      </p:sp>
      <p:sp>
        <p:nvSpPr>
          <p:cNvPr id="8" name="link">
            <a:extLst xmlns:a="http://schemas.openxmlformats.org/drawingml/2006/main">
              <a:ext uri="{FF2B5EF4-FFF2-40B4-BE49-F238E27FC236}">
                <a16:creationId xmlns:a16="http://schemas.microsoft.com/office/drawing/2014/main" id="{14ACCE5C-1BE3-40CF-9021-C757A8533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578e432d4b143c5"/>
              </a:rPr>
              <a:t>打开交互实验，观察参数变化</a:t>
            </a:r>
          </a:p>
        </p:txBody>
      </p:sp>
    </p:spTree>
    <p:extLst>
      <p:ext uri="{BB962C8B-B14F-4D97-AF65-F5344CB8AC3E}">
        <p14:creationId xmlns:p14="http://schemas.microsoft.com/office/powerpoint/2010/main" val="156640823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聚类的跨种子稳定性：计算结果">
            <a:extLst xmlns:a="http://schemas.openxmlformats.org/drawingml/2006/main">
              <a:ext uri="{FF2B5EF4-FFF2-40B4-BE49-F238E27FC236}">
                <a16:creationId xmlns:a16="http://schemas.microsoft.com/office/drawing/2014/main" id="{907BAC45-C861-4036-8B1A-6D054220F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聚类的跨种子稳定性：计算结果</a:t>
            </a:r>
          </a:p>
        </p:txBody>
      </p:sp>
      <p:sp>
        <p:nvSpPr>
          <p:cNvPr id="2" name="第7章 交通时空数据分析   7.4 / 7.6">
            <a:extLst xmlns:a="http://schemas.openxmlformats.org/drawingml/2006/main">
              <a:ext uri="{FF2B5EF4-FFF2-40B4-BE49-F238E27FC236}">
                <a16:creationId xmlns:a16="http://schemas.microsoft.com/office/drawing/2014/main" id="{F0A17180-B474-4EB8-95F8-A288C0F6F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第7章 交通时空数据分析   7.4 / 7.6</a:t>
            </a:r>
          </a:p>
        </p:txBody>
      </p:sp>
      <p:sp>
        <p:nvSpPr>
          <p:cNvPr id="3" name="19">
            <a:extLst xmlns:a="http://schemas.openxmlformats.org/drawingml/2006/main">
              <a:ext uri="{FF2B5EF4-FFF2-40B4-BE49-F238E27FC236}">
                <a16:creationId xmlns:a16="http://schemas.microsoft.com/office/drawing/2014/main" id="{6DACED47-0AEE-407F-9334-1AAB75A55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4" name="读取已有Python轮廓系数与ARI计算结果，不重新">
            <a:extLst xmlns:a="http://schemas.openxmlformats.org/drawingml/2006/main">
              <a:ext uri="{FF2B5EF4-FFF2-40B4-BE49-F238E27FC236}">
                <a16:creationId xmlns:a16="http://schemas.microsoft.com/office/drawing/2014/main" id="{21014CBC-500A-463C-861F-0168207E4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820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读取已有Python轮廓系数与ARI计算结果，不重新拟合</a:t>
            </a:r>
          </a:p>
        </p:txBody>
      </p:sp>
      <p:sp>
        <p:nvSpPr>
          <p:cNvPr id="5" name="默认配置：日型数量K：3">
            <a:extLst xmlns:a="http://schemas.openxmlformats.org/drawingml/2006/main">
              <a:ext uri="{FF2B5EF4-FFF2-40B4-BE49-F238E27FC236}">
                <a16:creationId xmlns:a16="http://schemas.microsoft.com/office/drawing/2014/main" id="{AF817DDD-7F58-479B-95FA-F42A0295D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默认配置：日型数量K：3</a:t>
            </a:r>
          </a:p>
        </p:txBody>
      </p:sp>
      <p:sp>
        <p:nvSpPr>
          <p:cNvPr id="6" name="ARI（相对种子42）">
            <a:extLst xmlns:a="http://schemas.openxmlformats.org/drawingml/2006/main">
              <a:ext uri="{FF2B5EF4-FFF2-40B4-BE49-F238E27FC236}">
                <a16:creationId xmlns:a16="http://schemas.microsoft.com/office/drawing/2014/main" id="{75C4AEF4-1A20-423A-B560-B98537BBA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ARI（相对种子42）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85800" y="2390775"/>
          <a:ext xmlns:a="http://schemas.openxmlformats.org/drawingml/2006/main" cx="10820400" cy="29432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8264f1b47e94505"/>
          </a:graphicData>
        </a:graphic>
      </p:graphicFrame>
      <p:sp>
        <p:nvSpPr>
          <p:cNvPr id="8" name="ARI比较成员配对，不受簇编号互换影响；跨种子稳定不">
            <a:extLst xmlns:a="http://schemas.openxmlformats.org/drawingml/2006/main">
              <a:ext uri="{FF2B5EF4-FFF2-40B4-BE49-F238E27FC236}">
                <a16:creationId xmlns:a16="http://schemas.microsoft.com/office/drawing/2014/main" id="{E332ABAC-14B7-4B03-80B1-805AC3CC1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ARI比较成员配对，不受簇编号互换影响；跨种子稳定不等于跨月份稳定，也不是预测准确率。</a:t>
            </a:r>
          </a:p>
        </p:txBody>
      </p:sp>
      <p:sp>
        <p:nvSpPr>
          <p:cNvPr id="9" name="link">
            <a:extLst xmlns:a="http://schemas.openxmlformats.org/drawingml/2006/main">
              <a:ext uri="{FF2B5EF4-FFF2-40B4-BE49-F238E27FC236}">
                <a16:creationId xmlns:a16="http://schemas.microsoft.com/office/drawing/2014/main" id="{A02E7A7C-355A-4AA6-8C91-71E148504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70382ffbe0bb4337"/>
              </a:rPr>
              <a:t>修改参数并查看完整结果表</a:t>
            </a:r>
          </a:p>
        </p:txBody>
      </p:sp>
    </p:spTree>
    <p:extLst>
      <p:ext uri="{BB962C8B-B14F-4D97-AF65-F5344CB8AC3E}">
        <p14:creationId xmlns:p14="http://schemas.microsoft.com/office/powerpoint/2010/main" val="114855619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时空预测模型的拓展">
            <a:extLst xmlns:a="http://schemas.openxmlformats.org/drawingml/2006/main">
              <a:ext uri="{FF2B5EF4-FFF2-40B4-BE49-F238E27FC236}">
                <a16:creationId xmlns:a16="http://schemas.microsoft.com/office/drawing/2014/main" id="{58A4B26C-14FD-4B50-801A-E509951DF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时空预测模型的拓展</a:t>
            </a:r>
          </a:p>
        </p:txBody>
      </p:sp>
      <p:sp>
        <p:nvSpPr>
          <p:cNvPr id="2" name="第7章 交通时空数据分析   7.5">
            <a:extLst xmlns:a="http://schemas.openxmlformats.org/drawingml/2006/main">
              <a:ext uri="{FF2B5EF4-FFF2-40B4-BE49-F238E27FC236}">
                <a16:creationId xmlns:a16="http://schemas.microsoft.com/office/drawing/2014/main" id="{010FA5C5-D5B2-41DE-8808-DCE0890AF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第7章 交通时空数据分析   7.5</a:t>
            </a:r>
          </a:p>
        </p:txBody>
      </p:sp>
      <p:sp>
        <p:nvSpPr>
          <p:cNvPr id="3" name="20">
            <a:extLst xmlns:a="http://schemas.openxmlformats.org/drawingml/2006/main">
              <a:ext uri="{FF2B5EF4-FFF2-40B4-BE49-F238E27FC236}">
                <a16:creationId xmlns:a16="http://schemas.microsoft.com/office/drawing/2014/main" id="{FD3E7E22-C5B4-44B6-9305-2795BD2F4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4" name="更复杂的算法仍需明确可用信息。">
            <a:extLst xmlns:a="http://schemas.openxmlformats.org/drawingml/2006/main">
              <a:ext uri="{FF2B5EF4-FFF2-40B4-BE49-F238E27FC236}">
                <a16:creationId xmlns:a16="http://schemas.microsoft.com/office/drawing/2014/main" id="{E9847A40-37F3-430B-A398-8FEC9E01A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更复杂的算法仍需明确可用信息。</a:t>
            </a:r>
          </a:p>
        </p:txBody>
      </p:sp>
      <p:sp>
        <p:nvSpPr>
          <p:cNvPr id="5" name="XGBoost可组合本区和邻区滞后特征。STGCN与">
            <a:extLst xmlns:a="http://schemas.openxmlformats.org/drawingml/2006/main">
              <a:ext uri="{FF2B5EF4-FFF2-40B4-BE49-F238E27FC236}">
                <a16:creationId xmlns:a16="http://schemas.microsoft.com/office/drawing/2014/main" id="{DAECE735-F7D9-4DA1-8619-E066F1912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XGBoost可组合本区和邻区滞后特征。STGCN与DCRNN进一步用图结构刻画节点依</a:t>
            </a:r>
          </a:p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赖。</a:t>
            </a:r>
          </a:p>
        </p:txBody>
      </p:sp>
      <p:sp>
        <p:nvSpPr>
          <p:cNvPr id="6" name="图结构、标准化和超参数均应在训练与验证阶段确定。本课">
            <a:extLst xmlns:a="http://schemas.openxmlformats.org/drawingml/2006/main">
              <a:ext uri="{FF2B5EF4-FFF2-40B4-BE49-F238E27FC236}">
                <a16:creationId xmlns:a16="http://schemas.microsoft.com/office/drawing/2014/main" id="{F8464487-A5AE-48C4-865B-5DAB2AF60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图结构、标准化和超参数均应在训练与验证阶段确定。本课堂未宣称训练了图神经</a:t>
            </a:r>
          </a:p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网络。</a:t>
            </a:r>
          </a:p>
        </p:txBody>
      </p:sp>
      <p:sp>
        <p:nvSpPr>
          <p:cNvPr id="7" name="课堂讨论：若未来测试期的路网结构发生改变，应追加什么">
            <a:extLst xmlns:a="http://schemas.openxmlformats.org/drawingml/2006/main">
              <a:ext uri="{FF2B5EF4-FFF2-40B4-BE49-F238E27FC236}">
                <a16:creationId xmlns:a16="http://schemas.microsoft.com/office/drawing/2014/main" id="{791DDCB3-2586-4547-A978-526C87B7E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课堂讨论：若未来测试期的路网结构发生改变，应追加什么适用性核查？</a:t>
            </a:r>
          </a:p>
        </p:txBody>
      </p:sp>
      <p:sp>
        <p:nvSpPr>
          <p:cNvPr id="8" name="link">
            <a:extLst xmlns:a="http://schemas.openxmlformats.org/drawingml/2006/main">
              <a:ext uri="{FF2B5EF4-FFF2-40B4-BE49-F238E27FC236}">
                <a16:creationId xmlns:a16="http://schemas.microsoft.com/office/drawing/2014/main" id="{C09922D0-19CD-4BE4-92D6-31E93B7BB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ef1574a69664769"/>
              </a:rPr>
              <a:t>打开课堂讲解与配套案例</a:t>
            </a:r>
          </a:p>
        </p:txBody>
      </p:sp>
    </p:spTree>
    <p:extLst>
      <p:ext uri="{BB962C8B-B14F-4D97-AF65-F5344CB8AC3E}">
        <p14:creationId xmlns:p14="http://schemas.microsoft.com/office/powerpoint/2010/main" val="103764256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探索性日型与未来预测">
            <a:extLst xmlns:a="http://schemas.openxmlformats.org/drawingml/2006/main">
              <a:ext uri="{FF2B5EF4-FFF2-40B4-BE49-F238E27FC236}">
                <a16:creationId xmlns:a16="http://schemas.microsoft.com/office/drawing/2014/main" id="{790E1F63-3A0E-4E52-BC23-5356F518F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探索性日型与未来预测</a:t>
            </a:r>
          </a:p>
        </p:txBody>
      </p:sp>
      <p:sp>
        <p:nvSpPr>
          <p:cNvPr id="2" name="第7章 交通时空数据分析   7.6">
            <a:extLst xmlns:a="http://schemas.openxmlformats.org/drawingml/2006/main">
              <a:ext uri="{FF2B5EF4-FFF2-40B4-BE49-F238E27FC236}">
                <a16:creationId xmlns:a16="http://schemas.microsoft.com/office/drawing/2014/main" id="{0DC60775-24EC-4BAC-8670-CB94BA9AD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第7章 交通时空数据分析   7.6</a:t>
            </a:r>
          </a:p>
        </p:txBody>
      </p:sp>
      <p:sp>
        <p:nvSpPr>
          <p:cNvPr id="3" name="21">
            <a:extLst xmlns:a="http://schemas.openxmlformats.org/drawingml/2006/main">
              <a:ext uri="{FF2B5EF4-FFF2-40B4-BE49-F238E27FC236}">
                <a16:creationId xmlns:a16="http://schemas.microsoft.com/office/drawing/2014/main" id="{68D27D55-583E-42CD-A4A7-C610051B2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4" name="全月聚类和留出预测是两个独立分析。">
            <a:extLst xmlns:a="http://schemas.openxmlformats.org/drawingml/2006/main">
              <a:ext uri="{FF2B5EF4-FFF2-40B4-BE49-F238E27FC236}">
                <a16:creationId xmlns:a16="http://schemas.microsoft.com/office/drawing/2014/main" id="{8371E110-13AC-4D9C-9296-BB562297F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全月聚类和留出预测是两个独立分析。</a:t>
            </a:r>
          </a:p>
        </p:txBody>
      </p:sp>
      <p:sp>
        <p:nvSpPr>
          <p:cNvPr id="5" name="全月日型使用了测试日期的形态，可用于事后运营复盘。">
            <a:extLst xmlns:a="http://schemas.openxmlformats.org/drawingml/2006/main">
              <a:ext uri="{FF2B5EF4-FFF2-40B4-BE49-F238E27FC236}">
                <a16:creationId xmlns:a16="http://schemas.microsoft.com/office/drawing/2014/main" id="{DB95DD70-2AF7-4AA1-8799-22B539958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全月日型使用了测试日期的形态，可用于事后运营复盘。</a:t>
            </a:r>
          </a:p>
        </p:txBody>
      </p:sp>
      <p:sp>
        <p:nvSpPr>
          <p:cNvPr id="6" name="把这些全月标签直接作为测试期预测输入会引入未来信息，">
            <a:extLst xmlns:a="http://schemas.openxmlformats.org/drawingml/2006/main">
              <a:ext uri="{FF2B5EF4-FFF2-40B4-BE49-F238E27FC236}">
                <a16:creationId xmlns:a16="http://schemas.microsoft.com/office/drawing/2014/main" id="{05F72F8F-5BC7-410C-A317-FB4F31703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把这些全月标签直接作为测试期预测输入会引入未来信息，不能称为纯粹的留出预</a:t>
            </a:r>
          </a:p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测。</a:t>
            </a:r>
          </a:p>
        </p:txBody>
      </p:sp>
      <p:sp>
        <p:nvSpPr>
          <p:cNvPr id="7" name="课堂讨论：若希望用日型做未来预测，训练、识别与评价流">
            <a:extLst xmlns:a="http://schemas.openxmlformats.org/drawingml/2006/main">
              <a:ext uri="{FF2B5EF4-FFF2-40B4-BE49-F238E27FC236}">
                <a16:creationId xmlns:a16="http://schemas.microsoft.com/office/drawing/2014/main" id="{ABEA4D66-9331-440E-BD6E-B8CEF1765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课堂讨论：若希望用日型做未来预测，训练、识别与评价流程应怎样重建？</a:t>
            </a:r>
          </a:p>
        </p:txBody>
      </p:sp>
      <p:sp>
        <p:nvSpPr>
          <p:cNvPr id="8" name="link">
            <a:extLst xmlns:a="http://schemas.openxmlformats.org/drawingml/2006/main">
              <a:ext uri="{FF2B5EF4-FFF2-40B4-BE49-F238E27FC236}">
                <a16:creationId xmlns:a16="http://schemas.microsoft.com/office/drawing/2014/main" id="{514ED711-D0C8-414F-9A0A-3EA88D217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2ca4846b2624a0c"/>
              </a:rPr>
              <a:t>打开课堂讲解与配套案例</a:t>
            </a:r>
          </a:p>
        </p:txBody>
      </p:sp>
    </p:spTree>
    <p:extLst>
      <p:ext uri="{BB962C8B-B14F-4D97-AF65-F5344CB8AC3E}">
        <p14:creationId xmlns:p14="http://schemas.microsoft.com/office/powerpoint/2010/main" val="59448645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地区误差的代码复核">
            <a:extLst xmlns:a="http://schemas.openxmlformats.org/drawingml/2006/main">
              <a:ext uri="{FF2B5EF4-FFF2-40B4-BE49-F238E27FC236}">
                <a16:creationId xmlns:a16="http://schemas.microsoft.com/office/drawing/2014/main" id="{C89F4A40-3808-4BED-BF5A-DADFD97BC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地区误差的代码复核</a:t>
            </a:r>
          </a:p>
        </p:txBody>
      </p:sp>
      <p:sp>
        <p:nvSpPr>
          <p:cNvPr id="2" name="第7章 交通时空数据分析   综合">
            <a:extLst xmlns:a="http://schemas.openxmlformats.org/drawingml/2006/main">
              <a:ext uri="{FF2B5EF4-FFF2-40B4-BE49-F238E27FC236}">
                <a16:creationId xmlns:a16="http://schemas.microsoft.com/office/drawing/2014/main" id="{353C8336-906D-4B93-A4CC-BD66B5E78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第7章 交通时空数据分析   综合</a:t>
            </a:r>
          </a:p>
        </p:txBody>
      </p:sp>
      <p:sp>
        <p:nvSpPr>
          <p:cNvPr id="3" name="22">
            <a:extLst xmlns:a="http://schemas.openxmlformats.org/drawingml/2006/main">
              <a:ext uri="{FF2B5EF4-FFF2-40B4-BE49-F238E27FC236}">
                <a16:creationId xmlns:a16="http://schemas.microsoft.com/office/drawing/2014/main" id="{61E02838-4096-4375-95D2-4D8BBD456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4" name="改变评价区域，检查模型改善来自哪里。">
            <a:extLst xmlns:a="http://schemas.openxmlformats.org/drawingml/2006/main">
              <a:ext uri="{FF2B5EF4-FFF2-40B4-BE49-F238E27FC236}">
                <a16:creationId xmlns:a16="http://schemas.microsoft.com/office/drawing/2014/main" id="{6BDFB001-DB2A-4D3B-B769-ED8F571FF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改变评价区域，检查模型改善来自哪里。</a:t>
            </a:r>
          </a:p>
        </p:txBody>
      </p:sp>
      <p:sp>
        <p:nvSpPr>
          <p:cNvPr id="5" name="// JavaScript：本机实际执行，可修改参数">
            <a:extLst xmlns:a="http://schemas.openxmlformats.org/drawingml/2006/main">
              <a:ext uri="{FF2B5EF4-FFF2-40B4-BE49-F238E27FC236}">
                <a16:creationId xmlns:a16="http://schemas.microsoft.com/office/drawing/2014/main" id="{FD3477F2-507F-4FDD-9859-62EA8945F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7429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12E36"/>
                </a:solidFill>
                <a:latin typeface="Consolas"/>
                <a:ea typeface="Consolas"/>
                <a:cs typeface="Consolas"/>
              </a:rPr>
              <a:t>// JavaScript：本机实际执行，可修改参数。</a:t>
            </a:r>
          </a:p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12E36"/>
                </a:solidFill>
                <a:latin typeface="Consolas"/>
                <a:ea typeface="Consolas"/>
                <a:cs typeface="Consolas"/>
              </a:rPr>
              <a:t>// data为本章真实快照；runLab为公开计算模块。</a:t>
            </a:r>
          </a:p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12E36"/>
                </a:solidFill>
                <a:latin typeface="Consolas"/>
                <a:ea typeface="Consolas"/>
                <a:cs typeface="Consolas"/>
              </a:rPr>
              <a:t>const result = runLab("regional-models", data, {</a:t>
            </a:r>
          </a:p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12E36"/>
                </a:solidFill>
                <a:latin typeface="Consolas"/>
                <a:ea typeface="Consolas"/>
                <a:cs typeface="Consolas"/>
              </a:rPr>
              <a:t>  "region": "Queens"</a:t>
            </a:r>
          </a:p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12E36"/>
                </a:solidFill>
                <a:latin typeface="Consolas"/>
                <a:ea typeface="Consolas"/>
                <a:cs typeface="Consolas"/>
              </a:rPr>
              <a:t>});</a:t>
            </a:r>
          </a:p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12E36"/>
                </a:solidFill>
                <a:latin typeface="Consolas"/>
                <a:ea typeface="Consolas"/>
                <a:cs typeface="Consolas"/>
              </a:rPr>
              <a:t>print(result.columns);</a:t>
            </a:r>
          </a:p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12E36"/>
                </a:solidFill>
                <a:latin typeface="Consolas"/>
                <a:ea typeface="Consolas"/>
                <a:cs typeface="Consolas"/>
              </a:rPr>
              <a:t>print(result.rows);</a:t>
            </a:r>
          </a:p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12E36"/>
                </a:solidFill>
                <a:latin typeface="Consolas"/>
                <a:ea typeface="Consolas"/>
                <a:cs typeface="Consolas"/>
              </a:rPr>
              <a:t>print(result.note);</a:t>
            </a:r>
          </a:p>
        </p:txBody>
      </p:sp>
      <p:sp>
        <p:nvSpPr>
          <p:cNvPr id="6" name="JavaScript在网页中实际执行。&#10;&#10;Pytho">
            <a:extLst xmlns:a="http://schemas.openxmlformats.org/drawingml/2006/main">
              <a:ext uri="{FF2B5EF4-FFF2-40B4-BE49-F238E27FC236}">
                <a16:creationId xmlns:a16="http://schemas.microsoft.com/office/drawing/2014/main" id="{1137CC78-8866-4CFB-92E6-6E9BBA48C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447925"/>
            <a:ext cx="2857500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JavaScript在网页中实际执行。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Python模型训练使用本章完整工作本。</a:t>
            </a:r>
          </a:p>
        </p:txBody>
      </p:sp>
      <p:sp>
        <p:nvSpPr>
          <p:cNvPr id="7" name="link">
            <a:extLst xmlns:a="http://schemas.openxmlformats.org/drawingml/2006/main">
              <a:ext uri="{FF2B5EF4-FFF2-40B4-BE49-F238E27FC236}">
                <a16:creationId xmlns:a16="http://schemas.microsoft.com/office/drawing/2014/main" id="{96548F65-7210-4ED6-AB50-FA5C7CACE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1c9ce325968494a"/>
              </a:rPr>
              <a:t>打开代码编辑器，修改参数并运行</a:t>
            </a:r>
          </a:p>
        </p:txBody>
      </p:sp>
    </p:spTree>
    <p:extLst>
      <p:ext uri="{BB962C8B-B14F-4D97-AF65-F5344CB8AC3E}">
        <p14:creationId xmlns:p14="http://schemas.microsoft.com/office/powerpoint/2010/main" val="35554229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分区运营研判报告">
            <a:extLst xmlns:a="http://schemas.openxmlformats.org/drawingml/2006/main">
              <a:ext uri="{FF2B5EF4-FFF2-40B4-BE49-F238E27FC236}">
                <a16:creationId xmlns:a16="http://schemas.microsoft.com/office/drawing/2014/main" id="{5BB0E049-ABC0-4B6A-B7F0-F9D430C64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分区运营研判报告</a:t>
            </a:r>
          </a:p>
        </p:txBody>
      </p:sp>
      <p:sp>
        <p:nvSpPr>
          <p:cNvPr id="2" name="第7章 交通时空数据分析   综合">
            <a:extLst xmlns:a="http://schemas.openxmlformats.org/drawingml/2006/main">
              <a:ext uri="{FF2B5EF4-FFF2-40B4-BE49-F238E27FC236}">
                <a16:creationId xmlns:a16="http://schemas.microsoft.com/office/drawing/2014/main" id="{A68001D0-C5A0-4D62-A1D9-287D3404B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第7章 交通时空数据分析   综合</a:t>
            </a:r>
          </a:p>
        </p:txBody>
      </p:sp>
      <p:sp>
        <p:nvSpPr>
          <p:cNvPr id="3" name="23">
            <a:extLst xmlns:a="http://schemas.openxmlformats.org/drawingml/2006/main">
              <a:ext uri="{FF2B5EF4-FFF2-40B4-BE49-F238E27FC236}">
                <a16:creationId xmlns:a16="http://schemas.microsoft.com/office/drawing/2014/main" id="{A6D33044-8144-4DC0-9931-E86004C47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4" name="统计模式需要结合交通活动背景验证。">
            <a:extLst xmlns:a="http://schemas.openxmlformats.org/drawingml/2006/main">
              <a:ext uri="{FF2B5EF4-FFF2-40B4-BE49-F238E27FC236}">
                <a16:creationId xmlns:a16="http://schemas.microsoft.com/office/drawing/2014/main" id="{C85A5D83-00E1-49FE-8FCB-131707070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087E82"/>
                </a:solidFill>
                <a:latin typeface="Microsoft YaHei"/>
                <a:ea typeface="Microsoft YaHei"/>
                <a:cs typeface="Microsoft YaHei"/>
              </a:rPr>
              <a:t>统计模式需要结合交通活动背景验证。</a:t>
            </a:r>
          </a:p>
        </p:txBody>
      </p:sp>
      <p:sp>
        <p:nvSpPr>
          <p:cNvPr id="5" name="报告地区时段差异、AR/VAR比较和典型日期成员，联">
            <a:extLst xmlns:a="http://schemas.openxmlformats.org/drawingml/2006/main">
              <a:ext uri="{FF2B5EF4-FFF2-40B4-BE49-F238E27FC236}">
                <a16:creationId xmlns:a16="http://schemas.microsoft.com/office/drawing/2014/main" id="{836A9C4D-1A1A-4C8C-824B-890EE5AAE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报告地区时段差异、AR/VAR比较和典型日期成员，联合解释原始规模与归一化形</a:t>
            </a:r>
          </a:p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态。</a:t>
            </a:r>
          </a:p>
        </p:txBody>
      </p:sp>
      <p:sp>
        <p:nvSpPr>
          <p:cNvPr id="6" name="将建议写为待核实的运营假设，补充空驶、等待、服务可用">
            <a:extLst xmlns:a="http://schemas.openxmlformats.org/drawingml/2006/main">
              <a:ext uri="{FF2B5EF4-FFF2-40B4-BE49-F238E27FC236}">
                <a16:creationId xmlns:a16="http://schemas.microsoft.com/office/drawing/2014/main" id="{FA167C53-8323-4973-833B-A2D0C266E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将建议写为待核实的运营假设，补充空驶、等待、服务可用性及跨月观测。</a:t>
            </a:r>
          </a:p>
        </p:txBody>
      </p:sp>
      <p:sp>
        <p:nvSpPr>
          <p:cNvPr id="7" name="课堂讨论：你会选择哪两个地区或时段，优先开展补充调查">
            <a:extLst xmlns:a="http://schemas.openxmlformats.org/drawingml/2006/main">
              <a:ext uri="{FF2B5EF4-FFF2-40B4-BE49-F238E27FC236}">
                <a16:creationId xmlns:a16="http://schemas.microsoft.com/office/drawing/2014/main" id="{E7DAF044-A215-4568-BF4E-6EA9F9D16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课堂讨论：你会选择哪两个地区或时段，优先开展补充调查？</a:t>
            </a:r>
          </a:p>
        </p:txBody>
      </p:sp>
      <p:sp>
        <p:nvSpPr>
          <p:cNvPr id="8" name="link">
            <a:extLst xmlns:a="http://schemas.openxmlformats.org/drawingml/2006/main">
              <a:ext uri="{FF2B5EF4-FFF2-40B4-BE49-F238E27FC236}">
                <a16:creationId xmlns:a16="http://schemas.microsoft.com/office/drawing/2014/main" id="{3583E3F3-11EC-495E-BA16-83438B8CF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7da03b984ae495c"/>
              </a:rPr>
              <a:t>打开课堂讲解与配套案例</a:t>
            </a:r>
          </a:p>
        </p:txBody>
      </p:sp>
    </p:spTree>
    <p:extLst>
      <p:ext uri="{BB962C8B-B14F-4D97-AF65-F5344CB8AC3E}">
        <p14:creationId xmlns:p14="http://schemas.microsoft.com/office/powerpoint/2010/main" val="66391069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课程资源与数据来源">
            <a:extLst xmlns:a="http://schemas.openxmlformats.org/drawingml/2006/main">
              <a:ext uri="{FF2B5EF4-FFF2-40B4-BE49-F238E27FC236}">
                <a16:creationId xmlns:a16="http://schemas.microsoft.com/office/drawing/2014/main" id="{34566DC2-E4A6-4F56-9E88-98ADECCB5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课程资源与数据来源</a:t>
            </a:r>
          </a:p>
        </p:txBody>
      </p:sp>
      <p:sp>
        <p:nvSpPr>
          <p:cNvPr id="2" name="第7章 交通时空数据分析">
            <a:extLst xmlns:a="http://schemas.openxmlformats.org/drawingml/2006/main">
              <a:ext uri="{FF2B5EF4-FFF2-40B4-BE49-F238E27FC236}">
                <a16:creationId xmlns:a16="http://schemas.microsoft.com/office/drawing/2014/main" id="{1DBA80BA-34F9-4D0A-A743-A80020607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第7章 交通时空数据分析</a:t>
            </a:r>
          </a:p>
        </p:txBody>
      </p:sp>
      <p:sp>
        <p:nvSpPr>
          <p:cNvPr id="3" name="24">
            <a:extLst xmlns:a="http://schemas.openxmlformats.org/drawingml/2006/main">
              <a:ext uri="{FF2B5EF4-FFF2-40B4-BE49-F238E27FC236}">
                <a16:creationId xmlns:a16="http://schemas.microsoft.com/office/drawing/2014/main" id="{5A69B28F-98EC-4C23-9359-B56DC6B34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293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sp>
        <p:nvSpPr>
          <p:cNvPr id="4" name="link">
            <a:extLst xmlns:a="http://schemas.openxmlformats.org/drawingml/2006/main">
              <a:ext uri="{FF2B5EF4-FFF2-40B4-BE49-F238E27FC236}">
                <a16:creationId xmlns:a16="http://schemas.microsoft.com/office/drawing/2014/main" id="{5B8FCC05-35C4-4EBE-BF2E-39899A322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e093f8c573143c7"/>
              </a:rPr>
              <a:t>本章交互课堂</a:t>
            </a:r>
          </a:p>
        </p:txBody>
      </p:sp>
      <p:sp>
        <p:nvSpPr>
          <p:cNvPr id="5" name="link">
            <a:extLst xmlns:a="http://schemas.openxmlformats.org/drawingml/2006/main">
              <a:ext uri="{FF2B5EF4-FFF2-40B4-BE49-F238E27FC236}">
                <a16:creationId xmlns:a16="http://schemas.microsoft.com/office/drawing/2014/main" id="{3EFEFB03-4E1E-47AB-86D8-E31F24DBF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7e96179603604e9f"/>
              </a:rPr>
              <a:t>本章完整Python项目与工作本</a:t>
            </a:r>
          </a:p>
        </p:txBody>
      </p:sp>
      <p:sp>
        <p:nvSpPr>
          <p:cNvPr id="6" name="link">
            <a:extLst xmlns:a="http://schemas.openxmlformats.org/drawingml/2006/main">
              <a:ext uri="{FF2B5EF4-FFF2-40B4-BE49-F238E27FC236}">
                <a16:creationId xmlns:a16="http://schemas.microsoft.com/office/drawing/2014/main" id="{8BF32788-68B2-42CE-A5D3-5DC3197BE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u="sng">
                <a:solidFill>
                  <a:srgbClr val="112E36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6987cf12f534d39"/>
              </a:rPr>
              <a:t>交通工程案例库</a:t>
            </a:r>
          </a:p>
        </p:txBody>
      </p:sp>
      <p:sp>
        <p:nvSpPr>
          <p:cNvPr id="7" name="NYC TLC 2024年1月绿出租车，遵守原始数据">
            <a:extLst xmlns:a="http://schemas.openxmlformats.org/drawingml/2006/main">
              <a:ext uri="{FF2B5EF4-FFF2-40B4-BE49-F238E27FC236}">
                <a16:creationId xmlns:a16="http://schemas.microsoft.com/office/drawing/2014/main" id="{52DBF97B-4A61-4EAA-A5CF-6F3486666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2E36"/>
                </a:solidFill>
                <a:latin typeface="Microsoft YaHei"/>
                <a:ea typeface="Microsoft YaHei"/>
                <a:cs typeface="Microsoft YaHei"/>
              </a:rPr>
              <a:t>NYC TLC 2024年1月绿出租车，遵守原始数据条款</a:t>
            </a:r>
          </a:p>
        </p:txBody>
      </p:sp>
      <p:sp>
        <p:nvSpPr>
          <p:cNvPr id="8" name="输入范围、数据处理与许可详见课堂说明。&#10;课堂代码MI">
            <a:extLst xmlns:a="http://schemas.openxmlformats.org/drawingml/2006/main">
              <a:ext uri="{FF2B5EF4-FFF2-40B4-BE49-F238E27FC236}">
                <a16:creationId xmlns:a16="http://schemas.microsoft.com/office/drawing/2014/main" id="{AA455447-1981-4E8B-A21B-3A852DA50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10820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输入范围、数据处理与许可详见课堂说明。</a:t>
            </a:r>
          </a:p>
          <a:p xmlns:a="http://schemas.openxmlformats.org/drawingml/2006/main">
            <a:pPr algn="l">
              <a:defRPr sz="18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3696D"/>
                </a:solidFill>
                <a:latin typeface="Microsoft YaHei"/>
                <a:ea typeface="Microsoft YaHei"/>
                <a:cs typeface="Microsoft YaHei"/>
              </a:rPr>
              <a:t>课堂代码MIT，原创讲解CC BY-SA 4.0，第三方材料保留原许可。</a:t>
            </a:r>
          </a:p>
        </p:txBody>
      </p:sp>
    </p:spTree>
    <p:extLst>
      <p:ext uri="{BB962C8B-B14F-4D97-AF65-F5344CB8AC3E}">
        <p14:creationId xmlns:p14="http://schemas.microsoft.com/office/powerpoint/2010/main" val="853912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2026-09-17T02:43:07.2660000Z</dcterms:created>
  <dcterms:modified xsi:type="dcterms:W3CDTF">2026-09-17T02:43:07.2660000Z</dcterms:modified>
</coreProperties>
</file>