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2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3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4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ef6540d3d84a9f" /><Relationship Type="http://schemas.openxmlformats.org/officeDocument/2006/relationships/extended-properties" Target="/docProps/app.xml" Id="Re85a1c2e5e2f4bed" /><Relationship Type="http://schemas.openxmlformats.org/officeDocument/2006/relationships/officeDocument" Target="/ppt/presentation.xml" Id="R314b29f8d0cd46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79761d949c44ae"/>
  </p:sldMasterIdLst>
  <p:notesMasterIdLst>
    <p:notesMasterId xmlns:r="http://schemas.openxmlformats.org/officeDocument/2006/relationships" r:id="R8cd69ea0b0c64db8"/>
  </p:notesMasterIdLst>
  <p:sldIdLst>
    <p:sldId xmlns:r="http://schemas.openxmlformats.org/officeDocument/2006/relationships" id="256" r:id="R33664f440b9c41e5"/>
    <p:sldId xmlns:r="http://schemas.openxmlformats.org/officeDocument/2006/relationships" id="257" r:id="R1b1b3da25e264a40"/>
    <p:sldId xmlns:r="http://schemas.openxmlformats.org/officeDocument/2006/relationships" id="258" r:id="Rf41bee469fee41e2"/>
    <p:sldId xmlns:r="http://schemas.openxmlformats.org/officeDocument/2006/relationships" id="259" r:id="Rae2abf4dc8ba4b15"/>
    <p:sldId xmlns:r="http://schemas.openxmlformats.org/officeDocument/2006/relationships" id="260" r:id="Rff24d468ce2b4d42"/>
    <p:sldId xmlns:r="http://schemas.openxmlformats.org/officeDocument/2006/relationships" id="261" r:id="R7d23521786024dd7"/>
    <p:sldId xmlns:r="http://schemas.openxmlformats.org/officeDocument/2006/relationships" id="262" r:id="R4f822f794c884a4f"/>
    <p:sldId xmlns:r="http://schemas.openxmlformats.org/officeDocument/2006/relationships" id="263" r:id="R89b6542618cc43ec"/>
    <p:sldId xmlns:r="http://schemas.openxmlformats.org/officeDocument/2006/relationships" id="264" r:id="Rd3c32b2c0df14b2f"/>
    <p:sldId xmlns:r="http://schemas.openxmlformats.org/officeDocument/2006/relationships" id="265" r:id="R3a63e4e4b4914e27"/>
    <p:sldId xmlns:r="http://schemas.openxmlformats.org/officeDocument/2006/relationships" id="266" r:id="Rf109b8b8e8714861"/>
    <p:sldId xmlns:r="http://schemas.openxmlformats.org/officeDocument/2006/relationships" id="267" r:id="R588114a620c04d69"/>
    <p:sldId xmlns:r="http://schemas.openxmlformats.org/officeDocument/2006/relationships" id="268" r:id="R2e8ae655e8884cd1"/>
    <p:sldId xmlns:r="http://schemas.openxmlformats.org/officeDocument/2006/relationships" id="269" r:id="R22737ed1b54d4cf2"/>
    <p:sldId xmlns:r="http://schemas.openxmlformats.org/officeDocument/2006/relationships" id="270" r:id="R7d2181bc09394e8a"/>
    <p:sldId xmlns:r="http://schemas.openxmlformats.org/officeDocument/2006/relationships" id="271" r:id="Rb4403614a0c44fd5"/>
    <p:sldId xmlns:r="http://schemas.openxmlformats.org/officeDocument/2006/relationships" id="272" r:id="Rac48909dd0834c0d"/>
    <p:sldId xmlns:r="http://schemas.openxmlformats.org/officeDocument/2006/relationships" id="273" r:id="R73fb258e309945c6"/>
    <p:sldId xmlns:r="http://schemas.openxmlformats.org/officeDocument/2006/relationships" id="274" r:id="R32181287b12e46e0"/>
    <p:sldId xmlns:r="http://schemas.openxmlformats.org/officeDocument/2006/relationships" id="275" r:id="R0c780379489a43d9"/>
    <p:sldId xmlns:r="http://schemas.openxmlformats.org/officeDocument/2006/relationships" id="276" r:id="Rc07cc417a3a141b7"/>
    <p:sldId xmlns:r="http://schemas.openxmlformats.org/officeDocument/2006/relationships" id="277" r:id="Ree85c17f63694ded"/>
    <p:sldId xmlns:r="http://schemas.openxmlformats.org/officeDocument/2006/relationships" id="278" r:id="Rdf9f94d7187847ff"/>
    <p:sldId xmlns:r="http://schemas.openxmlformats.org/officeDocument/2006/relationships" id="279" r:id="R5f2e3bbd41b146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a586aa6f9e487a" /><Relationship Type="http://schemas.openxmlformats.org/officeDocument/2006/relationships/slideMaster" Target="/ppt/slideMasters/slideMaster1.xml" Id="Rfd79761d949c44ae" /><Relationship Type="http://schemas.openxmlformats.org/officeDocument/2006/relationships/notesMaster" Target="/ppt/notesMasters/notesMaster1.xml" Id="R8cd69ea0b0c64db8" /><Relationship Type="http://schemas.openxmlformats.org/officeDocument/2006/relationships/presProps" Target="/ppt/presProps.xml" Id="Rde149a5f00a44134" /><Relationship Type="http://schemas.openxmlformats.org/officeDocument/2006/relationships/tableStyles" Target="/ppt/tableStyles.xml" Id="R9c61ce577c2d4b1a" /><Relationship Type="http://schemas.openxmlformats.org/officeDocument/2006/relationships/slide" Target="/ppt/slides/slide1.xml" Id="R33664f440b9c41e5" /><Relationship Type="http://schemas.openxmlformats.org/officeDocument/2006/relationships/slide" Target="/ppt/slides/slide2.xml" Id="R1b1b3da25e264a40" /><Relationship Type="http://schemas.openxmlformats.org/officeDocument/2006/relationships/slide" Target="/ppt/slides/slide3.xml" Id="Rf41bee469fee41e2" /><Relationship Type="http://schemas.openxmlformats.org/officeDocument/2006/relationships/slide" Target="/ppt/slides/slide4.xml" Id="Rae2abf4dc8ba4b15" /><Relationship Type="http://schemas.openxmlformats.org/officeDocument/2006/relationships/slide" Target="/ppt/slides/slide5.xml" Id="Rff24d468ce2b4d42" /><Relationship Type="http://schemas.openxmlformats.org/officeDocument/2006/relationships/slide" Target="/ppt/slides/slide6.xml" Id="R7d23521786024dd7" /><Relationship Type="http://schemas.openxmlformats.org/officeDocument/2006/relationships/slide" Target="/ppt/slides/slide7.xml" Id="R4f822f794c884a4f" /><Relationship Type="http://schemas.openxmlformats.org/officeDocument/2006/relationships/slide" Target="/ppt/slides/slide8.xml" Id="R89b6542618cc43ec" /><Relationship Type="http://schemas.openxmlformats.org/officeDocument/2006/relationships/slide" Target="/ppt/slides/slide9.xml" Id="Rd3c32b2c0df14b2f" /><Relationship Type="http://schemas.openxmlformats.org/officeDocument/2006/relationships/slide" Target="/ppt/slides/slide10.xml" Id="R3a63e4e4b4914e27" /><Relationship Type="http://schemas.openxmlformats.org/officeDocument/2006/relationships/slide" Target="/ppt/slides/slide11.xml" Id="Rf109b8b8e8714861" /><Relationship Type="http://schemas.openxmlformats.org/officeDocument/2006/relationships/slide" Target="/ppt/slides/slide12.xml" Id="R588114a620c04d69" /><Relationship Type="http://schemas.openxmlformats.org/officeDocument/2006/relationships/slide" Target="/ppt/slides/slide13.xml" Id="R2e8ae655e8884cd1" /><Relationship Type="http://schemas.openxmlformats.org/officeDocument/2006/relationships/slide" Target="/ppt/slides/slide14.xml" Id="R22737ed1b54d4cf2" /><Relationship Type="http://schemas.openxmlformats.org/officeDocument/2006/relationships/slide" Target="/ppt/slides/slide15.xml" Id="R7d2181bc09394e8a" /><Relationship Type="http://schemas.openxmlformats.org/officeDocument/2006/relationships/slide" Target="/ppt/slides/slide16.xml" Id="Rb4403614a0c44fd5" /><Relationship Type="http://schemas.openxmlformats.org/officeDocument/2006/relationships/slide" Target="/ppt/slides/slide17.xml" Id="Rac48909dd0834c0d" /><Relationship Type="http://schemas.openxmlformats.org/officeDocument/2006/relationships/slide" Target="/ppt/slides/slide18.xml" Id="R73fb258e309945c6" /><Relationship Type="http://schemas.openxmlformats.org/officeDocument/2006/relationships/slide" Target="/ppt/slides/slide19.xml" Id="R32181287b12e46e0" /><Relationship Type="http://schemas.openxmlformats.org/officeDocument/2006/relationships/slide" Target="/ppt/slides/slide20.xml" Id="R0c780379489a43d9" /><Relationship Type="http://schemas.openxmlformats.org/officeDocument/2006/relationships/slide" Target="/ppt/slides/slide21.xml" Id="Rc07cc417a3a141b7" /><Relationship Type="http://schemas.openxmlformats.org/officeDocument/2006/relationships/slide" Target="/ppt/slides/slide22.xml" Id="Ree85c17f63694ded" /><Relationship Type="http://schemas.openxmlformats.org/officeDocument/2006/relationships/slide" Target="/ppt/slides/slide23.xml" Id="Rdf9f94d7187847ff" /><Relationship Type="http://schemas.openxmlformats.org/officeDocument/2006/relationships/slide" Target="/ppt/slides/slide24.xml" Id="R5f2e3bbd41b146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03ae503ffc4e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0718ddd8e44f36" /><Relationship Type="http://schemas.openxmlformats.org/officeDocument/2006/relationships/notesMaster" Target="/ppt/notesMasters/notesMaster1.xml" Id="R6efcd8ce02a74d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65fb28adc84ffb" /><Relationship Type="http://schemas.openxmlformats.org/officeDocument/2006/relationships/notesMaster" Target="/ppt/notesMasters/notesMaster1.xml" Id="R5af461f27c1b42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2e7499831840e2" /><Relationship Type="http://schemas.openxmlformats.org/officeDocument/2006/relationships/notesMaster" Target="/ppt/notesMasters/notesMaster1.xml" Id="R4be95a123c7a41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0fdd5517384aff" /><Relationship Type="http://schemas.openxmlformats.org/officeDocument/2006/relationships/notesMaster" Target="/ppt/notesMasters/notesMaster1.xml" Id="R3d4a6e372aec4f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f069fabd2b4fba" /><Relationship Type="http://schemas.openxmlformats.org/officeDocument/2006/relationships/notesMaster" Target="/ppt/notesMasters/notesMaster1.xml" Id="R2f5a66e0ca8942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a11cc39b1d47af" /><Relationship Type="http://schemas.openxmlformats.org/officeDocument/2006/relationships/notesMaster" Target="/ppt/notesMasters/notesMaster1.xml" Id="Rf1f3e31e129948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d19ffe4bd240ff" /><Relationship Type="http://schemas.openxmlformats.org/officeDocument/2006/relationships/notesMaster" Target="/ppt/notesMasters/notesMaster1.xml" Id="Raec21b7b56e746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11c30de8dc48cd" /><Relationship Type="http://schemas.openxmlformats.org/officeDocument/2006/relationships/notesMaster" Target="/ppt/notesMasters/notesMaster1.xml" Id="Rd2ab8fada3e346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c86edc2973447b" /><Relationship Type="http://schemas.openxmlformats.org/officeDocument/2006/relationships/notesMaster" Target="/ppt/notesMasters/notesMaster1.xml" Id="Rf98139f443d844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caebefcea34785" /><Relationship Type="http://schemas.openxmlformats.org/officeDocument/2006/relationships/notesMaster" Target="/ppt/notesMasters/notesMaster1.xml" Id="R281679c2ba9c44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e900f604274aeb" /><Relationship Type="http://schemas.openxmlformats.org/officeDocument/2006/relationships/notesMaster" Target="/ppt/notesMasters/notesMaster1.xml" Id="Rad94a1f379af4ab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d6ce93787c04a05" /><Relationship Type="http://schemas.openxmlformats.org/officeDocument/2006/relationships/notesMaster" Target="/ppt/notesMasters/notesMaster1.xml" Id="Re61e0a462e314f4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26d03973d9d42b3" /><Relationship Type="http://schemas.openxmlformats.org/officeDocument/2006/relationships/notesMaster" Target="/ppt/notesMasters/notesMaster1.xml" Id="R19cf7bee9c4f483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377587f5b6c45e8" /><Relationship Type="http://schemas.openxmlformats.org/officeDocument/2006/relationships/notesMaster" Target="/ppt/notesMasters/notesMaster1.xml" Id="Rf98bcb70e0b44d2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35af19797964ce9" /><Relationship Type="http://schemas.openxmlformats.org/officeDocument/2006/relationships/notesMaster" Target="/ppt/notesMasters/notesMaster1.xml" Id="R568beb122cce47d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35f20b20025475c" /><Relationship Type="http://schemas.openxmlformats.org/officeDocument/2006/relationships/notesMaster" Target="/ppt/notesMasters/notesMaster1.xml" Id="R1e4e60c390ee447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484903bd8c44747" /><Relationship Type="http://schemas.openxmlformats.org/officeDocument/2006/relationships/notesMaster" Target="/ppt/notesMasters/notesMaster1.xml" Id="Rd639ffe4cbd848d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9f086d7ba254476" /><Relationship Type="http://schemas.openxmlformats.org/officeDocument/2006/relationships/notesMaster" Target="/ppt/notesMasters/notesMaster1.xml" Id="Rd6e6c2152f8e4c7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51faa874dc749cf" /><Relationship Type="http://schemas.openxmlformats.org/officeDocument/2006/relationships/notesMaster" Target="/ppt/notesMasters/notesMaster1.xml" Id="R74e1b10ceb414d2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573b343a26842b8" /><Relationship Type="http://schemas.openxmlformats.org/officeDocument/2006/relationships/notesMaster" Target="/ppt/notesMasters/notesMaster1.xml" Id="Rd83a6c40645945b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4c1f36bcbf44f5e" /><Relationship Type="http://schemas.openxmlformats.org/officeDocument/2006/relationships/notesMaster" Target="/ppt/notesMasters/notesMaster1.xml" Id="R04979ed2b8984c2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67b19f6a67347d9" /><Relationship Type="http://schemas.openxmlformats.org/officeDocument/2006/relationships/notesMaster" Target="/ppt/notesMasters/notesMaster1.xml" Id="R2d43f47b52e6475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0a76049651749f9" /><Relationship Type="http://schemas.openxmlformats.org/officeDocument/2006/relationships/notesMaster" Target="/ppt/notesMasters/notesMaster1.xml" Id="R0fd26ebb190d40f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891ff274e414c1e" /><Relationship Type="http://schemas.openxmlformats.org/officeDocument/2006/relationships/notesMaster" Target="/ppt/notesMasters/notesMaster1.xml" Id="R40d39632946d43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本章面向交通运输工程专业。路口视频怎样形成可以核查的通行统计？</a:t>
            </a:r>
          </a:p>
          <a:p xmlns:a="http://schemas.openxmlformats.org/drawingml/2006/main">
            <a:r>
              <a:t>背景为第一章已有课程概念插画，不是I-94、纽约或天津的实地照片。</a:t>
            </a:r>
          </a:p>
          <a:p xmlns:a="http://schemas.openxmlformats.org/drawingml/2006/main">
            <a:r>
              <a:t>建议135分钟讲授与讨论 + 90分钟上机</a:t>
            </a:r>
          </a:p>
          <a:p xmlns:a="http://schemas.openxmlformats.org/drawingml/2006/main">
            <a:r>
              <a:t>课堂：https://lilinchao.github.io/traffic-book-practice/open-course/chapter-08/</a:t>
            </a:r>
          </a:p>
          <a:p xmlns:a="http://schemas.openxmlformats.org/drawingml/2006/main">
            <a:r>
              <a:t>数据：https://github.com/SOTIF-AVLab/SinD</a:t>
            </a:r>
          </a:p>
          <a:p xmlns:a="http://schemas.openxmlformats.org/drawingml/2006/main">
            <a:r>
              <a:t>SinD自定义非商业许可；MOT17影像CC BY-NC-SA 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教学主线：路口视频怎样形成可以核查的通行统计？</a:t>
            </a:r>
          </a:p>
          <a:p xmlns:a="http://schemas.openxmlformats.org/drawingml/2006/main">
            <a:r>
              <a:t>建议135分钟讲授与讨论 + 90分钟上机</a:t>
            </a:r>
          </a:p>
          <a:p xmlns:a="http://schemas.openxmlformats.org/drawingml/2006/main">
            <a:r>
              <a:t>课堂：https://lilinchao.github.io/traffic-book-practice/open-course/chapter-08/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来源：https://github.com/SOTIF-AVLab/SinD</a:t>
            </a:r>
          </a:p>
          <a:p xmlns:a="http://schemas.openxmlformats.org/drawingml/2006/main">
            <a:r>
              <a:t>SinD自定义非商业许可；MOT17影像CC BY-NC-SA 3.0</a:t>
            </a:r>
          </a:p>
          <a:p xmlns:a="http://schemas.openxmlformats.org/drawingml/2006/main">
            <a:r>
              <a:t>输入哈希：{"projects/data/sind.json":"e6ed9160ef6e5787c7c16a048735093f240e1a48807485e2cc73165b468652f6","chapters/data/algorithms/ch8.json":"322f46fbdc5237cb9ea09c6ad4c3867ccae94898a255b9c0630dd1f3d6511491"}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通行次数需要从连续观测中提取。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单帧检测回答目标在哪里，跨帧关联回答是否同一目标，事件规则回答何时通过调查断面。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本章把SinD地面轨迹与MOT17夜间行人影像分开研究，不拼成同一路口的完整系统。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课堂追问：为何每帧检测框数量之和不能当作通过人数或车辆数？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交互课堂：https://lilinchao.github.io/traffic-book-practice/open-course/chapter-08/#mission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来源：https://github.com/SOTIF-AVLab/SinD</a:t>
            </a:r>
          </a:p>
          <a:p xmlns:a="http://schemas.openxmlformats.org/drawingml/2006/main">
            <a:r>
              <a:t>SinD自定义非商业许可；MOT17影像CC BY-NC-SA 3.0</a:t>
            </a:r>
          </a:p>
          <a:p xmlns:a="http://schemas.openxmlformats.org/drawingml/2006/main">
            <a:r>
              <a:t>输入哈希：{"projects/data/sind.json":"e6ed9160ef6e5787c7c16a048735093f240e1a48807485e2cc73165b468652f6","chapters/data/algorithms/ch8.json":"322f46fbdc5237cb9ea09c6ad4c3867ccae94898a255b9c0630dd1f3d6511491"}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不同算法输出服务于不同交通问题。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分类判断整幅图像的类别，检测定位目标框，语义分割区分像素类别，实例分割区分同类个体。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跟踪进一步维持目标身份。流量、速度和排队长度还需要各自的时空定义与验证。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课堂追问：若要区分同一车道上相邻两辆车的轮廓，语义分割是否足够？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交互课堂：https://lilinchao.github.io/traffic-book-practice/open-course/chapter-08/#tasks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来源：https://github.com/SOTIF-AVLab/SinD</a:t>
            </a:r>
          </a:p>
          <a:p xmlns:a="http://schemas.openxmlformats.org/drawingml/2006/main">
            <a:r>
              <a:t>SinD自定义非商业许可；MOT17影像CC BY-NC-SA 3.0</a:t>
            </a:r>
          </a:p>
          <a:p xmlns:a="http://schemas.openxmlformats.org/drawingml/2006/main">
            <a:r>
              <a:t>输入哈希：{"projects/data/sind.json":"e6ed9160ef6e5787c7c16a048735093f240e1a48807485e2cc73165b468652f6","chapters/data/algorithms/ch8.json":"322f46fbdc5237cb9ea09c6ad4c3867ccae94898a255b9c0630dd1f3d6511491"}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张量维度应与符号解释逐一对应。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本课采用H×W×C，H为图像高度、W为宽度、C为通道数。T帧视频增加时间维。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RGB与BGR通道顺序不同，批量输入还可能增加批次维。转浮点并不自动完成归一化。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 ∈ ℝ^(T×H×W×C)</a:t>
            </a:r>
          </a:p>
          <a:p xmlns:a="http://schemas.openxmlformats.org/drawingml/2006/main">
            <a:r>
              <a:t>V：视频数值表示。T：帧数。H、W：像素高与宽。C：通道数。ℝ：实数集合，指数部分表示数组形状。视频通常逐帧解码。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课堂追问：把C×H×W误读为H×W×C，模型输入会怎样变化？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交互课堂：https://lilinchao.github.io/traffic-book-practice/open-course/chapter-08/#representation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来源：https://github.com/SOTIF-AVLab/SinD</a:t>
            </a:r>
          </a:p>
          <a:p xmlns:a="http://schemas.openxmlformats.org/drawingml/2006/main">
            <a:r>
              <a:t>SinD自定义非商业许可；MOT17影像CC BY-NC-SA 3.0</a:t>
            </a:r>
          </a:p>
          <a:p xmlns:a="http://schemas.openxmlformats.org/drawingml/2006/main">
            <a:r>
              <a:t>输入哈希：{"projects/data/sind.json":"e6ed9160ef6e5787c7c16a048735093f240e1a48807485e2cc73165b468652f6","chapters/data/algorithms/ch8.json":"322f46fbdc5237cb9ea09c6ad4c3867ccae94898a255b9c0630dd1f3d6511491"}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帧率与地面距离分别约束不同交通量测。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固定帧率f下相邻帧名义间隔为1/f秒，丢帧或变帧率需要读取实际时间戳。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像素位移不能直接换算为米。单应变换依赖参考平面和控制点，跨平面目标仍会产生误差。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课堂追问：高帧率能否自动消除透视造成的速度误差？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交互课堂：https://lilinchao.github.io/traffic-book-practice/open-course/chapter-08/#time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来源：https://github.com/SOTIF-AVLab/SinD</a:t>
            </a:r>
          </a:p>
          <a:p xmlns:a="http://schemas.openxmlformats.org/drawingml/2006/main">
            <a:r>
              <a:t>SinD自定义非商业许可；MOT17影像CC BY-NC-SA 3.0</a:t>
            </a:r>
          </a:p>
          <a:p xmlns:a="http://schemas.openxmlformats.org/drawingml/2006/main">
            <a:r>
              <a:t>输入哈希：{"projects/data/sind.json":"e6ed9160ef6e5787c7c16a048735093f240e1a48807485e2cc73165b468652f6","chapters/data/algorithms/ch8.json":"322f46fbdc5237cb9ea09c6ad4c3867ccae94898a255b9c0630dd1f3d6511491"}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训练评价需要独立的场景与目标信息。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相邻帧高度相似，随机按帧切分容易把同一目标与背景同时放入训练和测试。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按片段或场景划分并同步变换框与掩膜。增强图像而不更新标注会产生错误训练目标。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课堂追问：夜间场景少时，简单调暗白天图像能否完全替代真实夜间验证？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交互课堂：https://lilinchao.github.io/traffic-book-practice/open-course/chapter-08/#sample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来源：https://github.com/SOTIF-AVLab/SinD</a:t>
            </a:r>
          </a:p>
          <a:p xmlns:a="http://schemas.openxmlformats.org/drawingml/2006/main">
            <a:r>
              <a:t>SinD自定义非商业许可；MOT17影像CC BY-NC-SA 3.0</a:t>
            </a:r>
          </a:p>
          <a:p xmlns:a="http://schemas.openxmlformats.org/drawingml/2006/main">
            <a:r>
              <a:t>输入哈希：{"projects/data/sind.json":"e6ed9160ef6e5787c7c16a048735093f240e1a48807485e2cc73165b468652f6","chapters/data/algorithms/ch8.json":"322f46fbdc5237cb9ea09c6ad4c3867ccae94898a255b9c0630dd1f3d6511491"}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类别评价需要关注每类样本数量。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CNN通过卷积特征进行分类，输出整幅图像或裁剪目标的类别概率。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混淆矩阵记录哪些类别易混淆。类别不均衡时，总体准确率不能代替各类召回率。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课堂追问：若雨夜样本很少，总体准确率高能否保证雨夜场景可靠？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交互课堂：https://lilinchao.github.io/traffic-book-practice/open-course/chapter-08/#classification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来源：https://github.com/SOTIF-AVLab/SinD</a:t>
            </a:r>
          </a:p>
          <a:p xmlns:a="http://schemas.openxmlformats.org/drawingml/2006/main">
            <a:r>
              <a:t>SinD自定义非商业许可；MOT17影像CC BY-NC-SA 3.0</a:t>
            </a:r>
          </a:p>
          <a:p xmlns:a="http://schemas.openxmlformats.org/drawingml/2006/main">
            <a:r>
              <a:t>输入哈希：{"projects/data/sind.json":"e6ed9160ef6e5787c7c16a048735093f240e1a48807485e2cc73165b468652f6","chapters/data/algorithms/ch8.json":"322f46fbdc5237cb9ea09c6ad4c3867ccae94898a255b9c0630dd1f3d6511491"}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检测同时涉及位置和类别。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IoU为预测框与参考框的交并比。框坐标格式、缩放和图像范围都应先核对。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Faster R-CNN和YOLO类方法采用不同结构，置信度阈值会改变保留目标。课堂只展示既有YOLOX结果，不在浏览器训练。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IoU = 面积(B_pred ∩ B_ref) / 面积(B_pred ∪ B_ref)</a:t>
            </a:r>
          </a:p>
          <a:p xmlns:a="http://schemas.openxmlformats.org/drawingml/2006/main">
            <a:r>
              <a:t>B_pred：预测框。B_ref：独立标注参考框。二者必须使用同一图像坐标系。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课堂追问：检测框数量增加时，召回率与误报分别可能怎样变化？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交互课堂：https://lilinchao.github.io/traffic-book-practice/open-course/chapter-08/#detection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来源：https://github.com/SOTIF-AVLab/SinD</a:t>
            </a:r>
          </a:p>
          <a:p xmlns:a="http://schemas.openxmlformats.org/drawingml/2006/main">
            <a:r>
              <a:t>SinD自定义非商业许可；MOT17影像CC BY-NC-SA 3.0</a:t>
            </a:r>
          </a:p>
          <a:p xmlns:a="http://schemas.openxmlformats.org/drawingml/2006/main">
            <a:r>
              <a:t>输入哈希：{"projects/data/sind.json":"e6ed9160ef6e5787c7c16a048735093f240e1a48807485e2cc73165b468652f6","chapters/data/algorithms/ch8.json":"322f46fbdc5237cb9ea09c6ad4c3867ccae94898a255b9c0630dd1f3d6511491"}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像素归属和个体身份是不同层次。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FCN、U-Net和DeepLab用于像素类别学习，Mask R-CNN等方法还区分同类目标实例。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语义分割的mIoU按类别统计，实例评价需匹配个体。它们都不能直接代替通行事件核验。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课堂追问：路面分割很好，但通行计数错误，问题可能出现在哪些环节？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交互课堂：https://lilinchao.github.io/traffic-book-practice/open-course/chapter-08/#segmentation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来源：https://github.com/SOTIF-AVLab/SinD</a:t>
            </a:r>
          </a:p>
          <a:p xmlns:a="http://schemas.openxmlformats.org/drawingml/2006/main">
            <a:r>
              <a:t>SinD自定义非商业许可；MOT17影像CC BY-NC-SA 3.0</a:t>
            </a:r>
          </a:p>
          <a:p xmlns:a="http://schemas.openxmlformats.org/drawingml/2006/main">
            <a:r>
              <a:t>输入哈希：{"projects/data/sind.json":"e6ed9160ef6e5787c7c16a048735093f240e1a48807485e2cc73165b468652f6","chapters/data/algorithms/ch8.json":"322f46fbdc5237cb9ea09c6ad4c3867ccae94898a255b9c0630dd1f3d6511491"}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用35秒夜间行人视频讨论遮挡与重复出现。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MOT17-04展示夜间步行街行人，不是机动车路口。行人通行量同样属于交通调查对象。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先观察目标进入、遮挡和离开，再打开完整影像项目核对YOLOX框、关联结果及提供方人工标注。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课堂追问：请选择一名短时被遮挡的行人，说明为何重新出现后不能自动算作新行人。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交互课堂：https://lilinchao.github.io/traffic-book-practice/open-course/chapter-08/#video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来源：https://github.com/SOTIF-AVLab/SinD</a:t>
            </a:r>
          </a:p>
          <a:p xmlns:a="http://schemas.openxmlformats.org/drawingml/2006/main">
            <a:r>
              <a:t>SinD自定义非商业许可；MOT17影像CC BY-NC-SA 3.0</a:t>
            </a:r>
          </a:p>
          <a:p xmlns:a="http://schemas.openxmlformats.org/drawingml/2006/main">
            <a:r>
              <a:t>输入哈希：{"projects/data/sind.json":"e6ed9160ef6e5787c7c16a048735093f240e1a48807485e2cc73165b468652f6","chapters/data/algorithms/ch8.json":"322f46fbdc5237cb9ea09c6ad4c3867ccae94898a255b9c0630dd1f3d6511491"}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跟踪需要处理未匹配与遮挡。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常速度卡尔曼方法先预测目标位置，再利用新观测更新状态。匈牙利算法寻找整体一对一分配。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门限限制不合理匹配，保留时长控制暂时未匹配目标。地面点简化实现不等于完整SORT或DeepSORT。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课堂追问：加大门限为什么可能同时减少断轨并增加错接？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交互课堂：https://lilinchao.github.io/traffic-book-practice/open-course/chapter-08/#tracking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来源：https://github.com/SOTIF-AVLab/SinD</a:t>
            </a:r>
          </a:p>
          <a:p xmlns:a="http://schemas.openxmlformats.org/drawingml/2006/main">
            <a:r>
              <a:t>SinD自定义非商业许可；MOT17影像CC BY-NC-SA 3.0</a:t>
            </a:r>
          </a:p>
          <a:p xmlns:a="http://schemas.openxmlformats.org/drawingml/2006/main">
            <a:r>
              <a:t>输入哈希：{"projects/data/sind.json":"e6ed9160ef6e5787c7c16a048735093f240e1a48807485e2cc73165b468652f6","chapters/data/algorithms/ch8.json":"322f46fbdc5237cb9ea09c6ad4c3867ccae94898a255b9c0630dd1f3d6511491"}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源ID只用于事后核查，不进入关联器。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SinD提供方平滑轨迹逐帧打乱并隐藏ID，比较位置保持和常速度卡尔曼两种预测。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切换每1、5、10帧采样，查看新ID轨迹数、源身份一致对与通行事件。结果来自已执行Python算法。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课堂追问：源ID一致比例较高，为什么仍不能声称视频计数系统准确？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交互课堂：https://lilinchao.github.io/traffic-book-practice/open-course/chapter-08/#association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来源：https://github.com/SOTIF-AVLab/SinD</a:t>
            </a:r>
          </a:p>
          <a:p xmlns:a="http://schemas.openxmlformats.org/drawingml/2006/main">
            <a:r>
              <a:t>SinD自定义非商业许可；MOT17影像CC BY-NC-SA 3.0</a:t>
            </a:r>
          </a:p>
          <a:p xmlns:a="http://schemas.openxmlformats.org/drawingml/2006/main">
            <a:r>
              <a:t>输入哈希：{"projects/data/sind.json":"e6ed9160ef6e5787c7c16a048735093f240e1a48807485e2cc73165b468652f6","chapters/data/algorithms/ch8.json":"322f46fbdc5237cb9ea09c6ad4c3867ccae94898a255b9c0630dd1f3d6511491"}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计算方式：读取真实执行的匿名关联结果，未重新运行检测器</a:t>
            </a:r>
          </a:p>
          <a:p xmlns:a="http://schemas.openxmlformats.org/drawingml/2006/main">
            <a:r>
              <a:t>默认参数：{"stride":"5"}</a:t>
            </a:r>
          </a:p>
          <a:p xmlns:a="http://schemas.openxmlformats.org/drawingml/2006/main">
            <a:r>
              <a:t>数据范围：SinD天津120秒轨迹；另设MOT17-04夜间步行街35秒影像</a:t>
            </a:r>
          </a:p>
          <a:p xmlns:a="http://schemas.openxmlformats.org/drawingml/2006/main">
            <a:r>
              <a:t>结果解释：计数在测得位置而非滤波位置上执行，只改变身份关联，隔离关联影响。相同总数仍可能对应不同车辆，不能称为计数准确率。 完整身份对核查见本章案例。</a:t>
            </a:r>
          </a:p>
          <a:p xmlns:a="http://schemas.openxmlformats.org/drawingml/2006/main">
            <a:r>
              <a:t>全部结果：{"columns":["采样步长","关联方法","同采样源ID事件","新ID事件","+x事件","−x事件","事件总数差"],"rows":[[5,"position",20,20,8,12,0],[5,"kalman",20,19,8,11,-1]]}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默认网页：https://lilinchao.github.io/traffic-book-practice/open-course/chapter-08/#association</a:t>
            </a:r>
          </a:p>
          <a:p xmlns:a="http://schemas.openxmlformats.org/drawingml/2006/main">
            <a:r>
              <a:t>输入文件SHA256：{"projects/data/sind.json":"e6ed9160ef6e5787c7c16a048735093f240e1a48807485e2cc73165b468652f6","chapters/data/algorithms/ch8.json":"322f46fbdc5237cb9ea09c6ad4c3867ccae94898a255b9c0630dd1f3d6511491"}</a:t>
            </a:r>
          </a:p>
          <a:p xmlns:a="http://schemas.openxmlformats.org/drawingml/2006/main">
            <a:r>
              <a:t>来源：https://github.com/SOTIF-AVLab/SinD。SinD自定义非商业许可；MOT17影像CC BY-NC-SA 3.0</a:t>
            </a:r>
          </a:p>
          <a:p xmlns:a="http://schemas.openxmlformats.org/drawingml/2006/main">
            <a:r>
              <a:t>本页图表为默认配置快照，课堂改变参数后以网页重新计算为准。图表与底层数据可编辑。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一个事件需要明确方向、时间与重复规则。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x=15米为课程调查线，目标从一侧移至另一侧时形成+x或−x事件，每个ID每方向最多计一次。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死区用于减轻线附近抖动，最大间隔限制不可靠连接。事件时间是首次观测到另一侧的时刻。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课堂追问：把死区加宽后，事件触发时刻为何可能推迟？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交互课堂：https://lilinchao.github.io/traffic-book-practice/open-course/chapter-08/#crossing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来源：https://github.com/SOTIF-AVLab/SinD</a:t>
            </a:r>
          </a:p>
          <a:p xmlns:a="http://schemas.openxmlformats.org/drawingml/2006/main">
            <a:r>
              <a:t>SinD自定义非商业许可；MOT17影像CC BY-NC-SA 3.0</a:t>
            </a:r>
          </a:p>
          <a:p xmlns:a="http://schemas.openxmlformats.org/drawingml/2006/main">
            <a:r>
              <a:t>输入哈希：{"projects/data/sind.json":"e6ed9160ef6e5787c7c16a048735093f240e1a48807485e2cc73165b468652f6","chapters/data/algorithms/ch8.json":"322f46fbdc5237cb9ea09c6ad4c3867ccae94898a255b9c0630dd1f3d6511491"}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计算方式：根据真实观测在浏览器重新计算</a:t>
            </a:r>
          </a:p>
          <a:p xmlns:a="http://schemas.openxmlformats.org/drawingml/2006/main">
            <a:r>
              <a:t>默认参数：{"line":"15","band":"0.3","stride":"1"}</a:t>
            </a:r>
          </a:p>
          <a:p xmlns:a="http://schemas.openxmlformats.org/drawingml/2006/main">
            <a:r>
              <a:t>数据范围：SinD天津120秒轨迹；另设MOT17-04夜间步行街35秒影像</a:t>
            </a:r>
          </a:p>
          <a:p xmlns:a="http://schemas.openxmlformats.org/drawingml/2006/main">
            <a:r>
              <a:t>结果解释：每个ID每个方向最多计1次。进入线两侧死区时不立即改变侧别，超过最大观测间隔则重置连接。事件时间为首次观察到另一侧的采样时间，不是精确穿线时刻。事件数不是检测精度，没有独立人工真值时不计算准确率。</a:t>
            </a:r>
          </a:p>
          <a:p xmlns:a="http://schemas.openxmlformats.org/drawingml/2006/main">
            <a:r>
              <a:t>全部结果：{"columns":["轨迹ID","检测到另一侧时刻（秒）","方向","类型","x（米）","y（米）"],"rows":[["6",2.5025025025025025,"+x","car",15.61,23.8085],["4",7.407407407407407,"-x","motorcycle",14.3344,10.986],["16",14.514514514514516,"+x","car",15.3989,15.397],["12",19.61961961961962,"-x","car",14.1619,17.2866],["18",21.32132132132132,"-x","car",14.3415,19.9125],["26",28.328328328328332,"+x","motorcycle",15.347,36.0173],["27",31.031031031031034,"-x","car",14.6884,19.9812],["28",33.033033033033036,"-x","car",14.5914,17.9034],["29",34.034034034034036,"+x","car",15.9754,11.8411],["33",41.14114114114115,"+x","car",15.8634,13.8918],["37",47.94794794794795,"+x","motorcycle",15.3893,37.6538],["44",71.97197197197197,"-x","car",14.6347,4.2347],["43",77.27727727727728,"-x","motorcycle",14.6283,22.5836],["41",78.07807807807808,"-x","motorcycle",14.4819,-4.9845],["48",79.4794794794795,"-x","car",14.1377,17.7713],["53",83.58358358358359,"-x","car",14.3677,18.5082],["40",87.38738738738739,"+x","car",15.5858,12.5713],["60",92.3923923923924,"+x","car",15.8286,14.0392],["61",102.1021021021021,"-x","car",14.5536,7.1856],["63",108.10810810810811,"+x","bicycle",15.3747,34.3435]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默认网页：https://lilinchao.github.io/traffic-book-practice/open-course/chapter-08/#crossing</a:t>
            </a:r>
          </a:p>
          <a:p xmlns:a="http://schemas.openxmlformats.org/drawingml/2006/main">
            <a:r>
              <a:t>输入文件SHA256：{"projects/data/sind.json":"e6ed9160ef6e5787c7c16a048735093f240e1a48807485e2cc73165b468652f6","chapters/data/algorithms/ch8.json":"322f46fbdc5237cb9ea09c6ad4c3867ccae94898a255b9c0630dd1f3d6511491"}</a:t>
            </a:r>
          </a:p>
          <a:p xmlns:a="http://schemas.openxmlformats.org/drawingml/2006/main">
            <a:r>
              <a:t>来源：https://github.com/SOTIF-AVLab/SinD。SinD自定义非商业许可；MOT17影像CC BY-NC-SA 3.0</a:t>
            </a:r>
          </a:p>
          <a:p xmlns:a="http://schemas.openxmlformats.org/drawingml/2006/main">
            <a:r>
              <a:t>本页图表为默认配置快照，课堂改变参数后以网页重新计算为准。图表与底层数据可编辑。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总数相同仍可能包含不同目标。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每1、5、10帧保留一次，固定计数线、方向、死区和连接间隔，比较事件ID与触发时差。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密集采样规则是参数对照基准，不是独立人工真值。不能把相对漏触发直接写成漏检率。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课堂追问：若两组规则都输出20次事件，还应核对哪些信息？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交互课堂：https://lilinchao.github.io/traffic-book-practice/open-course/chapter-08/#stride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来源：https://github.com/SOTIF-AVLab/SinD</a:t>
            </a:r>
          </a:p>
          <a:p xmlns:a="http://schemas.openxmlformats.org/drawingml/2006/main">
            <a:r>
              <a:t>SinD自定义非商业许可；MOT17影像CC BY-NC-SA 3.0</a:t>
            </a:r>
          </a:p>
          <a:p xmlns:a="http://schemas.openxmlformats.org/drawingml/2006/main">
            <a:r>
              <a:t>输入哈希：{"projects/data/sind.json":"e6ed9160ef6e5787c7c16a048735093f240e1a48807485e2cc73165b468652f6","chapters/data/algorithms/ch8.json":"322f46fbdc5237cb9ea09c6ad4c3867ccae94898a255b9c0630dd1f3d6511491"}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计算方式：根据真实观测在浏览器重新计算</a:t>
            </a:r>
          </a:p>
          <a:p xmlns:a="http://schemas.openxmlformats.org/drawingml/2006/main">
            <a:r>
              <a:t>默认参数：{"line":"15","gap":"1.5"}</a:t>
            </a:r>
          </a:p>
          <a:p xmlns:a="http://schemas.openxmlformats.org/drawingml/2006/main">
            <a:r>
              <a:t>数据范围：SinD天津120秒轨迹；另设MOT17-04夜间步行街35秒影像</a:t>
            </a:r>
          </a:p>
          <a:p xmlns:a="http://schemas.openxmlformats.org/drawingml/2006/main">
            <a:r>
              <a:t>结果解释：基准为本表第一组规则，不是人工真值。按轨迹ID和方向匹配；时差=当前触发时刻减基准触发时刻。没有匹配事件时，时差留空。数量相同也应核对事件集合和时差。SinD已平滑轨迹不用于证明原始视频检测性能。</a:t>
            </a:r>
          </a:p>
          <a:p xmlns:a="http://schemas.openxmlformats.org/drawingml/2006/main">
            <a:r>
              <a:t>全部结果：{"columns":["采样帧间隔","事件数","匹配事件","相对未触发","相对新增","匹配平均时差（秒）","最大绝对时差（秒）","保留轨迹点"],"rows":[[1,20,20,0,0,0,0,11531],[5,20,20,0,0,0.1151151151151149,0.40040040040040026,2305],[10,18,18,2,0,0.389278167055942,0.9009009009008935,1153]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默认网页：https://lilinchao.github.io/traffic-book-practice/open-course/chapter-08/#stride</a:t>
            </a:r>
          </a:p>
          <a:p xmlns:a="http://schemas.openxmlformats.org/drawingml/2006/main">
            <a:r>
              <a:t>输入文件SHA256：{"projects/data/sind.json":"e6ed9160ef6e5787c7c16a048735093f240e1a48807485e2cc73165b468652f6","chapters/data/algorithms/ch8.json":"322f46fbdc5237cb9ea09c6ad4c3867ccae94898a255b9c0630dd1f3d6511491"}</a:t>
            </a:r>
          </a:p>
          <a:p xmlns:a="http://schemas.openxmlformats.org/drawingml/2006/main">
            <a:r>
              <a:t>来源：https://github.com/SOTIF-AVLab/SinD。SinD自定义非商业许可；MOT17影像CC BY-NC-SA 3.0</a:t>
            </a:r>
          </a:p>
          <a:p xmlns:a="http://schemas.openxmlformats.org/drawingml/2006/main">
            <a:r>
              <a:t>本页图表为默认配置快照，课堂改变参数后以网页重新计算为准。图表与底层数据可编辑。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后处理规则也会改变交通调查成果。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比较0、0.3、1、2米单侧死区，在相同源轨迹上实际重新提取事件。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宽死区不必然更好。距离过短、遮挡与断点均可能导致事件不触发或延后。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课堂追问：一组规则的事件更少，何时可能是去除了重复，何时可能是遗漏？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交互课堂：https://lilinchao.github.io/traffic-book-practice/open-course/chapter-08/#band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来源：https://github.com/SOTIF-AVLab/SinD</a:t>
            </a:r>
          </a:p>
          <a:p xmlns:a="http://schemas.openxmlformats.org/drawingml/2006/main">
            <a:r>
              <a:t>SinD自定义非商业许可；MOT17影像CC BY-NC-SA 3.0</a:t>
            </a:r>
          </a:p>
          <a:p xmlns:a="http://schemas.openxmlformats.org/drawingml/2006/main">
            <a:r>
              <a:t>输入哈希：{"projects/data/sind.json":"e6ed9160ef6e5787c7c16a048735093f240e1a48807485e2cc73165b468652f6","chapters/data/algorithms/ch8.json":"322f46fbdc5237cb9ea09c6ad4c3867ccae94898a255b9c0630dd1f3d6511491"}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计算方式：根据真实观测在浏览器重新计算</a:t>
            </a:r>
          </a:p>
          <a:p xmlns:a="http://schemas.openxmlformats.org/drawingml/2006/main">
            <a:r>
              <a:t>默认参数：{"line":"15","gap":"1.5"}</a:t>
            </a:r>
          </a:p>
          <a:p xmlns:a="http://schemas.openxmlformats.org/drawingml/2006/main">
            <a:r>
              <a:t>数据范围：SinD天津120秒轨迹；另设MOT17-04夜间步行街35秒影像</a:t>
            </a:r>
          </a:p>
          <a:p xmlns:a="http://schemas.openxmlformats.org/drawingml/2006/main">
            <a:r>
              <a:t>结果解释：基准为本表第一组规则，不是人工真值。按轨迹ID和方向匹配；时差=当前触发时刻减基准触发时刻。没有匹配事件时，时差留空。数量相同也应核对事件集合和时差。SinD已平滑轨迹不用于证明原始视频检测性能。</a:t>
            </a:r>
          </a:p>
          <a:p xmlns:a="http://schemas.openxmlformats.org/drawingml/2006/main">
            <a:r>
              <a:t>全部结果：{"columns":["单侧死区（米）","事件数","匹配事件","相对未触发","相对新增","匹配平均时差（秒）","最大绝对时差（秒）","保留轨迹点"],"rows":[[0,22,22,0,0,0,0,11531],[0.3,20,20,2,0,0.12012012012012044,0.40040040040038605,11531],[1,18,18,4,0,0.3058614169725283,1.1011011011010652,11531],[2,15,15,7,0,0.4137470804137474,1.5015015015014939,11531]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默认网页：https://lilinchao.github.io/traffic-book-practice/open-course/chapter-08/#band</a:t>
            </a:r>
          </a:p>
          <a:p xmlns:a="http://schemas.openxmlformats.org/drawingml/2006/main">
            <a:r>
              <a:t>输入文件SHA256：{"projects/data/sind.json":"e6ed9160ef6e5787c7c16a048735093f240e1a48807485e2cc73165b468652f6","chapters/data/algorithms/ch8.json":"322f46fbdc5237cb9ea09c6ad4c3867ccae94898a255b9c0630dd1f3d6511491"}</a:t>
            </a:r>
          </a:p>
          <a:p xmlns:a="http://schemas.openxmlformats.org/drawingml/2006/main">
            <a:r>
              <a:t>来源：https://github.com/SOTIF-AVLab/SinD。SinD自定义非商业许可；MOT17影像CC BY-NC-SA 3.0</a:t>
            </a:r>
          </a:p>
          <a:p xmlns:a="http://schemas.openxmlformats.org/drawingml/2006/main">
            <a:r>
              <a:t>本页图表为默认配置快照，课堂改变参数后以网页重新计算为准。图表与底层数据可编辑。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评价对象必须与精度主张一致。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检测用独立人工框匹配，身份关联核对连续性，通行事件还需方向与时间容差匹配。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MOT17影像项目提供人工标注核验。SinD源ID只审查关联思想，不代替原始影像独立真值。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课堂追问：模型检测精度较高但方向计数错误，应怎样定位问题？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交互课堂：https://lilinchao.github.io/traffic-book-practice/open-course/chapter-08/#evaluation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来源：https://github.com/SOTIF-AVLab/SinD</a:t>
            </a:r>
          </a:p>
          <a:p xmlns:a="http://schemas.openxmlformats.org/drawingml/2006/main">
            <a:r>
              <a:t>SinD自定义非商业许可；MOT17影像CC BY-NC-SA 3.0</a:t>
            </a:r>
          </a:p>
          <a:p xmlns:a="http://schemas.openxmlformats.org/drawingml/2006/main">
            <a:r>
              <a:t>输入哈希：{"projects/data/sind.json":"e6ed9160ef6e5787c7c16a048735093f240e1a48807485e2cc73165b468652f6","chapters/data/algorithms/ch8.json":"322f46fbdc5237cb9ea09c6ad4c3867ccae94898a255b9c0630dd1f3d6511491"}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规则必须能回到逐条事件。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修改line、band或stride并运行，导出事件时刻、方向与来源ID。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代码直接在提供方平滑轨迹上计算，不调用图像检测器。完整影像结果在独立协议下复核。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课堂追问：为何报告需要同时保存事件表与参数，而不只保存总数？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交互课堂：https://lilinchao.github.io/traffic-book-practice/open-course/chapter-08/#code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来源：https://github.com/SOTIF-AVLab/SinD</a:t>
            </a:r>
          </a:p>
          <a:p xmlns:a="http://schemas.openxmlformats.org/drawingml/2006/main">
            <a:r>
              <a:t>SinD自定义非商业许可；MOT17影像CC BY-NC-SA 3.0</a:t>
            </a:r>
          </a:p>
          <a:p xmlns:a="http://schemas.openxmlformats.org/drawingml/2006/main">
            <a:r>
              <a:t>输入哈希：{"projects/data/sind.json":"e6ed9160ef6e5787c7c16a048735093f240e1a48807485e2cc73165b468652f6","chapters/data/algorithms/ch8.json":"322f46fbdc5237cb9ea09c6ad4c3867ccae94898a255b9c0630dd1f3d6511491"}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完整成果需覆盖误差传递与使用条件。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分别提交SinD关联实验和MOT17影像实验，保存配置、逐事件结果、独立标注和失败片段说明。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许可分别遵守SinD非商业条款与MOT17的CC BY-NC-SA 3.0，不将课程代码MIT许可扩展到第三方影像。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课堂追问：若在校门口开展新的调查，应重新验证哪些场景和合规条件？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交互课堂：https://lilinchao.github.io/traffic-book-practice/open-course/chapter-08/#project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来源：https://github.com/SOTIF-AVLab/SinD</a:t>
            </a:r>
          </a:p>
          <a:p xmlns:a="http://schemas.openxmlformats.org/drawingml/2006/main">
            <a:r>
              <a:t>SinD自定义非商业许可；MOT17影像CC BY-NC-SA 3.0</a:t>
            </a:r>
          </a:p>
          <a:p xmlns:a="http://schemas.openxmlformats.org/drawingml/2006/main">
            <a:r>
              <a:t>输入哈希：{"projects/data/sind.json":"e6ed9160ef6e5787c7c16a048735093f240e1a48807485e2cc73165b468652f6","chapters/data/algorithms/ch8.json":"322f46fbdc5237cb9ea09c6ad4c3867ccae94898a255b9c0630dd1f3d6511491"}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教学主线：路口视频怎样形成可以核查的通行统计？</a:t>
            </a:r>
          </a:p>
          <a:p xmlns:a="http://schemas.openxmlformats.org/drawingml/2006/main">
            <a:r>
              <a:t>建议135分钟讲授与讨论 + 90分钟上机</a:t>
            </a:r>
          </a:p>
          <a:p xmlns:a="http://schemas.openxmlformats.org/drawingml/2006/main">
            <a:r>
              <a:t>课堂：https://lilinchao.github.io/traffic-book-practice/open-course/chapter-08/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来源：https://github.com/SOTIF-AVLab/SinD</a:t>
            </a:r>
          </a:p>
          <a:p xmlns:a="http://schemas.openxmlformats.org/drawingml/2006/main">
            <a:r>
              <a:t>SinD自定义非商业许可；MOT17影像CC BY-NC-SA 3.0</a:t>
            </a:r>
          </a:p>
          <a:p xmlns:a="http://schemas.openxmlformats.org/drawingml/2006/main">
            <a:r>
              <a:t>输入哈希：{"projects/data/sind.json":"e6ed9160ef6e5787c7c16a048735093f240e1a48807485e2cc73165b468652f6","chapters/data/algorithms/ch8.json":"322f46fbdc5237cb9ea09c6ad4c3867ccae94898a255b9c0630dd1f3d6511491"}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1504e41bd34c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3cde046b904985" /><Relationship Type="http://schemas.openxmlformats.org/officeDocument/2006/relationships/slideLayout" Target="/ppt/slideLayouts/slideLayout1.xml" Id="R3f325e74d68749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325e74d68749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805b2e1fc43e9" /><Relationship Type="http://schemas.openxmlformats.org/officeDocument/2006/relationships/image" Target="/ppt/media/image.png" Id="R3c4dce52eb994e7c" /><Relationship Type="http://schemas.openxmlformats.org/officeDocument/2006/relationships/notesSlide" Target="/ppt/notesSlides/notesSlide1.xml" Id="Rd15896dd5c9e48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eb12b443a418c" /><Relationship Type="http://schemas.openxmlformats.org/officeDocument/2006/relationships/hyperlink" Target="https://lilinchao.github.io/traffic-book-practice/open-course/chapter-08/" TargetMode="External" Id="R10fa35a8090f4b1f" /><Relationship Type="http://schemas.openxmlformats.org/officeDocument/2006/relationships/notesSlide" Target="/ppt/notesSlides/notesSlide2.xml" Id="R91a3b03211844b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534529bf24dbd" /><Relationship Type="http://schemas.openxmlformats.org/officeDocument/2006/relationships/hyperlink" Target="https://lilinchao.github.io/traffic-book-practice/open-course/chapter-08/#mission" TargetMode="External" Id="R67d4666edbb74c36" /><Relationship Type="http://schemas.openxmlformats.org/officeDocument/2006/relationships/notesSlide" Target="/ppt/notesSlides/notesSlide3.xml" Id="R76db21299ee14a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06bdc874f47aa" /><Relationship Type="http://schemas.openxmlformats.org/officeDocument/2006/relationships/hyperlink" Target="https://lilinchao.github.io/traffic-book-practice/open-course/chapter-08/#tasks" TargetMode="External" Id="R0257453788c24f4d" /><Relationship Type="http://schemas.openxmlformats.org/officeDocument/2006/relationships/notesSlide" Target="/ppt/notesSlides/notesSlide4.xml" Id="R51b1cd96ae4347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84bfbcba541af" /><Relationship Type="http://schemas.openxmlformats.org/officeDocument/2006/relationships/hyperlink" Target="https://lilinchao.github.io/traffic-book-practice/open-course/chapter-08/#representation" TargetMode="External" Id="R9f41082f85cc4271" /><Relationship Type="http://schemas.openxmlformats.org/officeDocument/2006/relationships/notesSlide" Target="/ppt/notesSlides/notesSlide5.xml" Id="R9128fb57c3d843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919477f3524c2c" /><Relationship Type="http://schemas.openxmlformats.org/officeDocument/2006/relationships/hyperlink" Target="https://lilinchao.github.io/traffic-book-practice/open-course/chapter-08/#time" TargetMode="External" Id="R93e12000d9144999" /><Relationship Type="http://schemas.openxmlformats.org/officeDocument/2006/relationships/notesSlide" Target="/ppt/notesSlides/notesSlide6.xml" Id="R93828c80b92a4e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81c1bc6174c46" /><Relationship Type="http://schemas.openxmlformats.org/officeDocument/2006/relationships/hyperlink" Target="https://lilinchao.github.io/traffic-book-practice/open-course/chapter-08/#sample" TargetMode="External" Id="Rd17b497f2add440e" /><Relationship Type="http://schemas.openxmlformats.org/officeDocument/2006/relationships/notesSlide" Target="/ppt/notesSlides/notesSlide7.xml" Id="R5e539175c08b46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36923a3684833" /><Relationship Type="http://schemas.openxmlformats.org/officeDocument/2006/relationships/hyperlink" Target="https://lilinchao.github.io/traffic-book-practice/open-course/chapter-08/#classification" TargetMode="External" Id="R0f267aff00a34c25" /><Relationship Type="http://schemas.openxmlformats.org/officeDocument/2006/relationships/notesSlide" Target="/ppt/notesSlides/notesSlide8.xml" Id="R66aba639415444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ae2965e0c43f7" /><Relationship Type="http://schemas.openxmlformats.org/officeDocument/2006/relationships/hyperlink" Target="https://lilinchao.github.io/traffic-book-practice/open-course/chapter-08/#detection" TargetMode="External" Id="R162096b8baf94551" /><Relationship Type="http://schemas.openxmlformats.org/officeDocument/2006/relationships/notesSlide" Target="/ppt/notesSlides/notesSlide9.xml" Id="R349fb9ca8fb34e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c7d1fdcdb4696" /><Relationship Type="http://schemas.openxmlformats.org/officeDocument/2006/relationships/hyperlink" Target="https://lilinchao.github.io/traffic-book-practice/open-course/chapter-08/#segmentation" TargetMode="External" Id="R6e057b4c8088419a" /><Relationship Type="http://schemas.openxmlformats.org/officeDocument/2006/relationships/notesSlide" Target="/ppt/notesSlides/notesSlide10.xml" Id="R6f3d74a01940423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24bc6197f412b" /><Relationship Type="http://schemas.openxmlformats.org/officeDocument/2006/relationships/image" Target="/ppt/media/image.jpeg" Id="R826ffc020a9d40e9" /><Relationship Type="http://schemas.openxmlformats.org/officeDocument/2006/relationships/hyperlink" Target="https://lilinchao.github.io/traffic-book-practice/open-course/chapter-08/#video" TargetMode="External" Id="Rc84fb88bd25b4f69" /><Relationship Type="http://schemas.openxmlformats.org/officeDocument/2006/relationships/notesSlide" Target="/ppt/notesSlides/notesSlide11.xml" Id="Rb5fa66a32ca64a6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9195e51dc4bb4" /><Relationship Type="http://schemas.openxmlformats.org/officeDocument/2006/relationships/hyperlink" Target="https://lilinchao.github.io/traffic-book-practice/open-course/chapter-08/#tracking" TargetMode="External" Id="R906805c927f54559" /><Relationship Type="http://schemas.openxmlformats.org/officeDocument/2006/relationships/notesSlide" Target="/ppt/notesSlides/notesSlide12.xml" Id="R54f37cf37c054f6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1918260194c5e" /><Relationship Type="http://schemas.openxmlformats.org/officeDocument/2006/relationships/hyperlink" Target="https://lilinchao.github.io/traffic-book-practice/open-course/chapter-08/#association" TargetMode="External" Id="R0c4a508acdba427b" /><Relationship Type="http://schemas.openxmlformats.org/officeDocument/2006/relationships/notesSlide" Target="/ppt/notesSlides/notesSlide13.xml" Id="Racdd112e586645c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10a35b19b45f6" /><Relationship Type="http://schemas.openxmlformats.org/officeDocument/2006/relationships/chart" Target="/ppt/slides/charts/chart1.xml" Id="R2f6a7be934e94ff6" /><Relationship Type="http://schemas.openxmlformats.org/officeDocument/2006/relationships/hyperlink" Target="https://lilinchao.github.io/traffic-book-practice/open-course/chapter-08/#association" TargetMode="External" Id="Rf5c764dd2ad447b2" /><Relationship Type="http://schemas.openxmlformats.org/officeDocument/2006/relationships/notesSlide" Target="/ppt/notesSlides/notesSlide14.xml" Id="Re6d9db978e4a459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f1e2cdc287438d" /><Relationship Type="http://schemas.openxmlformats.org/officeDocument/2006/relationships/hyperlink" Target="https://lilinchao.github.io/traffic-book-practice/open-course/chapter-08/#crossing" TargetMode="External" Id="R923a80ad13b4457c" /><Relationship Type="http://schemas.openxmlformats.org/officeDocument/2006/relationships/notesSlide" Target="/ppt/notesSlides/notesSlide15.xml" Id="Rc758411c9db44bb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e9bf245e640f0" /><Relationship Type="http://schemas.openxmlformats.org/officeDocument/2006/relationships/chart" Target="/ppt/slides/charts/chart2.xml" Id="R0305b9af9d464702" /><Relationship Type="http://schemas.openxmlformats.org/officeDocument/2006/relationships/hyperlink" Target="https://lilinchao.github.io/traffic-book-practice/open-course/chapter-08/#crossing" TargetMode="External" Id="Re3422488c5db460c" /><Relationship Type="http://schemas.openxmlformats.org/officeDocument/2006/relationships/notesSlide" Target="/ppt/notesSlides/notesSlide16.xml" Id="R7c0e24da3bf14f8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8070122174b5a" /><Relationship Type="http://schemas.openxmlformats.org/officeDocument/2006/relationships/hyperlink" Target="https://lilinchao.github.io/traffic-book-practice/open-course/chapter-08/#stride" TargetMode="External" Id="R9b1f6f1d10ee4e6b" /><Relationship Type="http://schemas.openxmlformats.org/officeDocument/2006/relationships/notesSlide" Target="/ppt/notesSlides/notesSlide17.xml" Id="R1e89070221524f5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1fbad7a4f43dc" /><Relationship Type="http://schemas.openxmlformats.org/officeDocument/2006/relationships/chart" Target="/ppt/slides/charts/chart3.xml" Id="Rc1d67d63ddef4bfe" /><Relationship Type="http://schemas.openxmlformats.org/officeDocument/2006/relationships/hyperlink" Target="https://lilinchao.github.io/traffic-book-practice/open-course/chapter-08/#stride" TargetMode="External" Id="R653c2a7ffbb64711" /><Relationship Type="http://schemas.openxmlformats.org/officeDocument/2006/relationships/notesSlide" Target="/ppt/notesSlides/notesSlide18.xml" Id="Rf95de268da80459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bea302bcc4fb8" /><Relationship Type="http://schemas.openxmlformats.org/officeDocument/2006/relationships/hyperlink" Target="https://lilinchao.github.io/traffic-book-practice/open-course/chapter-08/#band" TargetMode="External" Id="R965575dc27804a14" /><Relationship Type="http://schemas.openxmlformats.org/officeDocument/2006/relationships/notesSlide" Target="/ppt/notesSlides/notesSlide19.xml" Id="R02a02ef8c26f4a5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be776454448e7" /><Relationship Type="http://schemas.openxmlformats.org/officeDocument/2006/relationships/chart" Target="/ppt/slides/charts/chart4.xml" Id="R7f127b558427460b" /><Relationship Type="http://schemas.openxmlformats.org/officeDocument/2006/relationships/hyperlink" Target="https://lilinchao.github.io/traffic-book-practice/open-course/chapter-08/#band" TargetMode="External" Id="Re9807822f3df4a6d" /><Relationship Type="http://schemas.openxmlformats.org/officeDocument/2006/relationships/notesSlide" Target="/ppt/notesSlides/notesSlide20.xml" Id="Rdf3ee0f2bcb5461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89f73c6434571" /><Relationship Type="http://schemas.openxmlformats.org/officeDocument/2006/relationships/hyperlink" Target="https://lilinchao.github.io/traffic-book-practice/open-course/chapter-08/#evaluation" TargetMode="External" Id="Re6e1e4e968a94593" /><Relationship Type="http://schemas.openxmlformats.org/officeDocument/2006/relationships/notesSlide" Target="/ppt/notesSlides/notesSlide21.xml" Id="Ree17441aadc24b4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65dd5842d419b" /><Relationship Type="http://schemas.openxmlformats.org/officeDocument/2006/relationships/hyperlink" Target="https://lilinchao.github.io/traffic-book-practice/open-course/chapter-08/#code" TargetMode="External" Id="Rfde1d6b4d27b40b0" /><Relationship Type="http://schemas.openxmlformats.org/officeDocument/2006/relationships/notesSlide" Target="/ppt/notesSlides/notesSlide22.xml" Id="Rf1c36b08c725429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bfcb571484924" /><Relationship Type="http://schemas.openxmlformats.org/officeDocument/2006/relationships/hyperlink" Target="https://lilinchao.github.io/traffic-book-practice/open-course/chapter-08/#project" TargetMode="External" Id="Rb15bb486b5a945bd" /><Relationship Type="http://schemas.openxmlformats.org/officeDocument/2006/relationships/notesSlide" Target="/ppt/notesSlides/notesSlide23.xml" Id="R955ada85160e426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1a81eec4c493d" /><Relationship Type="http://schemas.openxmlformats.org/officeDocument/2006/relationships/hyperlink" Target="https://lilinchao.github.io/traffic-book-practice/open-course/chapter-08/" TargetMode="External" Id="R6d47e899f6f74bea" /><Relationship Type="http://schemas.openxmlformats.org/officeDocument/2006/relationships/hyperlink" Target="https://lilinchao.github.io/traffic-book-practice/open-course/#project/ch08/code" TargetMode="External" Id="R3ef6f9123da24a15" /><Relationship Type="http://schemas.openxmlformats.org/officeDocument/2006/relationships/hyperlink" Target="https://lilinchao.github.io/traffic-book-practice/open-course/#cases" TargetMode="External" Id="R1ec6b1aa20074ee0" /><Relationship Type="http://schemas.openxmlformats.org/officeDocument/2006/relationships/notesSlide" Target="/ppt/notesSlides/notesSlide24.xml" Id="Rf6f38e626b7e4ec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同采样源ID事件</c:v>
          </c:tx>
          <c:spPr>
            <a:solidFill xmlns:a="http://schemas.openxmlformats.org/drawingml/2006/main">
              <a:srgbClr val="087E82"/>
            </a:solidFill>
            <a:ln xmlns:a="http://schemas.openxmlformats.org/drawingml/2006/main" w="28575">
              <a:solidFill>
                <a:srgbClr val="087E82"/>
              </a:solidFill>
            </a:ln>
          </c:spPr>
          <c:cat>
            <c:strRef>
              <c:f>'Chart Data'!$A$2:$A$3</c:f>
              <c:strCache>
                <c:ptCount val="2"/>
                <c:pt idx="0">
                  <c:v>位置保持</c:v>
                </c:pt>
                <c:pt idx="1">
                  <c:v>卡尔曼</c:v>
                </c:pt>
              </c:strCache>
            </c:strRef>
          </c:cat>
          <c:val>
            <c:numRef>
              <c:f>'Chart Data'!$B$2:$B$3</c:f>
              <c:numCache>
                <c:formatCode>#,##0</c:formatCode>
                <c:ptCount val="2"/>
                <c:pt idx="0">
                  <c:v>20</c:v>
                </c:pt>
                <c:pt idx="1">
                  <c:v>20</c:v>
                </c:pt>
              </c:numCache>
            </c:numRef>
          </c:val>
        </c:ser>
        <c:ser>
          <c:idx val="1"/>
          <c:order val="1"/>
          <c:tx>
            <c:v>新ID事件</c:v>
          </c:tx>
          <c:spPr>
            <a:solidFill xmlns:a="http://schemas.openxmlformats.org/drawingml/2006/main">
              <a:srgbClr val="B66C24"/>
            </a:solidFill>
            <a:ln xmlns:a="http://schemas.openxmlformats.org/drawingml/2006/main" w="28575">
              <a:solidFill>
                <a:srgbClr val="B66C24"/>
              </a:solidFill>
            </a:ln>
          </c:spPr>
          <c:cat>
            <c:strRef>
              <c:f>'Chart Data'!$C$2:$C$3</c:f>
              <c:strCache>
                <c:ptCount val="2"/>
                <c:pt idx="0">
                  <c:v>位置保持</c:v>
                </c:pt>
                <c:pt idx="1">
                  <c:v>卡尔曼</c:v>
                </c:pt>
              </c:strCache>
            </c:strRef>
          </c:cat>
          <c:val>
            <c:numRef>
              <c:f>'Chart Data'!$D$2:$D$3</c:f>
              <c:numCache>
                <c:formatCode>#,##0</c:formatCode>
                <c:ptCount val="2"/>
                <c:pt idx="0">
                  <c:v>20</c:v>
                </c:pt>
                <c:pt idx="1">
                  <c:v>19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.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CDAD5"/>
              </a:solidFill>
            </a:ln>
          </c:spPr>
        </c:majorGridlines>
        <c:numFmt formatCode="#,##0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EFA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EF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规则事件</c:v>
          </c:tx>
          <c:spPr>
            <a:solidFill xmlns:a="http://schemas.openxmlformats.org/drawingml/2006/main">
              <a:srgbClr val="087E82"/>
            </a:solidFill>
            <a:ln xmlns:a="http://schemas.openxmlformats.org/drawingml/2006/main" w="28575">
              <a:solidFill>
                <a:srgbClr val="087E82"/>
              </a:solidFill>
            </a:ln>
          </c:spPr>
          <c:cat>
            <c:strRef>
              <c:f>'Chart Data'!$A$2:$A$3</c:f>
              <c:strCache>
                <c:ptCount val="2"/>
                <c:pt idx="0">
                  <c:v>+x</c:v>
                </c:pt>
                <c:pt idx="1">
                  <c:v>−x</c:v>
                </c:pt>
              </c:strCache>
            </c:strRef>
          </c:cat>
          <c:val>
            <c:numRef>
              <c:f>'Chart Data'!$B$2:$B$3</c:f>
              <c:numCache>
                <c:formatCode>#,##0</c:formatCode>
                <c:ptCount val="2"/>
                <c:pt idx="0">
                  <c:v>9</c:v>
                </c:pt>
                <c:pt idx="1">
                  <c:v>11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.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CDAD5"/>
              </a:solidFill>
            </a:ln>
          </c:spPr>
        </c:majorGridlines>
        <c:numFmt formatCode="#,##0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EFA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EF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事件数</c:v>
          </c:tx>
          <c:spPr>
            <a:solidFill xmlns:a="http://schemas.openxmlformats.org/drawingml/2006/main">
              <a:srgbClr val="087E82"/>
            </a:solidFill>
            <a:ln xmlns:a="http://schemas.openxmlformats.org/drawingml/2006/main" w="28575">
              <a:solidFill>
                <a:srgbClr val="087E82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每1帧</c:v>
                </c:pt>
                <c:pt idx="1">
                  <c:v>每5帧</c:v>
                </c:pt>
                <c:pt idx="2">
                  <c:v>每10帧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.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CDAD5"/>
              </a:solidFill>
            </a:ln>
          </c:spPr>
        </c:majorGridlines>
        <c:numFmt formatCode="#,##0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EFA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EF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事件数</c:v>
          </c:tx>
          <c:spPr>
            <a:solidFill xmlns:a="http://schemas.openxmlformats.org/drawingml/2006/main">
              <a:srgbClr val="087E82"/>
            </a:solidFill>
            <a:ln xmlns:a="http://schemas.openxmlformats.org/drawingml/2006/main" w="28575">
              <a:solidFill>
                <a:srgbClr val="087E82"/>
              </a:solidFill>
            </a:ln>
          </c:spPr>
          <c:cat>
            <c:strRef>
              <c:f>'Chart Data'!$A$2:$A$5</c:f>
              <c:strCache>
                <c:ptCount val="4"/>
                <c:pt idx="0">
                  <c:v>0米</c:v>
                </c:pt>
                <c:pt idx="1">
                  <c:v>0.3米</c:v>
                </c:pt>
                <c:pt idx="2">
                  <c:v>1米</c:v>
                </c:pt>
                <c:pt idx="3">
                  <c:v>2米</c:v>
                </c:pt>
              </c:strCache>
            </c:strRef>
          </c:cat>
          <c:val>
            <c:numRef>
              <c:f>'Chart Data'!$B$2:$B$5</c:f>
              <c:numCache>
                <c:formatCode>#,##0</c:formatCode>
                <c:ptCount val="4"/>
                <c:pt idx="0">
                  <c:v>22</c:v>
                </c:pt>
                <c:pt idx="1">
                  <c:v>20</c:v>
                </c:pt>
                <c:pt idx="2">
                  <c:v>18</c:v>
                </c:pt>
                <c:pt idx="3">
                  <c:v>15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.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CDAD5"/>
              </a:solidFill>
            </a:ln>
          </c:spPr>
        </c:majorGridlines>
        <c:numFmt formatCode="#,##0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EFA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EF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E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4dce52eb994e7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第8章">
            <a:extLst xmlns:a="http://schemas.openxmlformats.org/drawingml/2006/main">
              <a:ext uri="{FF2B5EF4-FFF2-40B4-BE49-F238E27FC236}">
                <a16:creationId xmlns:a16="http://schemas.microsoft.com/office/drawing/2014/main" id="{814F7B3C-DCD7-49D7-992A-9529DD40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EAB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EABB76"/>
                </a:solidFill>
                <a:latin typeface="Microsoft YaHei"/>
                <a:ea typeface="Microsoft YaHei"/>
                <a:cs typeface="Microsoft YaHei"/>
              </a:rPr>
              <a:t>第8章</a:t>
            </a:r>
          </a:p>
        </p:txBody>
      </p:sp>
      <p:sp>
        <p:nvSpPr>
          <p:cNvPr id="3" name="交通影像数据分析">
            <a:extLst xmlns:a="http://schemas.openxmlformats.org/drawingml/2006/main">
              <a:ext uri="{FF2B5EF4-FFF2-40B4-BE49-F238E27FC236}">
                <a16:creationId xmlns:a16="http://schemas.microsoft.com/office/drawing/2014/main" id="{9C6B816D-52AB-4D9E-BBB1-3A1EB1C6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9429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交通影像数据分析</a:t>
            </a:r>
          </a:p>
        </p:txBody>
      </p:sp>
      <p:sp>
        <p:nvSpPr>
          <p:cNvPr id="4" name="交通数据挖掘理论与应用">
            <a:extLst xmlns:a="http://schemas.openxmlformats.org/drawingml/2006/main">
              <a:ext uri="{FF2B5EF4-FFF2-40B4-BE49-F238E27FC236}">
                <a16:creationId xmlns:a16="http://schemas.microsoft.com/office/drawing/2014/main" id="{7999DB1C-CD8F-424D-BA9C-9917C3C6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D9E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D9ECE8"/>
                </a:solidFill>
                <a:latin typeface="Microsoft YaHei"/>
                <a:ea typeface="Microsoft YaHei"/>
                <a:cs typeface="Microsoft YaHei"/>
              </a:rPr>
              <a:t>交通数据挖掘理论与应用</a:t>
            </a:r>
          </a:p>
        </p:txBody>
      </p:sp>
      <p:sp>
        <p:nvSpPr>
          <p:cNvPr id="5" name="路口视频怎样形成可以核查的通行统计？">
            <a:extLst xmlns:a="http://schemas.openxmlformats.org/drawingml/2006/main">
              <a:ext uri="{FF2B5EF4-FFF2-40B4-BE49-F238E27FC236}">
                <a16:creationId xmlns:a16="http://schemas.microsoft.com/office/drawing/2014/main" id="{805B93FF-955B-46AB-8488-9BD37958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9E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D9ECE8"/>
                </a:solidFill>
                <a:latin typeface="Microsoft YaHei"/>
                <a:ea typeface="Microsoft YaHei"/>
                <a:cs typeface="Microsoft YaHei"/>
              </a:rPr>
              <a:t>路口视频怎样形成可以核查的通行统计？</a:t>
            </a:r>
          </a:p>
        </p:txBody>
      </p:sp>
    </p:spTree>
    <p:extLst>
      <p:ext uri="{BB962C8B-B14F-4D97-AF65-F5344CB8AC3E}">
        <p14:creationId xmlns:p14="http://schemas.microsoft.com/office/powerpoint/2010/main" val="20263945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本章学习目标">
            <a:extLst xmlns:a="http://schemas.openxmlformats.org/drawingml/2006/main">
              <a:ext uri="{FF2B5EF4-FFF2-40B4-BE49-F238E27FC236}">
                <a16:creationId xmlns:a16="http://schemas.microsoft.com/office/drawing/2014/main" id="{50FED6A9-BFEF-49FA-BFC9-F5A34DE5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本章学习目标</a:t>
            </a:r>
          </a:p>
        </p:txBody>
      </p:sp>
      <p:sp>
        <p:nvSpPr>
          <p:cNvPr id="2" name="第8章 交通影像数据分析">
            <a:extLst xmlns:a="http://schemas.openxmlformats.org/drawingml/2006/main">
              <a:ext uri="{FF2B5EF4-FFF2-40B4-BE49-F238E27FC236}">
                <a16:creationId xmlns:a16="http://schemas.microsoft.com/office/drawing/2014/main" id="{13EC1004-F852-4E75-AC29-DC2C5645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第8章 交通影像数据分析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0E3AEE58-5C43-47D2-AA0C-8E9DB148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区分交通影像中的分类、检测、分割与跟踪。">
            <a:extLst xmlns:a="http://schemas.openxmlformats.org/drawingml/2006/main">
              <a:ext uri="{FF2B5EF4-FFF2-40B4-BE49-F238E27FC236}">
                <a16:creationId xmlns:a16="http://schemas.microsoft.com/office/drawing/2014/main" id="{BD2E5A7D-6D33-4748-8CF8-0896E27E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区分交通影像中的分类、检测、分割与跟踪。</a:t>
            </a:r>
          </a:p>
        </p:txBody>
      </p:sp>
      <p:sp>
        <p:nvSpPr>
          <p:cNvPr id="5" name="明确像素、地面坐标、时间戳与标定条件。">
            <a:extLst xmlns:a="http://schemas.openxmlformats.org/drawingml/2006/main">
              <a:ext uri="{FF2B5EF4-FFF2-40B4-BE49-F238E27FC236}">
                <a16:creationId xmlns:a16="http://schemas.microsoft.com/office/drawing/2014/main" id="{9F7436D8-38ED-4B76-83DA-6AD6CC3B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明确像素、地面坐标、时间戳与标定条件。</a:t>
            </a:r>
          </a:p>
        </p:txBody>
      </p:sp>
      <p:sp>
        <p:nvSpPr>
          <p:cNvPr id="6" name="比较采样、关联和跨线规则对通行事件的影响。">
            <a:extLst xmlns:a="http://schemas.openxmlformats.org/drawingml/2006/main">
              <a:ext uri="{FF2B5EF4-FFF2-40B4-BE49-F238E27FC236}">
                <a16:creationId xmlns:a16="http://schemas.microsoft.com/office/drawing/2014/main" id="{1F8E4EF9-3045-4CDE-B250-BD0845A3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比较采样、关联和跨线规则对通行事件的影响。</a:t>
            </a:r>
          </a:p>
        </p:txBody>
      </p:sp>
      <p:sp>
        <p:nvSpPr>
          <p:cNvPr id="7" name="用独立人工标注核验影像结果，解释误差传播。">
            <a:extLst xmlns:a="http://schemas.openxmlformats.org/drawingml/2006/main">
              <a:ext uri="{FF2B5EF4-FFF2-40B4-BE49-F238E27FC236}">
                <a16:creationId xmlns:a16="http://schemas.microsoft.com/office/drawing/2014/main" id="{6CCFDCCE-7738-43E6-A34A-61E6AE52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用独立人工标注核验影像结果，解释误差传播。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9A53B0B0-57BA-4EBC-BDBD-E5E9800F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0fa35a8090f4b1f"/>
              </a:rPr>
              <a:t>配套交互课堂与章节实践</a:t>
            </a:r>
          </a:p>
        </p:txBody>
      </p:sp>
    </p:spTree>
    <p:extLst>
      <p:ext uri="{BB962C8B-B14F-4D97-AF65-F5344CB8AC3E}">
        <p14:creationId xmlns:p14="http://schemas.microsoft.com/office/powerpoint/2010/main" val="15772887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视频交通调查的证据链">
            <a:extLst xmlns:a="http://schemas.openxmlformats.org/drawingml/2006/main">
              <a:ext uri="{FF2B5EF4-FFF2-40B4-BE49-F238E27FC236}">
                <a16:creationId xmlns:a16="http://schemas.microsoft.com/office/drawing/2014/main" id="{C34C3B8F-F4EA-4235-9CDB-693B5194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视频交通调查的证据链</a:t>
            </a:r>
          </a:p>
        </p:txBody>
      </p:sp>
      <p:sp>
        <p:nvSpPr>
          <p:cNvPr id="2" name="第8章 交通影像数据分析   8.1">
            <a:extLst xmlns:a="http://schemas.openxmlformats.org/drawingml/2006/main">
              <a:ext uri="{FF2B5EF4-FFF2-40B4-BE49-F238E27FC236}">
                <a16:creationId xmlns:a16="http://schemas.microsoft.com/office/drawing/2014/main" id="{55CEFA6D-62C3-4035-83F8-D2E6F716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第8章 交通影像数据分析   8.1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80E5A5E8-FCD0-4F5B-BFFC-44B519B1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通行次数需要从连续观测中提取。">
            <a:extLst xmlns:a="http://schemas.openxmlformats.org/drawingml/2006/main">
              <a:ext uri="{FF2B5EF4-FFF2-40B4-BE49-F238E27FC236}">
                <a16:creationId xmlns:a16="http://schemas.microsoft.com/office/drawing/2014/main" id="{E29BCB02-08E1-4E3C-AE90-9EB06C79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通行次数需要从连续观测中提取。</a:t>
            </a:r>
          </a:p>
        </p:txBody>
      </p:sp>
      <p:sp>
        <p:nvSpPr>
          <p:cNvPr id="5" name="单帧检测回答目标在哪里，跨帧关联回答是否同一目标，事">
            <a:extLst xmlns:a="http://schemas.openxmlformats.org/drawingml/2006/main">
              <a:ext uri="{FF2B5EF4-FFF2-40B4-BE49-F238E27FC236}">
                <a16:creationId xmlns:a16="http://schemas.microsoft.com/office/drawing/2014/main" id="{D7A941C5-1F59-4711-B3B9-388407BC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单帧检测回答目标在哪里，跨帧关联回答是否同一目标，事件规则回答何时通过调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查断面。</a:t>
            </a:r>
          </a:p>
        </p:txBody>
      </p:sp>
      <p:sp>
        <p:nvSpPr>
          <p:cNvPr id="6" name="本章把SinD地面轨迹与MOT17夜间行人影像分开研">
            <a:extLst xmlns:a="http://schemas.openxmlformats.org/drawingml/2006/main">
              <a:ext uri="{FF2B5EF4-FFF2-40B4-BE49-F238E27FC236}">
                <a16:creationId xmlns:a16="http://schemas.microsoft.com/office/drawing/2014/main" id="{3519E04E-94D9-435B-A024-C816FDD3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本章把SinD地面轨迹与MOT17夜间行人影像分开研究，不拼成同一路口的完整系统。</a:t>
            </a:r>
          </a:p>
        </p:txBody>
      </p:sp>
      <p:sp>
        <p:nvSpPr>
          <p:cNvPr id="7" name="课堂讨论：为何每帧检测框数量之和不能当作通过人数或车">
            <a:extLst xmlns:a="http://schemas.openxmlformats.org/drawingml/2006/main">
              <a:ext uri="{FF2B5EF4-FFF2-40B4-BE49-F238E27FC236}">
                <a16:creationId xmlns:a16="http://schemas.microsoft.com/office/drawing/2014/main" id="{57CD9A89-6B30-423B-9E38-B244ECDE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课堂讨论：为何每帧检测框数量之和不能当作通过人数或车辆数？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A4C30E7E-EFDD-41A0-B958-8265C735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7d4666edbb74c36"/>
              </a:rPr>
              <a:t>打开课堂讲解与配套案例</a:t>
            </a:r>
          </a:p>
        </p:txBody>
      </p:sp>
    </p:spTree>
    <p:extLst>
      <p:ext uri="{BB962C8B-B14F-4D97-AF65-F5344CB8AC3E}">
        <p14:creationId xmlns:p14="http://schemas.microsoft.com/office/powerpoint/2010/main" val="16291938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影像任务与交通输出">
            <a:extLst xmlns:a="http://schemas.openxmlformats.org/drawingml/2006/main">
              <a:ext uri="{FF2B5EF4-FFF2-40B4-BE49-F238E27FC236}">
                <a16:creationId xmlns:a16="http://schemas.microsoft.com/office/drawing/2014/main" id="{493D5046-E49C-45BC-AF3E-935FD3B0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影像任务与交通输出</a:t>
            </a:r>
          </a:p>
        </p:txBody>
      </p:sp>
      <p:sp>
        <p:nvSpPr>
          <p:cNvPr id="2" name="第8章 交通影像数据分析   8.1">
            <a:extLst xmlns:a="http://schemas.openxmlformats.org/drawingml/2006/main">
              <a:ext uri="{FF2B5EF4-FFF2-40B4-BE49-F238E27FC236}">
                <a16:creationId xmlns:a16="http://schemas.microsoft.com/office/drawing/2014/main" id="{E3F65E0A-3815-4FBA-851B-56878198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第8章 交通影像数据分析   8.1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219AAC12-878F-455D-961A-010B0CC4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不同算法输出服务于不同交通问题。">
            <a:extLst xmlns:a="http://schemas.openxmlformats.org/drawingml/2006/main">
              <a:ext uri="{FF2B5EF4-FFF2-40B4-BE49-F238E27FC236}">
                <a16:creationId xmlns:a16="http://schemas.microsoft.com/office/drawing/2014/main" id="{60E928C5-6021-4249-9F46-1A0A318B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不同算法输出服务于不同交通问题。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85800" y="2533650"/>
          <a:ext xmlns:a="http://schemas.openxmlformats.org/drawingml/2006/main" cx="10820400" cy="2381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606800"/>
                <a:gridCol w="3606800"/>
                <a:gridCol w="3606800"/>
              </a:tblGrid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交通用途示例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分类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类别或概率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场景条件识别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检测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框、类别、置信度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车辆或行人定位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语义/实例分割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类别掩膜/个体掩膜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路面范围/目标轮廓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跟踪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跨帧身份与轨迹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通行事件与运动分析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</a:tr>
            </a:tbl>
          </a:graphicData>
        </a:graphic>
      </p:graphicFrame>
      <p:sp>
        <p:nvSpPr>
          <p:cNvPr id="6" name="若要区分同一车道上相邻两辆车的轮廓，语义分割是否足够">
            <a:extLst xmlns:a="http://schemas.openxmlformats.org/drawingml/2006/main">
              <a:ext uri="{FF2B5EF4-FFF2-40B4-BE49-F238E27FC236}">
                <a16:creationId xmlns:a16="http://schemas.microsoft.com/office/drawing/2014/main" id="{98455408-385C-4194-9B7C-575F0628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若要区分同一车道上相邻两辆车的轮廓，语义分割是否足够？</a:t>
            </a:r>
          </a:p>
        </p:txBody>
      </p:sp>
      <p:sp>
        <p:nvSpPr>
          <p:cNvPr id="7" name="link">
            <a:extLst xmlns:a="http://schemas.openxmlformats.org/drawingml/2006/main">
              <a:ext uri="{FF2B5EF4-FFF2-40B4-BE49-F238E27FC236}">
                <a16:creationId xmlns:a16="http://schemas.microsoft.com/office/drawing/2014/main" id="{342426D4-1120-472D-9316-BBEEE468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257453788c24f4d"/>
              </a:rPr>
              <a:t>课堂讨论与完整案例</a:t>
            </a:r>
          </a:p>
        </p:txBody>
      </p:sp>
    </p:spTree>
    <p:extLst>
      <p:ext uri="{BB962C8B-B14F-4D97-AF65-F5344CB8AC3E}">
        <p14:creationId xmlns:p14="http://schemas.microsoft.com/office/powerpoint/2010/main" val="11155965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图像与视频的表示">
            <a:extLst xmlns:a="http://schemas.openxmlformats.org/drawingml/2006/main">
              <a:ext uri="{FF2B5EF4-FFF2-40B4-BE49-F238E27FC236}">
                <a16:creationId xmlns:a16="http://schemas.microsoft.com/office/drawing/2014/main" id="{2CB4C59D-AA42-4B0F-AB54-D8EC3304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图像与视频的表示</a:t>
            </a:r>
          </a:p>
        </p:txBody>
      </p:sp>
      <p:sp>
        <p:nvSpPr>
          <p:cNvPr id="2" name="第8章 交通影像数据分析   8.2">
            <a:extLst xmlns:a="http://schemas.openxmlformats.org/drawingml/2006/main">
              <a:ext uri="{FF2B5EF4-FFF2-40B4-BE49-F238E27FC236}">
                <a16:creationId xmlns:a16="http://schemas.microsoft.com/office/drawing/2014/main" id="{FFCA2191-8D89-4477-994E-63471E22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第8章 交通影像数据分析   8.2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A1A24D48-849B-410B-9EA9-2438ECC7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张量维度应与符号解释逐一对应。">
            <a:extLst xmlns:a="http://schemas.openxmlformats.org/drawingml/2006/main">
              <a:ext uri="{FF2B5EF4-FFF2-40B4-BE49-F238E27FC236}">
                <a16:creationId xmlns:a16="http://schemas.microsoft.com/office/drawing/2014/main" id="{21B10F67-EE56-49AC-85B3-0D05312B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张量维度应与符号解释逐一对应。</a:t>
            </a:r>
          </a:p>
        </p:txBody>
      </p:sp>
      <p:sp>
        <p:nvSpPr>
          <p:cNvPr id="5" name="V ∈ ℝ^(T×H×W×C)">
            <a:extLst xmlns:a="http://schemas.openxmlformats.org/drawingml/2006/main">
              <a:ext uri="{FF2B5EF4-FFF2-40B4-BE49-F238E27FC236}">
                <a16:creationId xmlns:a16="http://schemas.microsoft.com/office/drawing/2014/main" id="{E7D0816D-E82A-4358-A932-563C6783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V ∈ ℝ^(T×H×W×C)</a:t>
            </a:r>
          </a:p>
        </p:txBody>
      </p:sp>
      <p:sp>
        <p:nvSpPr>
          <p:cNvPr id="6" name="V：视频数值表示。T：帧数。H、W：像素高与宽。C：">
            <a:extLst xmlns:a="http://schemas.openxmlformats.org/drawingml/2006/main">
              <a:ext uri="{FF2B5EF4-FFF2-40B4-BE49-F238E27FC236}">
                <a16:creationId xmlns:a16="http://schemas.microsoft.com/office/drawing/2014/main" id="{AC3E4C10-F68A-47BB-BBF4-059BA42D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V：视频数值表示。T：帧数。H、W：像素高与宽。C：通道数。ℝ：实数集合，指数部分表示数组形状。视频通常逐帧解码。</a:t>
            </a:r>
          </a:p>
        </p:txBody>
      </p:sp>
      <p:sp>
        <p:nvSpPr>
          <p:cNvPr id="7" name="本课采用H×W×C，H为图像高度、W为宽度、C为通道">
            <a:extLst xmlns:a="http://schemas.openxmlformats.org/drawingml/2006/main">
              <a:ext uri="{FF2B5EF4-FFF2-40B4-BE49-F238E27FC236}">
                <a16:creationId xmlns:a16="http://schemas.microsoft.com/office/drawing/2014/main" id="{E126CD48-8B74-4190-9D93-17218452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本课采用H×W×C，H为图像高度、W为宽度、C为通道数。T帧视频增加时间维。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BE75B6BF-F627-447D-9FBA-D2D8D438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f41082f85cc4271"/>
              </a:rPr>
              <a:t>公式解释与交通问题讨论</a:t>
            </a:r>
          </a:p>
        </p:txBody>
      </p:sp>
    </p:spTree>
    <p:extLst>
      <p:ext uri="{BB962C8B-B14F-4D97-AF65-F5344CB8AC3E}">
        <p14:creationId xmlns:p14="http://schemas.microsoft.com/office/powerpoint/2010/main" val="5047279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时间基准与空间标定">
            <a:extLst xmlns:a="http://schemas.openxmlformats.org/drawingml/2006/main">
              <a:ext uri="{FF2B5EF4-FFF2-40B4-BE49-F238E27FC236}">
                <a16:creationId xmlns:a16="http://schemas.microsoft.com/office/drawing/2014/main" id="{2B49AC64-9FD0-4EC2-A790-07CC1098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时间基准与空间标定</a:t>
            </a:r>
          </a:p>
        </p:txBody>
      </p:sp>
      <p:sp>
        <p:nvSpPr>
          <p:cNvPr id="2" name="第8章 交通影像数据分析   8.2">
            <a:extLst xmlns:a="http://schemas.openxmlformats.org/drawingml/2006/main">
              <a:ext uri="{FF2B5EF4-FFF2-40B4-BE49-F238E27FC236}">
                <a16:creationId xmlns:a16="http://schemas.microsoft.com/office/drawing/2014/main" id="{E17D1C3E-AB64-4DC0-A3A4-C00F1B11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第8章 交通影像数据分析   8.2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79F288A5-CCCD-45CC-BA01-C3522D08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帧率与地面距离分别约束不同交通量测。">
            <a:extLst xmlns:a="http://schemas.openxmlformats.org/drawingml/2006/main">
              <a:ext uri="{FF2B5EF4-FFF2-40B4-BE49-F238E27FC236}">
                <a16:creationId xmlns:a16="http://schemas.microsoft.com/office/drawing/2014/main" id="{CC535B1A-0C5B-45BC-98E4-6D84ADA8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帧率与地面距离分别约束不同交通量测。</a:t>
            </a:r>
          </a:p>
        </p:txBody>
      </p:sp>
      <p:sp>
        <p:nvSpPr>
          <p:cNvPr id="5" name="固定帧率f下相邻帧名义间隔为1/f秒，丢帧或变帧率需">
            <a:extLst xmlns:a="http://schemas.openxmlformats.org/drawingml/2006/main">
              <a:ext uri="{FF2B5EF4-FFF2-40B4-BE49-F238E27FC236}">
                <a16:creationId xmlns:a16="http://schemas.microsoft.com/office/drawing/2014/main" id="{4A1A2078-F962-4753-ACA2-C23C3A93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固定帧率f下相邻帧名义间隔为1/f秒，丢帧或变帧率需要读取实际时间戳。</a:t>
            </a:r>
          </a:p>
        </p:txBody>
      </p:sp>
      <p:sp>
        <p:nvSpPr>
          <p:cNvPr id="6" name="像素位移不能直接换算为米。单应变换依赖参考平面和控制">
            <a:extLst xmlns:a="http://schemas.openxmlformats.org/drawingml/2006/main">
              <a:ext uri="{FF2B5EF4-FFF2-40B4-BE49-F238E27FC236}">
                <a16:creationId xmlns:a16="http://schemas.microsoft.com/office/drawing/2014/main" id="{8B4670DA-7E3D-4591-9FB7-F0DD86AD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像素位移不能直接换算为米。单应变换依赖参考平面和控制点，跨平面目标仍会产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生误差。</a:t>
            </a:r>
          </a:p>
        </p:txBody>
      </p:sp>
      <p:sp>
        <p:nvSpPr>
          <p:cNvPr id="7" name="课堂讨论：高帧率能否自动消除透视造成的速度误差？">
            <a:extLst xmlns:a="http://schemas.openxmlformats.org/drawingml/2006/main">
              <a:ext uri="{FF2B5EF4-FFF2-40B4-BE49-F238E27FC236}">
                <a16:creationId xmlns:a16="http://schemas.microsoft.com/office/drawing/2014/main" id="{185D077C-4114-40E1-AD8D-1D9547E1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课堂讨论：高帧率能否自动消除透视造成的速度误差？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EADA7017-9A93-4D49-A656-CF43A37E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3e12000d9144999"/>
              </a:rPr>
              <a:t>打开课堂讲解与配套案例</a:t>
            </a:r>
          </a:p>
        </p:txBody>
      </p:sp>
    </p:spTree>
    <p:extLst>
      <p:ext uri="{BB962C8B-B14F-4D97-AF65-F5344CB8AC3E}">
        <p14:creationId xmlns:p14="http://schemas.microsoft.com/office/powerpoint/2010/main" val="13828339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注、划分与增强">
            <a:extLst xmlns:a="http://schemas.openxmlformats.org/drawingml/2006/main">
              <a:ext uri="{FF2B5EF4-FFF2-40B4-BE49-F238E27FC236}">
                <a16:creationId xmlns:a16="http://schemas.microsoft.com/office/drawing/2014/main" id="{186A0382-2988-44A4-A5A3-E248E0B6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标注、划分与增强</a:t>
            </a:r>
          </a:p>
        </p:txBody>
      </p:sp>
      <p:sp>
        <p:nvSpPr>
          <p:cNvPr id="2" name="第8章 交通影像数据分析   8.2">
            <a:extLst xmlns:a="http://schemas.openxmlformats.org/drawingml/2006/main">
              <a:ext uri="{FF2B5EF4-FFF2-40B4-BE49-F238E27FC236}">
                <a16:creationId xmlns:a16="http://schemas.microsoft.com/office/drawing/2014/main" id="{DE2BE6A7-6EA2-4531-86A2-61EF8C98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第8章 交通影像数据分析   8.2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2D0FEE5D-8DCB-4422-85BB-54A1B810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训练评价需要独立的场景与目标信息。">
            <a:extLst xmlns:a="http://schemas.openxmlformats.org/drawingml/2006/main">
              <a:ext uri="{FF2B5EF4-FFF2-40B4-BE49-F238E27FC236}">
                <a16:creationId xmlns:a16="http://schemas.microsoft.com/office/drawing/2014/main" id="{0DB09782-25ED-4152-9A99-C8CE7F20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训练评价需要独立的场景与目标信息。</a:t>
            </a:r>
          </a:p>
        </p:txBody>
      </p:sp>
      <p:sp>
        <p:nvSpPr>
          <p:cNvPr id="5" name="相邻帧高度相似，随机按帧切分容易把同一目标与背景同时">
            <a:extLst xmlns:a="http://schemas.openxmlformats.org/drawingml/2006/main">
              <a:ext uri="{FF2B5EF4-FFF2-40B4-BE49-F238E27FC236}">
                <a16:creationId xmlns:a16="http://schemas.microsoft.com/office/drawing/2014/main" id="{D748724E-6A7E-4843-8058-76A88C0B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相邻帧高度相似，随机按帧切分容易把同一目标与背景同时放入训练和测试。</a:t>
            </a:r>
          </a:p>
        </p:txBody>
      </p:sp>
      <p:sp>
        <p:nvSpPr>
          <p:cNvPr id="6" name="按片段或场景划分并同步变换框与掩膜。增强图像而不更新">
            <a:extLst xmlns:a="http://schemas.openxmlformats.org/drawingml/2006/main">
              <a:ext uri="{FF2B5EF4-FFF2-40B4-BE49-F238E27FC236}">
                <a16:creationId xmlns:a16="http://schemas.microsoft.com/office/drawing/2014/main" id="{B4A2F4A4-E78F-4EED-AB90-ABE813F6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按片段或场景划分并同步变换框与掩膜。增强图像而不更新标注会产生错误训练目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标。</a:t>
            </a:r>
          </a:p>
        </p:txBody>
      </p:sp>
      <p:sp>
        <p:nvSpPr>
          <p:cNvPr id="7" name="课堂讨论：夜间场景少时，简单调暗白天图像能否完全替代">
            <a:extLst xmlns:a="http://schemas.openxmlformats.org/drawingml/2006/main">
              <a:ext uri="{FF2B5EF4-FFF2-40B4-BE49-F238E27FC236}">
                <a16:creationId xmlns:a16="http://schemas.microsoft.com/office/drawing/2014/main" id="{1F9C936B-C7B5-4A6C-878F-0213D181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课堂讨论：夜间场景少时，简单调暗白天图像能否完全替代真实夜间验证？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A9880624-B5EF-430F-BDF7-FDFBC61D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17b497f2add440e"/>
              </a:rPr>
              <a:t>打开课堂讲解与配套案例</a:t>
            </a:r>
          </a:p>
        </p:txBody>
      </p:sp>
    </p:spTree>
    <p:extLst>
      <p:ext uri="{BB962C8B-B14F-4D97-AF65-F5344CB8AC3E}">
        <p14:creationId xmlns:p14="http://schemas.microsoft.com/office/powerpoint/2010/main" val="12534779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分类与交通场景判断">
            <a:extLst xmlns:a="http://schemas.openxmlformats.org/drawingml/2006/main">
              <a:ext uri="{FF2B5EF4-FFF2-40B4-BE49-F238E27FC236}">
                <a16:creationId xmlns:a16="http://schemas.microsoft.com/office/drawing/2014/main" id="{B8E2CF6A-C2ED-4CEC-8378-D1F7836B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分类与交通场景判断</a:t>
            </a:r>
          </a:p>
        </p:txBody>
      </p:sp>
      <p:sp>
        <p:nvSpPr>
          <p:cNvPr id="2" name="第8章 交通影像数据分析   8.3">
            <a:extLst xmlns:a="http://schemas.openxmlformats.org/drawingml/2006/main">
              <a:ext uri="{FF2B5EF4-FFF2-40B4-BE49-F238E27FC236}">
                <a16:creationId xmlns:a16="http://schemas.microsoft.com/office/drawing/2014/main" id="{5F0E867B-F2C4-4180-81DD-76AC4F40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第8章 交通影像数据分析   8.3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D59C19F7-2DA6-4376-B4B6-69A10C96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类别评价需要关注每类样本数量。">
            <a:extLst xmlns:a="http://schemas.openxmlformats.org/drawingml/2006/main">
              <a:ext uri="{FF2B5EF4-FFF2-40B4-BE49-F238E27FC236}">
                <a16:creationId xmlns:a16="http://schemas.microsoft.com/office/drawing/2014/main" id="{E9F48A83-BFBA-4FC5-8E69-33DBEDA0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类别评价需要关注每类样本数量。</a:t>
            </a:r>
          </a:p>
        </p:txBody>
      </p:sp>
      <p:sp>
        <p:nvSpPr>
          <p:cNvPr id="5" name="CNN通过卷积特征进行分类，输出整幅图像或裁剪目标的">
            <a:extLst xmlns:a="http://schemas.openxmlformats.org/drawingml/2006/main">
              <a:ext uri="{FF2B5EF4-FFF2-40B4-BE49-F238E27FC236}">
                <a16:creationId xmlns:a16="http://schemas.microsoft.com/office/drawing/2014/main" id="{B26C8155-FD2B-4D8B-BB7F-41E253E5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CNN通过卷积特征进行分类，输出整幅图像或裁剪目标的类别概率。</a:t>
            </a:r>
          </a:p>
        </p:txBody>
      </p:sp>
      <p:sp>
        <p:nvSpPr>
          <p:cNvPr id="6" name="混淆矩阵记录哪些类别易混淆。类别不均衡时，总体准确率">
            <a:extLst xmlns:a="http://schemas.openxmlformats.org/drawingml/2006/main">
              <a:ext uri="{FF2B5EF4-FFF2-40B4-BE49-F238E27FC236}">
                <a16:creationId xmlns:a16="http://schemas.microsoft.com/office/drawing/2014/main" id="{7E2BCA8F-1BC8-48BB-971F-090CB355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混淆矩阵记录哪些类别易混淆。类别不均衡时，总体准确率不能代替各类召回率。</a:t>
            </a:r>
          </a:p>
        </p:txBody>
      </p:sp>
      <p:sp>
        <p:nvSpPr>
          <p:cNvPr id="7" name="课堂讨论：若雨夜样本很少，总体准确率高能否保证雨夜场">
            <a:extLst xmlns:a="http://schemas.openxmlformats.org/drawingml/2006/main">
              <a:ext uri="{FF2B5EF4-FFF2-40B4-BE49-F238E27FC236}">
                <a16:creationId xmlns:a16="http://schemas.microsoft.com/office/drawing/2014/main" id="{4ADB6398-9C85-40EC-A00A-461C475B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课堂讨论：若雨夜样本很少，总体准确率高能否保证雨夜场景可靠？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AAFD3FD9-98A6-44E1-AF71-F5952762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f267aff00a34c25"/>
              </a:rPr>
              <a:t>打开课堂讲解与配套案例</a:t>
            </a:r>
          </a:p>
        </p:txBody>
      </p:sp>
    </p:spTree>
    <p:extLst>
      <p:ext uri="{BB962C8B-B14F-4D97-AF65-F5344CB8AC3E}">
        <p14:creationId xmlns:p14="http://schemas.microsoft.com/office/powerpoint/2010/main" val="19437137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目标框与重叠评价">
            <a:extLst xmlns:a="http://schemas.openxmlformats.org/drawingml/2006/main">
              <a:ext uri="{FF2B5EF4-FFF2-40B4-BE49-F238E27FC236}">
                <a16:creationId xmlns:a16="http://schemas.microsoft.com/office/drawing/2014/main" id="{8AB606AE-0761-4D5D-84E2-3A206841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目标框与重叠评价</a:t>
            </a:r>
          </a:p>
        </p:txBody>
      </p:sp>
      <p:sp>
        <p:nvSpPr>
          <p:cNvPr id="2" name="第8章 交通影像数据分析   8.4">
            <a:extLst xmlns:a="http://schemas.openxmlformats.org/drawingml/2006/main">
              <a:ext uri="{FF2B5EF4-FFF2-40B4-BE49-F238E27FC236}">
                <a16:creationId xmlns:a16="http://schemas.microsoft.com/office/drawing/2014/main" id="{D3CD0F4C-C1E3-4D9B-8C0C-6141E760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第8章 交通影像数据分析   8.4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8EA4690D-FEB9-41BF-80A6-C5213FDD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检测同时涉及位置和类别。">
            <a:extLst xmlns:a="http://schemas.openxmlformats.org/drawingml/2006/main">
              <a:ext uri="{FF2B5EF4-FFF2-40B4-BE49-F238E27FC236}">
                <a16:creationId xmlns:a16="http://schemas.microsoft.com/office/drawing/2014/main" id="{63FFE1B1-C802-4323-BD0C-779D79B2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检测同时涉及位置和类别。</a:t>
            </a:r>
          </a:p>
        </p:txBody>
      </p:sp>
      <p:sp>
        <p:nvSpPr>
          <p:cNvPr id="5" name="IoU = 面积(B_pred ∩ B_ref) /">
            <a:extLst xmlns:a="http://schemas.openxmlformats.org/drawingml/2006/main">
              <a:ext uri="{FF2B5EF4-FFF2-40B4-BE49-F238E27FC236}">
                <a16:creationId xmlns:a16="http://schemas.microsoft.com/office/drawing/2014/main" id="{D985B8D5-C153-48D6-AA07-43D70F36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IoU = 面积(B_pred ∩ B_ref) / 面积(B_pred ∪ B_ref)</a:t>
            </a:r>
          </a:p>
        </p:txBody>
      </p:sp>
      <p:sp>
        <p:nvSpPr>
          <p:cNvPr id="6" name="B_pred：预测框。B_ref：独立标注参考框。二">
            <a:extLst xmlns:a="http://schemas.openxmlformats.org/drawingml/2006/main">
              <a:ext uri="{FF2B5EF4-FFF2-40B4-BE49-F238E27FC236}">
                <a16:creationId xmlns:a16="http://schemas.microsoft.com/office/drawing/2014/main" id="{BFFC9AA2-DF19-45A7-AC6D-CBDCB3E1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B_pred：预测框。B_ref：独立标注参考框。二者必须使用同一图像坐标系。</a:t>
            </a:r>
          </a:p>
        </p:txBody>
      </p:sp>
      <p:sp>
        <p:nvSpPr>
          <p:cNvPr id="7" name="IoU为预测框与参考框的交并比。框坐标格式、缩放和图">
            <a:extLst xmlns:a="http://schemas.openxmlformats.org/drawingml/2006/main">
              <a:ext uri="{FF2B5EF4-FFF2-40B4-BE49-F238E27FC236}">
                <a16:creationId xmlns:a16="http://schemas.microsoft.com/office/drawing/2014/main" id="{83310388-52C6-4936-AAB5-A1517C34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IoU为预测框与参考框的交并比。框坐标格式、缩放和图像范围都应先核对。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834EB0C3-1A54-4A29-AC7E-FBF71E8F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62096b8baf94551"/>
              </a:rPr>
              <a:t>公式解释与交通问题讨论</a:t>
            </a:r>
          </a:p>
        </p:txBody>
      </p:sp>
    </p:spTree>
    <p:extLst>
      <p:ext uri="{BB962C8B-B14F-4D97-AF65-F5344CB8AC3E}">
        <p14:creationId xmlns:p14="http://schemas.microsoft.com/office/powerpoint/2010/main" val="7774195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语义分割与实例分割">
            <a:extLst xmlns:a="http://schemas.openxmlformats.org/drawingml/2006/main">
              <a:ext uri="{FF2B5EF4-FFF2-40B4-BE49-F238E27FC236}">
                <a16:creationId xmlns:a16="http://schemas.microsoft.com/office/drawing/2014/main" id="{97F52E7E-1ABD-4700-B675-67E23EF5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语义分割与实例分割</a:t>
            </a:r>
          </a:p>
        </p:txBody>
      </p:sp>
      <p:sp>
        <p:nvSpPr>
          <p:cNvPr id="2" name="第8章 交通影像数据分析   8.5 / 8.6">
            <a:extLst xmlns:a="http://schemas.openxmlformats.org/drawingml/2006/main">
              <a:ext uri="{FF2B5EF4-FFF2-40B4-BE49-F238E27FC236}">
                <a16:creationId xmlns:a16="http://schemas.microsoft.com/office/drawing/2014/main" id="{499DD484-82F3-4E06-A6E5-4213AC40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第8章 交通影像数据分析   8.5 / 8.6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E491CC7D-1690-46BA-B360-A015BD4C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像素归属和个体身份是不同层次。">
            <a:extLst xmlns:a="http://schemas.openxmlformats.org/drawingml/2006/main">
              <a:ext uri="{FF2B5EF4-FFF2-40B4-BE49-F238E27FC236}">
                <a16:creationId xmlns:a16="http://schemas.microsoft.com/office/drawing/2014/main" id="{449E8B5F-1796-4AA4-AB64-DA13D483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像素归属和个体身份是不同层次。</a:t>
            </a:r>
          </a:p>
        </p:txBody>
      </p:sp>
      <p:sp>
        <p:nvSpPr>
          <p:cNvPr id="5" name="FCN、U-Net和DeepLab用于像素类别学习，">
            <a:extLst xmlns:a="http://schemas.openxmlformats.org/drawingml/2006/main">
              <a:ext uri="{FF2B5EF4-FFF2-40B4-BE49-F238E27FC236}">
                <a16:creationId xmlns:a16="http://schemas.microsoft.com/office/drawing/2014/main" id="{A998910A-E926-459D-81DB-1F21BA5B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FCN、U-Net和DeepLab用于像素类别学习，Mask R-CNN等方法还区分同类目标实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例。</a:t>
            </a:r>
          </a:p>
        </p:txBody>
      </p:sp>
      <p:sp>
        <p:nvSpPr>
          <p:cNvPr id="6" name="语义分割的mIoU按类别统计，实例评价需匹配个体。它">
            <a:extLst xmlns:a="http://schemas.openxmlformats.org/drawingml/2006/main">
              <a:ext uri="{FF2B5EF4-FFF2-40B4-BE49-F238E27FC236}">
                <a16:creationId xmlns:a16="http://schemas.microsoft.com/office/drawing/2014/main" id="{794D174C-D500-4980-A443-9880C15D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语义分割的mIoU按类别统计，实例评价需匹配个体。它们都不能直接代替通行事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件核验。</a:t>
            </a:r>
          </a:p>
        </p:txBody>
      </p:sp>
      <p:sp>
        <p:nvSpPr>
          <p:cNvPr id="7" name="课堂讨论：路面分割很好，但通行计数错误，问题可能出现">
            <a:extLst xmlns:a="http://schemas.openxmlformats.org/drawingml/2006/main">
              <a:ext uri="{FF2B5EF4-FFF2-40B4-BE49-F238E27FC236}">
                <a16:creationId xmlns:a16="http://schemas.microsoft.com/office/drawing/2014/main" id="{BED99802-A671-452D-AD2D-140AE83F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课堂讨论：路面分割很好，但通行计数错误，问题可能出现在哪些环节？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B34056DF-397D-48A9-B5F3-F155D0D1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e057b4c8088419a"/>
              </a:rPr>
              <a:t>打开课堂讲解与配套案例</a:t>
            </a:r>
          </a:p>
        </p:txBody>
      </p:sp>
    </p:spTree>
    <p:extLst>
      <p:ext uri="{BB962C8B-B14F-4D97-AF65-F5344CB8AC3E}">
        <p14:creationId xmlns:p14="http://schemas.microsoft.com/office/powerpoint/2010/main" val="873526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真实夜间影像观察">
            <a:extLst xmlns:a="http://schemas.openxmlformats.org/drawingml/2006/main">
              <a:ext uri="{FF2B5EF4-FFF2-40B4-BE49-F238E27FC236}">
                <a16:creationId xmlns:a16="http://schemas.microsoft.com/office/drawing/2014/main" id="{7021F006-DD65-403B-9095-95568EA8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真实夜间影像观察</a:t>
            </a:r>
          </a:p>
        </p:txBody>
      </p:sp>
      <p:sp>
        <p:nvSpPr>
          <p:cNvPr id="2" name="第8章 交通影像数据分析   8.1 / 8.4">
            <a:extLst xmlns:a="http://schemas.openxmlformats.org/drawingml/2006/main">
              <a:ext uri="{FF2B5EF4-FFF2-40B4-BE49-F238E27FC236}">
                <a16:creationId xmlns:a16="http://schemas.microsoft.com/office/drawing/2014/main" id="{BA526F6F-19E0-4ACF-9CC5-42033D1B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第8章 交通影像数据分析   8.1 / 8.4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D338AD3B-4971-4294-86EE-1176FD62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用35秒夜间行人视频讨论遮挡与重复出现。">
            <a:extLst xmlns:a="http://schemas.openxmlformats.org/drawingml/2006/main">
              <a:ext uri="{FF2B5EF4-FFF2-40B4-BE49-F238E27FC236}">
                <a16:creationId xmlns:a16="http://schemas.microsoft.com/office/drawing/2014/main" id="{0C6AD861-61C4-4946-A7D7-95371A0A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用35秒夜间行人视频讨论遮挡与重复出现。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6ffc020a9d40e9"/>
          <a:stretch xmlns:a="http://schemas.openxmlformats.org/drawingml/2006/main"/>
        </p:blipFill>
        <p:spPr>
          <a:xfrm xmlns:a="http://schemas.openxmlformats.org/drawingml/2006/main">
            <a:off x="685800" y="2438400"/>
            <a:ext cx="5486400" cy="3086100"/>
          </a:xfrm>
          <a:prstGeom xmlns:a="http://schemas.openxmlformats.org/drawingml/2006/main" prst="rect">
            <a:avLst/>
          </a:prstGeom>
        </p:spPr>
      </p:pic>
      <p:sp>
        <p:nvSpPr>
          <p:cNvPr id="6" name="MOT17-04夜间步行街&#10;&#10;行人遮挡与重复出现&#10;&#10;">
            <a:extLst xmlns:a="http://schemas.openxmlformats.org/drawingml/2006/main">
              <a:ext uri="{FF2B5EF4-FFF2-40B4-BE49-F238E27FC236}">
                <a16:creationId xmlns:a16="http://schemas.microsoft.com/office/drawing/2014/main" id="{6F4C7A01-4D50-4C03-8DF4-48973C9A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05075"/>
            <a:ext cx="4762500" cy="2676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MOT17-04夜间步行街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行人遮挡与重复出现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35秒，30帧/秒</a:t>
            </a:r>
          </a:p>
          <a:p xmlns:a="http://schemas.openxmlformats.org/drawingml/2006/main">
            <a:pPr algn="l">
              <a:def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CC BY-NC-SA 3.0</a:t>
            </a:r>
          </a:p>
        </p:txBody>
      </p:sp>
      <p:sp>
        <p:nvSpPr>
          <p:cNvPr id="7" name="link">
            <a:extLst xmlns:a="http://schemas.openxmlformats.org/drawingml/2006/main">
              <a:ext uri="{FF2B5EF4-FFF2-40B4-BE49-F238E27FC236}">
                <a16:creationId xmlns:a16="http://schemas.microsoft.com/office/drawing/2014/main" id="{98CFE329-C30B-4C6D-A169-3B11305C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84fb88bd25b4f69"/>
              </a:rPr>
              <a:t>播放真实视频并进入独立标注核查</a:t>
            </a:r>
          </a:p>
        </p:txBody>
      </p:sp>
    </p:spTree>
    <p:extLst>
      <p:ext uri="{BB962C8B-B14F-4D97-AF65-F5344CB8AC3E}">
        <p14:creationId xmlns:p14="http://schemas.microsoft.com/office/powerpoint/2010/main" val="520602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运动预测与身份关联">
            <a:extLst xmlns:a="http://schemas.openxmlformats.org/drawingml/2006/main">
              <a:ext uri="{FF2B5EF4-FFF2-40B4-BE49-F238E27FC236}">
                <a16:creationId xmlns:a16="http://schemas.microsoft.com/office/drawing/2014/main" id="{4F3FB12A-EF93-4B8F-A4D3-D4E9124C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运动预测与身份关联</a:t>
            </a:r>
          </a:p>
        </p:txBody>
      </p:sp>
      <p:sp>
        <p:nvSpPr>
          <p:cNvPr id="2" name="第8章 交通影像数据分析   8.7">
            <a:extLst xmlns:a="http://schemas.openxmlformats.org/drawingml/2006/main">
              <a:ext uri="{FF2B5EF4-FFF2-40B4-BE49-F238E27FC236}">
                <a16:creationId xmlns:a16="http://schemas.microsoft.com/office/drawing/2014/main" id="{5C21590B-59C7-4E67-9663-2B7E23F9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第8章 交通影像数据分析   8.7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1DF79BFD-B869-4464-9C6E-73FC8F9E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跟踪需要处理未匹配与遮挡。">
            <a:extLst xmlns:a="http://schemas.openxmlformats.org/drawingml/2006/main">
              <a:ext uri="{FF2B5EF4-FFF2-40B4-BE49-F238E27FC236}">
                <a16:creationId xmlns:a16="http://schemas.microsoft.com/office/drawing/2014/main" id="{866F11AE-2DD1-40BA-BE6E-017B8486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跟踪需要处理未匹配与遮挡。</a:t>
            </a:r>
          </a:p>
        </p:txBody>
      </p:sp>
      <p:sp>
        <p:nvSpPr>
          <p:cNvPr id="5" name="常速度卡尔曼方法先预测目标位置，再利用新观测更新状态">
            <a:extLst xmlns:a="http://schemas.openxmlformats.org/drawingml/2006/main">
              <a:ext uri="{FF2B5EF4-FFF2-40B4-BE49-F238E27FC236}">
                <a16:creationId xmlns:a16="http://schemas.microsoft.com/office/drawing/2014/main" id="{F67C622C-5390-4613-B4F9-32020951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常速度卡尔曼方法先预测目标位置，再利用新观测更新状态。匈牙利算法寻找整体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一对一分配。</a:t>
            </a:r>
          </a:p>
        </p:txBody>
      </p:sp>
      <p:sp>
        <p:nvSpPr>
          <p:cNvPr id="6" name="门限限制不合理匹配，保留时长控制暂时未匹配目标。地面">
            <a:extLst xmlns:a="http://schemas.openxmlformats.org/drawingml/2006/main">
              <a:ext uri="{FF2B5EF4-FFF2-40B4-BE49-F238E27FC236}">
                <a16:creationId xmlns:a16="http://schemas.microsoft.com/office/drawing/2014/main" id="{1DFF4A5A-DB77-4E26-A411-50D228F0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门限限制不合理匹配，保留时长控制暂时未匹配目标。地面点简化实现不等于完整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SORT或DeepSORT。</a:t>
            </a:r>
          </a:p>
        </p:txBody>
      </p:sp>
      <p:sp>
        <p:nvSpPr>
          <p:cNvPr id="7" name="课堂讨论：加大门限为什么可能同时减少断轨并增加错接？">
            <a:extLst xmlns:a="http://schemas.openxmlformats.org/drawingml/2006/main">
              <a:ext uri="{FF2B5EF4-FFF2-40B4-BE49-F238E27FC236}">
                <a16:creationId xmlns:a16="http://schemas.microsoft.com/office/drawing/2014/main" id="{499E306F-13C0-49D0-8D50-B6CCE928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课堂讨论：加大门限为什么可能同时减少断轨并增加错接？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CE62A0BE-289F-46F3-A25E-00F77313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06805c927f54559"/>
              </a:rPr>
              <a:t>打开课堂讲解与配套案例</a:t>
            </a:r>
          </a:p>
        </p:txBody>
      </p:sp>
    </p:spTree>
    <p:extLst>
      <p:ext uri="{BB962C8B-B14F-4D97-AF65-F5344CB8AC3E}">
        <p14:creationId xmlns:p14="http://schemas.microsoft.com/office/powerpoint/2010/main" val="957681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匿名关联的真实结果">
            <a:extLst xmlns:a="http://schemas.openxmlformats.org/drawingml/2006/main">
              <a:ext uri="{FF2B5EF4-FFF2-40B4-BE49-F238E27FC236}">
                <a16:creationId xmlns:a16="http://schemas.microsoft.com/office/drawing/2014/main" id="{2548C09D-3889-409A-8A6F-9ACEE71A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匿名关联的真实结果</a:t>
            </a:r>
          </a:p>
        </p:txBody>
      </p:sp>
      <p:sp>
        <p:nvSpPr>
          <p:cNvPr id="2" name="第8章 交通影像数据分析   8.7">
            <a:extLst xmlns:a="http://schemas.openxmlformats.org/drawingml/2006/main">
              <a:ext uri="{FF2B5EF4-FFF2-40B4-BE49-F238E27FC236}">
                <a16:creationId xmlns:a16="http://schemas.microsoft.com/office/drawing/2014/main" id="{39965173-43C2-4D73-AFA1-5D92563E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第8章 交通影像数据分析   8.7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39E0B5B8-6745-423F-818F-481800C1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源ID只用于事后核查，不进入关联器。">
            <a:extLst xmlns:a="http://schemas.openxmlformats.org/drawingml/2006/main">
              <a:ext uri="{FF2B5EF4-FFF2-40B4-BE49-F238E27FC236}">
                <a16:creationId xmlns:a16="http://schemas.microsoft.com/office/drawing/2014/main" id="{B5E528A2-6A76-4FA7-8F6E-8C7F1054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源ID只用于事后核查，不进入关联器。</a:t>
            </a:r>
          </a:p>
        </p:txBody>
      </p:sp>
      <p:sp>
        <p:nvSpPr>
          <p:cNvPr id="5" name="SinD提供方平滑轨迹逐帧打乱并隐藏ID，比较位置保">
            <a:extLst xmlns:a="http://schemas.openxmlformats.org/drawingml/2006/main">
              <a:ext uri="{FF2B5EF4-FFF2-40B4-BE49-F238E27FC236}">
                <a16:creationId xmlns:a16="http://schemas.microsoft.com/office/drawing/2014/main" id="{C356C6AC-8ED5-4DA3-9FEE-8B8AD968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SinD提供方平滑轨迹逐帧打乱并隐藏ID，比较位置保持和常速度卡尔曼两种预测。</a:t>
            </a:r>
          </a:p>
        </p:txBody>
      </p:sp>
      <p:sp>
        <p:nvSpPr>
          <p:cNvPr id="6" name="切换每1、5、10帧采样，查看新ID轨迹数、源身份一">
            <a:extLst xmlns:a="http://schemas.openxmlformats.org/drawingml/2006/main">
              <a:ext uri="{FF2B5EF4-FFF2-40B4-BE49-F238E27FC236}">
                <a16:creationId xmlns:a16="http://schemas.microsoft.com/office/drawing/2014/main" id="{68EBE4D4-E93F-4184-A619-DAA6578B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切换每1、5、10帧采样，查看新ID轨迹数、源身份一致对与通行事件。结果来自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已执行Python算法。</a:t>
            </a:r>
          </a:p>
        </p:txBody>
      </p:sp>
      <p:sp>
        <p:nvSpPr>
          <p:cNvPr id="7" name="课堂讨论：源ID一致比例较高，为什么仍不能声称视频计">
            <a:extLst xmlns:a="http://schemas.openxmlformats.org/drawingml/2006/main">
              <a:ext uri="{FF2B5EF4-FFF2-40B4-BE49-F238E27FC236}">
                <a16:creationId xmlns:a16="http://schemas.microsoft.com/office/drawing/2014/main" id="{40BE361D-3804-4FDD-8960-7FA8A54C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课堂讨论：源ID一致比例较高，为什么仍不能声称视频计数系统准确？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963635FC-32B7-47CF-9F04-665ADC78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c4a508acdba427b"/>
              </a:rPr>
              <a:t>打开交互实验，观察参数变化</a:t>
            </a:r>
          </a:p>
        </p:txBody>
      </p:sp>
    </p:spTree>
    <p:extLst>
      <p:ext uri="{BB962C8B-B14F-4D97-AF65-F5344CB8AC3E}">
        <p14:creationId xmlns:p14="http://schemas.microsoft.com/office/powerpoint/2010/main" val="9344879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匿名关联的真实结果：计算结果">
            <a:extLst xmlns:a="http://schemas.openxmlformats.org/drawingml/2006/main">
              <a:ext uri="{FF2B5EF4-FFF2-40B4-BE49-F238E27FC236}">
                <a16:creationId xmlns:a16="http://schemas.microsoft.com/office/drawing/2014/main" id="{4910A585-5834-47C5-8C6E-79CD14F9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匿名关联的真实结果：计算结果</a:t>
            </a:r>
          </a:p>
        </p:txBody>
      </p:sp>
      <p:sp>
        <p:nvSpPr>
          <p:cNvPr id="2" name="第8章 交通影像数据分析   8.7">
            <a:extLst xmlns:a="http://schemas.openxmlformats.org/drawingml/2006/main">
              <a:ext uri="{FF2B5EF4-FFF2-40B4-BE49-F238E27FC236}">
                <a16:creationId xmlns:a16="http://schemas.microsoft.com/office/drawing/2014/main" id="{AD464EB8-4CFF-42E8-8DDF-437CA3DD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第8章 交通影像数据分析   8.7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6DF574BD-E761-4D93-9675-44664927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读取真实执行的匿名关联结果，未重新运行检测器">
            <a:extLst xmlns:a="http://schemas.openxmlformats.org/drawingml/2006/main">
              <a:ext uri="{FF2B5EF4-FFF2-40B4-BE49-F238E27FC236}">
                <a16:creationId xmlns:a16="http://schemas.microsoft.com/office/drawing/2014/main" id="{A0C7B26E-B3DC-4D2E-8232-9894833D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读取真实执行的匿名关联结果，未重新运行检测器</a:t>
            </a:r>
          </a:p>
        </p:txBody>
      </p:sp>
      <p:sp>
        <p:nvSpPr>
          <p:cNvPr id="5" name="默认配置：采样步长（帧）：5">
            <a:extLst xmlns:a="http://schemas.openxmlformats.org/drawingml/2006/main">
              <a:ext uri="{FF2B5EF4-FFF2-40B4-BE49-F238E27FC236}">
                <a16:creationId xmlns:a16="http://schemas.microsoft.com/office/drawing/2014/main" id="{3025D2BD-1012-4FFA-A175-E9B80134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默认配置：采样步长（帧）：5</a:t>
            </a:r>
          </a:p>
        </p:txBody>
      </p:sp>
      <p:sp>
        <p:nvSpPr>
          <p:cNvPr id="6" name="通行事件（次）">
            <a:extLst xmlns:a="http://schemas.openxmlformats.org/drawingml/2006/main">
              <a:ext uri="{FF2B5EF4-FFF2-40B4-BE49-F238E27FC236}">
                <a16:creationId xmlns:a16="http://schemas.microsoft.com/office/drawing/2014/main" id="{7FCB4BCE-19E2-41BA-AB92-2EF0868A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通行事件（次）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2390775"/>
          <a:ext xmlns:a="http://schemas.openxmlformats.org/drawingml/2006/main" cx="1082040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f6a7be934e94ff6"/>
          </a:graphicData>
        </a:graphic>
      </p:graphicFrame>
      <p:sp>
        <p:nvSpPr>
          <p:cNvPr id="8" name="计数在测得位置而非滤波位置上执行，只改变身份关联，隔">
            <a:extLst xmlns:a="http://schemas.openxmlformats.org/drawingml/2006/main">
              <a:ext uri="{FF2B5EF4-FFF2-40B4-BE49-F238E27FC236}">
                <a16:creationId xmlns:a16="http://schemas.microsoft.com/office/drawing/2014/main" id="{E0541057-104F-4F60-8186-C82BA1A4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计数在测得位置而非滤波位置上执行，只改变身份关联，隔离关联影响。</a:t>
            </a:r>
          </a:p>
        </p:txBody>
      </p:sp>
      <p:sp>
        <p:nvSpPr>
          <p:cNvPr id="9" name="link">
            <a:extLst xmlns:a="http://schemas.openxmlformats.org/drawingml/2006/main">
              <a:ext uri="{FF2B5EF4-FFF2-40B4-BE49-F238E27FC236}">
                <a16:creationId xmlns:a16="http://schemas.microsoft.com/office/drawing/2014/main" id="{A19F04A4-DB6D-47A8-8E1C-9D7161E0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5c764dd2ad447b2"/>
              </a:rPr>
              <a:t>修改参数并查看完整结果表</a:t>
            </a:r>
          </a:p>
        </p:txBody>
      </p:sp>
    </p:spTree>
    <p:extLst>
      <p:ext uri="{BB962C8B-B14F-4D97-AF65-F5344CB8AC3E}">
        <p14:creationId xmlns:p14="http://schemas.microsoft.com/office/powerpoint/2010/main" val="11362872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虚拟检测线与通行事件">
            <a:extLst xmlns:a="http://schemas.openxmlformats.org/drawingml/2006/main">
              <a:ext uri="{FF2B5EF4-FFF2-40B4-BE49-F238E27FC236}">
                <a16:creationId xmlns:a16="http://schemas.microsoft.com/office/drawing/2014/main" id="{583671AE-10A5-4D31-99DB-5B692FBE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虚拟检测线与通行事件</a:t>
            </a:r>
          </a:p>
        </p:txBody>
      </p:sp>
      <p:sp>
        <p:nvSpPr>
          <p:cNvPr id="2" name="第8章 交通影像数据分析   8.7">
            <a:extLst xmlns:a="http://schemas.openxmlformats.org/drawingml/2006/main">
              <a:ext uri="{FF2B5EF4-FFF2-40B4-BE49-F238E27FC236}">
                <a16:creationId xmlns:a16="http://schemas.microsoft.com/office/drawing/2014/main" id="{B8DAF9F6-26CD-4D7A-9303-9EFF265D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第8章 交通影像数据分析   8.7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3C0C5EEE-82C4-4850-A65B-D1075BE1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一个事件需要明确方向、时间与重复规则。">
            <a:extLst xmlns:a="http://schemas.openxmlformats.org/drawingml/2006/main">
              <a:ext uri="{FF2B5EF4-FFF2-40B4-BE49-F238E27FC236}">
                <a16:creationId xmlns:a16="http://schemas.microsoft.com/office/drawing/2014/main" id="{D814E5B4-9A12-4C2B-A863-68211D5E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一个事件需要明确方向、时间与重复规则。</a:t>
            </a:r>
          </a:p>
        </p:txBody>
      </p:sp>
      <p:sp>
        <p:nvSpPr>
          <p:cNvPr id="5" name="x=15米为课程调查线，目标从一侧移至另一侧时形成+">
            <a:extLst xmlns:a="http://schemas.openxmlformats.org/drawingml/2006/main">
              <a:ext uri="{FF2B5EF4-FFF2-40B4-BE49-F238E27FC236}">
                <a16:creationId xmlns:a16="http://schemas.microsoft.com/office/drawing/2014/main" id="{E9A9A131-F922-4AFE-B449-2934E773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x=15米为课程调查线，目标从一侧移至另一侧时形成+x或−x事件，每个ID每方向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最多计一次。</a:t>
            </a:r>
          </a:p>
        </p:txBody>
      </p:sp>
      <p:sp>
        <p:nvSpPr>
          <p:cNvPr id="6" name="死区用于减轻线附近抖动，最大间隔限制不可靠连接。事件">
            <a:extLst xmlns:a="http://schemas.openxmlformats.org/drawingml/2006/main">
              <a:ext uri="{FF2B5EF4-FFF2-40B4-BE49-F238E27FC236}">
                <a16:creationId xmlns:a16="http://schemas.microsoft.com/office/drawing/2014/main" id="{51C8E5A7-42CE-490A-8E4E-C3B797E7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死区用于减轻线附近抖动，最大间隔限制不可靠连接。事件时间是首次观测到另一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侧的时刻。</a:t>
            </a:r>
          </a:p>
        </p:txBody>
      </p:sp>
      <p:sp>
        <p:nvSpPr>
          <p:cNvPr id="7" name="课堂讨论：把死区加宽后，事件触发时刻为何可能推迟？">
            <a:extLst xmlns:a="http://schemas.openxmlformats.org/drawingml/2006/main">
              <a:ext uri="{FF2B5EF4-FFF2-40B4-BE49-F238E27FC236}">
                <a16:creationId xmlns:a16="http://schemas.microsoft.com/office/drawing/2014/main" id="{119073A1-21EF-4122-8E7E-EBFD63F1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课堂讨论：把死区加宽后，事件触发时刻为何可能推迟？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B6093A45-3649-4717-B45F-BF03C3E0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23a80ad13b4457c"/>
              </a:rPr>
              <a:t>打开交互实验，观察参数变化</a:t>
            </a:r>
          </a:p>
        </p:txBody>
      </p:sp>
    </p:spTree>
    <p:extLst>
      <p:ext uri="{BB962C8B-B14F-4D97-AF65-F5344CB8AC3E}">
        <p14:creationId xmlns:p14="http://schemas.microsoft.com/office/powerpoint/2010/main" val="941449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虚拟检测线与通行事件：计算结果">
            <a:extLst xmlns:a="http://schemas.openxmlformats.org/drawingml/2006/main">
              <a:ext uri="{FF2B5EF4-FFF2-40B4-BE49-F238E27FC236}">
                <a16:creationId xmlns:a16="http://schemas.microsoft.com/office/drawing/2014/main" id="{14120F92-1F72-4285-8B1E-F65BAF39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虚拟检测线与通行事件：计算结果</a:t>
            </a:r>
          </a:p>
        </p:txBody>
      </p:sp>
      <p:sp>
        <p:nvSpPr>
          <p:cNvPr id="2" name="第8章 交通影像数据分析   8.7">
            <a:extLst xmlns:a="http://schemas.openxmlformats.org/drawingml/2006/main">
              <a:ext uri="{FF2B5EF4-FFF2-40B4-BE49-F238E27FC236}">
                <a16:creationId xmlns:a16="http://schemas.microsoft.com/office/drawing/2014/main" id="{5A553E22-8486-410D-90E7-A35B9ED2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第8章 交通影像数据分析   8.7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00F1065C-CBA1-46FD-B6B9-5D81B700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根据真实观测在浏览器重新计算">
            <a:extLst xmlns:a="http://schemas.openxmlformats.org/drawingml/2006/main">
              <a:ext uri="{FF2B5EF4-FFF2-40B4-BE49-F238E27FC236}">
                <a16:creationId xmlns:a16="http://schemas.microsoft.com/office/drawing/2014/main" id="{9096B933-AA25-40E5-9197-37F887BC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根据真实观测在浏览器重新计算</a:t>
            </a:r>
          </a:p>
        </p:txBody>
      </p:sp>
      <p:sp>
        <p:nvSpPr>
          <p:cNvPr id="5" name="默认配置：计数线x（米）：15，单侧死区（米）：0.">
            <a:extLst xmlns:a="http://schemas.openxmlformats.org/drawingml/2006/main">
              <a:ext uri="{FF2B5EF4-FFF2-40B4-BE49-F238E27FC236}">
                <a16:creationId xmlns:a16="http://schemas.microsoft.com/office/drawing/2014/main" id="{7F96AFFD-1699-4E9C-83C2-6856BDC1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默认配置：计数线x（米）：15，单侧死区（米）：0.3，采样步长（帧）：1</a:t>
            </a:r>
          </a:p>
        </p:txBody>
      </p:sp>
      <p:sp>
        <p:nvSpPr>
          <p:cNvPr id="6" name="通行事件（次）">
            <a:extLst xmlns:a="http://schemas.openxmlformats.org/drawingml/2006/main">
              <a:ext uri="{FF2B5EF4-FFF2-40B4-BE49-F238E27FC236}">
                <a16:creationId xmlns:a16="http://schemas.microsoft.com/office/drawing/2014/main" id="{74DB8584-36D4-4802-A7BB-FF29495C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通行事件（次）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2390775"/>
          <a:ext xmlns:a="http://schemas.openxmlformats.org/drawingml/2006/main" cx="1082040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305b9af9d464702"/>
          </a:graphicData>
        </a:graphic>
      </p:graphicFrame>
      <p:sp>
        <p:nvSpPr>
          <p:cNvPr id="8" name="每个ID每个方向最多计1次。">
            <a:extLst xmlns:a="http://schemas.openxmlformats.org/drawingml/2006/main">
              <a:ext uri="{FF2B5EF4-FFF2-40B4-BE49-F238E27FC236}">
                <a16:creationId xmlns:a16="http://schemas.microsoft.com/office/drawing/2014/main" id="{EFA62466-94F7-4472-A42E-42B47EB0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每个ID每个方向最多计1次。</a:t>
            </a:r>
          </a:p>
        </p:txBody>
      </p:sp>
      <p:sp>
        <p:nvSpPr>
          <p:cNvPr id="9" name="link">
            <a:extLst xmlns:a="http://schemas.openxmlformats.org/drawingml/2006/main">
              <a:ext uri="{FF2B5EF4-FFF2-40B4-BE49-F238E27FC236}">
                <a16:creationId xmlns:a16="http://schemas.microsoft.com/office/drawing/2014/main" id="{6E59D447-39F4-4116-B150-6EB1C197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3422488c5db460c"/>
              </a:rPr>
              <a:t>修改参数并查看完整结果表</a:t>
            </a:r>
          </a:p>
        </p:txBody>
      </p:sp>
    </p:spTree>
    <p:extLst>
      <p:ext uri="{BB962C8B-B14F-4D97-AF65-F5344CB8AC3E}">
        <p14:creationId xmlns:p14="http://schemas.microsoft.com/office/powerpoint/2010/main" val="145494172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采样变化与事件集合">
            <a:extLst xmlns:a="http://schemas.openxmlformats.org/drawingml/2006/main">
              <a:ext uri="{FF2B5EF4-FFF2-40B4-BE49-F238E27FC236}">
                <a16:creationId xmlns:a16="http://schemas.microsoft.com/office/drawing/2014/main" id="{7AE10DAD-0C03-404A-9496-9EDF14CE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采样变化与事件集合</a:t>
            </a:r>
          </a:p>
        </p:txBody>
      </p:sp>
      <p:sp>
        <p:nvSpPr>
          <p:cNvPr id="2" name="第8章 交通影像数据分析   8.7">
            <a:extLst xmlns:a="http://schemas.openxmlformats.org/drawingml/2006/main">
              <a:ext uri="{FF2B5EF4-FFF2-40B4-BE49-F238E27FC236}">
                <a16:creationId xmlns:a16="http://schemas.microsoft.com/office/drawing/2014/main" id="{963F28DC-0683-4063-9E64-E4227AE3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第8章 交通影像数据分析   8.7</a:t>
            </a:r>
          </a:p>
        </p:txBody>
      </p:sp>
      <p:sp>
        <p:nvSpPr>
          <p:cNvPr id="3" name="17">
            <a:extLst xmlns:a="http://schemas.openxmlformats.org/drawingml/2006/main">
              <a:ext uri="{FF2B5EF4-FFF2-40B4-BE49-F238E27FC236}">
                <a16:creationId xmlns:a16="http://schemas.microsoft.com/office/drawing/2014/main" id="{791DC078-BB4B-46DF-8C01-03D197EA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总数相同仍可能包含不同目标。">
            <a:extLst xmlns:a="http://schemas.openxmlformats.org/drawingml/2006/main">
              <a:ext uri="{FF2B5EF4-FFF2-40B4-BE49-F238E27FC236}">
                <a16:creationId xmlns:a16="http://schemas.microsoft.com/office/drawing/2014/main" id="{E316CF14-A63B-499B-B026-8F902505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总数相同仍可能包含不同目标。</a:t>
            </a:r>
          </a:p>
        </p:txBody>
      </p:sp>
      <p:sp>
        <p:nvSpPr>
          <p:cNvPr id="5" name="每1、5、10帧保留一次，固定计数线、方向、死区和连">
            <a:extLst xmlns:a="http://schemas.openxmlformats.org/drawingml/2006/main">
              <a:ext uri="{FF2B5EF4-FFF2-40B4-BE49-F238E27FC236}">
                <a16:creationId xmlns:a16="http://schemas.microsoft.com/office/drawing/2014/main" id="{41089974-3A4F-4EF1-BAC6-50BFFC94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每1、5、10帧保留一次，固定计数线、方向、死区和连接间隔，比较事件ID与触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发时差。</a:t>
            </a:r>
          </a:p>
        </p:txBody>
      </p:sp>
      <p:sp>
        <p:nvSpPr>
          <p:cNvPr id="6" name="密集采样规则是参数对照基准，不是独立人工真值。不能把">
            <a:extLst xmlns:a="http://schemas.openxmlformats.org/drawingml/2006/main">
              <a:ext uri="{FF2B5EF4-FFF2-40B4-BE49-F238E27FC236}">
                <a16:creationId xmlns:a16="http://schemas.microsoft.com/office/drawing/2014/main" id="{0A5B4BB2-9B40-484A-8D56-A4B33400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密集采样规则是参数对照基准，不是独立人工真值。不能把相对漏触发直接写成漏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检率。</a:t>
            </a:r>
          </a:p>
        </p:txBody>
      </p:sp>
      <p:sp>
        <p:nvSpPr>
          <p:cNvPr id="7" name="课堂讨论：若两组规则都输出20次事件，还应核对哪些信">
            <a:extLst xmlns:a="http://schemas.openxmlformats.org/drawingml/2006/main">
              <a:ext uri="{FF2B5EF4-FFF2-40B4-BE49-F238E27FC236}">
                <a16:creationId xmlns:a16="http://schemas.microsoft.com/office/drawing/2014/main" id="{73A30790-3F57-40DC-A9B1-BE72E6C1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课堂讨论：若两组规则都输出20次事件，还应核对哪些信息？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278B7F5E-BC09-4B2A-8D15-1C921E84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b1f6f1d10ee4e6b"/>
              </a:rPr>
              <a:t>打开交互实验，观察参数变化</a:t>
            </a:r>
          </a:p>
        </p:txBody>
      </p:sp>
    </p:spTree>
    <p:extLst>
      <p:ext uri="{BB962C8B-B14F-4D97-AF65-F5344CB8AC3E}">
        <p14:creationId xmlns:p14="http://schemas.microsoft.com/office/powerpoint/2010/main" val="10111274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采样变化与事件集合：计算结果">
            <a:extLst xmlns:a="http://schemas.openxmlformats.org/drawingml/2006/main">
              <a:ext uri="{FF2B5EF4-FFF2-40B4-BE49-F238E27FC236}">
                <a16:creationId xmlns:a16="http://schemas.microsoft.com/office/drawing/2014/main" id="{1EFAF59E-533A-4A6F-8C3D-A16BD809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采样变化与事件集合：计算结果</a:t>
            </a:r>
          </a:p>
        </p:txBody>
      </p:sp>
      <p:sp>
        <p:nvSpPr>
          <p:cNvPr id="2" name="第8章 交通影像数据分析   8.7">
            <a:extLst xmlns:a="http://schemas.openxmlformats.org/drawingml/2006/main">
              <a:ext uri="{FF2B5EF4-FFF2-40B4-BE49-F238E27FC236}">
                <a16:creationId xmlns:a16="http://schemas.microsoft.com/office/drawing/2014/main" id="{64E4E1C6-DD61-49B7-B76B-A0128D69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第8章 交通影像数据分析   8.7</a:t>
            </a:r>
          </a:p>
        </p:txBody>
      </p:sp>
      <p:sp>
        <p:nvSpPr>
          <p:cNvPr id="3" name="18">
            <a:extLst xmlns:a="http://schemas.openxmlformats.org/drawingml/2006/main">
              <a:ext uri="{FF2B5EF4-FFF2-40B4-BE49-F238E27FC236}">
                <a16:creationId xmlns:a16="http://schemas.microsoft.com/office/drawing/2014/main" id="{1DA4C21D-38F3-43D2-BA62-49483FD3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" name="根据真实观测在浏览器重新计算">
            <a:extLst xmlns:a="http://schemas.openxmlformats.org/drawingml/2006/main">
              <a:ext uri="{FF2B5EF4-FFF2-40B4-BE49-F238E27FC236}">
                <a16:creationId xmlns:a16="http://schemas.microsoft.com/office/drawing/2014/main" id="{BE4FECB7-ED04-4BBC-B0EE-E461F545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根据真实观测在浏览器重新计算</a:t>
            </a:r>
          </a:p>
        </p:txBody>
      </p:sp>
      <p:sp>
        <p:nvSpPr>
          <p:cNvPr id="5" name="默认配置：计数线 x（米）：15，最大连接间隔（秒）">
            <a:extLst xmlns:a="http://schemas.openxmlformats.org/drawingml/2006/main">
              <a:ext uri="{FF2B5EF4-FFF2-40B4-BE49-F238E27FC236}">
                <a16:creationId xmlns:a16="http://schemas.microsoft.com/office/drawing/2014/main" id="{0A551A95-5CA2-4E6D-BCB3-3A9CD094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默认配置：计数线 x（米）：15，最大连接间隔（秒）：1.5</a:t>
            </a:r>
          </a:p>
        </p:txBody>
      </p:sp>
      <p:sp>
        <p:nvSpPr>
          <p:cNvPr id="6" name="跨线事件数（非准确率）">
            <a:extLst xmlns:a="http://schemas.openxmlformats.org/drawingml/2006/main">
              <a:ext uri="{FF2B5EF4-FFF2-40B4-BE49-F238E27FC236}">
                <a16:creationId xmlns:a16="http://schemas.microsoft.com/office/drawing/2014/main" id="{83CCA5E0-113B-4243-B8D9-D5CC308D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跨线事件数（非准确率）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2390775"/>
          <a:ext xmlns:a="http://schemas.openxmlformats.org/drawingml/2006/main" cx="1082040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d67d63ddef4bfe"/>
          </a:graphicData>
        </a:graphic>
      </p:graphicFrame>
      <p:sp>
        <p:nvSpPr>
          <p:cNvPr id="8" name="基准为本表第一组规则，不是人工真值。">
            <a:extLst xmlns:a="http://schemas.openxmlformats.org/drawingml/2006/main">
              <a:ext uri="{FF2B5EF4-FFF2-40B4-BE49-F238E27FC236}">
                <a16:creationId xmlns:a16="http://schemas.microsoft.com/office/drawing/2014/main" id="{3BBF67AC-B5DB-4ED3-8777-CD5AA2CD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基准为本表第一组规则，不是人工真值。</a:t>
            </a:r>
          </a:p>
        </p:txBody>
      </p:sp>
      <p:sp>
        <p:nvSpPr>
          <p:cNvPr id="9" name="link">
            <a:extLst xmlns:a="http://schemas.openxmlformats.org/drawingml/2006/main">
              <a:ext uri="{FF2B5EF4-FFF2-40B4-BE49-F238E27FC236}">
                <a16:creationId xmlns:a16="http://schemas.microsoft.com/office/drawing/2014/main" id="{5D26E7F1-18A5-4E63-AB70-2BF21B93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53c2a7ffbb64711"/>
              </a:rPr>
              <a:t>修改参数并查看完整结果表</a:t>
            </a:r>
          </a:p>
        </p:txBody>
      </p:sp>
    </p:spTree>
    <p:extLst>
      <p:ext uri="{BB962C8B-B14F-4D97-AF65-F5344CB8AC3E}">
        <p14:creationId xmlns:p14="http://schemas.microsoft.com/office/powerpoint/2010/main" val="142591360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防抖宽度与统计结果">
            <a:extLst xmlns:a="http://schemas.openxmlformats.org/drawingml/2006/main">
              <a:ext uri="{FF2B5EF4-FFF2-40B4-BE49-F238E27FC236}">
                <a16:creationId xmlns:a16="http://schemas.microsoft.com/office/drawing/2014/main" id="{00DED08D-862E-4D2B-A27C-47D00D86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防抖宽度与统计结果</a:t>
            </a:r>
          </a:p>
        </p:txBody>
      </p:sp>
      <p:sp>
        <p:nvSpPr>
          <p:cNvPr id="2" name="第8章 交通影像数据分析   8.7">
            <a:extLst xmlns:a="http://schemas.openxmlformats.org/drawingml/2006/main">
              <a:ext uri="{FF2B5EF4-FFF2-40B4-BE49-F238E27FC236}">
                <a16:creationId xmlns:a16="http://schemas.microsoft.com/office/drawing/2014/main" id="{149F2CB6-E95E-4EDC-A8B7-B49275EC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第8章 交通影像数据分析   8.7</a:t>
            </a:r>
          </a:p>
        </p:txBody>
      </p:sp>
      <p:sp>
        <p:nvSpPr>
          <p:cNvPr id="3" name="19">
            <a:extLst xmlns:a="http://schemas.openxmlformats.org/drawingml/2006/main">
              <a:ext uri="{FF2B5EF4-FFF2-40B4-BE49-F238E27FC236}">
                <a16:creationId xmlns:a16="http://schemas.microsoft.com/office/drawing/2014/main" id="{501F35B5-0E2E-4E38-B839-F3EDEED0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4" name="后处理规则也会改变交通调查成果。">
            <a:extLst xmlns:a="http://schemas.openxmlformats.org/drawingml/2006/main">
              <a:ext uri="{FF2B5EF4-FFF2-40B4-BE49-F238E27FC236}">
                <a16:creationId xmlns:a16="http://schemas.microsoft.com/office/drawing/2014/main" id="{80BB10A6-E481-40D8-BF7D-6BB3F4E8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后处理规则也会改变交通调查成果。</a:t>
            </a:r>
          </a:p>
        </p:txBody>
      </p:sp>
      <p:sp>
        <p:nvSpPr>
          <p:cNvPr id="5" name="比较0、0.3、1、2米单侧死区，在相同源轨迹上实际">
            <a:extLst xmlns:a="http://schemas.openxmlformats.org/drawingml/2006/main">
              <a:ext uri="{FF2B5EF4-FFF2-40B4-BE49-F238E27FC236}">
                <a16:creationId xmlns:a16="http://schemas.microsoft.com/office/drawing/2014/main" id="{3D64E76E-6B20-4116-BD4B-C351B68F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比较0、0.3、1、2米单侧死区，在相同源轨迹上实际重新提取事件。</a:t>
            </a:r>
          </a:p>
        </p:txBody>
      </p:sp>
      <p:sp>
        <p:nvSpPr>
          <p:cNvPr id="6" name="宽死区不必然更好。距离过短、遮挡与断点均可能导致事件">
            <a:extLst xmlns:a="http://schemas.openxmlformats.org/drawingml/2006/main">
              <a:ext uri="{FF2B5EF4-FFF2-40B4-BE49-F238E27FC236}">
                <a16:creationId xmlns:a16="http://schemas.microsoft.com/office/drawing/2014/main" id="{202613FC-79A4-48F6-A4E3-6422134A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宽死区不必然更好。距离过短、遮挡与断点均可能导致事件不触发或延后。</a:t>
            </a:r>
          </a:p>
        </p:txBody>
      </p:sp>
      <p:sp>
        <p:nvSpPr>
          <p:cNvPr id="7" name="课堂讨论：一组规则的事件更少，何时可能是去除了重复，">
            <a:extLst xmlns:a="http://schemas.openxmlformats.org/drawingml/2006/main">
              <a:ext uri="{FF2B5EF4-FFF2-40B4-BE49-F238E27FC236}">
                <a16:creationId xmlns:a16="http://schemas.microsoft.com/office/drawing/2014/main" id="{45F80731-56DA-445C-9FD5-56A6BD31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课堂讨论：一组规则的事件更少，何时可能是去除了重复，何时可能是遗漏？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E81A49EE-00D3-46ED-ABC8-566CB151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65575dc27804a14"/>
              </a:rPr>
              <a:t>打开交互实验，观察参数变化</a:t>
            </a:r>
          </a:p>
        </p:txBody>
      </p:sp>
    </p:spTree>
    <p:extLst>
      <p:ext uri="{BB962C8B-B14F-4D97-AF65-F5344CB8AC3E}">
        <p14:creationId xmlns:p14="http://schemas.microsoft.com/office/powerpoint/2010/main" val="36851674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防抖宽度与统计结果：计算结果">
            <a:extLst xmlns:a="http://schemas.openxmlformats.org/drawingml/2006/main">
              <a:ext uri="{FF2B5EF4-FFF2-40B4-BE49-F238E27FC236}">
                <a16:creationId xmlns:a16="http://schemas.microsoft.com/office/drawing/2014/main" id="{BDF4065E-622E-4309-A828-AD1045A5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防抖宽度与统计结果：计算结果</a:t>
            </a:r>
          </a:p>
        </p:txBody>
      </p:sp>
      <p:sp>
        <p:nvSpPr>
          <p:cNvPr id="2" name="第8章 交通影像数据分析   8.7">
            <a:extLst xmlns:a="http://schemas.openxmlformats.org/drawingml/2006/main">
              <a:ext uri="{FF2B5EF4-FFF2-40B4-BE49-F238E27FC236}">
                <a16:creationId xmlns:a16="http://schemas.microsoft.com/office/drawing/2014/main" id="{036F4830-9B9C-47D3-9575-39740397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第8章 交通影像数据分析   8.7</a:t>
            </a:r>
          </a:p>
        </p:txBody>
      </p:sp>
      <p:sp>
        <p:nvSpPr>
          <p:cNvPr id="3" name="20">
            <a:extLst xmlns:a="http://schemas.openxmlformats.org/drawingml/2006/main">
              <a:ext uri="{FF2B5EF4-FFF2-40B4-BE49-F238E27FC236}">
                <a16:creationId xmlns:a16="http://schemas.microsoft.com/office/drawing/2014/main" id="{D21EBA1A-D0DC-45E8-BC4B-BEB22E8C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" name="根据真实观测在浏览器重新计算">
            <a:extLst xmlns:a="http://schemas.openxmlformats.org/drawingml/2006/main">
              <a:ext uri="{FF2B5EF4-FFF2-40B4-BE49-F238E27FC236}">
                <a16:creationId xmlns:a16="http://schemas.microsoft.com/office/drawing/2014/main" id="{92A13DD8-849C-4ABE-B57A-9DDD391A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根据真实观测在浏览器重新计算</a:t>
            </a:r>
          </a:p>
        </p:txBody>
      </p:sp>
      <p:sp>
        <p:nvSpPr>
          <p:cNvPr id="5" name="默认配置：计数线 x（米）：15，最大连接间隔（秒）">
            <a:extLst xmlns:a="http://schemas.openxmlformats.org/drawingml/2006/main">
              <a:ext uri="{FF2B5EF4-FFF2-40B4-BE49-F238E27FC236}">
                <a16:creationId xmlns:a16="http://schemas.microsoft.com/office/drawing/2014/main" id="{35FFE026-56FA-4568-88B4-F9D68640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默认配置：计数线 x（米）：15，最大连接间隔（秒）：1.5</a:t>
            </a:r>
          </a:p>
        </p:txBody>
      </p:sp>
      <p:sp>
        <p:nvSpPr>
          <p:cNvPr id="6" name="跨线事件数（非准确率）">
            <a:extLst xmlns:a="http://schemas.openxmlformats.org/drawingml/2006/main">
              <a:ext uri="{FF2B5EF4-FFF2-40B4-BE49-F238E27FC236}">
                <a16:creationId xmlns:a16="http://schemas.microsoft.com/office/drawing/2014/main" id="{4F3433F5-0A54-4033-B89A-0733CB87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跨线事件数（非准确率）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2390775"/>
          <a:ext xmlns:a="http://schemas.openxmlformats.org/drawingml/2006/main" cx="1082040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f127b558427460b"/>
          </a:graphicData>
        </a:graphic>
      </p:graphicFrame>
      <p:sp>
        <p:nvSpPr>
          <p:cNvPr id="8" name="基准为本表第一组规则，不是人工真值。">
            <a:extLst xmlns:a="http://schemas.openxmlformats.org/drawingml/2006/main">
              <a:ext uri="{FF2B5EF4-FFF2-40B4-BE49-F238E27FC236}">
                <a16:creationId xmlns:a16="http://schemas.microsoft.com/office/drawing/2014/main" id="{72A4A481-4F0D-4C96-9A5C-D751747E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基准为本表第一组规则，不是人工真值。</a:t>
            </a:r>
          </a:p>
        </p:txBody>
      </p:sp>
      <p:sp>
        <p:nvSpPr>
          <p:cNvPr id="9" name="link">
            <a:extLst xmlns:a="http://schemas.openxmlformats.org/drawingml/2006/main">
              <a:ext uri="{FF2B5EF4-FFF2-40B4-BE49-F238E27FC236}">
                <a16:creationId xmlns:a16="http://schemas.microsoft.com/office/drawing/2014/main" id="{D3DC7829-0DB4-4DD7-9C13-5BF2432C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9807822f3df4a6d"/>
              </a:rPr>
              <a:t>修改参数并查看完整结果表</a:t>
            </a:r>
          </a:p>
        </p:txBody>
      </p:sp>
    </p:spTree>
    <p:extLst>
      <p:ext uri="{BB962C8B-B14F-4D97-AF65-F5344CB8AC3E}">
        <p14:creationId xmlns:p14="http://schemas.microsoft.com/office/powerpoint/2010/main" val="85508579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检测、身份与事件的分层核验">
            <a:extLst xmlns:a="http://schemas.openxmlformats.org/drawingml/2006/main">
              <a:ext uri="{FF2B5EF4-FFF2-40B4-BE49-F238E27FC236}">
                <a16:creationId xmlns:a16="http://schemas.microsoft.com/office/drawing/2014/main" id="{98880D13-A921-4EA4-883A-39DA481A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检测、身份与事件的分层核验</a:t>
            </a:r>
          </a:p>
        </p:txBody>
      </p:sp>
      <p:sp>
        <p:nvSpPr>
          <p:cNvPr id="2" name="第8章 交通影像数据分析   8.4 / 8.7">
            <a:extLst xmlns:a="http://schemas.openxmlformats.org/drawingml/2006/main">
              <a:ext uri="{FF2B5EF4-FFF2-40B4-BE49-F238E27FC236}">
                <a16:creationId xmlns:a16="http://schemas.microsoft.com/office/drawing/2014/main" id="{6FCDDD55-5389-4CDC-B4A9-E006D662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第8章 交通影像数据分析   8.4 / 8.7</a:t>
            </a:r>
          </a:p>
        </p:txBody>
      </p:sp>
      <p:sp>
        <p:nvSpPr>
          <p:cNvPr id="3" name="21">
            <a:extLst xmlns:a="http://schemas.openxmlformats.org/drawingml/2006/main">
              <a:ext uri="{FF2B5EF4-FFF2-40B4-BE49-F238E27FC236}">
                <a16:creationId xmlns:a16="http://schemas.microsoft.com/office/drawing/2014/main" id="{6AA4A8DE-C5DF-4473-8FF7-ED4CD78C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4" name="评价对象必须与精度主张一致。">
            <a:extLst xmlns:a="http://schemas.openxmlformats.org/drawingml/2006/main">
              <a:ext uri="{FF2B5EF4-FFF2-40B4-BE49-F238E27FC236}">
                <a16:creationId xmlns:a16="http://schemas.microsoft.com/office/drawing/2014/main" id="{FA5C8305-AC8D-4C81-8B3F-C6E57791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评价对象必须与精度主张一致。</a:t>
            </a:r>
          </a:p>
        </p:txBody>
      </p:sp>
      <p:sp>
        <p:nvSpPr>
          <p:cNvPr id="5" name="检测用独立人工框匹配，身份关联核对连续性，通行事件还">
            <a:extLst xmlns:a="http://schemas.openxmlformats.org/drawingml/2006/main">
              <a:ext uri="{FF2B5EF4-FFF2-40B4-BE49-F238E27FC236}">
                <a16:creationId xmlns:a16="http://schemas.microsoft.com/office/drawing/2014/main" id="{83F212EC-7749-4D08-A424-67F40EA7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检测用独立人工框匹配，身份关联核对连续性，通行事件还需方向与时间容差匹配。</a:t>
            </a:r>
          </a:p>
        </p:txBody>
      </p:sp>
      <p:sp>
        <p:nvSpPr>
          <p:cNvPr id="6" name="MOT17影像项目提供人工标注核验。SinD源ID只">
            <a:extLst xmlns:a="http://schemas.openxmlformats.org/drawingml/2006/main">
              <a:ext uri="{FF2B5EF4-FFF2-40B4-BE49-F238E27FC236}">
                <a16:creationId xmlns:a16="http://schemas.microsoft.com/office/drawing/2014/main" id="{42E10377-AB44-475D-A8AE-0C723193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MOT17影像项目提供人工标注核验。SinD源ID只审查关联思想，不代替原始影像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独立真值。</a:t>
            </a:r>
          </a:p>
        </p:txBody>
      </p:sp>
      <p:sp>
        <p:nvSpPr>
          <p:cNvPr id="7" name="课堂讨论：模型检测精度较高但方向计数错误，应怎样定位">
            <a:extLst xmlns:a="http://schemas.openxmlformats.org/drawingml/2006/main">
              <a:ext uri="{FF2B5EF4-FFF2-40B4-BE49-F238E27FC236}">
                <a16:creationId xmlns:a16="http://schemas.microsoft.com/office/drawing/2014/main" id="{8C7D2670-D08F-436D-B914-A7C1A4D3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课堂讨论：模型检测精度较高但方向计数错误，应怎样定位问题？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F5E8D97E-94F8-45BD-A2FB-9D5CB59B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6e1e4e968a94593"/>
              </a:rPr>
              <a:t>打开课堂讲解与配套案例</a:t>
            </a:r>
          </a:p>
        </p:txBody>
      </p:sp>
    </p:spTree>
    <p:extLst>
      <p:ext uri="{BB962C8B-B14F-4D97-AF65-F5344CB8AC3E}">
        <p14:creationId xmlns:p14="http://schemas.microsoft.com/office/powerpoint/2010/main" val="19137852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跨线计数的代码复核">
            <a:extLst xmlns:a="http://schemas.openxmlformats.org/drawingml/2006/main">
              <a:ext uri="{FF2B5EF4-FFF2-40B4-BE49-F238E27FC236}">
                <a16:creationId xmlns:a16="http://schemas.microsoft.com/office/drawing/2014/main" id="{093AB5A1-8658-47EB-8C49-D6E0D89A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跨线计数的代码复核</a:t>
            </a:r>
          </a:p>
        </p:txBody>
      </p:sp>
      <p:sp>
        <p:nvSpPr>
          <p:cNvPr id="2" name="第8章 交通影像数据分析   综合">
            <a:extLst xmlns:a="http://schemas.openxmlformats.org/drawingml/2006/main">
              <a:ext uri="{FF2B5EF4-FFF2-40B4-BE49-F238E27FC236}">
                <a16:creationId xmlns:a16="http://schemas.microsoft.com/office/drawing/2014/main" id="{DEC7AB73-6823-457A-AA96-1BC355C5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第8章 交通影像数据分析   综合</a:t>
            </a:r>
          </a:p>
        </p:txBody>
      </p:sp>
      <p:sp>
        <p:nvSpPr>
          <p:cNvPr id="3" name="22">
            <a:extLst xmlns:a="http://schemas.openxmlformats.org/drawingml/2006/main">
              <a:ext uri="{FF2B5EF4-FFF2-40B4-BE49-F238E27FC236}">
                <a16:creationId xmlns:a16="http://schemas.microsoft.com/office/drawing/2014/main" id="{293C6915-54D2-46E4-A177-B173A6BF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4" name="规则必须能回到逐条事件。">
            <a:extLst xmlns:a="http://schemas.openxmlformats.org/drawingml/2006/main">
              <a:ext uri="{FF2B5EF4-FFF2-40B4-BE49-F238E27FC236}">
                <a16:creationId xmlns:a16="http://schemas.microsoft.com/office/drawing/2014/main" id="{2041BD46-F486-49F4-8745-05CF0784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规则必须能回到逐条事件。</a:t>
            </a:r>
          </a:p>
        </p:txBody>
      </p:sp>
      <p:sp>
        <p:nvSpPr>
          <p:cNvPr id="5" name="// JavaScript：本机实际执行，可修改参数">
            <a:extLst xmlns:a="http://schemas.openxmlformats.org/drawingml/2006/main">
              <a:ext uri="{FF2B5EF4-FFF2-40B4-BE49-F238E27FC236}">
                <a16:creationId xmlns:a16="http://schemas.microsoft.com/office/drawing/2014/main" id="{D7966310-0AF6-4B00-AE54-B8A5B525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7429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// JavaScript：本机实际执行，可修改参数。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// data为本章真实快照；runLab为公开计算模块。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const result = runLab("crossing", data, {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  "line": 15,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  "band": 0.3,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  "stride": 5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});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print(result.columns);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print(result.rows);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print(result.note);</a:t>
            </a:r>
          </a:p>
        </p:txBody>
      </p:sp>
      <p:sp>
        <p:nvSpPr>
          <p:cNvPr id="6" name="JavaScript在网页中实际执行。&#10;&#10;Pytho">
            <a:extLst xmlns:a="http://schemas.openxmlformats.org/drawingml/2006/main">
              <a:ext uri="{FF2B5EF4-FFF2-40B4-BE49-F238E27FC236}">
                <a16:creationId xmlns:a16="http://schemas.microsoft.com/office/drawing/2014/main" id="{E8DE998F-CBD3-4667-9962-F8D570B6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447925"/>
            <a:ext cx="28575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JavaScript在网页中实际执行。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Python模型训练使用本章完整工作本。</a:t>
            </a:r>
          </a:p>
        </p:txBody>
      </p:sp>
      <p:sp>
        <p:nvSpPr>
          <p:cNvPr id="7" name="link">
            <a:extLst xmlns:a="http://schemas.openxmlformats.org/drawingml/2006/main">
              <a:ext uri="{FF2B5EF4-FFF2-40B4-BE49-F238E27FC236}">
                <a16:creationId xmlns:a16="http://schemas.microsoft.com/office/drawing/2014/main" id="{EB60C967-112A-4712-A459-F76B5753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de1d6b4d27b40b0"/>
              </a:rPr>
              <a:t>打开代码编辑器，修改参数并运行</a:t>
            </a:r>
          </a:p>
        </p:txBody>
      </p:sp>
    </p:spTree>
    <p:extLst>
      <p:ext uri="{BB962C8B-B14F-4D97-AF65-F5344CB8AC3E}">
        <p14:creationId xmlns:p14="http://schemas.microsoft.com/office/powerpoint/2010/main" val="149467167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视频交通调查的核验报告">
            <a:extLst xmlns:a="http://schemas.openxmlformats.org/drawingml/2006/main">
              <a:ext uri="{FF2B5EF4-FFF2-40B4-BE49-F238E27FC236}">
                <a16:creationId xmlns:a16="http://schemas.microsoft.com/office/drawing/2014/main" id="{B15716EE-656D-4943-BDFD-007F6BD2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视频交通调查的核验报告</a:t>
            </a:r>
          </a:p>
        </p:txBody>
      </p:sp>
      <p:sp>
        <p:nvSpPr>
          <p:cNvPr id="2" name="第8章 交通影像数据分析   综合">
            <a:extLst xmlns:a="http://schemas.openxmlformats.org/drawingml/2006/main">
              <a:ext uri="{FF2B5EF4-FFF2-40B4-BE49-F238E27FC236}">
                <a16:creationId xmlns:a16="http://schemas.microsoft.com/office/drawing/2014/main" id="{68B11AD1-A052-47BF-B16F-92F6E073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第8章 交通影像数据分析   综合</a:t>
            </a:r>
          </a:p>
        </p:txBody>
      </p:sp>
      <p:sp>
        <p:nvSpPr>
          <p:cNvPr id="3" name="23">
            <a:extLst xmlns:a="http://schemas.openxmlformats.org/drawingml/2006/main">
              <a:ext uri="{FF2B5EF4-FFF2-40B4-BE49-F238E27FC236}">
                <a16:creationId xmlns:a16="http://schemas.microsoft.com/office/drawing/2014/main" id="{99094562-8CA3-4A9F-A201-64F63484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4" name="完整成果需覆盖误差传递与使用条件。">
            <a:extLst xmlns:a="http://schemas.openxmlformats.org/drawingml/2006/main">
              <a:ext uri="{FF2B5EF4-FFF2-40B4-BE49-F238E27FC236}">
                <a16:creationId xmlns:a16="http://schemas.microsoft.com/office/drawing/2014/main" id="{3FF60BCB-9AAE-4C88-B90A-7034D7C7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完整成果需覆盖误差传递与使用条件。</a:t>
            </a:r>
          </a:p>
        </p:txBody>
      </p:sp>
      <p:sp>
        <p:nvSpPr>
          <p:cNvPr id="5" name="分别提交SinD关联实验和MOT17影像实验，保存配">
            <a:extLst xmlns:a="http://schemas.openxmlformats.org/drawingml/2006/main">
              <a:ext uri="{FF2B5EF4-FFF2-40B4-BE49-F238E27FC236}">
                <a16:creationId xmlns:a16="http://schemas.microsoft.com/office/drawing/2014/main" id="{539C82D6-8781-4011-A1A9-D0E09C44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分别提交SinD关联实验和MOT17影像实验，保存配置、逐事件结果、独立标注和失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败片段说明。</a:t>
            </a:r>
          </a:p>
        </p:txBody>
      </p:sp>
      <p:sp>
        <p:nvSpPr>
          <p:cNvPr id="6" name="许可分别遵守SinD非商业条款与MOT17的CC B">
            <a:extLst xmlns:a="http://schemas.openxmlformats.org/drawingml/2006/main">
              <a:ext uri="{FF2B5EF4-FFF2-40B4-BE49-F238E27FC236}">
                <a16:creationId xmlns:a16="http://schemas.microsoft.com/office/drawing/2014/main" id="{1B75866C-3D0D-4740-9043-5ED9FAB9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许可分别遵守SinD非商业条款与MOT17的CC BY-NC-SA 3.0，不将课程代码MIT许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可扩展到第三方影像。</a:t>
            </a:r>
          </a:p>
        </p:txBody>
      </p:sp>
      <p:sp>
        <p:nvSpPr>
          <p:cNvPr id="7" name="课堂讨论：若在校门口开展新的调查，应重新验证哪些场景">
            <a:extLst xmlns:a="http://schemas.openxmlformats.org/drawingml/2006/main">
              <a:ext uri="{FF2B5EF4-FFF2-40B4-BE49-F238E27FC236}">
                <a16:creationId xmlns:a16="http://schemas.microsoft.com/office/drawing/2014/main" id="{722846A9-890A-4E2E-A42F-50097B1C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课堂讨论：若在校门口开展新的调查，应重新验证哪些场景和合规条件？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26F1DFDC-139D-4A2C-95B7-D0FC77EB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15bb486b5a945bd"/>
              </a:rPr>
              <a:t>打开课堂讲解与配套案例</a:t>
            </a:r>
          </a:p>
        </p:txBody>
      </p:sp>
    </p:spTree>
    <p:extLst>
      <p:ext uri="{BB962C8B-B14F-4D97-AF65-F5344CB8AC3E}">
        <p14:creationId xmlns:p14="http://schemas.microsoft.com/office/powerpoint/2010/main" val="199807948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课程资源与数据来源">
            <a:extLst xmlns:a="http://schemas.openxmlformats.org/drawingml/2006/main">
              <a:ext uri="{FF2B5EF4-FFF2-40B4-BE49-F238E27FC236}">
                <a16:creationId xmlns:a16="http://schemas.microsoft.com/office/drawing/2014/main" id="{6278C7FB-8A3C-4EB2-824B-6048010C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课程资源与数据来源</a:t>
            </a:r>
          </a:p>
        </p:txBody>
      </p:sp>
      <p:sp>
        <p:nvSpPr>
          <p:cNvPr id="2" name="第8章 交通影像数据分析">
            <a:extLst xmlns:a="http://schemas.openxmlformats.org/drawingml/2006/main">
              <a:ext uri="{FF2B5EF4-FFF2-40B4-BE49-F238E27FC236}">
                <a16:creationId xmlns:a16="http://schemas.microsoft.com/office/drawing/2014/main" id="{7E9EE014-F29A-493C-A754-09AC6C9C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第8章 交通影像数据分析</a:t>
            </a:r>
          </a:p>
        </p:txBody>
      </p:sp>
      <p:sp>
        <p:nvSpPr>
          <p:cNvPr id="3" name="24">
            <a:extLst xmlns:a="http://schemas.openxmlformats.org/drawingml/2006/main">
              <a:ext uri="{FF2B5EF4-FFF2-40B4-BE49-F238E27FC236}">
                <a16:creationId xmlns:a16="http://schemas.microsoft.com/office/drawing/2014/main" id="{4F9D0DEF-9665-4E46-85CD-3D94AEE6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4" name="link">
            <a:extLst xmlns:a="http://schemas.openxmlformats.org/drawingml/2006/main">
              <a:ext uri="{FF2B5EF4-FFF2-40B4-BE49-F238E27FC236}">
                <a16:creationId xmlns:a16="http://schemas.microsoft.com/office/drawing/2014/main" id="{6623FDFA-E049-43AD-8B26-B5E4851E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d47e899f6f74bea"/>
              </a:rPr>
              <a:t>本章交互课堂</a:t>
            </a:r>
          </a:p>
        </p:txBody>
      </p:sp>
      <p:sp>
        <p:nvSpPr>
          <p:cNvPr id="5" name="link">
            <a:extLst xmlns:a="http://schemas.openxmlformats.org/drawingml/2006/main">
              <a:ext uri="{FF2B5EF4-FFF2-40B4-BE49-F238E27FC236}">
                <a16:creationId xmlns:a16="http://schemas.microsoft.com/office/drawing/2014/main" id="{19034A91-7CE7-4D9D-A61F-D3253E69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ef6f9123da24a15"/>
              </a:rPr>
              <a:t>本章完整Python项目与工作本</a:t>
            </a:r>
          </a:p>
        </p:txBody>
      </p:sp>
      <p:sp>
        <p:nvSpPr>
          <p:cNvPr id="6" name="link">
            <a:extLst xmlns:a="http://schemas.openxmlformats.org/drawingml/2006/main">
              <a:ext uri="{FF2B5EF4-FFF2-40B4-BE49-F238E27FC236}">
                <a16:creationId xmlns:a16="http://schemas.microsoft.com/office/drawing/2014/main" id="{48D36054-AF97-4235-A409-3CC67C89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ec6b1aa20074ee0"/>
              </a:rPr>
              <a:t>交通工程案例库</a:t>
            </a:r>
          </a:p>
        </p:txBody>
      </p:sp>
      <p:sp>
        <p:nvSpPr>
          <p:cNvPr id="7" name="SinD自定义非商业许可；MOT17影像CC BY-">
            <a:extLst xmlns:a="http://schemas.openxmlformats.org/drawingml/2006/main">
              <a:ext uri="{FF2B5EF4-FFF2-40B4-BE49-F238E27FC236}">
                <a16:creationId xmlns:a16="http://schemas.microsoft.com/office/drawing/2014/main" id="{D23EC5FF-59F5-4DCA-9AFD-705E8017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SinD自定义非商业许可；MOT17影像CC BY-NC-SA 3.0</a:t>
            </a:r>
          </a:p>
        </p:txBody>
      </p:sp>
      <p:sp>
        <p:nvSpPr>
          <p:cNvPr id="8" name="输入范围、数据处理与许可详见课堂说明。&#10;课堂代码MI">
            <a:extLst xmlns:a="http://schemas.openxmlformats.org/drawingml/2006/main">
              <a:ext uri="{FF2B5EF4-FFF2-40B4-BE49-F238E27FC236}">
                <a16:creationId xmlns:a16="http://schemas.microsoft.com/office/drawing/2014/main" id="{D41502D9-ACD1-46B7-8120-C4B28B3D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输入范围、数据处理与许可详见课堂说明。</a:t>
            </a:r>
          </a:p>
          <a:p xmlns:a="http://schemas.openxmlformats.org/drawingml/2006/main">
            <a:pPr algn="l">
              <a:defRPr sz="18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课堂代码MIT，原创讲解CC BY-SA 4.0，第三方材料保留原许可。</a:t>
            </a:r>
          </a:p>
        </p:txBody>
      </p:sp>
    </p:spTree>
    <p:extLst>
      <p:ext uri="{BB962C8B-B14F-4D97-AF65-F5344CB8AC3E}">
        <p14:creationId xmlns:p14="http://schemas.microsoft.com/office/powerpoint/2010/main" val="103537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2026-09-17T02:43:13.3270000Z</dcterms:created>
  <dcterms:modified xsi:type="dcterms:W3CDTF">2026-09-17T02:43:13.3270000Z</dcterms:modified>
</coreProperties>
</file>