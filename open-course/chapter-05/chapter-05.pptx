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4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5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019ab87e8f4faf" /><Relationship Type="http://schemas.openxmlformats.org/officeDocument/2006/relationships/extended-properties" Target="/docProps/app.xml" Id="R49cba12ffdb64b42" /><Relationship Type="http://schemas.openxmlformats.org/officeDocument/2006/relationships/officeDocument" Target="/ppt/presentation.xml" Id="R1bb2e9bff7814e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96fffe17594630"/>
  </p:sldMasterIdLst>
  <p:notesMasterIdLst>
    <p:notesMasterId xmlns:r="http://schemas.openxmlformats.org/officeDocument/2006/relationships" r:id="R83c56ecdf94b4824"/>
  </p:notesMasterIdLst>
  <p:sldIdLst>
    <p:sldId xmlns:r="http://schemas.openxmlformats.org/officeDocument/2006/relationships" id="256" r:id="Rd06a1feec146419f"/>
    <p:sldId xmlns:r="http://schemas.openxmlformats.org/officeDocument/2006/relationships" id="257" r:id="R2be3ee4c856e4f2e"/>
    <p:sldId xmlns:r="http://schemas.openxmlformats.org/officeDocument/2006/relationships" id="258" r:id="R844dcff14f38433f"/>
    <p:sldId xmlns:r="http://schemas.openxmlformats.org/officeDocument/2006/relationships" id="259" r:id="R55e62fa5c56f43ab"/>
    <p:sldId xmlns:r="http://schemas.openxmlformats.org/officeDocument/2006/relationships" id="260" r:id="R2ff1177e58b7432e"/>
    <p:sldId xmlns:r="http://schemas.openxmlformats.org/officeDocument/2006/relationships" id="261" r:id="Re3028619c02b41e1"/>
    <p:sldId xmlns:r="http://schemas.openxmlformats.org/officeDocument/2006/relationships" id="262" r:id="R8517cea74a1644f7"/>
    <p:sldId xmlns:r="http://schemas.openxmlformats.org/officeDocument/2006/relationships" id="263" r:id="Rf4815475712e4823"/>
    <p:sldId xmlns:r="http://schemas.openxmlformats.org/officeDocument/2006/relationships" id="264" r:id="R4d18d60450484f75"/>
    <p:sldId xmlns:r="http://schemas.openxmlformats.org/officeDocument/2006/relationships" id="265" r:id="R476d027dfb3e4993"/>
    <p:sldId xmlns:r="http://schemas.openxmlformats.org/officeDocument/2006/relationships" id="266" r:id="Rac218a25af4443fa"/>
    <p:sldId xmlns:r="http://schemas.openxmlformats.org/officeDocument/2006/relationships" id="267" r:id="Rb2ada2970c3348f2"/>
    <p:sldId xmlns:r="http://schemas.openxmlformats.org/officeDocument/2006/relationships" id="268" r:id="R589754c0fbff45f5"/>
    <p:sldId xmlns:r="http://schemas.openxmlformats.org/officeDocument/2006/relationships" id="269" r:id="Rdb680efeec894339"/>
    <p:sldId xmlns:r="http://schemas.openxmlformats.org/officeDocument/2006/relationships" id="270" r:id="R191fe519a8d94be5"/>
    <p:sldId xmlns:r="http://schemas.openxmlformats.org/officeDocument/2006/relationships" id="271" r:id="R71dd1cdb54dc4ede"/>
    <p:sldId xmlns:r="http://schemas.openxmlformats.org/officeDocument/2006/relationships" id="272" r:id="R6216928528fc446d"/>
    <p:sldId xmlns:r="http://schemas.openxmlformats.org/officeDocument/2006/relationships" id="273" r:id="Re2a65d41e87e4ff8"/>
    <p:sldId xmlns:r="http://schemas.openxmlformats.org/officeDocument/2006/relationships" id="274" r:id="Re871babb08254605"/>
    <p:sldId xmlns:r="http://schemas.openxmlformats.org/officeDocument/2006/relationships" id="275" r:id="R8af90a84dfeb4ba7"/>
    <p:sldId xmlns:r="http://schemas.openxmlformats.org/officeDocument/2006/relationships" id="276" r:id="Rf4ae09985596444e"/>
    <p:sldId xmlns:r="http://schemas.openxmlformats.org/officeDocument/2006/relationships" id="277" r:id="R23a11b39e3154e4b"/>
    <p:sldId xmlns:r="http://schemas.openxmlformats.org/officeDocument/2006/relationships" id="278" r:id="R29bff1d3e83947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bc03165cb64a89" /><Relationship Type="http://schemas.openxmlformats.org/officeDocument/2006/relationships/slideMaster" Target="/ppt/slideMasters/slideMaster1.xml" Id="Rd496fffe17594630" /><Relationship Type="http://schemas.openxmlformats.org/officeDocument/2006/relationships/notesMaster" Target="/ppt/notesMasters/notesMaster1.xml" Id="R83c56ecdf94b4824" /><Relationship Type="http://schemas.openxmlformats.org/officeDocument/2006/relationships/presProps" Target="/ppt/presProps.xml" Id="R09b24c101f9b4e9f" /><Relationship Type="http://schemas.openxmlformats.org/officeDocument/2006/relationships/tableStyles" Target="/ppt/tableStyles.xml" Id="Re6377db31e824768" /><Relationship Type="http://schemas.openxmlformats.org/officeDocument/2006/relationships/slide" Target="/ppt/slides/slide1.xml" Id="Rd06a1feec146419f" /><Relationship Type="http://schemas.openxmlformats.org/officeDocument/2006/relationships/slide" Target="/ppt/slides/slide2.xml" Id="R2be3ee4c856e4f2e" /><Relationship Type="http://schemas.openxmlformats.org/officeDocument/2006/relationships/slide" Target="/ppt/slides/slide3.xml" Id="R844dcff14f38433f" /><Relationship Type="http://schemas.openxmlformats.org/officeDocument/2006/relationships/slide" Target="/ppt/slides/slide4.xml" Id="R55e62fa5c56f43ab" /><Relationship Type="http://schemas.openxmlformats.org/officeDocument/2006/relationships/slide" Target="/ppt/slides/slide5.xml" Id="R2ff1177e58b7432e" /><Relationship Type="http://schemas.openxmlformats.org/officeDocument/2006/relationships/slide" Target="/ppt/slides/slide6.xml" Id="Re3028619c02b41e1" /><Relationship Type="http://schemas.openxmlformats.org/officeDocument/2006/relationships/slide" Target="/ppt/slides/slide7.xml" Id="R8517cea74a1644f7" /><Relationship Type="http://schemas.openxmlformats.org/officeDocument/2006/relationships/slide" Target="/ppt/slides/slide8.xml" Id="Rf4815475712e4823" /><Relationship Type="http://schemas.openxmlformats.org/officeDocument/2006/relationships/slide" Target="/ppt/slides/slide9.xml" Id="R4d18d60450484f75" /><Relationship Type="http://schemas.openxmlformats.org/officeDocument/2006/relationships/slide" Target="/ppt/slides/slide10.xml" Id="R476d027dfb3e4993" /><Relationship Type="http://schemas.openxmlformats.org/officeDocument/2006/relationships/slide" Target="/ppt/slides/slide11.xml" Id="Rac218a25af4443fa" /><Relationship Type="http://schemas.openxmlformats.org/officeDocument/2006/relationships/slide" Target="/ppt/slides/slide12.xml" Id="Rb2ada2970c3348f2" /><Relationship Type="http://schemas.openxmlformats.org/officeDocument/2006/relationships/slide" Target="/ppt/slides/slide13.xml" Id="R589754c0fbff45f5" /><Relationship Type="http://schemas.openxmlformats.org/officeDocument/2006/relationships/slide" Target="/ppt/slides/slide14.xml" Id="Rdb680efeec894339" /><Relationship Type="http://schemas.openxmlformats.org/officeDocument/2006/relationships/slide" Target="/ppt/slides/slide15.xml" Id="R191fe519a8d94be5" /><Relationship Type="http://schemas.openxmlformats.org/officeDocument/2006/relationships/slide" Target="/ppt/slides/slide16.xml" Id="R71dd1cdb54dc4ede" /><Relationship Type="http://schemas.openxmlformats.org/officeDocument/2006/relationships/slide" Target="/ppt/slides/slide17.xml" Id="R6216928528fc446d" /><Relationship Type="http://schemas.openxmlformats.org/officeDocument/2006/relationships/slide" Target="/ppt/slides/slide18.xml" Id="Re2a65d41e87e4ff8" /><Relationship Type="http://schemas.openxmlformats.org/officeDocument/2006/relationships/slide" Target="/ppt/slides/slide19.xml" Id="Re871babb08254605" /><Relationship Type="http://schemas.openxmlformats.org/officeDocument/2006/relationships/slide" Target="/ppt/slides/slide20.xml" Id="R8af90a84dfeb4ba7" /><Relationship Type="http://schemas.openxmlformats.org/officeDocument/2006/relationships/slide" Target="/ppt/slides/slide21.xml" Id="Rf4ae09985596444e" /><Relationship Type="http://schemas.openxmlformats.org/officeDocument/2006/relationships/slide" Target="/ppt/slides/slide22.xml" Id="R23a11b39e3154e4b" /><Relationship Type="http://schemas.openxmlformats.org/officeDocument/2006/relationships/slide" Target="/ppt/slides/slide23.xml" Id="R29bff1d3e83947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2d0afd4a574a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3de80bdb8b434b" /><Relationship Type="http://schemas.openxmlformats.org/officeDocument/2006/relationships/notesMaster" Target="/ppt/notesMasters/notesMaster1.xml" Id="Re2d3d97b547648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bbdb64d4574036" /><Relationship Type="http://schemas.openxmlformats.org/officeDocument/2006/relationships/notesMaster" Target="/ppt/notesMasters/notesMaster1.xml" Id="R2d1dbfeb93e04d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2a6dcc7dd54fc3" /><Relationship Type="http://schemas.openxmlformats.org/officeDocument/2006/relationships/notesMaster" Target="/ppt/notesMasters/notesMaster1.xml" Id="Re14c89553e1943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bc6ecdc62d4e44" /><Relationship Type="http://schemas.openxmlformats.org/officeDocument/2006/relationships/notesMaster" Target="/ppt/notesMasters/notesMaster1.xml" Id="Rcac6629ff6fb44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48419607754b8c" /><Relationship Type="http://schemas.openxmlformats.org/officeDocument/2006/relationships/notesMaster" Target="/ppt/notesMasters/notesMaster1.xml" Id="R59ce86f7409144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a8ac13af504a8b" /><Relationship Type="http://schemas.openxmlformats.org/officeDocument/2006/relationships/notesMaster" Target="/ppt/notesMasters/notesMaster1.xml" Id="R41a2108a95d04d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d9010ebbbb425b" /><Relationship Type="http://schemas.openxmlformats.org/officeDocument/2006/relationships/notesMaster" Target="/ppt/notesMasters/notesMaster1.xml" Id="R8b741dba78c94f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328521df9d44bb" /><Relationship Type="http://schemas.openxmlformats.org/officeDocument/2006/relationships/notesMaster" Target="/ppt/notesMasters/notesMaster1.xml" Id="R078863ec2db04c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94c2029600434d" /><Relationship Type="http://schemas.openxmlformats.org/officeDocument/2006/relationships/notesMaster" Target="/ppt/notesMasters/notesMaster1.xml" Id="Rd51bdcfef3da45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536f0824354972" /><Relationship Type="http://schemas.openxmlformats.org/officeDocument/2006/relationships/notesMaster" Target="/ppt/notesMasters/notesMaster1.xml" Id="Rc3d7b6787e844b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3c9de0d9334ebd" /><Relationship Type="http://schemas.openxmlformats.org/officeDocument/2006/relationships/notesMaster" Target="/ppt/notesMasters/notesMaster1.xml" Id="Rbe9a18251a4e48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c6e91b14364719" /><Relationship Type="http://schemas.openxmlformats.org/officeDocument/2006/relationships/notesMaster" Target="/ppt/notesMasters/notesMaster1.xml" Id="R94a56244845644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28780a67b943a4" /><Relationship Type="http://schemas.openxmlformats.org/officeDocument/2006/relationships/notesMaster" Target="/ppt/notesMasters/notesMaster1.xml" Id="R4e48a180d3e94f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ec09c3802e4c89" /><Relationship Type="http://schemas.openxmlformats.org/officeDocument/2006/relationships/notesMaster" Target="/ppt/notesMasters/notesMaster1.xml" Id="R966dbe160c874b2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42619b37ca48aa" /><Relationship Type="http://schemas.openxmlformats.org/officeDocument/2006/relationships/notesMaster" Target="/ppt/notesMasters/notesMaster1.xml" Id="R59afa3d86f0041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85fa08eafd74f44" /><Relationship Type="http://schemas.openxmlformats.org/officeDocument/2006/relationships/notesMaster" Target="/ppt/notesMasters/notesMaster1.xml" Id="R01a658d3dc244b2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0062a5e7bd84322" /><Relationship Type="http://schemas.openxmlformats.org/officeDocument/2006/relationships/notesMaster" Target="/ppt/notesMasters/notesMaster1.xml" Id="Rcedd6e677c2b4d6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e7b3e4e0a1b4625" /><Relationship Type="http://schemas.openxmlformats.org/officeDocument/2006/relationships/notesMaster" Target="/ppt/notesMasters/notesMaster1.xml" Id="Rf148a36bf00c427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f83c7f5d1134353" /><Relationship Type="http://schemas.openxmlformats.org/officeDocument/2006/relationships/notesMaster" Target="/ppt/notesMasters/notesMaster1.xml" Id="R63154fe2f59e4b2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4ceef76ba414972" /><Relationship Type="http://schemas.openxmlformats.org/officeDocument/2006/relationships/notesMaster" Target="/ppt/notesMasters/notesMaster1.xml" Id="R7210f1829b2e49a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5345dd8faf743d1" /><Relationship Type="http://schemas.openxmlformats.org/officeDocument/2006/relationships/notesMaster" Target="/ppt/notesMasters/notesMaster1.xml" Id="R52879f6965ea4e2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e38af54ce8444db" /><Relationship Type="http://schemas.openxmlformats.org/officeDocument/2006/relationships/notesMaster" Target="/ppt/notesMasters/notesMaster1.xml" Id="R22a1b6406460408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f753f3457b0477e" /><Relationship Type="http://schemas.openxmlformats.org/officeDocument/2006/relationships/notesMaster" Target="/ppt/notesMasters/notesMaster1.xml" Id="Rcdf25ab9daf642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本章面向交通运输工程专业。有限排查资源应优先投向哪些事故集中区域？</a:t>
            </a:r>
          </a:p>
          <a:p xmlns:a="http://schemas.openxmlformats.org/drawingml/2006/main">
            <a:r>
              <a:t>背景为第一章已有课程概念插画，不是I-94、纽约或天津的实地照片。</a:t>
            </a:r>
          </a:p>
          <a:p xmlns:a="http://schemas.openxmlformats.org/drawingml/2006/main">
            <a:r>
              <a:t>建议135分钟讲授与讨论 + 90分钟上机</a:t>
            </a:r>
          </a:p>
          <a:p xmlns:a="http://schemas.openxmlformats.org/drawingml/2006/main">
            <a:r>
              <a:t>课堂：https://lilinchao.github.io/traffic-book-practice/open-course/chapter-05/</a:t>
            </a:r>
          </a:p>
          <a:p xmlns:a="http://schemas.openxmlformats.org/drawingml/2006/main">
            <a:r>
              <a:t>数据：https://data.cityofnewyork.us/Public-Safety/Motor-Vehicle-Collisions-Crashes/h9gi-nx95</a:t>
            </a:r>
          </a:p>
          <a:p xmlns:a="http://schemas.openxmlformats.org/drawingml/2006/main">
            <a:r>
              <a:t>NYC Open Data / NYPD，遵守原始数据条款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教学主线：有限排查资源应优先投向哪些事故集中区域？</a:t>
            </a:r>
          </a:p>
          <a:p xmlns:a="http://schemas.openxmlformats.org/drawingml/2006/main">
            <a:r>
              <a:t>建议135分钟讲授与讨论 + 90分钟上机</a:t>
            </a:r>
          </a:p>
          <a:p xmlns:a="http://schemas.openxmlformats.org/drawingml/2006/main">
            <a:r>
              <a:t>课堂：https://lilinchao.github.io/traffic-book-practice/open-course/chapter-05/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来源：https://data.cityofnewyork.us/Public-Safety/Motor-Vehicle-Collisions-Crashes/h9gi-nx95</a:t>
            </a:r>
          </a:p>
          <a:p xmlns:a="http://schemas.openxmlformats.org/drawingml/2006/main">
            <a:r>
              <a:t>NYC Open Data / NYPD，遵守原始数据条款</a:t>
            </a:r>
          </a:p>
          <a:p xmlns:a="http://schemas.openxmlformats.org/drawingml/2006/main">
            <a:r>
              <a:t>输入哈希：{"projects/data/crashes.json":"ed0b60193877eec20721d7b4b234193905bdb1927a0e053b7b570bf6a16b8405","chapters/data/algorithms/ch5.json":"2c4b4035cb5ff9f83801ff2f67ff4c4530850100d31652260688005abae7274e"}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本章用事故记录识别值得现场核查的范围。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现有资料支持事故负担与空间集中程度的描述，尚不能确定事故成因。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候选网格不是已确认的危险路口。道路设施、交通暴露量与事故形态需要进一步调查。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课堂追问：为何排查清单应写“候选范围”而不是直接写“最危险地点”？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交互课堂：https://lilinchao.github.io/traffic-book-practice/open-course/chapter-05/#mission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来源：https://data.cityofnewyork.us/Public-Safety/Motor-Vehicle-Collisions-Crashes/h9gi-nx95</a:t>
            </a:r>
          </a:p>
          <a:p xmlns:a="http://schemas.openxmlformats.org/drawingml/2006/main">
            <a:r>
              <a:t>NYC Open Data / NYPD，遵守原始数据条款</a:t>
            </a:r>
          </a:p>
          <a:p xmlns:a="http://schemas.openxmlformats.org/drawingml/2006/main">
            <a:r>
              <a:t>输入哈希：{"projects/data/crashes.json":"ed0b60193877eec20721d7b4b234193905bdb1927a0e053b7b570bf6a16b8405","chapters/data/algorithms/ch5.json":"2c4b4035cb5ff9f83801ff2f67ff4c4530850100d31652260688005abae7274e"}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空间对象的含义决定后续计算。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事故点描述记录位置，道路线表达通行设施，交通小区面表达区域统计范围。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点落在哪个区域与点离哪条道路最近属于不同问题，不能混用空间连接和地图匹配。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课堂追问：事故点在桥梁附近时，平面最近道路是否一定是实际发生道路？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交互课堂：https://lilinchao.github.io/traffic-book-practice/open-course/chapter-05/#geometry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来源：https://data.cityofnewyork.us/Public-Safety/Motor-Vehicle-Collisions-Crashes/h9gi-nx95</a:t>
            </a:r>
          </a:p>
          <a:p xmlns:a="http://schemas.openxmlformats.org/drawingml/2006/main">
            <a:r>
              <a:t>NYC Open Data / NYPD，遵守原始数据条款</a:t>
            </a:r>
          </a:p>
          <a:p xmlns:a="http://schemas.openxmlformats.org/drawingml/2006/main">
            <a:r>
              <a:t>输入哈希：{"projects/data/crashes.json":"ed0b60193877eec20721d7b4b234193905bdb1927a0e053b7b570bf6a16b8405","chapters/data/algorithms/ch5.json":"2c4b4035cb5ff9f83801ff2f67ff4c4530850100d31652260688005abae7274e"}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未能落图的记录仍然属于事故资料。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7,542条中7,068条通过既有坐标检查，474条不进入空间计算，不能补造位置。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按行政区比较记录数、有效点数和覆盖率，判断位置缺失是否可能影响排查覆盖。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课堂追问：坐标覆盖低的区域，地图上事故少意味着什么？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交互课堂：https://lilinchao.github.io/traffic-book-practice/open-course/chapter-05/#quality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来源：https://data.cityofnewyork.us/Public-Safety/Motor-Vehicle-Collisions-Crashes/h9gi-nx95</a:t>
            </a:r>
          </a:p>
          <a:p xmlns:a="http://schemas.openxmlformats.org/drawingml/2006/main">
            <a:r>
              <a:t>NYC Open Data / NYPD，遵守原始数据条款</a:t>
            </a:r>
          </a:p>
          <a:p xmlns:a="http://schemas.openxmlformats.org/drawingml/2006/main">
            <a:r>
              <a:t>输入哈希：{"projects/data/crashes.json":"ed0b60193877eec20721d7b4b234193905bdb1927a0e053b7b570bf6a16b8405","chapters/data/algorithms/ch5.json":"2c4b4035cb5ff9f83801ff2f67ff4c4530850100d31652260688005abae7274e"}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计算方式：根据真实观测在浏览器重新计算</a:t>
            </a:r>
          </a:p>
          <a:p xmlns:a="http://schemas.openxmlformats.org/drawingml/2006/main">
            <a:r>
              <a:t>默认参数：{}</a:t>
            </a:r>
          </a:p>
          <a:p xmlns:a="http://schemas.openxmlformats.org/drawingml/2006/main">
            <a:r>
              <a:t>数据范围：纽约2024年1月7,542起事故，7,068个有效坐标</a:t>
            </a:r>
          </a:p>
          <a:p xmlns:a="http://schemas.openxmlformats.org/drawingml/2006/main">
            <a:r>
              <a:t>结果解释：坐标排除不等于事故不存在。未知行政区记录也可能具有可用位置。</a:t>
            </a:r>
          </a:p>
          <a:p xmlns:a="http://schemas.openxmlformats.org/drawingml/2006/main">
            <a:r>
              <a:t>全部结果：{"columns":["行政区","事故记录","有效位置","坐标排除","位置覆盖（%）"],"rows":[["BRONX",819,794,25,96.94749694749694],["BROOKLYN",1818,1798,20,98.89988998899891],["MANHATTAN",841,824,17,97.97859690844233],["QUEENS",1465,1440,25,98.29351535836177],["STATEN ISLAND",220,215,5,97.72727272727273],["UNKNOWN",2379,1997,382,83.94283312316098]]}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默认网页：https://lilinchao.github.io/traffic-book-practice/open-course/chapter-05/#quality</a:t>
            </a:r>
          </a:p>
          <a:p xmlns:a="http://schemas.openxmlformats.org/drawingml/2006/main">
            <a:r>
              <a:t>输入文件SHA256：{"projects/data/crashes.json":"ed0b60193877eec20721d7b4b234193905bdb1927a0e053b7b570bf6a16b8405","chapters/data/algorithms/ch5.json":"2c4b4035cb5ff9f83801ff2f67ff4c4530850100d31652260688005abae7274e"}</a:t>
            </a:r>
          </a:p>
          <a:p xmlns:a="http://schemas.openxmlformats.org/drawingml/2006/main">
            <a:r>
              <a:t>来源：https://data.cityofnewyork.us/Public-Safety/Motor-Vehicle-Collisions-Crashes/h9gi-nx95。NYC Open Data / NYPD，遵守原始数据条款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经纬度的角度单位不能直接用作米制邻域。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本课堂沿用既有固定局部米制近似，便于复核网格、密度和聚类协议。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正式分析需要选择适当投影并检查误差。直线距离也不能自动代替沿道路行驶距离。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 ≈ (lon + 74.3) · 111320 · cos(40.73°)；y ≈ (lat − 40.45) · 111320</a:t>
            </a:r>
          </a:p>
          <a:p xmlns:a="http://schemas.openxmlformats.org/drawingml/2006/main">
            <a:r>
              <a:t>lon、lat：经纬度（度）。x、y：相对固定原点的局部距离（米），仅为课程近似。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课堂追问：跨越河流的两个近点，为什么可能具有很长的路网距离？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交互课堂：https://lilinchao.github.io/traffic-book-practice/open-course/chapter-05/#distance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来源：https://data.cityofnewyork.us/Public-Safety/Motor-Vehicle-Collisions-Crashes/h9gi-nx95</a:t>
            </a:r>
          </a:p>
          <a:p xmlns:a="http://schemas.openxmlformats.org/drawingml/2006/main">
            <a:r>
              <a:t>NYC Open Data / NYPD，遵守原始数据条款</a:t>
            </a:r>
          </a:p>
          <a:p xmlns:a="http://schemas.openxmlformats.org/drawingml/2006/main">
            <a:r>
              <a:t>输入哈希：{"projects/data/crashes.json":"ed0b60193877eec20721d7b4b234193905bdb1927a0e053b7b570bf6a16b8405","chapters/data/algorithms/ch5.json":"2c4b4035cb5ff9f83801ff2f67ff4c4530850100d31652260688005abae7274e"}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位置误差会影响事故或轨迹的道路归属。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点到道路匹配可用距离作候选筛选，轨迹匹配还可利用方向、连续性和路网连接。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评价应使用独立核对的道路归属，不能把算法自己生成的道路标签当真值。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课堂追问：高架与地面道路重叠时，还需要哪类信息来区分？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交互课堂：https://lilinchao.github.io/traffic-book-practice/open-course/chapter-05/#matching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来源：https://data.cityofnewyork.us/Public-Safety/Motor-Vehicle-Collisions-Crashes/h9gi-nx95</a:t>
            </a:r>
          </a:p>
          <a:p xmlns:a="http://schemas.openxmlformats.org/drawingml/2006/main">
            <a:r>
              <a:t>NYC Open Data / NYPD，遵守原始数据条款</a:t>
            </a:r>
          </a:p>
          <a:p xmlns:a="http://schemas.openxmlformats.org/drawingml/2006/main">
            <a:r>
              <a:t>输入哈希：{"projects/data/crashes.json":"ed0b60193877eec20721d7b4b234193905bdb1927a0e053b7b570bf6a16b8405","chapters/data/algorithms/ch5.json":"2c4b4035cb5ff9f83801ff2f67ff4c4530850100d31652260688005abae7274e"}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空间邻近与实际可达性不同。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站点周边500米圆形缓冲区只表达直线距离范围，尚未考虑围墙、河流和过街条件。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可达性分析需要路网距离或出行时间，供需匹配还需人口、岗位或出行需求等资料。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课堂追问：一个住宅区落在站点缓冲区内，是否就意味着步行服务便利？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交互课堂：https://lilinchao.github.io/traffic-book-practice/open-course/chapter-05/#coverage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来源：https://data.cityofnewyork.us/Public-Safety/Motor-Vehicle-Collisions-Crashes/h9gi-nx95</a:t>
            </a:r>
          </a:p>
          <a:p xmlns:a="http://schemas.openxmlformats.org/drawingml/2006/main">
            <a:r>
              <a:t>NYC Open Data / NYPD，遵守原始数据条款</a:t>
            </a:r>
          </a:p>
          <a:p xmlns:a="http://schemas.openxmlformats.org/drawingml/2006/main">
            <a:r>
              <a:t>输入哈希：{"projects/data/crashes.json":"ed0b60193877eec20721d7b4b234193905bdb1927a0e053b7b570bf6a16b8405","chapters/data/algorithms/ch5.json":"2c4b4035cb5ff9f83801ff2f67ff4c4530850100d31652260688005abae7274e"}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250米与1000米网格对应不同排查范围。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网格增大通常会把更多事故合并，计数较大不能单独说明单位面积或单位暴露风险更高。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固定原点与有效点集，只改变边长，比较有记录网格数和前10网格覆盖比例。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课堂追问：前10个大网格覆盖事故更多，为什么未必更适合逐路口排查？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交互课堂：https://lilinchao.github.io/traffic-book-practice/open-course/chapter-05/#grid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来源：https://data.cityofnewyork.us/Public-Safety/Motor-Vehicle-Collisions-Crashes/h9gi-nx95</a:t>
            </a:r>
          </a:p>
          <a:p xmlns:a="http://schemas.openxmlformats.org/drawingml/2006/main">
            <a:r>
              <a:t>NYC Open Data / NYPD，遵守原始数据条款</a:t>
            </a:r>
          </a:p>
          <a:p xmlns:a="http://schemas.openxmlformats.org/drawingml/2006/main">
            <a:r>
              <a:t>输入哈希：{"projects/data/crashes.json":"ed0b60193877eec20721d7b4b234193905bdb1927a0e053b7b570bf6a16b8405","chapters/data/algorithms/ch5.json":"2c4b4035cb5ff9f83801ff2f67ff4c4530850100d31652260688005abae7274e"}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计算方式：根据真实观测在浏览器重新计算</a:t>
            </a:r>
          </a:p>
          <a:p xmlns:a="http://schemas.openxmlformats.org/drawingml/2006/main">
            <a:r>
              <a:t>默认参数：{"borough":"all"}</a:t>
            </a:r>
          </a:p>
          <a:p xmlns:a="http://schemas.openxmlformats.org/drawingml/2006/main">
            <a:r>
              <a:t>数据范围：纽约2024年1月7,542起事故，7,068个有效坐标</a:t>
            </a:r>
          </a:p>
          <a:p xmlns:a="http://schemas.openxmlformats.org/drawingml/2006/main">
            <a:r>
              <a:t>结果解释：K=min(10,有记录网格数)。同一个K不代表相同面积；不同尺度的网格ID不能直接求交集。仅报告事故记录集中程度，不是事故概率或暴露量校正风险。</a:t>
            </a:r>
          </a:p>
          <a:p xmlns:a="http://schemas.openxmlformats.org/drawingml/2006/main">
            <a:r>
              <a:t>全部结果：{"columns":["边长（米）","可落图事故","有记录网格","实际取前K格","前K格事故数","前K格覆盖率（%）"],"rows":[[250,7068,4123,10,100,1.414827391058291],[500,7068,2069,10,161,2.277872099603848],[1000,7068,720,10,342,4.838709677419355]]}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默认网页：https://lilinchao.github.io/traffic-book-practice/open-course/chapter-05/#grid</a:t>
            </a:r>
          </a:p>
          <a:p xmlns:a="http://schemas.openxmlformats.org/drawingml/2006/main">
            <a:r>
              <a:t>输入文件SHA256：{"projects/data/crashes.json":"ed0b60193877eec20721d7b4b234193905bdb1927a0e053b7b570bf6a16b8405","chapters/data/algorithms/ch5.json":"2c4b4035cb5ff9f83801ff2f67ff4c4530850100d31652260688005abae7274e"}</a:t>
            </a:r>
          </a:p>
          <a:p xmlns:a="http://schemas.openxmlformats.org/drawingml/2006/main">
            <a:r>
              <a:t>来源：https://data.cityofnewyork.us/Public-Safety/Motor-Vehicle-Collisions-Crashes/h9gi-nx95。NYC Open Data / NYPD，遵守原始数据条款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排查目标变化会改变候选范围。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事故记录数侧重事件频次，伤者人数侧重人员伤害负担。它们对应不同管理关注。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同一500米网格分别排序，核对清单交集与各候选的两类计数。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课堂追问：你会怎样说明一种排序优先于另一种排序的理由？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交互课堂：https://lilinchao.github.io/traffic-book-practice/open-course/chapter-05/#priority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来源：https://data.cityofnewyork.us/Public-Safety/Motor-Vehicle-Collisions-Crashes/h9gi-nx95</a:t>
            </a:r>
          </a:p>
          <a:p xmlns:a="http://schemas.openxmlformats.org/drawingml/2006/main">
            <a:r>
              <a:t>NYC Open Data / NYPD，遵守原始数据条款</a:t>
            </a:r>
          </a:p>
          <a:p xmlns:a="http://schemas.openxmlformats.org/drawingml/2006/main">
            <a:r>
              <a:t>输入哈希：{"projects/data/crashes.json":"ed0b60193877eec20721d7b4b234193905bdb1927a0e053b7b570bf6a16b8405","chapters/data/algorithms/ch5.json":"2c4b4035cb5ff9f83801ff2f67ff4c4530850100d31652260688005abae7274e"}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计算方式：根据真实观测在浏览器重新计算</a:t>
            </a:r>
          </a:p>
          <a:p xmlns:a="http://schemas.openxmlformats.org/drawingml/2006/main">
            <a:r>
              <a:t>默认参数：{"borough":"all"}</a:t>
            </a:r>
          </a:p>
          <a:p xmlns:a="http://schemas.openxmlformats.org/drawingml/2006/main">
            <a:r>
              <a:t>数据范围：纽约2024年1月7,542起事故，7,068个有效坐标</a:t>
            </a:r>
          </a:p>
          <a:p xmlns:a="http://schemas.openxmlformats.org/drawingml/2006/main">
            <a:r>
              <a:t>结果解释：只比较两份前10名单的并集。图中较短的柱代表更靠前的名次，并非计数更少。伤者人数来自事故报告；未加入交通暴露量、道路环境或报告完整性校正。</a:t>
            </a:r>
          </a:p>
          <a:p xmlns:a="http://schemas.openxmlformats.org/drawingml/2006/main">
            <a:r>
              <a:t>全部结果：{"columns":["网格ID","事故次数","伤者人数","次数名次","伤者名次","名单归属"],"rows":[["53:54",21,3,1,378,"仅次数入选"],["52:68",20,4,2,216,"仅次数入选"],["65:49",19,12,3,7,"两者均入选"],["69:40",16,12,4,9,"两者均入选"],["54:52",15,5,5,147,"仅次数入选"],["50:59",14,7,6,54,"仅次数入选"],["52:53",14,6,7,97,"仅次数入选"],["63:53",14,4,8,265,"仅次数入选"],["67:50",14,9,9,25,"仅次数入选"],["79:69",14,7,10,85,"仅次数入选"],["86:48",9,16,120,1,"仅伤者入选"],["52:66",11,14,34,2,"仅伤者入选"],["69:100",10,14,69,3,"仅伤者入选"],["66:42",7,13,232,4,"仅伤者入选"],["70:48",9,13,109,5,"仅伤者入选"],["61:55",10,12,56,6,"仅伤者入选"],["65:91",12,12,28,8,"仅伤者入选"],["69:86",11,12,42,10,"仅伤者入选"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默认网页：https://lilinchao.github.io/traffic-book-practice/open-course/chapter-05/#priority</a:t>
            </a:r>
          </a:p>
          <a:p xmlns:a="http://schemas.openxmlformats.org/drawingml/2006/main">
            <a:r>
              <a:t>输入文件SHA256：{"projects/data/crashes.json":"ed0b60193877eec20721d7b4b234193905bdb1927a0e053b7b570bf6a16b8405","chapters/data/algorithms/ch5.json":"2c4b4035cb5ff9f83801ff2f67ff4c4530850100d31652260688005abae7274e"}</a:t>
            </a:r>
          </a:p>
          <a:p xmlns:a="http://schemas.openxmlformats.org/drawingml/2006/main">
            <a:r>
              <a:t>来源：https://data.cityofnewyork.us/Public-Safety/Motor-Vehicle-Collisions-Crashes/h9gi-nx95。NYC Open Data / NYPD，遵守原始数据条款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KDE把事故点的局部贡献叠加成连续密度。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带宽h决定平滑范围，较小h突出局部集中，较大h合并邻近峰值。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此处为概率密度1/km²，积分意义和事故次数不同。边界、有效点集与评价位置必须相同。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f̂_h(s) = Σ_i exp(−||s−s_i||² / (2h²)) / (n · 2πh²)</a:t>
            </a:r>
          </a:p>
          <a:p xmlns:a="http://schemas.openxmlformats.org/drawingml/2006/main">
            <a:r>
              <a:t>s、s_i：评价点与第i个事故点。||·||：欧氏距离。h：带宽，距离单位为米。n：有效点数。Σ_i：逐点求和。π：圆周率。f̂：密度，乘10⁶换为1/km²。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课堂追问：把密度峰值称为事故风险峰值，还缺什么分母？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交互课堂：https://lilinchao.github.io/traffic-book-practice/open-course/chapter-05/#kde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来源：https://data.cityofnewyork.us/Public-Safety/Motor-Vehicle-Collisions-Crashes/h9gi-nx95</a:t>
            </a:r>
          </a:p>
          <a:p xmlns:a="http://schemas.openxmlformats.org/drawingml/2006/main">
            <a:r>
              <a:t>NYC Open Data / NYPD，遵守原始数据条款</a:t>
            </a:r>
          </a:p>
          <a:p xmlns:a="http://schemas.openxmlformats.org/drawingml/2006/main">
            <a:r>
              <a:t>输入哈希：{"projects/data/crashes.json":"ed0b60193877eec20721d7b4b234193905bdb1927a0e053b7b570bf6a16b8405","chapters/data/algorithms/ch5.json":"2c4b4035cb5ff9f83801ff2f67ff4c4530850100d31652260688005abae7274e"}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计算方式：根据真实观测在浏览器重新计算</a:t>
            </a:r>
          </a:p>
          <a:p xmlns:a="http://schemas.openxmlformats.org/drawingml/2006/main">
            <a:r>
              <a:t>默认参数：{"bandwidth":"500"}</a:t>
            </a:r>
          </a:p>
          <a:p xmlns:a="http://schemas.openxmlformats.org/drawingml/2006/main">
            <a:r>
              <a:t>数据范围：纽约2024年1月7,542起事故，7,068个有效坐标</a:t>
            </a:r>
          </a:p>
          <a:p xmlns:a="http://schemas.openxmlformats.org/drawingml/2006/main">
            <a:r>
              <a:t>结果解释：7068有效点与2069固定500米网格中心。此处高斯KDE直接重新求和，不将概率密度解释为风险。</a:t>
            </a:r>
          </a:p>
          <a:p xmlns:a="http://schemas.openxmlformats.org/drawingml/2006/main">
            <a:r>
              <a:t>全部结果：{"columns":["网格ID","东向km","北向km","密度1/km²"],"rows":[["51:68",25.75,34.25,0.004820626426568699],["52:68",26.25,34.25,0.004797028214966923],["52:67",26.25,33.75,0.004569823360552169],["65:49",32.75,24.75,0.004508940661825653],["53:54",26.75,27.25,0.004493515761094053],["51:67",25.75,33.75,0.00438947672495248],["53:53",26.75,26.75,0.00438788448578181],["51:59",25.75,29.75,0.004310413715031472],["67:50",33.75,25.25,0.004303918069128002],["66:50",33.25,25.25,0.004301565203233306]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默认网页：https://lilinchao.github.io/traffic-book-practice/open-course/chapter-05/#kde</a:t>
            </a:r>
          </a:p>
          <a:p xmlns:a="http://schemas.openxmlformats.org/drawingml/2006/main">
            <a:r>
              <a:t>输入文件SHA256：{"projects/data/crashes.json":"ed0b60193877eec20721d7b4b234193905bdb1927a0e053b7b570bf6a16b8405","chapters/data/algorithms/ch5.json":"2c4b4035cb5ff9f83801ff2f67ff4c4530850100d31652260688005abae7274e"}</a:t>
            </a:r>
          </a:p>
          <a:p xmlns:a="http://schemas.openxmlformats.org/drawingml/2006/main">
            <a:r>
              <a:t>来源：https://data.cityofnewyork.us/Public-Safety/Motor-Vehicle-Collisions-Crashes/h9gi-nx95。NYC Open Data / NYPD，遵守原始数据条款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DBSCAN寻找密度可达的事故点群。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eps是邻域距离，min_samples是核心点所需邻域点数，按算法约定包含该点自身。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噪声点只表示在给定参数下未归入簇，不等于无效事故。大半径可能连接成巨簇。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课堂追问：一条链状点列为何可能把相隔很远的区域连成一个簇？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交互课堂：https://lilinchao.github.io/traffic-book-practice/open-course/chapter-05/#dbscan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来源：https://data.cityofnewyork.us/Public-Safety/Motor-Vehicle-Collisions-Crashes/h9gi-nx95</a:t>
            </a:r>
          </a:p>
          <a:p xmlns:a="http://schemas.openxmlformats.org/drawingml/2006/main">
            <a:r>
              <a:t>NYC Open Data / NYPD，遵守原始数据条款</a:t>
            </a:r>
          </a:p>
          <a:p xmlns:a="http://schemas.openxmlformats.org/drawingml/2006/main">
            <a:r>
              <a:t>输入哈希：{"projects/data/crashes.json":"ed0b60193877eec20721d7b4b234193905bdb1927a0e053b7b570bf6a16b8405","chapters/data/algorithms/ch5.json":"2c4b4035cb5ff9f83801ff2f67ff4c4530850100d31652260688005abae7274e"}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计算方式：冻结DBSCAN结果浏览与统计</a:t>
            </a:r>
          </a:p>
          <a:p xmlns:a="http://schemas.openxmlformats.org/drawingml/2006/main">
            <a:r>
              <a:t>默认参数：{"eps":"350","minimum":"5"}</a:t>
            </a:r>
          </a:p>
          <a:p xmlns:a="http://schemas.openxmlformats.org/drawingml/2006/main">
            <a:r>
              <a:t>数据范围：纽约2024年1月7,542起事故，7,068个有效坐标</a:t>
            </a:r>
          </a:p>
          <a:p xmlns:a="http://schemas.openxmlformats.org/drawingml/2006/main">
            <a:r>
              <a:t>结果解释：切换既有Python DBSCAN标签并重新统计，不在浏览器重新拟合。噪声标签不是错误观测。</a:t>
            </a:r>
          </a:p>
          <a:p xmlns:a="http://schemas.openxmlformats.org/drawingml/2006/main">
            <a:r>
              <a:t>全部结果：{"columns":["类别","事故点数"],"rows":[["簇1",1704],["簇0",1557],["噪声",1036],["簇2",313],["簇4",240],["簇9",177],["簇13",145],["簇31",120],["簇20",77],["簇28",61],["簇17",56],["簇41",49],["簇29",43],["簇25",42],["簇64",42],["簇65",36],["簇32",36],["簇27",30],["簇22",29],["簇23",29],["簇14",28],["簇40",27],["簇58",27],["簇15",26],["簇74",25],["簇34",25],["簇66",24],["簇59",22],["簇56",22],["簇30",21],["簇47",20],["簇103",20],["簇55",19],["簇83",18],["簇16",16],["簇62",16],["簇18",15],["簇86",15],["簇12",14],["簇75",14],["簇33",14],["簇67",14],["簇131",14],["簇90",14],["簇50",13],["簇46",13],["簇77",13],["簇97",13],["簇120",13],["簇122",13],["簇3",12],["簇51",12],["簇73",12],["簇118",12],["簇93",12],["簇21",11],["簇94",11],["簇69",11],["簇84",11],["簇88",11],["簇98",11],["簇39",10],["簇42",10],["簇10",9],["簇26",9],["簇81",9],["簇43",9],["簇45",9],["簇48",9],["簇49",9],["簇79",9],["簇102",9],["簇8",8],["簇35",8],["簇117",8],["簇105",8],["簇111",8],["簇57",8],["簇60",8],["簇96",8],["簇80",8],["簇100",8],["簇124",8],["簇5",7],["簇11",7],["簇24",7],["簇135",7],["簇76",7],["簇54",7],["簇138",7],["簇68",7],["簇116",7],["簇71",7],["簇112",7],["簇109",7],["簇107",7],["簇108",7],["簇130",7],["簇115",7],["簇101",6],["簇95",6],["簇142",6],["簇36",6],["簇44",6],["簇52",6],["簇134",6],["簇126",6],["簇63",6],["簇70",6],["簇123",6],["簇139",6],["簇78",6],["簇114",6],["簇89",6],["簇104",6],["簇113",6],["簇119",6],["簇137",6],["簇147",5],["簇85",5],["簇148",5],["簇6",5],["簇7",5],["簇19",5],["簇37",5],["簇38",5],["簇141",5],["簇140",5],["簇61",5],["簇127",5],["簇110",5],["簇128",5],["簇125",5],["簇72",5],["簇82",5],["簇145",5],["簇87",5],["簇91",5],["簇92",5],["簇106",5],["簇121",5],["簇149",5],["簇129",5],["簇132",5],["簇144",5],["簇146",4],["簇53",4],["簇143",4],["簇136",4],["簇133",4],["簇99",2]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默认网页：https://lilinchao.github.io/traffic-book-practice/open-course/chapter-05/#dbscan</a:t>
            </a:r>
          </a:p>
          <a:p xmlns:a="http://schemas.openxmlformats.org/drawingml/2006/main">
            <a:r>
              <a:t>输入文件SHA256：{"projects/data/crashes.json":"ed0b60193877eec20721d7b4b234193905bdb1927a0e053b7b570bf6a16b8405","chapters/data/algorithms/ch5.json":"2c4b4035cb5ff9f83801ff2f67ff4c4530850100d31652260688005abae7274e"}</a:t>
            </a:r>
          </a:p>
          <a:p xmlns:a="http://schemas.openxmlformats.org/drawingml/2006/main">
            <a:r>
              <a:t>来源：https://data.cityofnewyork.us/Public-Safety/Motor-Vehicle-Collisions-Crashes/h9gi-nx95。NYC Open Data / NYPD，遵守原始数据条款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描述性密度与统计显著性需要区分。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Moran’s I依赖观测变量、区域单元和空间权重矩阵。权重可以表达邻接，也可以表达距离或道路联系。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局部检验需要注意多重比较。空间相关显著不能直接说明某项设施导致事故。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课堂追问：改变区域划分后，显著热点是否一定保持不变？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交互课堂：https://lilinchao.github.io/traffic-book-practice/open-course/chapter-05/#autocorrelation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来源：https://data.cityofnewyork.us/Public-Safety/Motor-Vehicle-Collisions-Crashes/h9gi-nx95</a:t>
            </a:r>
          </a:p>
          <a:p xmlns:a="http://schemas.openxmlformats.org/drawingml/2006/main">
            <a:r>
              <a:t>NYC Open Data / NYPD，遵守原始数据条款</a:t>
            </a:r>
          </a:p>
          <a:p xmlns:a="http://schemas.openxmlformats.org/drawingml/2006/main">
            <a:r>
              <a:t>输入哈希：{"projects/data/crashes.json":"ed0b60193877eec20721d7b4b234193905bdb1927a0e053b7b570bf6a16b8405","chapters/data/algorithms/ch5.json":"2c4b4035cb5ff9f83801ff2f67ff4c4530850100d31652260688005abae7274e"}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方法选择要回到数据生成过程。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IDW或Kriging适用于具有合理连续空间场假设的测量，不能随意插值离散事故是否发生。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SLM、SEM和GWR分别处理不同的依赖或异质性假设，应比较残差、权重与带宽敏感性。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课堂追问：为了让地图更平滑而插值事故次数，会隐藏哪些问题？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交互课堂：https://lilinchao.github.io/traffic-book-practice/open-course/chapter-05/#extensions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来源：https://data.cityofnewyork.us/Public-Safety/Motor-Vehicle-Collisions-Crashes/h9gi-nx95</a:t>
            </a:r>
          </a:p>
          <a:p xmlns:a="http://schemas.openxmlformats.org/drawingml/2006/main">
            <a:r>
              <a:t>NYC Open Data / NYPD，遵守原始数据条款</a:t>
            </a:r>
          </a:p>
          <a:p xmlns:a="http://schemas.openxmlformats.org/drawingml/2006/main">
            <a:r>
              <a:t>输入哈希：{"projects/data/crashes.json":"ed0b60193877eec20721d7b4b234193905bdb1927a0e053b7b570bf6a16b8405","chapters/data/algorithms/ch5.json":"2c4b4035cb5ff9f83801ff2f67ff4c4530850100d31652260688005abae7274e"}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同一批点可以回答不同的空间问题。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网格用于范围汇总，KDE用于局部集中程度描述，DBSCAN用于密度连通分组。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本课没有独立事故热点真值，因此不报告“热点识别准确率”，也不按图形好看程度选参数。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课堂追问：若要做道路治理效果评价，应另补什么时间与对照资料？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交互课堂：https://lilinchao.github.io/traffic-book-practice/open-course/chapter-05/#compare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来源：https://data.cityofnewyork.us/Public-Safety/Motor-Vehicle-Collisions-Crashes/h9gi-nx95</a:t>
            </a:r>
          </a:p>
          <a:p xmlns:a="http://schemas.openxmlformats.org/drawingml/2006/main">
            <a:r>
              <a:t>NYC Open Data / NYPD，遵守原始数据条款</a:t>
            </a:r>
          </a:p>
          <a:p xmlns:a="http://schemas.openxmlformats.org/drawingml/2006/main">
            <a:r>
              <a:t>输入哈希：{"projects/data/crashes.json":"ed0b60193877eec20721d7b4b234193905bdb1927a0e053b7b570bf6a16b8405","chapters/data/algorithms/ch5.json":"2c4b4035cb5ff9f83801ff2f67ff4c4530850100d31652260688005abae7274e"}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用真实点集重算候选网格。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编辑参数可改变网格边长或排序依据，运行得到完整结果表。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JavaScript在本机计算；Python完整项目进一步运行KDE和DBSCAN并输出点位清单。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课堂追问：同一地点在不同尺度下网格ID变化，报告应怎样保留可追溯性？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交互课堂：https://lilinchao.github.io/traffic-book-practice/open-course/chapter-05/#code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来源：https://data.cityofnewyork.us/Public-Safety/Motor-Vehicle-Collisions-Crashes/h9gi-nx95</a:t>
            </a:r>
          </a:p>
          <a:p xmlns:a="http://schemas.openxmlformats.org/drawingml/2006/main">
            <a:r>
              <a:t>NYC Open Data / NYPD，遵守原始数据条款</a:t>
            </a:r>
          </a:p>
          <a:p xmlns:a="http://schemas.openxmlformats.org/drawingml/2006/main">
            <a:r>
              <a:t>输入哈希：{"projects/data/crashes.json":"ed0b60193877eec20721d7b4b234193905bdb1927a0e053b7b570bf6a16b8405","chapters/data/algorithms/ch5.json":"2c4b4035cb5ff9f83801ff2f67ff4c4530850100d31652260688005abae7274e"}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空间分析是现场核查的前置证据。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至少选3处候选，记录坐标范围、事故数量、伤者负担与参数敏感性。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补充具体道路对象、交叉口控制方式、事故形态及暴露资料，形成下一阶段调查问题。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课堂追问：你最希望在现场验证哪个可能机制？现有点位资料是否足以确认它？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交互课堂：https://lilinchao.github.io/traffic-book-practice/open-course/chapter-05/#project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来源：https://data.cityofnewyork.us/Public-Safety/Motor-Vehicle-Collisions-Crashes/h9gi-nx95</a:t>
            </a:r>
          </a:p>
          <a:p xmlns:a="http://schemas.openxmlformats.org/drawingml/2006/main">
            <a:r>
              <a:t>NYC Open Data / NYPD，遵守原始数据条款</a:t>
            </a:r>
          </a:p>
          <a:p xmlns:a="http://schemas.openxmlformats.org/drawingml/2006/main">
            <a:r>
              <a:t>输入哈希：{"projects/data/crashes.json":"ed0b60193877eec20721d7b4b234193905bdb1927a0e053b7b570bf6a16b8405","chapters/data/algorithms/ch5.json":"2c4b4035cb5ff9f83801ff2f67ff4c4530850100d31652260688005abae7274e"}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教学主线：有限排查资源应优先投向哪些事故集中区域？</a:t>
            </a:r>
          </a:p>
          <a:p xmlns:a="http://schemas.openxmlformats.org/drawingml/2006/main">
            <a:r>
              <a:t>建议135分钟讲授与讨论 + 90分钟上机</a:t>
            </a:r>
          </a:p>
          <a:p xmlns:a="http://schemas.openxmlformats.org/drawingml/2006/main">
            <a:r>
              <a:t>课堂：https://lilinchao.github.io/traffic-book-practice/open-course/chapter-05/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来源：https://data.cityofnewyork.us/Public-Safety/Motor-Vehicle-Collisions-Crashes/h9gi-nx95</a:t>
            </a:r>
          </a:p>
          <a:p xmlns:a="http://schemas.openxmlformats.org/drawingml/2006/main">
            <a:r>
              <a:t>NYC Open Data / NYPD，遵守原始数据条款</a:t>
            </a:r>
          </a:p>
          <a:p xmlns:a="http://schemas.openxmlformats.org/drawingml/2006/main">
            <a:r>
              <a:t>输入哈希：{"projects/data/crashes.json":"ed0b60193877eec20721d7b4b234193905bdb1927a0e053b7b570bf6a16b8405","chapters/data/algorithms/ch5.json":"2c4b4035cb5ff9f83801ff2f67ff4c4530850100d31652260688005abae7274e"}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e8ec1d81d48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c0a92041974903" /><Relationship Type="http://schemas.openxmlformats.org/officeDocument/2006/relationships/slideLayout" Target="/ppt/slideLayouts/slideLayout1.xml" Id="Rebb04a9021534d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b04a9021534d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584e5c9a841eb" /><Relationship Type="http://schemas.openxmlformats.org/officeDocument/2006/relationships/image" Target="/ppt/media/image.png" Id="Rd1b5a7fb8fd746ff" /><Relationship Type="http://schemas.openxmlformats.org/officeDocument/2006/relationships/notesSlide" Target="/ppt/notesSlides/notesSlide1.xml" Id="R35d45e277d084d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85e1e22aa4f50" /><Relationship Type="http://schemas.openxmlformats.org/officeDocument/2006/relationships/hyperlink" Target="https://lilinchao.github.io/traffic-book-practice/open-course/chapter-05/" TargetMode="External" Id="R3924224d67304963" /><Relationship Type="http://schemas.openxmlformats.org/officeDocument/2006/relationships/notesSlide" Target="/ppt/notesSlides/notesSlide2.xml" Id="Ra81fe6317b3641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4cae2d409477e" /><Relationship Type="http://schemas.openxmlformats.org/officeDocument/2006/relationships/hyperlink" Target="https://lilinchao.github.io/traffic-book-practice/open-course/chapter-05/#mission" TargetMode="External" Id="R8297c21ff6cc4fc6" /><Relationship Type="http://schemas.openxmlformats.org/officeDocument/2006/relationships/notesSlide" Target="/ppt/notesSlides/notesSlide3.xml" Id="R7ed840ef9c2441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11456e5ff4baf" /><Relationship Type="http://schemas.openxmlformats.org/officeDocument/2006/relationships/hyperlink" Target="https://lilinchao.github.io/traffic-book-practice/open-course/chapter-05/#geometry" TargetMode="External" Id="Rfbe958dc77c443f2" /><Relationship Type="http://schemas.openxmlformats.org/officeDocument/2006/relationships/notesSlide" Target="/ppt/notesSlides/notesSlide4.xml" Id="R5a943e5e206445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6d9b0de884d3b" /><Relationship Type="http://schemas.openxmlformats.org/officeDocument/2006/relationships/hyperlink" Target="https://lilinchao.github.io/traffic-book-practice/open-course/chapter-05/#quality" TargetMode="External" Id="Rd48db7de611e47da" /><Relationship Type="http://schemas.openxmlformats.org/officeDocument/2006/relationships/notesSlide" Target="/ppt/notesSlides/notesSlide5.xml" Id="Rb98fe8d52c744d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cc834acb249a3" /><Relationship Type="http://schemas.openxmlformats.org/officeDocument/2006/relationships/chart" Target="/ppt/slides/charts/chart1.xml" Id="R33172faf804b49f4" /><Relationship Type="http://schemas.openxmlformats.org/officeDocument/2006/relationships/hyperlink" Target="https://lilinchao.github.io/traffic-book-practice/open-course/chapter-05/#quality" TargetMode="External" Id="Rb84ee4f960aa4066" /><Relationship Type="http://schemas.openxmlformats.org/officeDocument/2006/relationships/notesSlide" Target="/ppt/notesSlides/notesSlide6.xml" Id="Rab36afb8533a49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d48502b6344f6" /><Relationship Type="http://schemas.openxmlformats.org/officeDocument/2006/relationships/hyperlink" Target="https://lilinchao.github.io/traffic-book-practice/open-course/chapter-05/#distance" TargetMode="External" Id="R5f119df24c3b4daa" /><Relationship Type="http://schemas.openxmlformats.org/officeDocument/2006/relationships/notesSlide" Target="/ppt/notesSlides/notesSlide7.xml" Id="R47a835221f1743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100e536d048ad" /><Relationship Type="http://schemas.openxmlformats.org/officeDocument/2006/relationships/hyperlink" Target="https://lilinchao.github.io/traffic-book-practice/open-course/chapter-05/#matching" TargetMode="External" Id="Rd498b957da954ebc" /><Relationship Type="http://schemas.openxmlformats.org/officeDocument/2006/relationships/notesSlide" Target="/ppt/notesSlides/notesSlide8.xml" Id="Ra4f381e6678d47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04153a4354b22" /><Relationship Type="http://schemas.openxmlformats.org/officeDocument/2006/relationships/hyperlink" Target="https://lilinchao.github.io/traffic-book-practice/open-course/chapter-05/#coverage" TargetMode="External" Id="R5e5b1f28824a49bf" /><Relationship Type="http://schemas.openxmlformats.org/officeDocument/2006/relationships/notesSlide" Target="/ppt/notesSlides/notesSlide9.xml" Id="R4c9fd874e08e41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2872b626945b1" /><Relationship Type="http://schemas.openxmlformats.org/officeDocument/2006/relationships/hyperlink" Target="https://lilinchao.github.io/traffic-book-practice/open-course/chapter-05/#grid" TargetMode="External" Id="R3aa5c51c81354ab1" /><Relationship Type="http://schemas.openxmlformats.org/officeDocument/2006/relationships/notesSlide" Target="/ppt/notesSlides/notesSlide10.xml" Id="Re4c62d3495ab4f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e939776f041c3" /><Relationship Type="http://schemas.openxmlformats.org/officeDocument/2006/relationships/chart" Target="/ppt/slides/charts/chart2.xml" Id="R1ce492bc49e945d0" /><Relationship Type="http://schemas.openxmlformats.org/officeDocument/2006/relationships/hyperlink" Target="https://lilinchao.github.io/traffic-book-practice/open-course/chapter-05/#grid" TargetMode="External" Id="R70cf8a41f5de4240" /><Relationship Type="http://schemas.openxmlformats.org/officeDocument/2006/relationships/notesSlide" Target="/ppt/notesSlides/notesSlide11.xml" Id="R986028b3d9414e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00062991f4346" /><Relationship Type="http://schemas.openxmlformats.org/officeDocument/2006/relationships/hyperlink" Target="https://lilinchao.github.io/traffic-book-practice/open-course/chapter-05/#priority" TargetMode="External" Id="R272fc7ef2f02474b" /><Relationship Type="http://schemas.openxmlformats.org/officeDocument/2006/relationships/notesSlide" Target="/ppt/notesSlides/notesSlide12.xml" Id="R5ab9ea5c88a140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e5fec8de54360" /><Relationship Type="http://schemas.openxmlformats.org/officeDocument/2006/relationships/chart" Target="/ppt/slides/charts/chart3.xml" Id="Rebe570aa58f340bc" /><Relationship Type="http://schemas.openxmlformats.org/officeDocument/2006/relationships/hyperlink" Target="https://lilinchao.github.io/traffic-book-practice/open-course/chapter-05/#priority" TargetMode="External" Id="Rf4d9d3a578e9403f" /><Relationship Type="http://schemas.openxmlformats.org/officeDocument/2006/relationships/notesSlide" Target="/ppt/notesSlides/notesSlide13.xml" Id="R25dfad837b0445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87a54b0af47e0" /><Relationship Type="http://schemas.openxmlformats.org/officeDocument/2006/relationships/hyperlink" Target="https://lilinchao.github.io/traffic-book-practice/open-course/chapter-05/#kde" TargetMode="External" Id="Rbb87511dcc33439a" /><Relationship Type="http://schemas.openxmlformats.org/officeDocument/2006/relationships/notesSlide" Target="/ppt/notesSlides/notesSlide14.xml" Id="Re984c868e1714f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09c31b18a46e5" /><Relationship Type="http://schemas.openxmlformats.org/officeDocument/2006/relationships/chart" Target="/ppt/slides/charts/chart4.xml" Id="R3005ed372b604998" /><Relationship Type="http://schemas.openxmlformats.org/officeDocument/2006/relationships/hyperlink" Target="https://lilinchao.github.io/traffic-book-practice/open-course/chapter-05/#kde" TargetMode="External" Id="R701082a64e6f4f0f" /><Relationship Type="http://schemas.openxmlformats.org/officeDocument/2006/relationships/notesSlide" Target="/ppt/notesSlides/notesSlide15.xml" Id="Rd4ff8a99e0c24b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fbfd2c8554f31" /><Relationship Type="http://schemas.openxmlformats.org/officeDocument/2006/relationships/hyperlink" Target="https://lilinchao.github.io/traffic-book-practice/open-course/chapter-05/#dbscan" TargetMode="External" Id="R70fff240a2fa4c4a" /><Relationship Type="http://schemas.openxmlformats.org/officeDocument/2006/relationships/notesSlide" Target="/ppt/notesSlides/notesSlide16.xml" Id="R9fceccc52772488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12fcea2f64f2f" /><Relationship Type="http://schemas.openxmlformats.org/officeDocument/2006/relationships/chart" Target="/ppt/slides/charts/chart5.xml" Id="R1e7fcd38ee364731" /><Relationship Type="http://schemas.openxmlformats.org/officeDocument/2006/relationships/hyperlink" Target="https://lilinchao.github.io/traffic-book-practice/open-course/chapter-05/#dbscan" TargetMode="External" Id="R72f13d0557ff4c90" /><Relationship Type="http://schemas.openxmlformats.org/officeDocument/2006/relationships/notesSlide" Target="/ppt/notesSlides/notesSlide17.xml" Id="R2344d60a670e445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c1795c83f462e" /><Relationship Type="http://schemas.openxmlformats.org/officeDocument/2006/relationships/hyperlink" Target="https://lilinchao.github.io/traffic-book-practice/open-course/chapter-05/#autocorrelation" TargetMode="External" Id="Re9692ed2c70143a7" /><Relationship Type="http://schemas.openxmlformats.org/officeDocument/2006/relationships/notesSlide" Target="/ppt/notesSlides/notesSlide18.xml" Id="R7cc4a8be12ef4e6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6a7ac5a5f49d5" /><Relationship Type="http://schemas.openxmlformats.org/officeDocument/2006/relationships/hyperlink" Target="https://lilinchao.github.io/traffic-book-practice/open-course/chapter-05/#extensions" TargetMode="External" Id="Rfc22bc8a13384a9d" /><Relationship Type="http://schemas.openxmlformats.org/officeDocument/2006/relationships/notesSlide" Target="/ppt/notesSlides/notesSlide19.xml" Id="R399144a569bd4e4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c82417c694e64" /><Relationship Type="http://schemas.openxmlformats.org/officeDocument/2006/relationships/hyperlink" Target="https://lilinchao.github.io/traffic-book-practice/open-course/chapter-05/#compare" TargetMode="External" Id="R5f0dbacb7dbc4fc8" /><Relationship Type="http://schemas.openxmlformats.org/officeDocument/2006/relationships/notesSlide" Target="/ppt/notesSlides/notesSlide20.xml" Id="R84b278d485e44c4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92ec44824446a" /><Relationship Type="http://schemas.openxmlformats.org/officeDocument/2006/relationships/hyperlink" Target="https://lilinchao.github.io/traffic-book-practice/open-course/chapter-05/#code" TargetMode="External" Id="R0656eb190d9641ff" /><Relationship Type="http://schemas.openxmlformats.org/officeDocument/2006/relationships/notesSlide" Target="/ppt/notesSlides/notesSlide21.xml" Id="R4fcac06aa862479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a1b09a8614db7" /><Relationship Type="http://schemas.openxmlformats.org/officeDocument/2006/relationships/hyperlink" Target="https://lilinchao.github.io/traffic-book-practice/open-course/chapter-05/#project" TargetMode="External" Id="R5f08e9eaa31145cb" /><Relationship Type="http://schemas.openxmlformats.org/officeDocument/2006/relationships/notesSlide" Target="/ppt/notesSlides/notesSlide22.xml" Id="R6901ad03bcde488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9d65b6a234ddf" /><Relationship Type="http://schemas.openxmlformats.org/officeDocument/2006/relationships/hyperlink" Target="https://lilinchao.github.io/traffic-book-practice/open-course/chapter-05/" TargetMode="External" Id="Rb303ec1f745b4b71" /><Relationship Type="http://schemas.openxmlformats.org/officeDocument/2006/relationships/hyperlink" Target="https://lilinchao.github.io/traffic-book-practice/open-course/#project/ch05/code" TargetMode="External" Id="Rb1fd86c9a9584e99" /><Relationship Type="http://schemas.openxmlformats.org/officeDocument/2006/relationships/hyperlink" Target="https://lilinchao.github.io/traffic-book-practice/open-course/#cases" TargetMode="External" Id="R5615341e64be4dd3" /><Relationship Type="http://schemas.openxmlformats.org/officeDocument/2006/relationships/notesSlide" Target="/ppt/notesSlides/notesSlide23.xml" Id="Rd406a77f57974ce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有效位置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BRONX</c:v>
                </c:pt>
                <c:pt idx="1">
                  <c:v>BROOKLYN</c:v>
                </c:pt>
                <c:pt idx="2">
                  <c:v>MANHATTAN</c:v>
                </c:pt>
                <c:pt idx="3">
                  <c:v>QUEENS</c:v>
                </c:pt>
                <c:pt idx="4">
                  <c:v>STATEN ISLAND</c:v>
                </c:pt>
                <c:pt idx="5">
                  <c:v>UNKNOWN</c:v>
                </c:pt>
              </c:strCache>
            </c:str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794</c:v>
                </c:pt>
                <c:pt idx="1">
                  <c:v>1798</c:v>
                </c:pt>
                <c:pt idx="2">
                  <c:v>824</c:v>
                </c:pt>
                <c:pt idx="3">
                  <c:v>1440</c:v>
                </c:pt>
                <c:pt idx="4">
                  <c:v>215</c:v>
                </c:pt>
                <c:pt idx="5">
                  <c:v>1997</c:v>
                </c:pt>
              </c:numCache>
            </c:numRef>
          </c:val>
        </c:ser>
        <c:ser>
          <c:idx val="1"/>
          <c:order val="1"/>
          <c:tx>
            <c:v>坐标排除</c:v>
          </c:tx>
          <c:spPr>
            <a:solidFill xmlns:a="http://schemas.openxmlformats.org/drawingml/2006/main">
              <a:srgbClr val="B66C24"/>
            </a:solidFill>
            <a:ln xmlns:a="http://schemas.openxmlformats.org/drawingml/2006/main" w="28575">
              <a:solidFill>
                <a:srgbClr val="B66C24"/>
              </a:solidFill>
            </a:ln>
          </c:spPr>
          <c:cat>
            <c:strRef>
              <c:f>'Chart Data'!$C$2:$C$7</c:f>
              <c:strCache>
                <c:ptCount val="6"/>
                <c:pt idx="0">
                  <c:v>BRONX</c:v>
                </c:pt>
                <c:pt idx="1">
                  <c:v>BROOKLYN</c:v>
                </c:pt>
                <c:pt idx="2">
                  <c:v>MANHATTAN</c:v>
                </c:pt>
                <c:pt idx="3">
                  <c:v>QUEENS</c:v>
                </c:pt>
                <c:pt idx="4">
                  <c:v>STATEN ISLAND</c:v>
                </c:pt>
                <c:pt idx="5">
                  <c:v>UNKNOWN</c:v>
                </c:pt>
              </c:strCache>
            </c:strRef>
          </c:cat>
          <c:val>
            <c:numRef>
              <c:f>'Chart Data'!$D$2:$D$7</c:f>
              <c:numCache>
                <c:formatCode>#,##0</c:formatCode>
                <c:ptCount val="6"/>
                <c:pt idx="0">
                  <c:v>25</c:v>
                </c:pt>
                <c:pt idx="1">
                  <c:v>20</c:v>
                </c:pt>
                <c:pt idx="2">
                  <c:v>17</c:v>
                </c:pt>
                <c:pt idx="3">
                  <c:v>25</c:v>
                </c:pt>
                <c:pt idx="4">
                  <c:v>5</c:v>
                </c:pt>
                <c:pt idx="5">
                  <c:v>382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.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覆盖率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250米</c:v>
                </c:pt>
                <c:pt idx="1">
                  <c:v>500米</c:v>
                </c:pt>
                <c:pt idx="2">
                  <c:v>1000米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1.41482739</c:v>
                </c:pt>
                <c:pt idx="1">
                  <c:v>2.2778721</c:v>
                </c:pt>
                <c:pt idx="2">
                  <c:v>4.83870968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.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次数名次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cat>
            <c:strRef>
              <c:f>'Chart Data'!$A$2:$A$19</c:f>
              <c:strCache>
                <c:ptCount val="18"/>
                <c:pt idx="0">
                  <c:v>53:54</c:v>
                </c:pt>
                <c:pt idx="1">
                  <c:v>52:68</c:v>
                </c:pt>
                <c:pt idx="2">
                  <c:v>65:49</c:v>
                </c:pt>
                <c:pt idx="3">
                  <c:v>69:40</c:v>
                </c:pt>
                <c:pt idx="4">
                  <c:v>54:52</c:v>
                </c:pt>
                <c:pt idx="5">
                  <c:v>50:59</c:v>
                </c:pt>
                <c:pt idx="6">
                  <c:v>52:53</c:v>
                </c:pt>
                <c:pt idx="7">
                  <c:v>63:53</c:v>
                </c:pt>
                <c:pt idx="8">
                  <c:v>67:50</c:v>
                </c:pt>
                <c:pt idx="9">
                  <c:v>79:69</c:v>
                </c:pt>
                <c:pt idx="10">
                  <c:v>86:48</c:v>
                </c:pt>
                <c:pt idx="11">
                  <c:v>52:66</c:v>
                </c:pt>
                <c:pt idx="12">
                  <c:v>69:100</c:v>
                </c:pt>
                <c:pt idx="13">
                  <c:v>66:42</c:v>
                </c:pt>
                <c:pt idx="14">
                  <c:v>70:48</c:v>
                </c:pt>
                <c:pt idx="15">
                  <c:v>61:55</c:v>
                </c:pt>
                <c:pt idx="16">
                  <c:v>65:91</c:v>
                </c:pt>
                <c:pt idx="17">
                  <c:v>69:86</c:v>
                </c:pt>
              </c:strCache>
            </c:strRef>
          </c:cat>
          <c:val>
            <c:numRef>
              <c:f>'Chart Data'!$B$2:$B$19</c:f>
              <c:numCache>
                <c:formatCode>#,##0</c:formatCode>
                <c:ptCount val="1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120</c:v>
                </c:pt>
                <c:pt idx="11">
                  <c:v>34</c:v>
                </c:pt>
                <c:pt idx="12">
                  <c:v>69</c:v>
                </c:pt>
                <c:pt idx="13">
                  <c:v>232</c:v>
                </c:pt>
                <c:pt idx="14">
                  <c:v>109</c:v>
                </c:pt>
                <c:pt idx="15">
                  <c:v>56</c:v>
                </c:pt>
                <c:pt idx="16">
                  <c:v>28</c:v>
                </c:pt>
                <c:pt idx="17">
                  <c:v>42</c:v>
                </c:pt>
              </c:numCache>
            </c:numRef>
          </c:val>
        </c:ser>
        <c:ser>
          <c:idx val="1"/>
          <c:order val="1"/>
          <c:tx>
            <c:v>伤者名次</c:v>
          </c:tx>
          <c:spPr>
            <a:solidFill xmlns:a="http://schemas.openxmlformats.org/drawingml/2006/main">
              <a:srgbClr val="B66C24"/>
            </a:solidFill>
            <a:ln xmlns:a="http://schemas.openxmlformats.org/drawingml/2006/main" w="28575">
              <a:solidFill>
                <a:srgbClr val="B66C24"/>
              </a:solidFill>
            </a:ln>
          </c:spPr>
          <c:cat>
            <c:strRef>
              <c:f>'Chart Data'!$C$2:$C$19</c:f>
              <c:strCache>
                <c:ptCount val="18"/>
                <c:pt idx="0">
                  <c:v>53:54</c:v>
                </c:pt>
                <c:pt idx="1">
                  <c:v>52:68</c:v>
                </c:pt>
                <c:pt idx="2">
                  <c:v>65:49</c:v>
                </c:pt>
                <c:pt idx="3">
                  <c:v>69:40</c:v>
                </c:pt>
                <c:pt idx="4">
                  <c:v>54:52</c:v>
                </c:pt>
                <c:pt idx="5">
                  <c:v>50:59</c:v>
                </c:pt>
                <c:pt idx="6">
                  <c:v>52:53</c:v>
                </c:pt>
                <c:pt idx="7">
                  <c:v>63:53</c:v>
                </c:pt>
                <c:pt idx="8">
                  <c:v>67:50</c:v>
                </c:pt>
                <c:pt idx="9">
                  <c:v>79:69</c:v>
                </c:pt>
                <c:pt idx="10">
                  <c:v>86:48</c:v>
                </c:pt>
                <c:pt idx="11">
                  <c:v>52:66</c:v>
                </c:pt>
                <c:pt idx="12">
                  <c:v>69:100</c:v>
                </c:pt>
                <c:pt idx="13">
                  <c:v>66:42</c:v>
                </c:pt>
                <c:pt idx="14">
                  <c:v>70:48</c:v>
                </c:pt>
                <c:pt idx="15">
                  <c:v>61:55</c:v>
                </c:pt>
                <c:pt idx="16">
                  <c:v>65:91</c:v>
                </c:pt>
                <c:pt idx="17">
                  <c:v>69:86</c:v>
                </c:pt>
              </c:strCache>
            </c:strRef>
          </c:cat>
          <c:val>
            <c:numRef>
              <c:f>'Chart Data'!$D$2:$D$19</c:f>
              <c:numCache>
                <c:formatCode>#,##0</c:formatCode>
                <c:ptCount val="18"/>
                <c:pt idx="0">
                  <c:v>378</c:v>
                </c:pt>
                <c:pt idx="1">
                  <c:v>216</c:v>
                </c:pt>
                <c:pt idx="2">
                  <c:v>7</c:v>
                </c:pt>
                <c:pt idx="3">
                  <c:v>9</c:v>
                </c:pt>
                <c:pt idx="4">
                  <c:v>147</c:v>
                </c:pt>
                <c:pt idx="5">
                  <c:v>54</c:v>
                </c:pt>
                <c:pt idx="6">
                  <c:v>97</c:v>
                </c:pt>
                <c:pt idx="7">
                  <c:v>265</c:v>
                </c:pt>
                <c:pt idx="8">
                  <c:v>25</c:v>
                </c:pt>
                <c:pt idx="9">
                  <c:v>85</c:v>
                </c:pt>
                <c:pt idx="10">
                  <c:v>1</c:v>
                </c:pt>
                <c:pt idx="11">
                  <c:v>2</c:v>
                </c:pt>
                <c:pt idx="12">
                  <c:v>3</c:v>
                </c:pt>
                <c:pt idx="13">
                  <c:v>4</c:v>
                </c:pt>
                <c:pt idx="14">
                  <c:v>5</c:v>
                </c:pt>
                <c:pt idx="15">
                  <c:v>6</c:v>
                </c:pt>
                <c:pt idx="16">
                  <c:v>8</c:v>
                </c:pt>
                <c:pt idx="17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tickLblSkip val="3"/>
        <c:tickMarkSkip val="3"/>
      </c:catAx>
      <c:valAx>
        <c:axId val="48672768"/>
        <c:scaling>
          <c:orientation val="minMax"/>
          <c:min val="0.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最高10处固定评价点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cat>
            <c:strRef>
              <c:f>'Chart Data'!$A$2:$A$11</c:f>
              <c:strCache>
                <c:ptCount val="10"/>
                <c:pt idx="0">
                  <c:v>51:68</c:v>
                </c:pt>
                <c:pt idx="1">
                  <c:v>52:68</c:v>
                </c:pt>
                <c:pt idx="2">
                  <c:v>52:67</c:v>
                </c:pt>
                <c:pt idx="3">
                  <c:v>65:49</c:v>
                </c:pt>
                <c:pt idx="4">
                  <c:v>53:54</c:v>
                </c:pt>
                <c:pt idx="5">
                  <c:v>51:67</c:v>
                </c:pt>
                <c:pt idx="6">
                  <c:v>53:53</c:v>
                </c:pt>
                <c:pt idx="7">
                  <c:v>51:59</c:v>
                </c:pt>
                <c:pt idx="8">
                  <c:v>67:50</c:v>
                </c:pt>
                <c:pt idx="9">
                  <c:v>66:50</c:v>
                </c:pt>
              </c:strCache>
            </c:strRef>
          </c:cat>
          <c:val>
            <c:numRef>
              <c:f>'Chart Data'!$B$2:$B$11</c:f>
              <c:numCache>
                <c:formatCode>0.000</c:formatCode>
                <c:ptCount val="10"/>
                <c:pt idx="0">
                  <c:v>0.00482063</c:v>
                </c:pt>
                <c:pt idx="1">
                  <c:v>0.00479703</c:v>
                </c:pt>
                <c:pt idx="2">
                  <c:v>0.00456982</c:v>
                </c:pt>
                <c:pt idx="3">
                  <c:v>0.00450894</c:v>
                </c:pt>
                <c:pt idx="4">
                  <c:v>0.00449352</c:v>
                </c:pt>
                <c:pt idx="5">
                  <c:v>0.00438948</c:v>
                </c:pt>
                <c:pt idx="6">
                  <c:v>0.00438788</c:v>
                </c:pt>
                <c:pt idx="7">
                  <c:v>0.00431041</c:v>
                </c:pt>
                <c:pt idx="8">
                  <c:v>0.00430392</c:v>
                </c:pt>
                <c:pt idx="9">
                  <c:v>0.00430157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.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0.00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最大10类（含噪声）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cat>
            <c:strRef>
              <c:f>'Chart Data'!$A$2:$A$11</c:f>
              <c:strCache>
                <c:ptCount val="10"/>
                <c:pt idx="0">
                  <c:v>簇1</c:v>
                </c:pt>
                <c:pt idx="1">
                  <c:v>簇0</c:v>
                </c:pt>
                <c:pt idx="2">
                  <c:v>噪声</c:v>
                </c:pt>
                <c:pt idx="3">
                  <c:v>簇2</c:v>
                </c:pt>
                <c:pt idx="4">
                  <c:v>簇4</c:v>
                </c:pt>
                <c:pt idx="5">
                  <c:v>簇9</c:v>
                </c:pt>
                <c:pt idx="6">
                  <c:v>簇13</c:v>
                </c:pt>
                <c:pt idx="7">
                  <c:v>簇31</c:v>
                </c:pt>
                <c:pt idx="8">
                  <c:v>簇20</c:v>
                </c:pt>
                <c:pt idx="9">
                  <c:v>簇28</c:v>
                </c:pt>
              </c:strCache>
            </c:strRef>
          </c:cat>
          <c:val>
            <c:numRef>
              <c:f>'Chart Data'!$B$2:$B$11</c:f>
              <c:numCache>
                <c:formatCode>#,##0</c:formatCode>
                <c:ptCount val="10"/>
                <c:pt idx="0">
                  <c:v>1704</c:v>
                </c:pt>
                <c:pt idx="1">
                  <c:v>1557</c:v>
                </c:pt>
                <c:pt idx="2">
                  <c:v>1036</c:v>
                </c:pt>
                <c:pt idx="3">
                  <c:v>313</c:v>
                </c:pt>
                <c:pt idx="4">
                  <c:v>240</c:v>
                </c:pt>
                <c:pt idx="5">
                  <c:v>177</c:v>
                </c:pt>
                <c:pt idx="6">
                  <c:v>145</c:v>
                </c:pt>
                <c:pt idx="7">
                  <c:v>120</c:v>
                </c:pt>
                <c:pt idx="8">
                  <c:v>77</c:v>
                </c:pt>
                <c:pt idx="9">
                  <c:v>61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.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5a7fb8fd746f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第5章">
            <a:extLst xmlns:a="http://schemas.openxmlformats.org/drawingml/2006/main">
              <a:ext uri="{FF2B5EF4-FFF2-40B4-BE49-F238E27FC236}">
                <a16:creationId xmlns:a16="http://schemas.microsoft.com/office/drawing/2014/main" id="{AC8667A8-F52D-49B7-BF90-B58FB586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EAB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EABB76"/>
                </a:solidFill>
                <a:latin typeface="Microsoft YaHei"/>
                <a:ea typeface="Microsoft YaHei"/>
                <a:cs typeface="Microsoft YaHei"/>
              </a:rPr>
              <a:t>第5章</a:t>
            </a:r>
          </a:p>
        </p:txBody>
      </p:sp>
      <p:sp>
        <p:nvSpPr>
          <p:cNvPr id="3" name="交通位置数据分析">
            <a:extLst xmlns:a="http://schemas.openxmlformats.org/drawingml/2006/main">
              <a:ext uri="{FF2B5EF4-FFF2-40B4-BE49-F238E27FC236}">
                <a16:creationId xmlns:a16="http://schemas.microsoft.com/office/drawing/2014/main" id="{299371E9-9A82-4F4D-B9AB-9C6E9036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9429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交通位置数据分析</a:t>
            </a:r>
          </a:p>
        </p:txBody>
      </p:sp>
      <p:sp>
        <p:nvSpPr>
          <p:cNvPr id="4" name="交通数据挖掘理论与应用">
            <a:extLst xmlns:a="http://schemas.openxmlformats.org/drawingml/2006/main">
              <a:ext uri="{FF2B5EF4-FFF2-40B4-BE49-F238E27FC236}">
                <a16:creationId xmlns:a16="http://schemas.microsoft.com/office/drawing/2014/main" id="{994E62F3-EE15-4F3B-B7C6-6C55EEF3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9E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9ECE8"/>
                </a:solidFill>
                <a:latin typeface="Microsoft YaHei"/>
                <a:ea typeface="Microsoft YaHei"/>
                <a:cs typeface="Microsoft YaHei"/>
              </a:rPr>
              <a:t>交通数据挖掘理论与应用</a:t>
            </a:r>
          </a:p>
        </p:txBody>
      </p:sp>
      <p:sp>
        <p:nvSpPr>
          <p:cNvPr id="5" name="有限排查资源应优先投向哪些事故集中区域？">
            <a:extLst xmlns:a="http://schemas.openxmlformats.org/drawingml/2006/main">
              <a:ext uri="{FF2B5EF4-FFF2-40B4-BE49-F238E27FC236}">
                <a16:creationId xmlns:a16="http://schemas.microsoft.com/office/drawing/2014/main" id="{C7860AC2-8395-47F0-AADA-7C63E606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9E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9ECE8"/>
                </a:solidFill>
                <a:latin typeface="Microsoft YaHei"/>
                <a:ea typeface="Microsoft YaHei"/>
                <a:cs typeface="Microsoft YaHei"/>
              </a:rPr>
              <a:t>有限排查资源应优先投向哪些事故集中区域？</a:t>
            </a:r>
          </a:p>
        </p:txBody>
      </p:sp>
    </p:spTree>
    <p:extLst>
      <p:ext uri="{BB962C8B-B14F-4D97-AF65-F5344CB8AC3E}">
        <p14:creationId xmlns:p14="http://schemas.microsoft.com/office/powerpoint/2010/main" val="3361150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本章学习目标">
            <a:extLst xmlns:a="http://schemas.openxmlformats.org/drawingml/2006/main">
              <a:ext uri="{FF2B5EF4-FFF2-40B4-BE49-F238E27FC236}">
                <a16:creationId xmlns:a16="http://schemas.microsoft.com/office/drawing/2014/main" id="{4B844051-4A4F-413A-B3E6-183D0FB5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本章学习目标</a:t>
            </a:r>
          </a:p>
        </p:txBody>
      </p:sp>
      <p:sp>
        <p:nvSpPr>
          <p:cNvPr id="2" name="第5章 交通位置数据分析">
            <a:extLst xmlns:a="http://schemas.openxmlformats.org/drawingml/2006/main">
              <a:ext uri="{FF2B5EF4-FFF2-40B4-BE49-F238E27FC236}">
                <a16:creationId xmlns:a16="http://schemas.microsoft.com/office/drawing/2014/main" id="{739A95A5-8BBF-4693-8458-8A74B482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第5章 交通位置数据分析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D90467ED-C3D3-44A7-AB36-59FF591E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区分事故位置、区域计数与单位暴露风险。">
            <a:extLst xmlns:a="http://schemas.openxmlformats.org/drawingml/2006/main">
              <a:ext uri="{FF2B5EF4-FFF2-40B4-BE49-F238E27FC236}">
                <a16:creationId xmlns:a16="http://schemas.microsoft.com/office/drawing/2014/main" id="{60B66A45-9CF0-4B1F-81DD-F845BAF1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区分事故位置、区域计数与单位暴露风险。</a:t>
            </a:r>
          </a:p>
        </p:txBody>
      </p:sp>
      <p:sp>
        <p:nvSpPr>
          <p:cNvPr id="5" name="说明坐标系、距离单位和空间尺度。">
            <a:extLst xmlns:a="http://schemas.openxmlformats.org/drawingml/2006/main">
              <a:ext uri="{FF2B5EF4-FFF2-40B4-BE49-F238E27FC236}">
                <a16:creationId xmlns:a16="http://schemas.microsoft.com/office/drawing/2014/main" id="{C20676C2-CF96-4328-BEF8-576D1134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说明坐标系、距离单位和空间尺度。</a:t>
            </a:r>
          </a:p>
        </p:txBody>
      </p:sp>
      <p:sp>
        <p:nvSpPr>
          <p:cNvPr id="6" name="比较网格、KDE与DBSCAN的不同输出。">
            <a:extLst xmlns:a="http://schemas.openxmlformats.org/drawingml/2006/main">
              <a:ext uri="{FF2B5EF4-FFF2-40B4-BE49-F238E27FC236}">
                <a16:creationId xmlns:a16="http://schemas.microsoft.com/office/drawing/2014/main" id="{59D3024B-D07E-4857-8AB9-E50528BD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比较网格、KDE与DBSCAN的不同输出。</a:t>
            </a:r>
          </a:p>
        </p:txBody>
      </p:sp>
      <p:sp>
        <p:nvSpPr>
          <p:cNvPr id="7" name="形成含道路对象和证据缺口的现场排查清单。">
            <a:extLst xmlns:a="http://schemas.openxmlformats.org/drawingml/2006/main">
              <a:ext uri="{FF2B5EF4-FFF2-40B4-BE49-F238E27FC236}">
                <a16:creationId xmlns:a16="http://schemas.microsoft.com/office/drawing/2014/main" id="{7D9020DD-37CC-430E-AA18-6E683C8C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形成含道路对象和证据缺口的现场排查清单。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5D0BBBA1-420A-4BEA-9E24-73E2DADC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924224d67304963"/>
              </a:rPr>
              <a:t>配套交互课堂与章节实践</a:t>
            </a:r>
          </a:p>
        </p:txBody>
      </p:sp>
    </p:spTree>
    <p:extLst>
      <p:ext uri="{BB962C8B-B14F-4D97-AF65-F5344CB8AC3E}">
        <p14:creationId xmlns:p14="http://schemas.microsoft.com/office/powerpoint/2010/main" val="11914664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道路安全排查的空间任务">
            <a:extLst xmlns:a="http://schemas.openxmlformats.org/drawingml/2006/main">
              <a:ext uri="{FF2B5EF4-FFF2-40B4-BE49-F238E27FC236}">
                <a16:creationId xmlns:a16="http://schemas.microsoft.com/office/drawing/2014/main" id="{D25052CD-3749-48F4-A753-044E1495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道路安全排查的空间任务</a:t>
            </a:r>
          </a:p>
        </p:txBody>
      </p:sp>
      <p:sp>
        <p:nvSpPr>
          <p:cNvPr id="2" name="第5章 交通位置数据分析   5.1">
            <a:extLst xmlns:a="http://schemas.openxmlformats.org/drawingml/2006/main">
              <a:ext uri="{FF2B5EF4-FFF2-40B4-BE49-F238E27FC236}">
                <a16:creationId xmlns:a16="http://schemas.microsoft.com/office/drawing/2014/main" id="{DAF1E869-341C-4EF6-94E8-9C1F221E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第5章 交通位置数据分析   5.1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8A28F904-15D0-4BE6-A40B-C91A02BF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本章用事故记录识别值得现场核查的范围。">
            <a:extLst xmlns:a="http://schemas.openxmlformats.org/drawingml/2006/main">
              <a:ext uri="{FF2B5EF4-FFF2-40B4-BE49-F238E27FC236}">
                <a16:creationId xmlns:a16="http://schemas.microsoft.com/office/drawing/2014/main" id="{E55A01C1-7873-4E7A-BD38-EC9269D1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本章用事故记录识别值得现场核查的范围。</a:t>
            </a:r>
          </a:p>
        </p:txBody>
      </p:sp>
      <p:sp>
        <p:nvSpPr>
          <p:cNvPr id="5" name="现有资料支持事故负担与空间集中程度的描述，尚不能确定">
            <a:extLst xmlns:a="http://schemas.openxmlformats.org/drawingml/2006/main">
              <a:ext uri="{FF2B5EF4-FFF2-40B4-BE49-F238E27FC236}">
                <a16:creationId xmlns:a16="http://schemas.microsoft.com/office/drawing/2014/main" id="{444E275A-C449-4E16-9B4B-2866EBD8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现有资料支持事故负担与空间集中程度的描述，尚不能确定事故成因。</a:t>
            </a:r>
          </a:p>
        </p:txBody>
      </p:sp>
      <p:sp>
        <p:nvSpPr>
          <p:cNvPr id="6" name="候选网格不是已确认的危险路口。道路设施、交通暴露量与">
            <a:extLst xmlns:a="http://schemas.openxmlformats.org/drawingml/2006/main">
              <a:ext uri="{FF2B5EF4-FFF2-40B4-BE49-F238E27FC236}">
                <a16:creationId xmlns:a16="http://schemas.microsoft.com/office/drawing/2014/main" id="{1F8F2808-4F28-44E2-AE06-30C39F2F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候选网格不是已确认的危险路口。道路设施、交通暴露量与事故形态需要进一步调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查。</a:t>
            </a:r>
          </a:p>
        </p:txBody>
      </p:sp>
      <p:sp>
        <p:nvSpPr>
          <p:cNvPr id="7" name="课堂讨论：为何排查清单应写“候选范围”而不是直接写“">
            <a:extLst xmlns:a="http://schemas.openxmlformats.org/drawingml/2006/main">
              <a:ext uri="{FF2B5EF4-FFF2-40B4-BE49-F238E27FC236}">
                <a16:creationId xmlns:a16="http://schemas.microsoft.com/office/drawing/2014/main" id="{450B1106-9965-48D6-B71A-DF891AE0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课堂讨论：为何排查清单应写“候选范围”而不是直接写“最危险地点”？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D8705AE1-E1EF-48F4-B5BD-6253B4E0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297c21ff6cc4fc6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1968538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点、线与区域的交通含义">
            <a:extLst xmlns:a="http://schemas.openxmlformats.org/drawingml/2006/main">
              <a:ext uri="{FF2B5EF4-FFF2-40B4-BE49-F238E27FC236}">
                <a16:creationId xmlns:a16="http://schemas.microsoft.com/office/drawing/2014/main" id="{D12590A1-65C6-47AC-8270-F8952C6D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点、线与区域的交通含义</a:t>
            </a:r>
          </a:p>
        </p:txBody>
      </p:sp>
      <p:sp>
        <p:nvSpPr>
          <p:cNvPr id="2" name="第5章 交通位置数据分析   5.1">
            <a:extLst xmlns:a="http://schemas.openxmlformats.org/drawingml/2006/main">
              <a:ext uri="{FF2B5EF4-FFF2-40B4-BE49-F238E27FC236}">
                <a16:creationId xmlns:a16="http://schemas.microsoft.com/office/drawing/2014/main" id="{4E774133-C4AA-4F06-B195-70AC65A6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第5章 交通位置数据分析   5.1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32D77C31-FD7F-44CA-85E5-F14A71E9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空间对象的含义决定后续计算。">
            <a:extLst xmlns:a="http://schemas.openxmlformats.org/drawingml/2006/main">
              <a:ext uri="{FF2B5EF4-FFF2-40B4-BE49-F238E27FC236}">
                <a16:creationId xmlns:a16="http://schemas.microsoft.com/office/drawing/2014/main" id="{F0B17CE7-9F15-462C-AD26-CBF7508A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空间对象的含义决定后续计算。</a:t>
            </a:r>
          </a:p>
        </p:txBody>
      </p:sp>
      <p:sp>
        <p:nvSpPr>
          <p:cNvPr id="5" name="事故点描述记录位置，道路线表达通行设施，交通小区面表">
            <a:extLst xmlns:a="http://schemas.openxmlformats.org/drawingml/2006/main">
              <a:ext uri="{FF2B5EF4-FFF2-40B4-BE49-F238E27FC236}">
                <a16:creationId xmlns:a16="http://schemas.microsoft.com/office/drawing/2014/main" id="{FC5D32EB-3AEC-48CC-AFD7-4BAAEF80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事故点描述记录位置，道路线表达通行设施，交通小区面表达区域统计范围。</a:t>
            </a:r>
          </a:p>
        </p:txBody>
      </p:sp>
      <p:sp>
        <p:nvSpPr>
          <p:cNvPr id="6" name="点落在哪个区域与点离哪条道路最近属于不同问题，不能混">
            <a:extLst xmlns:a="http://schemas.openxmlformats.org/drawingml/2006/main">
              <a:ext uri="{FF2B5EF4-FFF2-40B4-BE49-F238E27FC236}">
                <a16:creationId xmlns:a16="http://schemas.microsoft.com/office/drawing/2014/main" id="{3F874751-4459-4B4E-A6CB-EE49FD10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点落在哪个区域与点离哪条道路最近属于不同问题，不能混用空间连接和地图匹配。</a:t>
            </a:r>
          </a:p>
        </p:txBody>
      </p:sp>
      <p:sp>
        <p:nvSpPr>
          <p:cNvPr id="7" name="课堂讨论：事故点在桥梁附近时，平面最近道路是否一定是">
            <a:extLst xmlns:a="http://schemas.openxmlformats.org/drawingml/2006/main">
              <a:ext uri="{FF2B5EF4-FFF2-40B4-BE49-F238E27FC236}">
                <a16:creationId xmlns:a16="http://schemas.microsoft.com/office/drawing/2014/main" id="{AA6EDAF9-C0AC-4FE4-9B72-B5DD4DD2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课堂讨论：事故点在桥梁附近时，平面最近道路是否一定是实际发生道路？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934FA6BE-589F-43D9-9450-217DFB4A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be958dc77c443f2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3488633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事故坐标的覆盖审计">
            <a:extLst xmlns:a="http://schemas.openxmlformats.org/drawingml/2006/main">
              <a:ext uri="{FF2B5EF4-FFF2-40B4-BE49-F238E27FC236}">
                <a16:creationId xmlns:a16="http://schemas.microsoft.com/office/drawing/2014/main" id="{41CD3C1F-4BB0-4F1B-8F66-793A152C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事故坐标的覆盖审计</a:t>
            </a:r>
          </a:p>
        </p:txBody>
      </p:sp>
      <p:sp>
        <p:nvSpPr>
          <p:cNvPr id="2" name="第5章 交通位置数据分析   5.2">
            <a:extLst xmlns:a="http://schemas.openxmlformats.org/drawingml/2006/main">
              <a:ext uri="{FF2B5EF4-FFF2-40B4-BE49-F238E27FC236}">
                <a16:creationId xmlns:a16="http://schemas.microsoft.com/office/drawing/2014/main" id="{2FA906EF-2B97-44DC-B2A8-B3C68641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第5章 交通位置数据分析   5.2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F98D2A81-A507-4123-A3CA-B0F4CA24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未能落图的记录仍然属于事故资料。">
            <a:extLst xmlns:a="http://schemas.openxmlformats.org/drawingml/2006/main">
              <a:ext uri="{FF2B5EF4-FFF2-40B4-BE49-F238E27FC236}">
                <a16:creationId xmlns:a16="http://schemas.microsoft.com/office/drawing/2014/main" id="{5D93A636-F946-4D63-B924-E9D43CD5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未能落图的记录仍然属于事故资料。</a:t>
            </a:r>
          </a:p>
        </p:txBody>
      </p:sp>
      <p:sp>
        <p:nvSpPr>
          <p:cNvPr id="5" name="7,542条中7,068条通过既有坐标检查，474条">
            <a:extLst xmlns:a="http://schemas.openxmlformats.org/drawingml/2006/main">
              <a:ext uri="{FF2B5EF4-FFF2-40B4-BE49-F238E27FC236}">
                <a16:creationId xmlns:a16="http://schemas.microsoft.com/office/drawing/2014/main" id="{C8DB6EA5-9635-49C2-A982-F2F80444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7,542条中7,068条通过既有坐标检查，474条不进入空间计算，不能补造位置。</a:t>
            </a:r>
          </a:p>
        </p:txBody>
      </p:sp>
      <p:sp>
        <p:nvSpPr>
          <p:cNvPr id="6" name="按行政区比较记录数、有效点数和覆盖率，判断位置缺失是">
            <a:extLst xmlns:a="http://schemas.openxmlformats.org/drawingml/2006/main">
              <a:ext uri="{FF2B5EF4-FFF2-40B4-BE49-F238E27FC236}">
                <a16:creationId xmlns:a16="http://schemas.microsoft.com/office/drawing/2014/main" id="{8ECCEB40-6AD7-499C-A2E9-692E8C46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按行政区比较记录数、有效点数和覆盖率，判断位置缺失是否可能影响排查覆盖。</a:t>
            </a:r>
          </a:p>
        </p:txBody>
      </p:sp>
      <p:sp>
        <p:nvSpPr>
          <p:cNvPr id="7" name="课堂讨论：坐标覆盖低的区域，地图上事故少意味着什么？">
            <a:extLst xmlns:a="http://schemas.openxmlformats.org/drawingml/2006/main">
              <a:ext uri="{FF2B5EF4-FFF2-40B4-BE49-F238E27FC236}">
                <a16:creationId xmlns:a16="http://schemas.microsoft.com/office/drawing/2014/main" id="{8CB60A90-1711-4EC5-9EA7-94ABC60E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课堂讨论：坐标覆盖低的区域，地图上事故少意味着什么？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966E00AB-063F-46B4-A66E-7D4B0958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48db7de611e47da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1971657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事故坐标的覆盖审计：计算结果">
            <a:extLst xmlns:a="http://schemas.openxmlformats.org/drawingml/2006/main">
              <a:ext uri="{FF2B5EF4-FFF2-40B4-BE49-F238E27FC236}">
                <a16:creationId xmlns:a16="http://schemas.microsoft.com/office/drawing/2014/main" id="{0C75D06E-A3A8-4A08-854A-D05E3876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事故坐标的覆盖审计：计算结果</a:t>
            </a:r>
          </a:p>
        </p:txBody>
      </p:sp>
      <p:sp>
        <p:nvSpPr>
          <p:cNvPr id="2" name="第5章 交通位置数据分析   5.2">
            <a:extLst xmlns:a="http://schemas.openxmlformats.org/drawingml/2006/main">
              <a:ext uri="{FF2B5EF4-FFF2-40B4-BE49-F238E27FC236}">
                <a16:creationId xmlns:a16="http://schemas.microsoft.com/office/drawing/2014/main" id="{CF396E1D-8B2D-4F75-93EF-26043674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第5章 交通位置数据分析   5.2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54F4C80C-2A7E-48C1-A0DF-994204FB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根据真实观测在浏览器重新计算">
            <a:extLst xmlns:a="http://schemas.openxmlformats.org/drawingml/2006/main">
              <a:ext uri="{FF2B5EF4-FFF2-40B4-BE49-F238E27FC236}">
                <a16:creationId xmlns:a16="http://schemas.microsoft.com/office/drawing/2014/main" id="{23F7FA68-E251-4F35-AF41-5D6E27FD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根据真实观测在浏览器重新计算</a:t>
            </a:r>
          </a:p>
        </p:txBody>
      </p:sp>
      <p:sp>
        <p:nvSpPr>
          <p:cNvPr id="5" name="记录数">
            <a:extLst xmlns:a="http://schemas.openxmlformats.org/drawingml/2006/main">
              <a:ext uri="{FF2B5EF4-FFF2-40B4-BE49-F238E27FC236}">
                <a16:creationId xmlns:a16="http://schemas.microsoft.com/office/drawing/2014/main" id="{B9E80D38-5818-4C34-A59A-3A176425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记录数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172faf804b49f4"/>
          </a:graphicData>
        </a:graphic>
      </p:graphicFrame>
      <p:sp>
        <p:nvSpPr>
          <p:cNvPr id="7" name="坐标排除不等于事故不存在。">
            <a:extLst xmlns:a="http://schemas.openxmlformats.org/drawingml/2006/main">
              <a:ext uri="{FF2B5EF4-FFF2-40B4-BE49-F238E27FC236}">
                <a16:creationId xmlns:a16="http://schemas.microsoft.com/office/drawing/2014/main" id="{B995D132-8F68-4A80-8DD9-1F5DA285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坐标排除不等于事故不存在。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6728C757-358B-4CDC-BAFD-0D8667AA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84ee4f960aa4066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681921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距离度量与投影">
            <a:extLst xmlns:a="http://schemas.openxmlformats.org/drawingml/2006/main">
              <a:ext uri="{FF2B5EF4-FFF2-40B4-BE49-F238E27FC236}">
                <a16:creationId xmlns:a16="http://schemas.microsoft.com/office/drawing/2014/main" id="{B0D3B418-0770-478E-993E-EE1C34D5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距离度量与投影</a:t>
            </a:r>
          </a:p>
        </p:txBody>
      </p:sp>
      <p:sp>
        <p:nvSpPr>
          <p:cNvPr id="2" name="第5章 交通位置数据分析   5.1 / 5.2">
            <a:extLst xmlns:a="http://schemas.openxmlformats.org/drawingml/2006/main">
              <a:ext uri="{FF2B5EF4-FFF2-40B4-BE49-F238E27FC236}">
                <a16:creationId xmlns:a16="http://schemas.microsoft.com/office/drawing/2014/main" id="{6FF61FF2-4E5E-4366-9919-2356C69B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第5章 交通位置数据分析   5.1 / 5.2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39F5A4B2-9F60-4405-B95F-7303A846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经纬度的角度单位不能直接用作米制邻域。">
            <a:extLst xmlns:a="http://schemas.openxmlformats.org/drawingml/2006/main">
              <a:ext uri="{FF2B5EF4-FFF2-40B4-BE49-F238E27FC236}">
                <a16:creationId xmlns:a16="http://schemas.microsoft.com/office/drawing/2014/main" id="{0125402C-2815-4ACE-9918-CFACF99F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经纬度的角度单位不能直接用作米制邻域。</a:t>
            </a:r>
          </a:p>
        </p:txBody>
      </p:sp>
      <p:sp>
        <p:nvSpPr>
          <p:cNvPr id="5" name="x ≈ (lon + 74.3) · 111320 ">
            <a:extLst xmlns:a="http://schemas.openxmlformats.org/drawingml/2006/main">
              <a:ext uri="{FF2B5EF4-FFF2-40B4-BE49-F238E27FC236}">
                <a16:creationId xmlns:a16="http://schemas.microsoft.com/office/drawing/2014/main" id="{8329DA40-5C78-4832-8CDA-4184D040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x ≈ (lon + 74.3) · 111320 · cos(40.73°)</a:t>
            </a:r>
          </a:p>
          <a:p xmlns:a="http://schemas.openxmlformats.org/drawingml/2006/main">
            <a:pPr algn="l">
              <a:def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y ≈ (lat − 40.45) · 111320</a:t>
            </a:r>
          </a:p>
        </p:txBody>
      </p:sp>
      <p:sp>
        <p:nvSpPr>
          <p:cNvPr id="6" name="lon、lat：经纬度（度）。x、y：相对固定原点的">
            <a:extLst xmlns:a="http://schemas.openxmlformats.org/drawingml/2006/main">
              <a:ext uri="{FF2B5EF4-FFF2-40B4-BE49-F238E27FC236}">
                <a16:creationId xmlns:a16="http://schemas.microsoft.com/office/drawing/2014/main" id="{011EB135-B9A9-4255-BEB8-4117289A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lon、lat：经纬度（度）。x、y：相对固定原点的局部距离（米），仅为课程近似。</a:t>
            </a:r>
          </a:p>
        </p:txBody>
      </p:sp>
      <p:sp>
        <p:nvSpPr>
          <p:cNvPr id="7" name="本课堂沿用既有固定局部米制近似，便于复核网格、密度和">
            <a:extLst xmlns:a="http://schemas.openxmlformats.org/drawingml/2006/main">
              <a:ext uri="{FF2B5EF4-FFF2-40B4-BE49-F238E27FC236}">
                <a16:creationId xmlns:a16="http://schemas.microsoft.com/office/drawing/2014/main" id="{20EFD9B4-9EE7-471A-A14C-3CD25ECE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本课堂沿用既有固定局部米制近似，便于复核网格、密度和聚类协议。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17C6649F-FD6B-4A16-A771-A9BC3162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f119df24c3b4daa"/>
              </a:rPr>
              <a:t>公式解释与交通问题讨论</a:t>
            </a:r>
          </a:p>
        </p:txBody>
      </p:sp>
    </p:spTree>
    <p:extLst>
      <p:ext uri="{BB962C8B-B14F-4D97-AF65-F5344CB8AC3E}">
        <p14:creationId xmlns:p14="http://schemas.microsoft.com/office/powerpoint/2010/main" val="15011740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地图匹配与道路归属">
            <a:extLst xmlns:a="http://schemas.openxmlformats.org/drawingml/2006/main">
              <a:ext uri="{FF2B5EF4-FFF2-40B4-BE49-F238E27FC236}">
                <a16:creationId xmlns:a16="http://schemas.microsoft.com/office/drawing/2014/main" id="{54CA9B9B-D03C-4BAD-B62E-28D1B4A3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地图匹配与道路归属</a:t>
            </a:r>
          </a:p>
        </p:txBody>
      </p:sp>
      <p:sp>
        <p:nvSpPr>
          <p:cNvPr id="2" name="第5章 交通位置数据分析   5.3">
            <a:extLst xmlns:a="http://schemas.openxmlformats.org/drawingml/2006/main">
              <a:ext uri="{FF2B5EF4-FFF2-40B4-BE49-F238E27FC236}">
                <a16:creationId xmlns:a16="http://schemas.microsoft.com/office/drawing/2014/main" id="{CCA3499B-850F-44BC-9F97-D88F3046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第5章 交通位置数据分析   5.3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33945FAB-F1CA-4FAA-AD88-04BA39E8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位置误差会影响事故或轨迹的道路归属。">
            <a:extLst xmlns:a="http://schemas.openxmlformats.org/drawingml/2006/main">
              <a:ext uri="{FF2B5EF4-FFF2-40B4-BE49-F238E27FC236}">
                <a16:creationId xmlns:a16="http://schemas.microsoft.com/office/drawing/2014/main" id="{9AF395E6-05C3-4E66-BE5F-7F9700A4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位置误差会影响事故或轨迹的道路归属。</a:t>
            </a:r>
          </a:p>
        </p:txBody>
      </p:sp>
      <p:sp>
        <p:nvSpPr>
          <p:cNvPr id="5" name="点到道路匹配可用距离作候选筛选，轨迹匹配还可利用方向">
            <a:extLst xmlns:a="http://schemas.openxmlformats.org/drawingml/2006/main">
              <a:ext uri="{FF2B5EF4-FFF2-40B4-BE49-F238E27FC236}">
                <a16:creationId xmlns:a16="http://schemas.microsoft.com/office/drawing/2014/main" id="{1E96D1AE-8BAB-4A29-A24F-451769EE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点到道路匹配可用距离作候选筛选，轨迹匹配还可利用方向、连续性和路网连接。</a:t>
            </a:r>
          </a:p>
        </p:txBody>
      </p:sp>
      <p:sp>
        <p:nvSpPr>
          <p:cNvPr id="6" name="评价应使用独立核对的道路归属，不能把算法自己生成的道">
            <a:extLst xmlns:a="http://schemas.openxmlformats.org/drawingml/2006/main">
              <a:ext uri="{FF2B5EF4-FFF2-40B4-BE49-F238E27FC236}">
                <a16:creationId xmlns:a16="http://schemas.microsoft.com/office/drawing/2014/main" id="{8C5D0480-400B-4B16-8B81-7A87037A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评价应使用独立核对的道路归属，不能把算法自己生成的道路标签当真值。</a:t>
            </a:r>
          </a:p>
        </p:txBody>
      </p:sp>
      <p:sp>
        <p:nvSpPr>
          <p:cNvPr id="7" name="课堂讨论：高架与地面道路重叠时，还需要哪类信息来区分">
            <a:extLst xmlns:a="http://schemas.openxmlformats.org/drawingml/2006/main">
              <a:ext uri="{FF2B5EF4-FFF2-40B4-BE49-F238E27FC236}">
                <a16:creationId xmlns:a16="http://schemas.microsoft.com/office/drawing/2014/main" id="{A4CBB277-D8CF-44FD-A91E-F7E56E29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课堂讨论：高架与地面道路重叠时，还需要哪类信息来区分？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8FC7B586-7DDA-4B06-8CB0-D0B01926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498b957da954ebc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313067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缓冲区与交通服务覆盖">
            <a:extLst xmlns:a="http://schemas.openxmlformats.org/drawingml/2006/main">
              <a:ext uri="{FF2B5EF4-FFF2-40B4-BE49-F238E27FC236}">
                <a16:creationId xmlns:a16="http://schemas.microsoft.com/office/drawing/2014/main" id="{BC4C2835-EB4E-4A7D-B373-0919956E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缓冲区与交通服务覆盖</a:t>
            </a:r>
          </a:p>
        </p:txBody>
      </p:sp>
      <p:sp>
        <p:nvSpPr>
          <p:cNvPr id="2" name="第5章 交通位置数据分析   5.4">
            <a:extLst xmlns:a="http://schemas.openxmlformats.org/drawingml/2006/main">
              <a:ext uri="{FF2B5EF4-FFF2-40B4-BE49-F238E27FC236}">
                <a16:creationId xmlns:a16="http://schemas.microsoft.com/office/drawing/2014/main" id="{A37C467A-17B8-4D43-8B05-57B63D03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第5章 交通位置数据分析   5.4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44332A61-DDED-4C47-AD40-8C3AC50E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空间邻近与实际可达性不同。">
            <a:extLst xmlns:a="http://schemas.openxmlformats.org/drawingml/2006/main">
              <a:ext uri="{FF2B5EF4-FFF2-40B4-BE49-F238E27FC236}">
                <a16:creationId xmlns:a16="http://schemas.microsoft.com/office/drawing/2014/main" id="{DAC543CF-49CD-4FD8-A75D-A92E3D31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空间邻近与实际可达性不同。</a:t>
            </a:r>
          </a:p>
        </p:txBody>
      </p:sp>
      <p:sp>
        <p:nvSpPr>
          <p:cNvPr id="5" name="站点周边500米圆形缓冲区只表达直线距离范围，尚未考">
            <a:extLst xmlns:a="http://schemas.openxmlformats.org/drawingml/2006/main">
              <a:ext uri="{FF2B5EF4-FFF2-40B4-BE49-F238E27FC236}">
                <a16:creationId xmlns:a16="http://schemas.microsoft.com/office/drawing/2014/main" id="{00D0E582-5988-484A-ACE5-E74F5C6C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站点周边500米圆形缓冲区只表达直线距离范围，尚未考虑围墙、河流和过街条件。</a:t>
            </a:r>
          </a:p>
        </p:txBody>
      </p:sp>
      <p:sp>
        <p:nvSpPr>
          <p:cNvPr id="6" name="可达性分析需要路网距离或出行时间，供需匹配还需人口、">
            <a:extLst xmlns:a="http://schemas.openxmlformats.org/drawingml/2006/main">
              <a:ext uri="{FF2B5EF4-FFF2-40B4-BE49-F238E27FC236}">
                <a16:creationId xmlns:a16="http://schemas.microsoft.com/office/drawing/2014/main" id="{7E139B10-5F40-4183-86D3-4E6836F8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可达性分析需要路网距离或出行时间，供需匹配还需人口、岗位或出行需求等资料。</a:t>
            </a:r>
          </a:p>
        </p:txBody>
      </p:sp>
      <p:sp>
        <p:nvSpPr>
          <p:cNvPr id="7" name="课堂讨论：一个住宅区落在站点缓冲区内，是否就意味着步">
            <a:extLst xmlns:a="http://schemas.openxmlformats.org/drawingml/2006/main">
              <a:ext uri="{FF2B5EF4-FFF2-40B4-BE49-F238E27FC236}">
                <a16:creationId xmlns:a16="http://schemas.microsoft.com/office/drawing/2014/main" id="{3F173088-A3A7-4858-A370-5A613777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课堂讨论：一个住宅区落在站点缓冲区内，是否就意味着步行服务便利？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5C0106BD-EB94-44D3-99AB-3F753192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e5b1f28824a49bf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20261947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网格尺度与事故集中程度">
            <a:extLst xmlns:a="http://schemas.openxmlformats.org/drawingml/2006/main">
              <a:ext uri="{FF2B5EF4-FFF2-40B4-BE49-F238E27FC236}">
                <a16:creationId xmlns:a16="http://schemas.microsoft.com/office/drawing/2014/main" id="{3292C8D6-719B-4C9B-AEDD-C82666AF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网格尺度与事故集中程度</a:t>
            </a:r>
          </a:p>
        </p:txBody>
      </p:sp>
      <p:sp>
        <p:nvSpPr>
          <p:cNvPr id="2" name="第5章 交通位置数据分析   5.5">
            <a:extLst xmlns:a="http://schemas.openxmlformats.org/drawingml/2006/main">
              <a:ext uri="{FF2B5EF4-FFF2-40B4-BE49-F238E27FC236}">
                <a16:creationId xmlns:a16="http://schemas.microsoft.com/office/drawing/2014/main" id="{BFCAF5FF-5FB4-407A-B144-1B3DDB20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第5章 交通位置数据分析   5.5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FB2ED8DD-C9F4-4FAB-BFCE-62947773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250米与1000米网格对应不同排查范围。">
            <a:extLst xmlns:a="http://schemas.openxmlformats.org/drawingml/2006/main">
              <a:ext uri="{FF2B5EF4-FFF2-40B4-BE49-F238E27FC236}">
                <a16:creationId xmlns:a16="http://schemas.microsoft.com/office/drawing/2014/main" id="{7C6EE00D-B05C-4D8E-A00A-62B40C1D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250米与1000米网格对应不同排查范围。</a:t>
            </a:r>
          </a:p>
        </p:txBody>
      </p:sp>
      <p:sp>
        <p:nvSpPr>
          <p:cNvPr id="5" name="网格增大通常会把更多事故合并，计数较大不能单独说明单">
            <a:extLst xmlns:a="http://schemas.openxmlformats.org/drawingml/2006/main">
              <a:ext uri="{FF2B5EF4-FFF2-40B4-BE49-F238E27FC236}">
                <a16:creationId xmlns:a16="http://schemas.microsoft.com/office/drawing/2014/main" id="{61112A1B-FB3D-41B9-A4C6-213B3380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网格增大通常会把更多事故合并，计数较大不能单独说明单位面积或单位暴露风险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更高。</a:t>
            </a:r>
          </a:p>
        </p:txBody>
      </p:sp>
      <p:sp>
        <p:nvSpPr>
          <p:cNvPr id="6" name="固定原点与有效点集，只改变边长，比较有记录网格数和前">
            <a:extLst xmlns:a="http://schemas.openxmlformats.org/drawingml/2006/main">
              <a:ext uri="{FF2B5EF4-FFF2-40B4-BE49-F238E27FC236}">
                <a16:creationId xmlns:a16="http://schemas.microsoft.com/office/drawing/2014/main" id="{77D1779D-CDDA-4830-9C14-512990D9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固定原点与有效点集，只改变边长，比较有记录网格数和前10网格覆盖比例。</a:t>
            </a:r>
          </a:p>
        </p:txBody>
      </p:sp>
      <p:sp>
        <p:nvSpPr>
          <p:cNvPr id="7" name="课堂讨论：前10个大网格覆盖事故更多，为什么未必更适">
            <a:extLst xmlns:a="http://schemas.openxmlformats.org/drawingml/2006/main">
              <a:ext uri="{FF2B5EF4-FFF2-40B4-BE49-F238E27FC236}">
                <a16:creationId xmlns:a16="http://schemas.microsoft.com/office/drawing/2014/main" id="{2034C450-3463-4DB3-98B3-69C83B21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课堂讨论：前10个大网格覆盖事故更多，为什么未必更适合逐路口排查？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30F3124F-4AFF-4352-8130-3AB8BC89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aa5c51c81354ab1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10566012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网格尺度与事故集中程度：计算结果">
            <a:extLst xmlns:a="http://schemas.openxmlformats.org/drawingml/2006/main">
              <a:ext uri="{FF2B5EF4-FFF2-40B4-BE49-F238E27FC236}">
                <a16:creationId xmlns:a16="http://schemas.microsoft.com/office/drawing/2014/main" id="{A2F024E5-81C2-419C-9F2C-370C5984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网格尺度与事故集中程度：计算结果</a:t>
            </a:r>
          </a:p>
        </p:txBody>
      </p:sp>
      <p:sp>
        <p:nvSpPr>
          <p:cNvPr id="2" name="第5章 交通位置数据分析   5.5">
            <a:extLst xmlns:a="http://schemas.openxmlformats.org/drawingml/2006/main">
              <a:ext uri="{FF2B5EF4-FFF2-40B4-BE49-F238E27FC236}">
                <a16:creationId xmlns:a16="http://schemas.microsoft.com/office/drawing/2014/main" id="{601F829D-1FB4-4281-913C-848FB61E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第5章 交通位置数据分析   5.5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FF13A1FF-6BA7-44B1-9BBF-21235209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根据真实观测在浏览器重新计算">
            <a:extLst xmlns:a="http://schemas.openxmlformats.org/drawingml/2006/main">
              <a:ext uri="{FF2B5EF4-FFF2-40B4-BE49-F238E27FC236}">
                <a16:creationId xmlns:a16="http://schemas.microsoft.com/office/drawing/2014/main" id="{3F48A150-8F17-4C8C-857F-6C0B1CB1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根据真实观测在浏览器重新计算</a:t>
            </a:r>
          </a:p>
        </p:txBody>
      </p:sp>
      <p:sp>
        <p:nvSpPr>
          <p:cNvPr id="5" name="默认配置：行政区：全部">
            <a:extLst xmlns:a="http://schemas.openxmlformats.org/drawingml/2006/main">
              <a:ext uri="{FF2B5EF4-FFF2-40B4-BE49-F238E27FC236}">
                <a16:creationId xmlns:a16="http://schemas.microsoft.com/office/drawing/2014/main" id="{EA670814-BB3F-4001-BB14-E7BCE3F8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默认配置：行政区：全部</a:t>
            </a:r>
          </a:p>
        </p:txBody>
      </p:sp>
      <p:sp>
        <p:nvSpPr>
          <p:cNvPr id="6" name="前K格事故覆盖率（%）">
            <a:extLst xmlns:a="http://schemas.openxmlformats.org/drawingml/2006/main">
              <a:ext uri="{FF2B5EF4-FFF2-40B4-BE49-F238E27FC236}">
                <a16:creationId xmlns:a16="http://schemas.microsoft.com/office/drawing/2014/main" id="{A32669BA-1DF4-4CA2-80C5-08DA606B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前K格事故覆盖率（%）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e492bc49e945d0"/>
          </a:graphicData>
        </a:graphic>
      </p:graphicFrame>
      <p:sp>
        <p:nvSpPr>
          <p:cNvPr id="8" name="K=min(10,有记录网格数)。">
            <a:extLst xmlns:a="http://schemas.openxmlformats.org/drawingml/2006/main">
              <a:ext uri="{FF2B5EF4-FFF2-40B4-BE49-F238E27FC236}">
                <a16:creationId xmlns:a16="http://schemas.microsoft.com/office/drawing/2014/main" id="{21200AD7-C3A5-4451-858F-072B1D6D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K=min(10,有记录网格数)。</a:t>
            </a:r>
          </a:p>
        </p:txBody>
      </p:sp>
      <p:sp>
        <p:nvSpPr>
          <p:cNvPr id="9" name="link">
            <a:extLst xmlns:a="http://schemas.openxmlformats.org/drawingml/2006/main">
              <a:ext uri="{FF2B5EF4-FFF2-40B4-BE49-F238E27FC236}">
                <a16:creationId xmlns:a16="http://schemas.microsoft.com/office/drawing/2014/main" id="{2BF1D94F-2F04-4911-8177-077DE1A6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0cf8a41f5de4240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6176903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频次排序与伤者负担排序">
            <a:extLst xmlns:a="http://schemas.openxmlformats.org/drawingml/2006/main">
              <a:ext uri="{FF2B5EF4-FFF2-40B4-BE49-F238E27FC236}">
                <a16:creationId xmlns:a16="http://schemas.microsoft.com/office/drawing/2014/main" id="{06D316DB-7690-436D-B99E-8C7CD1B4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频次排序与伤者负担排序</a:t>
            </a:r>
          </a:p>
        </p:txBody>
      </p:sp>
      <p:sp>
        <p:nvSpPr>
          <p:cNvPr id="2" name="第5章 交通位置数据分析   5.5">
            <a:extLst xmlns:a="http://schemas.openxmlformats.org/drawingml/2006/main">
              <a:ext uri="{FF2B5EF4-FFF2-40B4-BE49-F238E27FC236}">
                <a16:creationId xmlns:a16="http://schemas.microsoft.com/office/drawing/2014/main" id="{74CAF2D0-EFA4-45B4-AB6E-4DEB4280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第5章 交通位置数据分析   5.5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4B2CF6DE-67A6-486A-8E0A-6B78D6C9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排查目标变化会改变候选范围。">
            <a:extLst xmlns:a="http://schemas.openxmlformats.org/drawingml/2006/main">
              <a:ext uri="{FF2B5EF4-FFF2-40B4-BE49-F238E27FC236}">
                <a16:creationId xmlns:a16="http://schemas.microsoft.com/office/drawing/2014/main" id="{7F98F206-2233-4EB1-A878-4E7E27E5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排查目标变化会改变候选范围。</a:t>
            </a:r>
          </a:p>
        </p:txBody>
      </p:sp>
      <p:sp>
        <p:nvSpPr>
          <p:cNvPr id="5" name="事故记录数侧重事件频次，伤者人数侧重人员伤害负担。它">
            <a:extLst xmlns:a="http://schemas.openxmlformats.org/drawingml/2006/main">
              <a:ext uri="{FF2B5EF4-FFF2-40B4-BE49-F238E27FC236}">
                <a16:creationId xmlns:a16="http://schemas.microsoft.com/office/drawing/2014/main" id="{A771D3DB-9A43-4CBA-863E-56A91148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事故记录数侧重事件频次，伤者人数侧重人员伤害负担。它们对应不同管理关注。</a:t>
            </a:r>
          </a:p>
        </p:txBody>
      </p:sp>
      <p:sp>
        <p:nvSpPr>
          <p:cNvPr id="6" name="同一500米网格分别排序，核对清单交集与各候选的两类">
            <a:extLst xmlns:a="http://schemas.openxmlformats.org/drawingml/2006/main">
              <a:ext uri="{FF2B5EF4-FFF2-40B4-BE49-F238E27FC236}">
                <a16:creationId xmlns:a16="http://schemas.microsoft.com/office/drawing/2014/main" id="{93CDED58-9A48-415D-A3AC-E80A322B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同一500米网格分别排序，核对清单交集与各候选的两类计数。</a:t>
            </a:r>
          </a:p>
        </p:txBody>
      </p:sp>
      <p:sp>
        <p:nvSpPr>
          <p:cNvPr id="7" name="课堂讨论：你会怎样说明一种排序优先于另一种排序的理由">
            <a:extLst xmlns:a="http://schemas.openxmlformats.org/drawingml/2006/main">
              <a:ext uri="{FF2B5EF4-FFF2-40B4-BE49-F238E27FC236}">
                <a16:creationId xmlns:a16="http://schemas.microsoft.com/office/drawing/2014/main" id="{2925E0D9-4A7A-40E4-A22B-6C90CA60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课堂讨论：你会怎样说明一种排序优先于另一种排序的理由？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48B83449-4E76-4EC0-ACD1-27BCA3CB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72fc7ef2f02474b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21404484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频次排序与伤者负担排序：计算结果">
            <a:extLst xmlns:a="http://schemas.openxmlformats.org/drawingml/2006/main">
              <a:ext uri="{FF2B5EF4-FFF2-40B4-BE49-F238E27FC236}">
                <a16:creationId xmlns:a16="http://schemas.microsoft.com/office/drawing/2014/main" id="{DAFB29E2-501F-4010-9A5F-DF817805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频次排序与伤者负担排序：计算结果</a:t>
            </a:r>
          </a:p>
        </p:txBody>
      </p:sp>
      <p:sp>
        <p:nvSpPr>
          <p:cNvPr id="2" name="第5章 交通位置数据分析   5.5">
            <a:extLst xmlns:a="http://schemas.openxmlformats.org/drawingml/2006/main">
              <a:ext uri="{FF2B5EF4-FFF2-40B4-BE49-F238E27FC236}">
                <a16:creationId xmlns:a16="http://schemas.microsoft.com/office/drawing/2014/main" id="{8F9C4C37-CF7B-407E-9741-56C85F13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第5章 交通位置数据分析   5.5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B02C8072-905A-4F6A-92DB-4D6E9AB5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根据真实观测在浏览器重新计算">
            <a:extLst xmlns:a="http://schemas.openxmlformats.org/drawingml/2006/main">
              <a:ext uri="{FF2B5EF4-FFF2-40B4-BE49-F238E27FC236}">
                <a16:creationId xmlns:a16="http://schemas.microsoft.com/office/drawing/2014/main" id="{69AA3576-6A54-4CDF-9177-ECF4D18A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根据真实观测在浏览器重新计算</a:t>
            </a:r>
          </a:p>
        </p:txBody>
      </p:sp>
      <p:sp>
        <p:nvSpPr>
          <p:cNvPr id="5" name="默认配置：行政区：全部">
            <a:extLst xmlns:a="http://schemas.openxmlformats.org/drawingml/2006/main">
              <a:ext uri="{FF2B5EF4-FFF2-40B4-BE49-F238E27FC236}">
                <a16:creationId xmlns:a16="http://schemas.microsoft.com/office/drawing/2014/main" id="{610139B2-58CD-44B7-92AD-A697C6D0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默认配置：行政区：全部</a:t>
            </a:r>
          </a:p>
        </p:txBody>
      </p:sp>
      <p:sp>
        <p:nvSpPr>
          <p:cNvPr id="6" name="排序名次（数值越小越靠前）">
            <a:extLst xmlns:a="http://schemas.openxmlformats.org/drawingml/2006/main">
              <a:ext uri="{FF2B5EF4-FFF2-40B4-BE49-F238E27FC236}">
                <a16:creationId xmlns:a16="http://schemas.microsoft.com/office/drawing/2014/main" id="{33761707-2F22-452F-998D-07F2C943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排序名次（数值越小越靠前）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e570aa58f340bc"/>
          </a:graphicData>
        </a:graphic>
      </p:graphicFrame>
      <p:sp>
        <p:nvSpPr>
          <p:cNvPr id="8" name="只比较两份前10名单的并集。">
            <a:extLst xmlns:a="http://schemas.openxmlformats.org/drawingml/2006/main">
              <a:ext uri="{FF2B5EF4-FFF2-40B4-BE49-F238E27FC236}">
                <a16:creationId xmlns:a16="http://schemas.microsoft.com/office/drawing/2014/main" id="{3231CF21-5685-49C7-BC9C-E6909C2D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只比较两份前10名单的并集。</a:t>
            </a:r>
          </a:p>
        </p:txBody>
      </p:sp>
      <p:sp>
        <p:nvSpPr>
          <p:cNvPr id="9" name="link">
            <a:extLst xmlns:a="http://schemas.openxmlformats.org/drawingml/2006/main">
              <a:ext uri="{FF2B5EF4-FFF2-40B4-BE49-F238E27FC236}">
                <a16:creationId xmlns:a16="http://schemas.microsoft.com/office/drawing/2014/main" id="{D1166DF5-5431-4EF9-B561-DA0662A5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4d9d3a578e9403f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15872921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核密度估计与空间平滑">
            <a:extLst xmlns:a="http://schemas.openxmlformats.org/drawingml/2006/main">
              <a:ext uri="{FF2B5EF4-FFF2-40B4-BE49-F238E27FC236}">
                <a16:creationId xmlns:a16="http://schemas.microsoft.com/office/drawing/2014/main" id="{BF77E7E4-F98C-4914-AB59-D76E0FFE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核密度估计与空间平滑</a:t>
            </a:r>
          </a:p>
        </p:txBody>
      </p:sp>
      <p:sp>
        <p:nvSpPr>
          <p:cNvPr id="2" name="第5章 交通位置数据分析   5.6">
            <a:extLst xmlns:a="http://schemas.openxmlformats.org/drawingml/2006/main">
              <a:ext uri="{FF2B5EF4-FFF2-40B4-BE49-F238E27FC236}">
                <a16:creationId xmlns:a16="http://schemas.microsoft.com/office/drawing/2014/main" id="{D6C083DE-F2E3-491F-B266-0C230F97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第5章 交通位置数据分析   5.6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D04DBA61-4009-45CB-A5F8-2FB58A8E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KDE把事故点的局部贡献叠加成连续密度。">
            <a:extLst xmlns:a="http://schemas.openxmlformats.org/drawingml/2006/main">
              <a:ext uri="{FF2B5EF4-FFF2-40B4-BE49-F238E27FC236}">
                <a16:creationId xmlns:a16="http://schemas.microsoft.com/office/drawing/2014/main" id="{4AC139E7-D6A3-4108-8C1C-7E4771D2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KDE把事故点的局部贡献叠加成连续密度。</a:t>
            </a:r>
          </a:p>
        </p:txBody>
      </p:sp>
      <p:sp>
        <p:nvSpPr>
          <p:cNvPr id="5" name="f̂_h(s) = Σ_i exp(−||s−s_i">
            <a:extLst xmlns:a="http://schemas.openxmlformats.org/drawingml/2006/main">
              <a:ext uri="{FF2B5EF4-FFF2-40B4-BE49-F238E27FC236}">
                <a16:creationId xmlns:a16="http://schemas.microsoft.com/office/drawing/2014/main" id="{D6B90138-8EBC-40A6-9C46-6B3AFD3E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f̂_h(s) = Σ_i exp(−||s−s_i||² / (2h²)) / (n · 2πh²)</a:t>
            </a:r>
          </a:p>
        </p:txBody>
      </p:sp>
      <p:sp>
        <p:nvSpPr>
          <p:cNvPr id="6" name="s、s_i：评价点与第i个事故点。||·||：欧氏距">
            <a:extLst xmlns:a="http://schemas.openxmlformats.org/drawingml/2006/main">
              <a:ext uri="{FF2B5EF4-FFF2-40B4-BE49-F238E27FC236}">
                <a16:creationId xmlns:a16="http://schemas.microsoft.com/office/drawing/2014/main" id="{02A46741-1F29-4644-8779-703EFAA6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s、s_i：评价点与第i个事故点。||·||：欧氏距离。h：带宽，距离单位为米。n：有效点数。Σ_i：逐点求和。π：圆周率。f̂：密度，乘10⁶换为1/km²。</a:t>
            </a:r>
          </a:p>
        </p:txBody>
      </p:sp>
      <p:sp>
        <p:nvSpPr>
          <p:cNvPr id="7" name="带宽h决定平滑范围，较小h突出局部集中，较大h合并邻">
            <a:extLst xmlns:a="http://schemas.openxmlformats.org/drawingml/2006/main">
              <a:ext uri="{FF2B5EF4-FFF2-40B4-BE49-F238E27FC236}">
                <a16:creationId xmlns:a16="http://schemas.microsoft.com/office/drawing/2014/main" id="{3190852C-ABA5-411B-ACAC-3017DEA1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带宽h决定平滑范围，较小h突出局部集中，较大h合并邻近峰值。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5416E2C3-85A7-43DE-B92E-6D2AE970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b87511dcc33439a"/>
              </a:rPr>
              <a:t>公式解释与交通问题讨论</a:t>
            </a:r>
          </a:p>
        </p:txBody>
      </p:sp>
    </p:spTree>
    <p:extLst>
      <p:ext uri="{BB962C8B-B14F-4D97-AF65-F5344CB8AC3E}">
        <p14:creationId xmlns:p14="http://schemas.microsoft.com/office/powerpoint/2010/main" val="21195375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核密度估计与空间平滑：计算结果">
            <a:extLst xmlns:a="http://schemas.openxmlformats.org/drawingml/2006/main">
              <a:ext uri="{FF2B5EF4-FFF2-40B4-BE49-F238E27FC236}">
                <a16:creationId xmlns:a16="http://schemas.microsoft.com/office/drawing/2014/main" id="{23DC779F-313F-4B73-84BE-4324C369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核密度估计与空间平滑：计算结果</a:t>
            </a:r>
          </a:p>
        </p:txBody>
      </p:sp>
      <p:sp>
        <p:nvSpPr>
          <p:cNvPr id="2" name="第5章 交通位置数据分析   5.6">
            <a:extLst xmlns:a="http://schemas.openxmlformats.org/drawingml/2006/main">
              <a:ext uri="{FF2B5EF4-FFF2-40B4-BE49-F238E27FC236}">
                <a16:creationId xmlns:a16="http://schemas.microsoft.com/office/drawing/2014/main" id="{F28384D5-01EC-498A-A1DB-515FA444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第5章 交通位置数据分析   5.6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AA10E92E-AA0A-4993-9871-97F8295F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根据真实观测在浏览器重新计算">
            <a:extLst xmlns:a="http://schemas.openxmlformats.org/drawingml/2006/main">
              <a:ext uri="{FF2B5EF4-FFF2-40B4-BE49-F238E27FC236}">
                <a16:creationId xmlns:a16="http://schemas.microsoft.com/office/drawing/2014/main" id="{4B1DAEDA-C87B-438A-A32D-A69C2350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根据真实观测在浏览器重新计算</a:t>
            </a:r>
          </a:p>
        </p:txBody>
      </p:sp>
      <p:sp>
        <p:nvSpPr>
          <p:cNvPr id="5" name="默认配置：带宽（米）：500">
            <a:extLst xmlns:a="http://schemas.openxmlformats.org/drawingml/2006/main">
              <a:ext uri="{FF2B5EF4-FFF2-40B4-BE49-F238E27FC236}">
                <a16:creationId xmlns:a16="http://schemas.microsoft.com/office/drawing/2014/main" id="{103BF4A6-43CE-4127-A0F3-963866F3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默认配置：带宽（米）：500</a:t>
            </a:r>
          </a:p>
        </p:txBody>
      </p:sp>
      <p:sp>
        <p:nvSpPr>
          <p:cNvPr id="6" name="概率密度（1/km²）">
            <a:extLst xmlns:a="http://schemas.openxmlformats.org/drawingml/2006/main">
              <a:ext uri="{FF2B5EF4-FFF2-40B4-BE49-F238E27FC236}">
                <a16:creationId xmlns:a16="http://schemas.microsoft.com/office/drawing/2014/main" id="{BA0BF8A1-8A35-4D89-BCFE-7E8F057C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概率密度（1/km²）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05ed372b604998"/>
          </a:graphicData>
        </a:graphic>
      </p:graphicFrame>
      <p:sp>
        <p:nvSpPr>
          <p:cNvPr id="8" name="7068有效点与2069固定500米网格中心。">
            <a:extLst xmlns:a="http://schemas.openxmlformats.org/drawingml/2006/main">
              <a:ext uri="{FF2B5EF4-FFF2-40B4-BE49-F238E27FC236}">
                <a16:creationId xmlns:a16="http://schemas.microsoft.com/office/drawing/2014/main" id="{6D30ECE8-6076-4E32-9F6C-3BCE0A8E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7068有效点与2069固定500米网格中心。</a:t>
            </a:r>
          </a:p>
        </p:txBody>
      </p:sp>
      <p:sp>
        <p:nvSpPr>
          <p:cNvPr id="9" name="link">
            <a:extLst xmlns:a="http://schemas.openxmlformats.org/drawingml/2006/main">
              <a:ext uri="{FF2B5EF4-FFF2-40B4-BE49-F238E27FC236}">
                <a16:creationId xmlns:a16="http://schemas.microsoft.com/office/drawing/2014/main" id="{AE66B218-11E4-406C-9F83-7C1C5CF2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01082a64e6f4f0f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5354579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密度聚类与事故点连通">
            <a:extLst xmlns:a="http://schemas.openxmlformats.org/drawingml/2006/main">
              <a:ext uri="{FF2B5EF4-FFF2-40B4-BE49-F238E27FC236}">
                <a16:creationId xmlns:a16="http://schemas.microsoft.com/office/drawing/2014/main" id="{4BCC9336-2B96-4C26-89FC-FCB33B0E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密度聚类与事故点连通</a:t>
            </a:r>
          </a:p>
        </p:txBody>
      </p:sp>
      <p:sp>
        <p:nvSpPr>
          <p:cNvPr id="2" name="第5章 交通位置数据分析   5.6">
            <a:extLst xmlns:a="http://schemas.openxmlformats.org/drawingml/2006/main">
              <a:ext uri="{FF2B5EF4-FFF2-40B4-BE49-F238E27FC236}">
                <a16:creationId xmlns:a16="http://schemas.microsoft.com/office/drawing/2014/main" id="{2EC4BD51-82B6-4AAA-AB50-A320E1AE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第5章 交通位置数据分析   5.6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B2109579-8DFA-4BBD-BCCD-EADB2A67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DBSCAN寻找密度可达的事故点群。">
            <a:extLst xmlns:a="http://schemas.openxmlformats.org/drawingml/2006/main">
              <a:ext uri="{FF2B5EF4-FFF2-40B4-BE49-F238E27FC236}">
                <a16:creationId xmlns:a16="http://schemas.microsoft.com/office/drawing/2014/main" id="{4A79CA67-6297-46AC-9278-8455A9F8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DBSCAN寻找密度可达的事故点群。</a:t>
            </a:r>
          </a:p>
        </p:txBody>
      </p:sp>
      <p:sp>
        <p:nvSpPr>
          <p:cNvPr id="5" name="eps是邻域距离，min_samples是核心点所需">
            <a:extLst xmlns:a="http://schemas.openxmlformats.org/drawingml/2006/main">
              <a:ext uri="{FF2B5EF4-FFF2-40B4-BE49-F238E27FC236}">
                <a16:creationId xmlns:a16="http://schemas.microsoft.com/office/drawing/2014/main" id="{6AE09CB0-AFC8-4AC9-AFDB-DB2ED228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eps是邻域距离，min_samples是核心点所需邻域点数，按算法约定包含该点自身。</a:t>
            </a:r>
          </a:p>
        </p:txBody>
      </p:sp>
      <p:sp>
        <p:nvSpPr>
          <p:cNvPr id="6" name="噪声点只表示在给定参数下未归入簇，不等于无效事故。大">
            <a:extLst xmlns:a="http://schemas.openxmlformats.org/drawingml/2006/main">
              <a:ext uri="{FF2B5EF4-FFF2-40B4-BE49-F238E27FC236}">
                <a16:creationId xmlns:a16="http://schemas.microsoft.com/office/drawing/2014/main" id="{9174C92B-9B85-4BAE-96CF-E14C5D88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噪声点只表示在给定参数下未归入簇，不等于无效事故。大半径可能连接成巨簇。</a:t>
            </a:r>
          </a:p>
        </p:txBody>
      </p:sp>
      <p:sp>
        <p:nvSpPr>
          <p:cNvPr id="7" name="课堂讨论：一条链状点列为何可能把相隔很远的区域连成一">
            <a:extLst xmlns:a="http://schemas.openxmlformats.org/drawingml/2006/main">
              <a:ext uri="{FF2B5EF4-FFF2-40B4-BE49-F238E27FC236}">
                <a16:creationId xmlns:a16="http://schemas.microsoft.com/office/drawing/2014/main" id="{B7B8399B-D614-4E63-B723-EDCC5D8B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课堂讨论：一条链状点列为何可能把相隔很远的区域连成一个簇？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DC143758-A060-4141-A5A0-612AE219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0fff240a2fa4c4a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14965180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密度聚类与事故点连通：计算结果">
            <a:extLst xmlns:a="http://schemas.openxmlformats.org/drawingml/2006/main">
              <a:ext uri="{FF2B5EF4-FFF2-40B4-BE49-F238E27FC236}">
                <a16:creationId xmlns:a16="http://schemas.microsoft.com/office/drawing/2014/main" id="{0EEFBFA0-896D-4115-B928-3DAA24D4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密度聚类与事故点连通：计算结果</a:t>
            </a:r>
          </a:p>
        </p:txBody>
      </p:sp>
      <p:sp>
        <p:nvSpPr>
          <p:cNvPr id="2" name="第5章 交通位置数据分析   5.6">
            <a:extLst xmlns:a="http://schemas.openxmlformats.org/drawingml/2006/main">
              <a:ext uri="{FF2B5EF4-FFF2-40B4-BE49-F238E27FC236}">
                <a16:creationId xmlns:a16="http://schemas.microsoft.com/office/drawing/2014/main" id="{DC637BF6-B9DF-49FA-B3C0-C524B246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第5章 交通位置数据分析   5.6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ECBB293D-2570-4DE5-86B9-04CAC163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冻结DBSCAN结果浏览与统计">
            <a:extLst xmlns:a="http://schemas.openxmlformats.org/drawingml/2006/main">
              <a:ext uri="{FF2B5EF4-FFF2-40B4-BE49-F238E27FC236}">
                <a16:creationId xmlns:a16="http://schemas.microsoft.com/office/drawing/2014/main" id="{8F679DCB-E78A-4E4A-9018-808FED42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冻结DBSCAN结果浏览与统计</a:t>
            </a:r>
          </a:p>
        </p:txBody>
      </p:sp>
      <p:sp>
        <p:nvSpPr>
          <p:cNvPr id="5" name="默认配置：邻域半径（米）：350，邻域最低点数：5">
            <a:extLst xmlns:a="http://schemas.openxmlformats.org/drawingml/2006/main">
              <a:ext uri="{FF2B5EF4-FFF2-40B4-BE49-F238E27FC236}">
                <a16:creationId xmlns:a16="http://schemas.microsoft.com/office/drawing/2014/main" id="{4B48C249-E605-4052-9DFF-DBB0C06B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默认配置：邻域半径（米）：350，邻域最低点数：5</a:t>
            </a:r>
          </a:p>
        </p:txBody>
      </p:sp>
      <p:sp>
        <p:nvSpPr>
          <p:cNvPr id="6" name="事故点数">
            <a:extLst xmlns:a="http://schemas.openxmlformats.org/drawingml/2006/main">
              <a:ext uri="{FF2B5EF4-FFF2-40B4-BE49-F238E27FC236}">
                <a16:creationId xmlns:a16="http://schemas.microsoft.com/office/drawing/2014/main" id="{8A1A2C10-3624-4C07-A0C9-1BDA4E7B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事故点数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7fcd38ee364731"/>
          </a:graphicData>
        </a:graphic>
      </p:graphicFrame>
      <p:sp>
        <p:nvSpPr>
          <p:cNvPr id="8" name="切换既有Python DBSCAN标签并重新统计，不">
            <a:extLst xmlns:a="http://schemas.openxmlformats.org/drawingml/2006/main">
              <a:ext uri="{FF2B5EF4-FFF2-40B4-BE49-F238E27FC236}">
                <a16:creationId xmlns:a16="http://schemas.microsoft.com/office/drawing/2014/main" id="{64DBD40B-E5CB-486D-839C-5F923A4D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切换既有Python DBSCAN标签并重新统计，不在浏览器重新拟合。</a:t>
            </a:r>
          </a:p>
        </p:txBody>
      </p:sp>
      <p:sp>
        <p:nvSpPr>
          <p:cNvPr id="9" name="link">
            <a:extLst xmlns:a="http://schemas.openxmlformats.org/drawingml/2006/main">
              <a:ext uri="{FF2B5EF4-FFF2-40B4-BE49-F238E27FC236}">
                <a16:creationId xmlns:a16="http://schemas.microsoft.com/office/drawing/2014/main" id="{E21E527E-F19A-4B9B-AEAF-C727A09C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2f13d0557ff4c90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18846124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空间自相关与统计热点">
            <a:extLst xmlns:a="http://schemas.openxmlformats.org/drawingml/2006/main">
              <a:ext uri="{FF2B5EF4-FFF2-40B4-BE49-F238E27FC236}">
                <a16:creationId xmlns:a16="http://schemas.microsoft.com/office/drawing/2014/main" id="{8435619D-2128-4962-AB13-5D4658BD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空间自相关与统计热点</a:t>
            </a:r>
          </a:p>
        </p:txBody>
      </p:sp>
      <p:sp>
        <p:nvSpPr>
          <p:cNvPr id="2" name="第5章 交通位置数据分析   5.7">
            <a:extLst xmlns:a="http://schemas.openxmlformats.org/drawingml/2006/main">
              <a:ext uri="{FF2B5EF4-FFF2-40B4-BE49-F238E27FC236}">
                <a16:creationId xmlns:a16="http://schemas.microsoft.com/office/drawing/2014/main" id="{D458BF5E-8C1F-4062-B91D-E18A7026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第5章 交通位置数据分析   5.7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9A8C8229-E141-41CE-B15C-582BB78E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描述性密度与统计显著性需要区分。">
            <a:extLst xmlns:a="http://schemas.openxmlformats.org/drawingml/2006/main">
              <a:ext uri="{FF2B5EF4-FFF2-40B4-BE49-F238E27FC236}">
                <a16:creationId xmlns:a16="http://schemas.microsoft.com/office/drawing/2014/main" id="{73265A58-7829-4EFA-86DA-92F8C8A7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描述性密度与统计显著性需要区分。</a:t>
            </a:r>
          </a:p>
        </p:txBody>
      </p:sp>
      <p:sp>
        <p:nvSpPr>
          <p:cNvPr id="5" name="Moran’s I依赖观测变量、区域单元和空间权重矩">
            <a:extLst xmlns:a="http://schemas.openxmlformats.org/drawingml/2006/main">
              <a:ext uri="{FF2B5EF4-FFF2-40B4-BE49-F238E27FC236}">
                <a16:creationId xmlns:a16="http://schemas.microsoft.com/office/drawing/2014/main" id="{11ADD893-92E9-40A7-9012-97A27B01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Moran’s I依赖观测变量、区域单元和空间权重矩阵。权重可以表达邻接，也可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以表达距离或道路联系。</a:t>
            </a:r>
          </a:p>
        </p:txBody>
      </p:sp>
      <p:sp>
        <p:nvSpPr>
          <p:cNvPr id="6" name="局部检验需要注意多重比较。空间相关显著不能直接说明某">
            <a:extLst xmlns:a="http://schemas.openxmlformats.org/drawingml/2006/main">
              <a:ext uri="{FF2B5EF4-FFF2-40B4-BE49-F238E27FC236}">
                <a16:creationId xmlns:a16="http://schemas.microsoft.com/office/drawing/2014/main" id="{70AE734A-3486-4F25-8204-A38F82CA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局部检验需要注意多重比较。空间相关显著不能直接说明某项设施导致事故。</a:t>
            </a:r>
          </a:p>
        </p:txBody>
      </p:sp>
      <p:sp>
        <p:nvSpPr>
          <p:cNvPr id="7" name="课堂讨论：改变区域划分后，显著热点是否一定保持不变？">
            <a:extLst xmlns:a="http://schemas.openxmlformats.org/drawingml/2006/main">
              <a:ext uri="{FF2B5EF4-FFF2-40B4-BE49-F238E27FC236}">
                <a16:creationId xmlns:a16="http://schemas.microsoft.com/office/drawing/2014/main" id="{20361E3A-605D-4FAB-9F4B-07EF2AA4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课堂讨论：改变区域划分后，显著热点是否一定保持不变？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7DA1F8F2-4A9E-48AE-9236-152AAF5F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9692ed2c70143a7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1407876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插值与空间回归的适用条件">
            <a:extLst xmlns:a="http://schemas.openxmlformats.org/drawingml/2006/main">
              <a:ext uri="{FF2B5EF4-FFF2-40B4-BE49-F238E27FC236}">
                <a16:creationId xmlns:a16="http://schemas.microsoft.com/office/drawing/2014/main" id="{959BDCC9-BA21-4243-87B1-622C5621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插值与空间回归的适用条件</a:t>
            </a:r>
          </a:p>
        </p:txBody>
      </p:sp>
      <p:sp>
        <p:nvSpPr>
          <p:cNvPr id="2" name="第5章 交通位置数据分析   5.8 / 5.9">
            <a:extLst xmlns:a="http://schemas.openxmlformats.org/drawingml/2006/main">
              <a:ext uri="{FF2B5EF4-FFF2-40B4-BE49-F238E27FC236}">
                <a16:creationId xmlns:a16="http://schemas.microsoft.com/office/drawing/2014/main" id="{24D5CF7E-264C-4C18-9A74-D1754C8D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第5章 交通位置数据分析   5.8 / 5.9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8E2B2570-4E53-4237-9439-017B32D6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方法选择要回到数据生成过程。">
            <a:extLst xmlns:a="http://schemas.openxmlformats.org/drawingml/2006/main">
              <a:ext uri="{FF2B5EF4-FFF2-40B4-BE49-F238E27FC236}">
                <a16:creationId xmlns:a16="http://schemas.microsoft.com/office/drawing/2014/main" id="{372F4353-16A2-4FA6-9F16-4DD1C1B9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方法选择要回到数据生成过程。</a:t>
            </a:r>
          </a:p>
        </p:txBody>
      </p:sp>
      <p:sp>
        <p:nvSpPr>
          <p:cNvPr id="5" name="IDW或Kriging适用于具有合理连续空间场假设的">
            <a:extLst xmlns:a="http://schemas.openxmlformats.org/drawingml/2006/main">
              <a:ext uri="{FF2B5EF4-FFF2-40B4-BE49-F238E27FC236}">
                <a16:creationId xmlns:a16="http://schemas.microsoft.com/office/drawing/2014/main" id="{182DA5E1-5A86-402E-9136-7A58B21C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IDW或Kriging适用于具有合理连续空间场假设的测量，不能随意插值离散事故是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否发生。</a:t>
            </a:r>
          </a:p>
        </p:txBody>
      </p:sp>
      <p:sp>
        <p:nvSpPr>
          <p:cNvPr id="6" name="SLM、SEM和GWR分别处理不同的依赖或异质性假设">
            <a:extLst xmlns:a="http://schemas.openxmlformats.org/drawingml/2006/main">
              <a:ext uri="{FF2B5EF4-FFF2-40B4-BE49-F238E27FC236}">
                <a16:creationId xmlns:a16="http://schemas.microsoft.com/office/drawing/2014/main" id="{CFBC9B96-B634-46A2-B88E-A9E60546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SLM、SEM和GWR分别处理不同的依赖或异质性假设，应比较残差、权重与带宽敏感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性。</a:t>
            </a:r>
          </a:p>
        </p:txBody>
      </p:sp>
      <p:sp>
        <p:nvSpPr>
          <p:cNvPr id="7" name="课堂讨论：为了让地图更平滑而插值事故次数，会隐藏哪些">
            <a:extLst xmlns:a="http://schemas.openxmlformats.org/drawingml/2006/main">
              <a:ext uri="{FF2B5EF4-FFF2-40B4-BE49-F238E27FC236}">
                <a16:creationId xmlns:a16="http://schemas.microsoft.com/office/drawing/2014/main" id="{DBD0DAA9-5A8B-43FF-A1C3-66FB13DF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课堂讨论：为了让地图更平滑而插值事故次数，会隐藏哪些问题？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B7D6FA46-BBBE-43EE-AF73-1646B2DD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c22bc8a13384a9d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769736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三类空间方法的输出差异">
            <a:extLst xmlns:a="http://schemas.openxmlformats.org/drawingml/2006/main">
              <a:ext uri="{FF2B5EF4-FFF2-40B4-BE49-F238E27FC236}">
                <a16:creationId xmlns:a16="http://schemas.microsoft.com/office/drawing/2014/main" id="{CA8FE92F-EAAD-4CCF-885A-60469E91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三类空间方法的输出差异</a:t>
            </a:r>
          </a:p>
        </p:txBody>
      </p:sp>
      <p:sp>
        <p:nvSpPr>
          <p:cNvPr id="2" name="第5章 交通位置数据分析   5.10">
            <a:extLst xmlns:a="http://schemas.openxmlformats.org/drawingml/2006/main">
              <a:ext uri="{FF2B5EF4-FFF2-40B4-BE49-F238E27FC236}">
                <a16:creationId xmlns:a16="http://schemas.microsoft.com/office/drawing/2014/main" id="{227FFE24-CD47-42FB-A034-86189225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第5章 交通位置数据分析   5.10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21F1F995-E2E0-488A-BFDA-500F4871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同一批点可以回答不同的空间问题。">
            <a:extLst xmlns:a="http://schemas.openxmlformats.org/drawingml/2006/main">
              <a:ext uri="{FF2B5EF4-FFF2-40B4-BE49-F238E27FC236}">
                <a16:creationId xmlns:a16="http://schemas.microsoft.com/office/drawing/2014/main" id="{2D9EDED5-BDFF-4614-9220-5628362D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同一批点可以回答不同的空间问题。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" y="2533650"/>
          <a:ext xmlns:a="http://schemas.openxmlformats.org/drawingml/2006/main" cx="10820400" cy="2381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606800"/>
                <a:gridCol w="3606800"/>
                <a:gridCol w="3606800"/>
              </a:tblGrid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输出对象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关键约束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网格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固定单元内计数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原点、面积与尺度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KDE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评价位置上的密度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带宽、边界与单位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DBSCAN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点的簇归属与噪声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邻域与最低点数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</a:tbl>
          </a:graphicData>
        </a:graphic>
      </p:graphicFrame>
      <p:sp>
        <p:nvSpPr>
          <p:cNvPr id="6" name="若要做道路治理效果评价，应另补什么时间与对照资料？">
            <a:extLst xmlns:a="http://schemas.openxmlformats.org/drawingml/2006/main">
              <a:ext uri="{FF2B5EF4-FFF2-40B4-BE49-F238E27FC236}">
                <a16:creationId xmlns:a16="http://schemas.microsoft.com/office/drawing/2014/main" id="{78EF34D5-C570-45CF-BDBC-38560D90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若要做道路治理效果评价，应另补什么时间与对照资料？</a:t>
            </a:r>
          </a:p>
        </p:txBody>
      </p:sp>
      <p:sp>
        <p:nvSpPr>
          <p:cNvPr id="7" name="link">
            <a:extLst xmlns:a="http://schemas.openxmlformats.org/drawingml/2006/main">
              <a:ext uri="{FF2B5EF4-FFF2-40B4-BE49-F238E27FC236}">
                <a16:creationId xmlns:a16="http://schemas.microsoft.com/office/drawing/2014/main" id="{B4ADFA65-A7E3-474E-9BE1-A2CFB04B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f0dbacb7dbc4fc8"/>
              </a:rPr>
              <a:t>课堂讨论与完整案例</a:t>
            </a:r>
          </a:p>
        </p:txBody>
      </p:sp>
    </p:spTree>
    <p:extLst>
      <p:ext uri="{BB962C8B-B14F-4D97-AF65-F5344CB8AC3E}">
        <p14:creationId xmlns:p14="http://schemas.microsoft.com/office/powerpoint/2010/main" val="1958641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候选范围的代码复核">
            <a:extLst xmlns:a="http://schemas.openxmlformats.org/drawingml/2006/main">
              <a:ext uri="{FF2B5EF4-FFF2-40B4-BE49-F238E27FC236}">
                <a16:creationId xmlns:a16="http://schemas.microsoft.com/office/drawing/2014/main" id="{FE22D208-C5DC-42A6-AB50-AD9DEF48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候选范围的代码复核</a:t>
            </a:r>
          </a:p>
        </p:txBody>
      </p:sp>
      <p:sp>
        <p:nvSpPr>
          <p:cNvPr id="2" name="第5章 交通位置数据分析   综合">
            <a:extLst xmlns:a="http://schemas.openxmlformats.org/drawingml/2006/main">
              <a:ext uri="{FF2B5EF4-FFF2-40B4-BE49-F238E27FC236}">
                <a16:creationId xmlns:a16="http://schemas.microsoft.com/office/drawing/2014/main" id="{E40BE65C-6163-4038-918B-5B996A5B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第5章 交通位置数据分析   综合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93DD4B89-6371-4B5D-8574-8A6FFB9C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" name="用真实点集重算候选网格。">
            <a:extLst xmlns:a="http://schemas.openxmlformats.org/drawingml/2006/main">
              <a:ext uri="{FF2B5EF4-FFF2-40B4-BE49-F238E27FC236}">
                <a16:creationId xmlns:a16="http://schemas.microsoft.com/office/drawing/2014/main" id="{F2CD80A4-1C34-4A2C-A624-6DEC79DC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用真实点集重算候选网格。</a:t>
            </a:r>
          </a:p>
        </p:txBody>
      </p:sp>
      <p:sp>
        <p:nvSpPr>
          <p:cNvPr id="5" name="// JavaScript：本机实际执行，可修改参数">
            <a:extLst xmlns:a="http://schemas.openxmlformats.org/drawingml/2006/main">
              <a:ext uri="{FF2B5EF4-FFF2-40B4-BE49-F238E27FC236}">
                <a16:creationId xmlns:a16="http://schemas.microsoft.com/office/drawing/2014/main" id="{A65C5FAA-F4C5-4A69-AC83-EBABBF11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7429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// JavaScript：本机实际执行，可修改参数。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// data为本章真实快照；runLab为公开计算模块。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const result = runLab("grid-scale", data, {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  "borough": "all"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});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print(result.columns);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print(result.rows);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print(result.note);</a:t>
            </a:r>
          </a:p>
        </p:txBody>
      </p:sp>
      <p:sp>
        <p:nvSpPr>
          <p:cNvPr id="6" name="JavaScript在网页中实际执行。&#10;&#10;Pytho">
            <a:extLst xmlns:a="http://schemas.openxmlformats.org/drawingml/2006/main">
              <a:ext uri="{FF2B5EF4-FFF2-40B4-BE49-F238E27FC236}">
                <a16:creationId xmlns:a16="http://schemas.microsoft.com/office/drawing/2014/main" id="{ADCDB7E4-EFA0-42C3-B975-9F7AE263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47925"/>
            <a:ext cx="28575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JavaScript在网页中实际执行。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Python模型训练使用本章完整工作本。</a:t>
            </a:r>
          </a:p>
        </p:txBody>
      </p:sp>
      <p:sp>
        <p:nvSpPr>
          <p:cNvPr id="7" name="link">
            <a:extLst xmlns:a="http://schemas.openxmlformats.org/drawingml/2006/main">
              <a:ext uri="{FF2B5EF4-FFF2-40B4-BE49-F238E27FC236}">
                <a16:creationId xmlns:a16="http://schemas.microsoft.com/office/drawing/2014/main" id="{18F37F79-9E89-4D83-B86B-309162DA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656eb190d9641ff"/>
              </a:rPr>
              <a:t>打开代码编辑器，修改参数并运行</a:t>
            </a:r>
          </a:p>
        </p:txBody>
      </p:sp>
    </p:spTree>
    <p:extLst>
      <p:ext uri="{BB962C8B-B14F-4D97-AF65-F5344CB8AC3E}">
        <p14:creationId xmlns:p14="http://schemas.microsoft.com/office/powerpoint/2010/main" val="10733282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现场排查清单与研究结论">
            <a:extLst xmlns:a="http://schemas.openxmlformats.org/drawingml/2006/main">
              <a:ext uri="{FF2B5EF4-FFF2-40B4-BE49-F238E27FC236}">
                <a16:creationId xmlns:a16="http://schemas.microsoft.com/office/drawing/2014/main" id="{396EB3C5-D287-42B1-9EEB-41C52131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现场排查清单与研究结论</a:t>
            </a:r>
          </a:p>
        </p:txBody>
      </p:sp>
      <p:sp>
        <p:nvSpPr>
          <p:cNvPr id="2" name="第5章 交通位置数据分析   综合">
            <a:extLst xmlns:a="http://schemas.openxmlformats.org/drawingml/2006/main">
              <a:ext uri="{FF2B5EF4-FFF2-40B4-BE49-F238E27FC236}">
                <a16:creationId xmlns:a16="http://schemas.microsoft.com/office/drawing/2014/main" id="{DE824F1E-6C7E-48C3-9372-6335969C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第5章 交通位置数据分析   综合</a:t>
            </a:r>
          </a:p>
        </p:txBody>
      </p:sp>
      <p:sp>
        <p:nvSpPr>
          <p:cNvPr id="3" name="22">
            <a:extLst xmlns:a="http://schemas.openxmlformats.org/drawingml/2006/main">
              <a:ext uri="{FF2B5EF4-FFF2-40B4-BE49-F238E27FC236}">
                <a16:creationId xmlns:a16="http://schemas.microsoft.com/office/drawing/2014/main" id="{CD365DE9-8E74-49CD-8E21-BE729F3D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4" name="空间分析是现场核查的前置证据。">
            <a:extLst xmlns:a="http://schemas.openxmlformats.org/drawingml/2006/main">
              <a:ext uri="{FF2B5EF4-FFF2-40B4-BE49-F238E27FC236}">
                <a16:creationId xmlns:a16="http://schemas.microsoft.com/office/drawing/2014/main" id="{695498E5-19D3-4F73-9F34-7991F0D6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空间分析是现场核查的前置证据。</a:t>
            </a:r>
          </a:p>
        </p:txBody>
      </p:sp>
      <p:sp>
        <p:nvSpPr>
          <p:cNvPr id="5" name="至少选3处候选，记录坐标范围、事故数量、伤者负担与参">
            <a:extLst xmlns:a="http://schemas.openxmlformats.org/drawingml/2006/main">
              <a:ext uri="{FF2B5EF4-FFF2-40B4-BE49-F238E27FC236}">
                <a16:creationId xmlns:a16="http://schemas.microsoft.com/office/drawing/2014/main" id="{25265E42-8894-4C56-8D2F-C935A253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至少选3处候选，记录坐标范围、事故数量、伤者负担与参数敏感性。</a:t>
            </a:r>
          </a:p>
        </p:txBody>
      </p:sp>
      <p:sp>
        <p:nvSpPr>
          <p:cNvPr id="6" name="补充具体道路对象、交叉口控制方式、事故形态及暴露资料">
            <a:extLst xmlns:a="http://schemas.openxmlformats.org/drawingml/2006/main">
              <a:ext uri="{FF2B5EF4-FFF2-40B4-BE49-F238E27FC236}">
                <a16:creationId xmlns:a16="http://schemas.microsoft.com/office/drawing/2014/main" id="{39C466D3-B754-4C35-83E7-28879F5B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补充具体道路对象、交叉口控制方式、事故形态及暴露资料，形成下一阶段调查问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题。</a:t>
            </a:r>
          </a:p>
        </p:txBody>
      </p:sp>
      <p:sp>
        <p:nvSpPr>
          <p:cNvPr id="7" name="课堂讨论：你最希望在现场验证哪个可能机制？现有点位资">
            <a:extLst xmlns:a="http://schemas.openxmlformats.org/drawingml/2006/main">
              <a:ext uri="{FF2B5EF4-FFF2-40B4-BE49-F238E27FC236}">
                <a16:creationId xmlns:a16="http://schemas.microsoft.com/office/drawing/2014/main" id="{822EAF77-4FA9-4976-8B27-31B79ECB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课堂讨论：你最希望在现场验证哪个可能机制？现有点位资料是否足以确认它？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976C7CBB-4E00-487F-B27D-239FDE59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f08e9eaa31145cb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85700199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课程资源与数据来源">
            <a:extLst xmlns:a="http://schemas.openxmlformats.org/drawingml/2006/main">
              <a:ext uri="{FF2B5EF4-FFF2-40B4-BE49-F238E27FC236}">
                <a16:creationId xmlns:a16="http://schemas.microsoft.com/office/drawing/2014/main" id="{7A489D0A-B136-4E14-AE8C-B48BBBA9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课程资源与数据来源</a:t>
            </a:r>
          </a:p>
        </p:txBody>
      </p:sp>
      <p:sp>
        <p:nvSpPr>
          <p:cNvPr id="2" name="第5章 交通位置数据分析">
            <a:extLst xmlns:a="http://schemas.openxmlformats.org/drawingml/2006/main">
              <a:ext uri="{FF2B5EF4-FFF2-40B4-BE49-F238E27FC236}">
                <a16:creationId xmlns:a16="http://schemas.microsoft.com/office/drawing/2014/main" id="{6E038F3A-15BF-4ECF-B3E8-2B54C25B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第5章 交通位置数据分析</a:t>
            </a:r>
          </a:p>
        </p:txBody>
      </p:sp>
      <p:sp>
        <p:nvSpPr>
          <p:cNvPr id="3" name="23">
            <a:extLst xmlns:a="http://schemas.openxmlformats.org/drawingml/2006/main">
              <a:ext uri="{FF2B5EF4-FFF2-40B4-BE49-F238E27FC236}">
                <a16:creationId xmlns:a16="http://schemas.microsoft.com/office/drawing/2014/main" id="{4EF3E890-097B-4047-98F7-0319BA63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4" name="link">
            <a:extLst xmlns:a="http://schemas.openxmlformats.org/drawingml/2006/main">
              <a:ext uri="{FF2B5EF4-FFF2-40B4-BE49-F238E27FC236}">
                <a16:creationId xmlns:a16="http://schemas.microsoft.com/office/drawing/2014/main" id="{162B754A-039F-4A40-9590-399AD135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303ec1f745b4b71"/>
              </a:rPr>
              <a:t>本章交互课堂</a:t>
            </a:r>
          </a:p>
        </p:txBody>
      </p:sp>
      <p:sp>
        <p:nvSpPr>
          <p:cNvPr id="5" name="link">
            <a:extLst xmlns:a="http://schemas.openxmlformats.org/drawingml/2006/main">
              <a:ext uri="{FF2B5EF4-FFF2-40B4-BE49-F238E27FC236}">
                <a16:creationId xmlns:a16="http://schemas.microsoft.com/office/drawing/2014/main" id="{D2ED2C0E-79B5-49E3-85CF-E17DC87A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1fd86c9a9584e99"/>
              </a:rPr>
              <a:t>本章完整Python项目与工作本</a:t>
            </a:r>
          </a:p>
        </p:txBody>
      </p:sp>
      <p:sp>
        <p:nvSpPr>
          <p:cNvPr id="6" name="link">
            <a:extLst xmlns:a="http://schemas.openxmlformats.org/drawingml/2006/main">
              <a:ext uri="{FF2B5EF4-FFF2-40B4-BE49-F238E27FC236}">
                <a16:creationId xmlns:a16="http://schemas.microsoft.com/office/drawing/2014/main" id="{3318180C-701E-4F6E-8E61-B7DA8824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615341e64be4dd3"/>
              </a:rPr>
              <a:t>交通工程案例库</a:t>
            </a:r>
          </a:p>
        </p:txBody>
      </p:sp>
      <p:sp>
        <p:nvSpPr>
          <p:cNvPr id="7" name="NYC Open Data / NYPD，遵守原始数">
            <a:extLst xmlns:a="http://schemas.openxmlformats.org/drawingml/2006/main">
              <a:ext uri="{FF2B5EF4-FFF2-40B4-BE49-F238E27FC236}">
                <a16:creationId xmlns:a16="http://schemas.microsoft.com/office/drawing/2014/main" id="{3F7DD989-CCFA-4FF1-85B1-25F9948D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NYC Open Data / NYPD，遵守原始数据条款</a:t>
            </a:r>
          </a:p>
        </p:txBody>
      </p:sp>
      <p:sp>
        <p:nvSpPr>
          <p:cNvPr id="8" name="输入范围、数据处理与许可详见课堂说明。&#10;课堂代码MI">
            <a:extLst xmlns:a="http://schemas.openxmlformats.org/drawingml/2006/main">
              <a:ext uri="{FF2B5EF4-FFF2-40B4-BE49-F238E27FC236}">
                <a16:creationId xmlns:a16="http://schemas.microsoft.com/office/drawing/2014/main" id="{40BB3A08-1C47-4616-AFE3-4EFEA3CF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输入范围、数据处理与许可详见课堂说明。</a:t>
            </a:r>
          </a:p>
          <a:p xmlns:a="http://schemas.openxmlformats.org/drawingml/2006/main">
            <a:pPr algn="l">
              <a:defRPr sz="18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课堂代码MIT，原创讲解CC BY-SA 4.0，第三方材料保留原许可。</a:t>
            </a:r>
          </a:p>
        </p:txBody>
      </p:sp>
    </p:spTree>
    <p:extLst>
      <p:ext uri="{BB962C8B-B14F-4D97-AF65-F5344CB8AC3E}">
        <p14:creationId xmlns:p14="http://schemas.microsoft.com/office/powerpoint/2010/main" val="11715265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2026-09-17T02:42:55.0860000Z</dcterms:created>
  <dcterms:modified xsi:type="dcterms:W3CDTF">2026-09-17T02:42:55.0860000Z</dcterms:modified>
</coreProperties>
</file>