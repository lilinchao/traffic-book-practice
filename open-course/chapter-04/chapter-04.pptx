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bed386d2c4c8b" /><Relationship Type="http://schemas.openxmlformats.org/officeDocument/2006/relationships/extended-properties" Target="/docProps/app.xml" Id="R7c06e33b7a534cd2" /><Relationship Type="http://schemas.openxmlformats.org/officeDocument/2006/relationships/officeDocument" Target="/ppt/presentation.xml" Id="R3f93fff2f060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c77bfa7814b08"/>
  </p:sldMasterIdLst>
  <p:notesMasterIdLst>
    <p:notesMasterId xmlns:r="http://schemas.openxmlformats.org/officeDocument/2006/relationships" r:id="R53412d3431f34a5d"/>
  </p:notesMasterIdLst>
  <p:sldIdLst>
    <p:sldId xmlns:r="http://schemas.openxmlformats.org/officeDocument/2006/relationships" id="256" r:id="R922a90bc8d7445c8"/>
    <p:sldId xmlns:r="http://schemas.openxmlformats.org/officeDocument/2006/relationships" id="257" r:id="Rf7c43b3f56a44a1d"/>
    <p:sldId xmlns:r="http://schemas.openxmlformats.org/officeDocument/2006/relationships" id="258" r:id="Ra7b58ca215ad4351"/>
    <p:sldId xmlns:r="http://schemas.openxmlformats.org/officeDocument/2006/relationships" id="259" r:id="R70258ad2606443f6"/>
    <p:sldId xmlns:r="http://schemas.openxmlformats.org/officeDocument/2006/relationships" id="260" r:id="R57d75d72f14348cf"/>
    <p:sldId xmlns:r="http://schemas.openxmlformats.org/officeDocument/2006/relationships" id="261" r:id="R0bf9cdac83754d6e"/>
    <p:sldId xmlns:r="http://schemas.openxmlformats.org/officeDocument/2006/relationships" id="262" r:id="R30cfec38b3d44e22"/>
    <p:sldId xmlns:r="http://schemas.openxmlformats.org/officeDocument/2006/relationships" id="263" r:id="R0fac232bf27b4c5f"/>
    <p:sldId xmlns:r="http://schemas.openxmlformats.org/officeDocument/2006/relationships" id="264" r:id="Rd3fc95ddbff8499d"/>
    <p:sldId xmlns:r="http://schemas.openxmlformats.org/officeDocument/2006/relationships" id="265" r:id="R36d67fb4f50c402b"/>
    <p:sldId xmlns:r="http://schemas.openxmlformats.org/officeDocument/2006/relationships" id="266" r:id="Raef172b98b94422b"/>
    <p:sldId xmlns:r="http://schemas.openxmlformats.org/officeDocument/2006/relationships" id="267" r:id="R5503cf0955134eb4"/>
    <p:sldId xmlns:r="http://schemas.openxmlformats.org/officeDocument/2006/relationships" id="268" r:id="R5614fcca77084603"/>
    <p:sldId xmlns:r="http://schemas.openxmlformats.org/officeDocument/2006/relationships" id="269" r:id="R7f0fe15464e646f7"/>
    <p:sldId xmlns:r="http://schemas.openxmlformats.org/officeDocument/2006/relationships" id="270" r:id="Ra5a4a9f858964092"/>
    <p:sldId xmlns:r="http://schemas.openxmlformats.org/officeDocument/2006/relationships" id="271" r:id="R42e9aa021f224694"/>
    <p:sldId xmlns:r="http://schemas.openxmlformats.org/officeDocument/2006/relationships" id="272" r:id="R45a68ce6da424e1c"/>
    <p:sldId xmlns:r="http://schemas.openxmlformats.org/officeDocument/2006/relationships" id="273" r:id="R41d4e452af1547cf"/>
    <p:sldId xmlns:r="http://schemas.openxmlformats.org/officeDocument/2006/relationships" id="274" r:id="Rac508b4c2b83420b"/>
    <p:sldId xmlns:r="http://schemas.openxmlformats.org/officeDocument/2006/relationships" id="275" r:id="R36f0bd689dd54d1c"/>
    <p:sldId xmlns:r="http://schemas.openxmlformats.org/officeDocument/2006/relationships" id="276" r:id="Rd33502dbdb35497c"/>
    <p:sldId xmlns:r="http://schemas.openxmlformats.org/officeDocument/2006/relationships" id="277" r:id="Rd5e22a30ae024753"/>
    <p:sldId xmlns:r="http://schemas.openxmlformats.org/officeDocument/2006/relationships" id="278" r:id="R3a2b6667b41c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7bd62760214554" /><Relationship Type="http://schemas.openxmlformats.org/officeDocument/2006/relationships/slideMaster" Target="/ppt/slideMasters/slideMaster1.xml" Id="Rb27c77bfa7814b08" /><Relationship Type="http://schemas.openxmlformats.org/officeDocument/2006/relationships/notesMaster" Target="/ppt/notesMasters/notesMaster1.xml" Id="R53412d3431f34a5d" /><Relationship Type="http://schemas.openxmlformats.org/officeDocument/2006/relationships/presProps" Target="/ppt/presProps.xml" Id="Rcecefdb5b1cd4495" /><Relationship Type="http://schemas.openxmlformats.org/officeDocument/2006/relationships/tableStyles" Target="/ppt/tableStyles.xml" Id="Rc3daa5bca3874006" /><Relationship Type="http://schemas.openxmlformats.org/officeDocument/2006/relationships/slide" Target="/ppt/slides/slide1.xml" Id="R922a90bc8d7445c8" /><Relationship Type="http://schemas.openxmlformats.org/officeDocument/2006/relationships/slide" Target="/ppt/slides/slide2.xml" Id="Rf7c43b3f56a44a1d" /><Relationship Type="http://schemas.openxmlformats.org/officeDocument/2006/relationships/slide" Target="/ppt/slides/slide3.xml" Id="Ra7b58ca215ad4351" /><Relationship Type="http://schemas.openxmlformats.org/officeDocument/2006/relationships/slide" Target="/ppt/slides/slide4.xml" Id="R70258ad2606443f6" /><Relationship Type="http://schemas.openxmlformats.org/officeDocument/2006/relationships/slide" Target="/ppt/slides/slide5.xml" Id="R57d75d72f14348cf" /><Relationship Type="http://schemas.openxmlformats.org/officeDocument/2006/relationships/slide" Target="/ppt/slides/slide6.xml" Id="R0bf9cdac83754d6e" /><Relationship Type="http://schemas.openxmlformats.org/officeDocument/2006/relationships/slide" Target="/ppt/slides/slide7.xml" Id="R30cfec38b3d44e22" /><Relationship Type="http://schemas.openxmlformats.org/officeDocument/2006/relationships/slide" Target="/ppt/slides/slide8.xml" Id="R0fac232bf27b4c5f" /><Relationship Type="http://schemas.openxmlformats.org/officeDocument/2006/relationships/slide" Target="/ppt/slides/slide9.xml" Id="Rd3fc95ddbff8499d" /><Relationship Type="http://schemas.openxmlformats.org/officeDocument/2006/relationships/slide" Target="/ppt/slides/slide10.xml" Id="R36d67fb4f50c402b" /><Relationship Type="http://schemas.openxmlformats.org/officeDocument/2006/relationships/slide" Target="/ppt/slides/slide11.xml" Id="Raef172b98b94422b" /><Relationship Type="http://schemas.openxmlformats.org/officeDocument/2006/relationships/slide" Target="/ppt/slides/slide12.xml" Id="R5503cf0955134eb4" /><Relationship Type="http://schemas.openxmlformats.org/officeDocument/2006/relationships/slide" Target="/ppt/slides/slide13.xml" Id="R5614fcca77084603" /><Relationship Type="http://schemas.openxmlformats.org/officeDocument/2006/relationships/slide" Target="/ppt/slides/slide14.xml" Id="R7f0fe15464e646f7" /><Relationship Type="http://schemas.openxmlformats.org/officeDocument/2006/relationships/slide" Target="/ppt/slides/slide15.xml" Id="Ra5a4a9f858964092" /><Relationship Type="http://schemas.openxmlformats.org/officeDocument/2006/relationships/slide" Target="/ppt/slides/slide16.xml" Id="R42e9aa021f224694" /><Relationship Type="http://schemas.openxmlformats.org/officeDocument/2006/relationships/slide" Target="/ppt/slides/slide17.xml" Id="R45a68ce6da424e1c" /><Relationship Type="http://schemas.openxmlformats.org/officeDocument/2006/relationships/slide" Target="/ppt/slides/slide18.xml" Id="R41d4e452af1547cf" /><Relationship Type="http://schemas.openxmlformats.org/officeDocument/2006/relationships/slide" Target="/ppt/slides/slide19.xml" Id="Rac508b4c2b83420b" /><Relationship Type="http://schemas.openxmlformats.org/officeDocument/2006/relationships/slide" Target="/ppt/slides/slide20.xml" Id="R36f0bd689dd54d1c" /><Relationship Type="http://schemas.openxmlformats.org/officeDocument/2006/relationships/slide" Target="/ppt/slides/slide21.xml" Id="Rd33502dbdb35497c" /><Relationship Type="http://schemas.openxmlformats.org/officeDocument/2006/relationships/slide" Target="/ppt/slides/slide22.xml" Id="Rd5e22a30ae024753" /><Relationship Type="http://schemas.openxmlformats.org/officeDocument/2006/relationships/slide" Target="/ppt/slides/slide23.xml" Id="R3a2b6667b41c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69002981d5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fdc412f8774c67" /><Relationship Type="http://schemas.openxmlformats.org/officeDocument/2006/relationships/notesMaster" Target="/ppt/notesMasters/notesMaster1.xml" Id="R868969cc556343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f1fa1afbb54af7" /><Relationship Type="http://schemas.openxmlformats.org/officeDocument/2006/relationships/notesMaster" Target="/ppt/notesMasters/notesMaster1.xml" Id="R3a3a52343728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86aff492784b72" /><Relationship Type="http://schemas.openxmlformats.org/officeDocument/2006/relationships/notesMaster" Target="/ppt/notesMasters/notesMaster1.xml" Id="R68d748ef33e849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ec38d731c74333" /><Relationship Type="http://schemas.openxmlformats.org/officeDocument/2006/relationships/notesMaster" Target="/ppt/notesMasters/notesMaster1.xml" Id="R7b8588039f2c4f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5c79b580df48c8" /><Relationship Type="http://schemas.openxmlformats.org/officeDocument/2006/relationships/notesMaster" Target="/ppt/notesMasters/notesMaster1.xml" Id="R92d31ec781e0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41b54ed4bc48e3" /><Relationship Type="http://schemas.openxmlformats.org/officeDocument/2006/relationships/notesMaster" Target="/ppt/notesMasters/notesMaster1.xml" Id="Rdaf19141d9e747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3051c7aec24f0e" /><Relationship Type="http://schemas.openxmlformats.org/officeDocument/2006/relationships/notesMaster" Target="/ppt/notesMasters/notesMaster1.xml" Id="Ree89d32428da4a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c98e03b6148e7" /><Relationship Type="http://schemas.openxmlformats.org/officeDocument/2006/relationships/notesMaster" Target="/ppt/notesMasters/notesMaster1.xml" Id="R906987fba62c4c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f3ade2324546eb" /><Relationship Type="http://schemas.openxmlformats.org/officeDocument/2006/relationships/notesMaster" Target="/ppt/notesMasters/notesMaster1.xml" Id="R5442a54a7cc149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15b9585bb84edf" /><Relationship Type="http://schemas.openxmlformats.org/officeDocument/2006/relationships/notesMaster" Target="/ppt/notesMasters/notesMaster1.xml" Id="Re31a6ea92f5741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e3c9e774f04308" /><Relationship Type="http://schemas.openxmlformats.org/officeDocument/2006/relationships/notesMaster" Target="/ppt/notesMasters/notesMaster1.xml" Id="Rba5fbe0e9dee4c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ee692ec4054ebb" /><Relationship Type="http://schemas.openxmlformats.org/officeDocument/2006/relationships/notesMaster" Target="/ppt/notesMasters/notesMaster1.xml" Id="R9d3b725d8a5740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a3455a3684410c" /><Relationship Type="http://schemas.openxmlformats.org/officeDocument/2006/relationships/notesMaster" Target="/ppt/notesMasters/notesMaster1.xml" Id="R8d5970e6d7844f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e29620728f4aa1" /><Relationship Type="http://schemas.openxmlformats.org/officeDocument/2006/relationships/notesMaster" Target="/ppt/notesMasters/notesMaster1.xml" Id="Rd9582d886f294b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dd3c817c1f4bdd" /><Relationship Type="http://schemas.openxmlformats.org/officeDocument/2006/relationships/notesMaster" Target="/ppt/notesMasters/notesMaster1.xml" Id="R09e1e392f63649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620d3c28174a8c" /><Relationship Type="http://schemas.openxmlformats.org/officeDocument/2006/relationships/notesMaster" Target="/ppt/notesMasters/notesMaster1.xml" Id="Rd151ae73b53448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42279bc7e84043" /><Relationship Type="http://schemas.openxmlformats.org/officeDocument/2006/relationships/notesMaster" Target="/ppt/notesMasters/notesMaster1.xml" Id="R5799485cce2d43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a6400f946d41e9" /><Relationship Type="http://schemas.openxmlformats.org/officeDocument/2006/relationships/notesMaster" Target="/ppt/notesMasters/notesMaster1.xml" Id="Rf899d57839b947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2eff22ccf44536" /><Relationship Type="http://schemas.openxmlformats.org/officeDocument/2006/relationships/notesMaster" Target="/ppt/notesMasters/notesMaster1.xml" Id="R17b665e20e1d4b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0d13c77b37477b" /><Relationship Type="http://schemas.openxmlformats.org/officeDocument/2006/relationships/notesMaster" Target="/ppt/notesMasters/notesMaster1.xml" Id="R6377fe3191bb43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acd386aa6a4779" /><Relationship Type="http://schemas.openxmlformats.org/officeDocument/2006/relationships/notesMaster" Target="/ppt/notesMasters/notesMaster1.xml" Id="R1f160e18817a42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d48659b1f9481d" /><Relationship Type="http://schemas.openxmlformats.org/officeDocument/2006/relationships/notesMaster" Target="/ppt/notesMasters/notesMaster1.xml" Id="Rb87eb26d548d4b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ca729ed74ac428c" /><Relationship Type="http://schemas.openxmlformats.org/officeDocument/2006/relationships/notesMaster" Target="/ppt/notesMasters/notesMaster1.xml" Id="R0714bf34b09a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本章面向交通运输工程专业。共享单车高峰服务准备需要怎样的租借量估计？</a:t>
            </a:r>
          </a:p>
          <a:p xmlns:a="http://schemas.openxmlformats.org/drawingml/2006/main">
            <a:r>
              <a:t>背景为第一章已有课程概念插画，不是I-94、纽约或天津的实地照片。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课堂：https://lilinchao.github.io/traffic-book-practice/open-course/chapter-04/</a:t>
            </a:r>
          </a:p>
          <a:p xmlns:a="http://schemas.openxmlformats.org/drawingml/2006/main">
            <a:r>
              <a:t>数据：https://archive.ics.uci.edu/dataset/275/bike+sharing+dataset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教学主线：共享单车高峰服务准备需要怎样的租借量估计？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运营分析首先需要明确服务对象与统计范围。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本章估计整个系统的小时租借次数，为分时服务准备提供参考。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资料缺少站点库存、归还量和车辆调运记录，系统租借量不能直接换算为调运数量。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课堂追问：即使预测完全正确，还缺什么才能确定某站点应补多少辆车？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一行记录代表整个系统的一个小时。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cnt记录小时租借次数，日历和天气描述对应时段条件。租借次数不等于独立出行人数。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数值列不一定是连续变量。小时、月份、天气类别须按实际含义编码。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课堂追问：把天气类别1、2、3直接当连续数值，会引入什么假设？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交互课堂：https://lilinchao.github.io/traffic-book-practice/open-course/chapter-04/#variables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决策时点决定哪些变量可以进入模型。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casual与registered相加就是cnt，属于目标的组成部分，不能用于预测同一小时的总量。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本实验使用当小时实测天气做条件回归。真正提前预测时，应改用当时可获得的天气预报并重新验证。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课堂追问：训练时使用实测天气、部署时使用天气预报，误差来源会怎样改变？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交互课堂：https://lilinchao.github.io/traffic-book-practice/open-course/chapter-04/#leakage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所有学习到的处理参数都来自训练期。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2011年8,645小时训练，2012年上半年4,358小时验证，下半年4,376小时测试。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数值标准化和类别编码仅在训练集拟合。保持列顺序，记录新类别的处理规则。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课堂追问：若用全体数据均值做标准化，测试期的信息在哪里进入了模型？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交互课堂：https://lilinchao.github.io/traffic-book-practice/open-course/chapter-04/#preprocess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OLS用特征的线性组合估计平均租借量。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最小二乘法使训练样本的平方残差和最小，系数解释以其他变量保持不变为前提。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线性预测可能出现负值。本轮在评价前统一截为0，报告中保留这一处理规则。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μ_i = β₀ + Σ_j β_j x_ij</a:t>
            </a:r>
          </a:p>
          <a:p xmlns:a="http://schemas.openxmlformats.org/drawingml/2006/main">
            <a:r>
              <a:t>μ_i：第i小时条件均值，次/小时。x_ij：第j个特征。β₀：截距。β_j：特征系数。Σ_j：对全部非截距特征求和。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课堂追问：非负截断解决了哪种输出问题，又没有解决哪种模型假设问题？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总体误差可能掩盖高峰时段的系统低估。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残差要先约定符号。本课堂偏差定义为预测减实测，负值表示平均低估。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MAE给出典型绝对偏离，RMSE对大误差更敏感，平均偏差可能因正负抵消而接近0。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课堂追问：平均偏差接近0但MAE较大时，运营人员应该怎样理解？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交互课堂：https://lilinchao.github.io/traffic-book-practice/open-course/chapter-04/#diagnosis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计算方式：冻结预测分组评价</a:t>
            </a:r>
          </a:p>
          <a:p xmlns:a="http://schemas.openxmlformats.org/drawingml/2006/main">
            <a:r>
              <a:t>默认参数：{"model":"NB2"}</a:t>
            </a:r>
          </a:p>
          <a:p xmlns:a="http://schemas.openxmlformats.org/drawingml/2006/main">
            <a:r>
              <a:t>数据范围：Capital Bikeshare 17,379条小时记录，2011—2012年</a:t>
            </a:r>
          </a:p>
          <a:p xmlns:a="http://schemas.openxmlformats.org/drawingml/2006/main">
            <a:r>
              <a:t>结果解释：按钟点重算全部测试期误差。正负偏差可能抵消，不意味着逐小时准确。</a:t>
            </a:r>
          </a:p>
          <a:p xmlns:a="http://schemas.openxmlformats.org/drawingml/2006/main">
            <a:r>
              <a:t>全部结果：{"columns":["钟点","小时数","MAE（次/小时）","RMSE（次/小时）","预测减实测（次/小时）"],"rows":[[0,183,34.29459518682949,52.85461481825741,-25.697673260224143],[1,182,28.75298323808129,43.218143364808604,-15.504998166584361],[2,182,23.011738825357956,33.08949436634825,-8.625754413080946],[3,179,10.527699042797327,15.309632928741161,-3.341741644970055],[4,181,3.41315778587667,4.733086610169475,-2.592409921594868],[5,182,17.220532795619718,19.80660574692791,-12.16393282226558],[6,182,70.00237696714183,75.89392754276697,-37.40781992371251],[7,182,205.26544738424954,222.80519598775243,-108.8992646873459],[8,182,302.3639499225055,322.8482803338386,-155.4567481827891],[9,182,101.49450997250977,117.07311849321674,-84.92564657305553],[10,182,86.15877383532818,119.31713063949898,-81.42218218079245],[11,182,104.95409919353705,150.72192598553377,-100.35562427469917],[12,182,129.32091231009488,176.58460205918828,-122.15040272791667],[13,183,121.54468660166339,172.4456865900293,-113.39298868821633],[14,183,114.78845102551006,167.2688438700973,-104.83080817765591],[15,183,124.5155645305345,168.7912056744082,-117.68798113135622],[16,183,162.91939566860685,182.4052705256211,-153.29355902835772],[17,183,251.49937015689565,291.6225721966168,-199.69587961507656],[18,183,237.27901396888038,283.0541106418818,-183.69217614831865],[19,183,167.98261976898849,198.43214735428444,-136.67468134463394],[20,183,121.59335491921698,145.46697377649784,-102.24503227387224],[21,183,87.8752872599798,106.26592272999315,-73.14443898089853],[22,183,66.55985723083585,80.95214860310557,-53.54765285361545],[23,183,47.942151989373734,59.9279526366152,-40.60782281597476]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默认网页：https://lilinchao.github.io/traffic-book-practice/open-course/chapter-04/#diagnosis</a:t>
            </a:r>
          </a:p>
          <a:p xmlns:a="http://schemas.openxmlformats.org/drawingml/2006/main">
            <a:r>
              <a:t>输入文件SHA256：{"chapters/data/algorithms/ch4.json":"02f336aba31f348744cc0160832a3d30e973d9fc5215d96b26ac06f4edd732ea"}</a:t>
            </a:r>
          </a:p>
          <a:p xmlns:a="http://schemas.openxmlformats.org/drawingml/2006/main">
            <a:r>
              <a:t>来源：https://archive.ics.uci.edu/dataset/275/bike+sharing+dataset。Hadi Fanaee-T (2013) / UCI Bike Sharing，CC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公交选择等二分类问题输出概率。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逻辑回归将线性预测量变换到0至1，适合明确的二分类结果。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exp(β)表示其他条件固定时的优势比，不是概率增加倍数。分类阈值还需要结合误报与漏报代价。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 = 1 / (1 + exp(−η))，η = β₀ + Σ_j β_j x_j</a:t>
            </a:r>
          </a:p>
          <a:p xmlns:a="http://schemas.openxmlformats.org/drawingml/2006/main">
            <a:r>
              <a:t>p：公交选择概率。η：对数优势。x_j：第j个特征。β₀、β_j：截距和系数。exp：指数函数。Σ_j：特征求和。本页仅说明方法。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课堂追问：如果公交选择概率从0.2升至0.4，概率比与优势比是否相同？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交互课堂：https://lilinchao.github.io/traffic-book-practice/open-course/chapter-04/#logistic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计数结果需要非负的条件均值。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泊松回归常用对数连接：特征先形成线性预测量，再取指数得到均值。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泊松分布假定给定X后方差等于均值。整体方差大于整体均值，尚不能单独证明条件过度离散。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log(μ_i) = β₀ + Σ_j β_j x_ij</a:t>
            </a:r>
          </a:p>
          <a:p xmlns:a="http://schemas.openxmlformats.org/drawingml/2006/main">
            <a:r>
              <a:t>μ_i：第i小时条件均值，次/小时。x_ij：第j个特征。β₀、β_j：截距和系数。Σ_j：特征求和。log：自然对数。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课堂追问：高峰与夜间均值混合后方差变大，为什么仍需看条件残差？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交互课堂：https://lilinchao.github.io/traffic-book-practice/open-course/chapter-04/#poisson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事故次数比较需要考虑被观察的交通活动规模。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道路事故建模可加入log(E_i)作为系数固定为1的offset，E_i表示明确口径的暴露量。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路段长度、交通量及观测时间不是可以随意互换的分母。本章单车例子每行均为一小时，未加入事故暴露量。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log(μ_i) = log(E_i) + β₀ + Σ_j β_j x_ij</a:t>
            </a:r>
          </a:p>
          <a:p xmlns:a="http://schemas.openxmlformats.org/drawingml/2006/main">
            <a:r>
              <a:t>μ_i：第i单元期望事故数。E_i&gt;0：同期暴露量，如车辆公里。x_ij：第j个特征。β₀、β_j：截距和系数。Σ_j：特征求和。log：自然对数。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课堂追问：同样发生10起事故的两条道路，为什么不能据此断定风险相同？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交互课堂：https://lilinchao.github.io/traffic-book-practice/open-course/chapter-04/#offset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NB2允许条件方差随均值增加得更快。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Var(Y|X)=μ+αμ²，α控制超出泊松方差的部分。μ与α在解释中不能混用。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本轮仅以验证期RMSE从预定候选中选择α，固定为0.05后再评价测试期。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课堂追问：更灵活的条件方差是否必然带来更小的预测误差？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交互课堂：https://lilinchao.github.io/traffic-book-practice/open-course/chapter-04/#nb2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计算方式：公式关系演示，非观测结果</a:t>
            </a:r>
          </a:p>
          <a:p xmlns:a="http://schemas.openxmlformats.org/drawingml/2006/main">
            <a:r>
              <a:t>默认参数：{"alpha":"0.05"}</a:t>
            </a:r>
          </a:p>
          <a:p xmlns:a="http://schemas.openxmlformats.org/drawingml/2006/main">
            <a:r>
              <a:t>数据范围：Capital Bikeshare 17,379条小时记录，2011—2012年</a:t>
            </a:r>
          </a:p>
          <a:p xmlns:a="http://schemas.openxmlformats.org/drawingml/2006/main">
            <a:r>
              <a:t>结果解释：这些均值为明确指定的数学演示输入，不是真实新观测。改变α只展示方差关系，未重新训练模型。</a:t>
            </a:r>
          </a:p>
          <a:p xmlns:a="http://schemas.openxmlformats.org/drawingml/2006/main">
            <a:r>
              <a:t>全部结果：{"columns":["条件均值","泊松方差","NB2方差"],"rows":[[10,10,15],[50,50,175],[100,100,600],[200,200,2200],[500,500,13000]]}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默认网页：https://lilinchao.github.io/traffic-book-practice/open-course/chapter-04/#nb2</a:t>
            </a:r>
          </a:p>
          <a:p xmlns:a="http://schemas.openxmlformats.org/drawingml/2006/main">
            <a:r>
              <a:t>输入文件SHA256：{"chapters/data/algorithms/ch4.json":"02f336aba31f348744cc0160832a3d30e973d9fc5215d96b26ac06f4edd732ea"}</a:t>
            </a:r>
          </a:p>
          <a:p xmlns:a="http://schemas.openxmlformats.org/drawingml/2006/main">
            <a:r>
              <a:t>来源：https://archive.ics.uci.edu/dataset/275/bike+sharing+dataset。Hadi Fanaee-T (2013) / UCI Bike Sharing，CC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模型成绩来自同一组公开练习测试小时。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OLS、Poisson和NB2使用相同特征与时间协议，网页根据冻结预测重新计算误差。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浏览器没有重新训练这三个模型。完整Python拟合在配套工作本中，比较不能混入旧版岭回归成绩。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课堂追问：总体最好、早间最好和夜间最好的模型是否一致？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计算方式：根据冻结预测重新计算；不在浏览器拟合模型</a:t>
            </a:r>
          </a:p>
          <a:p xmlns:a="http://schemas.openxmlformats.org/drawingml/2006/main">
            <a:r>
              <a:t>默认参数：{"period":"all"}</a:t>
            </a:r>
          </a:p>
          <a:p xmlns:a="http://schemas.openxmlformats.org/drawingml/2006/main">
            <a:r>
              <a:t>数据范围：Capital Bikeshare 17,379条小时记录，2011—2012年</a:t>
            </a:r>
          </a:p>
          <a:p xmlns:a="http://schemas.openxmlformats.org/drawingml/2006/main">
            <a:r>
              <a:t>结果解释：4376个公开测试小时按所选时段筛选。主协议OLS/Poisson/NB2，不混用旧模型。</a:t>
            </a:r>
          </a:p>
          <a:p xmlns:a="http://schemas.openxmlformats.org/drawingml/2006/main">
            <a:r>
              <a:t>全部结果：{"columns":["方法","样本数","MAE（次/小时）","RMSE（次/小时）","预测减实测（次/小时）"],"rows":[["OLS",4376,116.11124319560666,169.92381001802198,-87.65228147098826],["Poisson",4376,108.45701277250132,160.09927265912714,-87.57681941155982],["NB2",4376,109.36399782381804,160.129365501882,-85.02991477828976]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默认网页：https://lilinchao.github.io/traffic-book-practice/open-course/chapter-04/#models</a:t>
            </a:r>
          </a:p>
          <a:p xmlns:a="http://schemas.openxmlformats.org/drawingml/2006/main">
            <a:r>
              <a:t>输入文件SHA256：{"chapters/data/algorithms/ch4.json":"02f336aba31f348744cc0160832a3d30e973d9fc5215d96b26ac06f4edd732ea"}</a:t>
            </a:r>
          </a:p>
          <a:p xmlns:a="http://schemas.openxmlformats.org/drawingml/2006/main">
            <a:r>
              <a:t>来源：https://archive.ics.uci.edu/dataset/275/bike+sharing+dataset。Hadi Fanaee-T (2013) / UCI Bike Sharing，CC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低估诊断应保留逐小时误差的方向。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未抵消低估量只累计max(实测−预测,0)，不让另一小时的高估抵消本小时低估。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这个累计量是模型误差诊断，不能称为缺车次数或流失需求。观测租借量本身可能受到供给约束。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课堂追问：哪个时段应优先补充库存与服务可用性记录？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交互课堂：https://lilinchao.github.io/traffic-book-practice/open-course/chapter-04/#underestimate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计算方式：冻结预测误差重新汇总</a:t>
            </a:r>
          </a:p>
          <a:p xmlns:a="http://schemas.openxmlformats.org/drawingml/2006/main">
            <a:r>
              <a:t>默认参数：{"period":"all"}</a:t>
            </a:r>
          </a:p>
          <a:p xmlns:a="http://schemas.openxmlformats.org/drawingml/2006/main">
            <a:r>
              <a:t>数据范围：Capital Bikeshare 17,379条小时记录，2011—2012年</a:t>
            </a:r>
          </a:p>
          <a:p xmlns:a="http://schemas.openxmlformats.org/drawingml/2006/main">
            <a:r>
              <a:t>结果解释：仅在被评价小时上累计模型低估。不是缺车数量、流失订单或潜在需求。</a:t>
            </a:r>
          </a:p>
          <a:p xmlns:a="http://schemas.openxmlformats.org/drawingml/2006/main">
            <a:r>
              <a:t>全部结果：{"columns":["方法","小时数","未抵消低估累计（次）","低估小时数"],"rows":[["OLS",4376,445834.5919705098,3115],["Poisson",4376,428922.0248187257,3225],["NB2",4376,425333.8807734117,3212]]}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默认网页：https://lilinchao.github.io/traffic-book-practice/open-course/chapter-04/#underestimate</a:t>
            </a:r>
          </a:p>
          <a:p xmlns:a="http://schemas.openxmlformats.org/drawingml/2006/main">
            <a:r>
              <a:t>输入文件SHA256：{"chapters/data/algorithms/ch4.json":"02f336aba31f348744cc0160832a3d30e973d9fc5215d96b26ac06f4edd732ea"}</a:t>
            </a:r>
          </a:p>
          <a:p xmlns:a="http://schemas.openxmlformats.org/drawingml/2006/main">
            <a:r>
              <a:t>来源：https://archive.ics.uci.edu/dataset/275/bike+sharing+dataset。Hadi Fanaee-T (2013) / UCI Bike Sharing，CC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零值可能来自不同的交通过程。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零公交出行可来自未选择公交，也可来自某观察期内恰好没有出行。零膨胀模型把两个机制组合起来。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结构零必须有资料或研究机制支持，不能仅因零值多就直接采用零膨胀模型。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P(Y=0) = π + (1−π) exp(−μ)</a:t>
            </a:r>
          </a:p>
          <a:p xmlns:a="http://schemas.openxmlformats.org/drawingml/2006/main">
            <a:r>
              <a:t>Y：观察期出行次数。P(Y=0)：零次概率。π：结构零概率。μ：泊松过程均值。exp：指数函数。本页仅说明ZIP机制。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课堂追问：没有区分机制的观测资料时，应怎样表达模型解释的不确定性？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交互课堂：https://lilinchao.github.io/traffic-book-practice/open-course/chapter-04/#zero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统计关联需要保留条件与尺度。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标准化气温系数对应增加一个训练期标准差，不能直接解释为增加1°C。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天气与季节、小时等变量相关，系数不能直接当作改变交通政策后的因果效果。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课堂追问：报告中的“影响”一词，何时应改为“条件关联”？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交互课堂：https://lilinchao.github.io/traffic-book-practice/open-course/chapter-04/#coefficient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修改评价时段，观察结果是否与交通问题一致。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可编辑JavaScript在本机工作线程真正执行，读取同一份真实测试记录与冻结预测。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修改period为morning、evening或night后运行。Python模型训练请使用本章工作本。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课堂追问：早晚时段的样本数为何必须和误差一起报告？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报告应同时呈现方法与运营边界。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比较三个模型在全日、07—09时和16—18时的成绩，复核一个明显失败小时。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结合站点库存、借还方向和可用车辆资料提出下一步调查要求，不直接给调运指令。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课堂追问：你能否给出一个有证据支持、但不过度外推的服务准备建议？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交互课堂：https://lilinchao.github.io/traffic-book-practice/open-course/chapter-04/#project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教学主线：共享单车高峰服务准备需要怎样的租借量估计？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来源：https://archive.ics.uci.edu/dataset/275/bike+sharing+dataset</a:t>
            </a:r>
          </a:p>
          <a:p xmlns:a="http://schemas.openxmlformats.org/drawingml/2006/main">
            <a:r>
              <a:t>Hadi Fanaee-T (2013) / UCI Bike Sharing，CC BY 4.0</a:t>
            </a:r>
          </a:p>
          <a:p xmlns:a="http://schemas.openxmlformats.org/drawingml/2006/main">
            <a:r>
              <a:t>输入哈希：{"chapters/data/algorithms/ch4.json":"02f336aba31f348744cc0160832a3d30e973d9fc5215d96b26ac06f4edd732ea"}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c2f60eefb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6e1fa835b14f95" /><Relationship Type="http://schemas.openxmlformats.org/officeDocument/2006/relationships/slideLayout" Target="/ppt/slideLayouts/slideLayout1.xml" Id="R904a3c747d60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a3c747d60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3ebb60a3f4149" /><Relationship Type="http://schemas.openxmlformats.org/officeDocument/2006/relationships/image" Target="/ppt/media/image.png" Id="R0289dd8d24ba46ea" /><Relationship Type="http://schemas.openxmlformats.org/officeDocument/2006/relationships/notesSlide" Target="/ppt/notesSlides/notesSlide1.xml" Id="R5d65669a16e3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9d02f7e34ecb" /><Relationship Type="http://schemas.openxmlformats.org/officeDocument/2006/relationships/hyperlink" Target="https://lilinchao.github.io/traffic-book-practice/open-course/chapter-04/" TargetMode="External" Id="R64e887970c5a4279" /><Relationship Type="http://schemas.openxmlformats.org/officeDocument/2006/relationships/notesSlide" Target="/ppt/notesSlides/notesSlide2.xml" Id="Re176e1d973be41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7dd700ddf4e41" /><Relationship Type="http://schemas.openxmlformats.org/officeDocument/2006/relationships/hyperlink" Target="https://lilinchao.github.io/traffic-book-practice/open-course/chapter-04/#mission" TargetMode="External" Id="Rcd3f493f499a47ae" /><Relationship Type="http://schemas.openxmlformats.org/officeDocument/2006/relationships/notesSlide" Target="/ppt/notesSlides/notesSlide3.xml" Id="R683e8f72a84544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e4da570224b6a" /><Relationship Type="http://schemas.openxmlformats.org/officeDocument/2006/relationships/hyperlink" Target="https://lilinchao.github.io/traffic-book-practice/open-course/chapter-04/#variables" TargetMode="External" Id="R5667d8e024204441" /><Relationship Type="http://schemas.openxmlformats.org/officeDocument/2006/relationships/notesSlide" Target="/ppt/notesSlides/notesSlide4.xml" Id="R22695135b8f248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d53eb0fa24a45" /><Relationship Type="http://schemas.openxmlformats.org/officeDocument/2006/relationships/hyperlink" Target="https://lilinchao.github.io/traffic-book-practice/open-course/chapter-04/#leakage" TargetMode="External" Id="R68051a012ed047d1" /><Relationship Type="http://schemas.openxmlformats.org/officeDocument/2006/relationships/notesSlide" Target="/ppt/notesSlides/notesSlide5.xml" Id="Rc8c15e19cbac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ed38afc8041f8" /><Relationship Type="http://schemas.openxmlformats.org/officeDocument/2006/relationships/hyperlink" Target="https://lilinchao.github.io/traffic-book-practice/open-course/chapter-04/#preprocess" TargetMode="External" Id="R46e20b6e155842cb" /><Relationship Type="http://schemas.openxmlformats.org/officeDocument/2006/relationships/notesSlide" Target="/ppt/notesSlides/notesSlide6.xml" Id="R1e0a21060cd048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ea1eeed644551" /><Relationship Type="http://schemas.openxmlformats.org/officeDocument/2006/relationships/hyperlink" Target="https://lilinchao.github.io/traffic-book-practice/open-course/chapter-04/#ols" TargetMode="External" Id="R3213763bff8148b9" /><Relationship Type="http://schemas.openxmlformats.org/officeDocument/2006/relationships/notesSlide" Target="/ppt/notesSlides/notesSlide7.xml" Id="Rf0458063a4d74a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927619e2d4215" /><Relationship Type="http://schemas.openxmlformats.org/officeDocument/2006/relationships/hyperlink" Target="https://lilinchao.github.io/traffic-book-practice/open-course/chapter-04/#diagnosis" TargetMode="External" Id="R28b256bd58da4456" /><Relationship Type="http://schemas.openxmlformats.org/officeDocument/2006/relationships/notesSlide" Target="/ppt/notesSlides/notesSlide8.xml" Id="R8d6ab5ec17794d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992643ba74b4f" /><Relationship Type="http://schemas.openxmlformats.org/officeDocument/2006/relationships/chart" Target="/ppt/slides/charts/chart1.xml" Id="Reab7577270ce48c2" /><Relationship Type="http://schemas.openxmlformats.org/officeDocument/2006/relationships/hyperlink" Target="https://lilinchao.github.io/traffic-book-practice/open-course/chapter-04/#diagnosis" TargetMode="External" Id="R8409ffcff4cd49f4" /><Relationship Type="http://schemas.openxmlformats.org/officeDocument/2006/relationships/notesSlide" Target="/ppt/notesSlides/notesSlide9.xml" Id="R17335c5da2174e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ad034d56542ed" /><Relationship Type="http://schemas.openxmlformats.org/officeDocument/2006/relationships/hyperlink" Target="https://lilinchao.github.io/traffic-book-practice/open-course/chapter-04/#logistic" TargetMode="External" Id="R3fabfa5bbe934059" /><Relationship Type="http://schemas.openxmlformats.org/officeDocument/2006/relationships/notesSlide" Target="/ppt/notesSlides/notesSlide10.xml" Id="R663c1673deee42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cb8bb49549a1" /><Relationship Type="http://schemas.openxmlformats.org/officeDocument/2006/relationships/hyperlink" Target="https://lilinchao.github.io/traffic-book-practice/open-course/chapter-04/#poisson" TargetMode="External" Id="R3aab1cb265e84090" /><Relationship Type="http://schemas.openxmlformats.org/officeDocument/2006/relationships/notesSlide" Target="/ppt/notesSlides/notesSlide11.xml" Id="Rcfcc827e50dc45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59f18c5f24dca" /><Relationship Type="http://schemas.openxmlformats.org/officeDocument/2006/relationships/hyperlink" Target="https://lilinchao.github.io/traffic-book-practice/open-course/chapter-04/#offset" TargetMode="External" Id="R49afb2c9d8cd4d3b" /><Relationship Type="http://schemas.openxmlformats.org/officeDocument/2006/relationships/notesSlide" Target="/ppt/notesSlides/notesSlide12.xml" Id="R82c7ae6071e34c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62a2c253540f2" /><Relationship Type="http://schemas.openxmlformats.org/officeDocument/2006/relationships/hyperlink" Target="https://lilinchao.github.io/traffic-book-practice/open-course/chapter-04/#nb2" TargetMode="External" Id="Re40192a37fdf45ff" /><Relationship Type="http://schemas.openxmlformats.org/officeDocument/2006/relationships/notesSlide" Target="/ppt/notesSlides/notesSlide13.xml" Id="R8ec35556de844a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cddcfb18348c5" /><Relationship Type="http://schemas.openxmlformats.org/officeDocument/2006/relationships/chart" Target="/ppt/slides/charts/chart2.xml" Id="R3db3b3f745104e01" /><Relationship Type="http://schemas.openxmlformats.org/officeDocument/2006/relationships/hyperlink" Target="https://lilinchao.github.io/traffic-book-practice/open-course/chapter-04/#nb2" TargetMode="External" Id="Ra3b45ccbb1bd43b9" /><Relationship Type="http://schemas.openxmlformats.org/officeDocument/2006/relationships/notesSlide" Target="/ppt/notesSlides/notesSlide14.xml" Id="R1df1bf2fb9e348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0f006f12b4c3b" /><Relationship Type="http://schemas.openxmlformats.org/officeDocument/2006/relationships/hyperlink" Target="https://lilinchao.github.io/traffic-book-practice/open-course/chapter-04/#models" TargetMode="External" Id="Rc5593c0dc50644cf" /><Relationship Type="http://schemas.openxmlformats.org/officeDocument/2006/relationships/notesSlide" Target="/ppt/notesSlides/notesSlide15.xml" Id="R89c877966d0b42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f2b467f4a4622" /><Relationship Type="http://schemas.openxmlformats.org/officeDocument/2006/relationships/chart" Target="/ppt/slides/charts/chart3.xml" Id="Ra1a0c7b237cf4846" /><Relationship Type="http://schemas.openxmlformats.org/officeDocument/2006/relationships/hyperlink" Target="https://lilinchao.github.io/traffic-book-practice/open-course/chapter-04/#models" TargetMode="External" Id="R438c5b8d8a8d44cc" /><Relationship Type="http://schemas.openxmlformats.org/officeDocument/2006/relationships/notesSlide" Target="/ppt/notesSlides/notesSlide16.xml" Id="Rb633878b59d24e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dbad02bd54a63" /><Relationship Type="http://schemas.openxmlformats.org/officeDocument/2006/relationships/hyperlink" Target="https://lilinchao.github.io/traffic-book-practice/open-course/chapter-04/#underestimate" TargetMode="External" Id="R906f0bddc1b74686" /><Relationship Type="http://schemas.openxmlformats.org/officeDocument/2006/relationships/notesSlide" Target="/ppt/notesSlides/notesSlide17.xml" Id="R22ba3f5f3cdd4b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385724f2c41c9" /><Relationship Type="http://schemas.openxmlformats.org/officeDocument/2006/relationships/chart" Target="/ppt/slides/charts/chart4.xml" Id="R731b3dad47364c89" /><Relationship Type="http://schemas.openxmlformats.org/officeDocument/2006/relationships/hyperlink" Target="https://lilinchao.github.io/traffic-book-practice/open-course/chapter-04/#underestimate" TargetMode="External" Id="Rb8ac66eb7e694230" /><Relationship Type="http://schemas.openxmlformats.org/officeDocument/2006/relationships/notesSlide" Target="/ppt/notesSlides/notesSlide18.xml" Id="Re01be27abcf640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5cff3e8794a85" /><Relationship Type="http://schemas.openxmlformats.org/officeDocument/2006/relationships/hyperlink" Target="https://lilinchao.github.io/traffic-book-practice/open-course/chapter-04/#zero" TargetMode="External" Id="R1795020a7f6f4d2e" /><Relationship Type="http://schemas.openxmlformats.org/officeDocument/2006/relationships/notesSlide" Target="/ppt/notesSlides/notesSlide19.xml" Id="R006de6a437c745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0f94c07614599" /><Relationship Type="http://schemas.openxmlformats.org/officeDocument/2006/relationships/hyperlink" Target="https://lilinchao.github.io/traffic-book-practice/open-course/chapter-04/#coefficient" TargetMode="External" Id="R34c5d5687a43440c" /><Relationship Type="http://schemas.openxmlformats.org/officeDocument/2006/relationships/notesSlide" Target="/ppt/notesSlides/notesSlide20.xml" Id="R418c023b41ef4bb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519dc821e4331" /><Relationship Type="http://schemas.openxmlformats.org/officeDocument/2006/relationships/hyperlink" Target="https://lilinchao.github.io/traffic-book-practice/open-course/chapter-04/#code" TargetMode="External" Id="Rfcfef591662144e7" /><Relationship Type="http://schemas.openxmlformats.org/officeDocument/2006/relationships/notesSlide" Target="/ppt/notesSlides/notesSlide21.xml" Id="R13a8b2e7bc0e41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7a78ce6c84452" /><Relationship Type="http://schemas.openxmlformats.org/officeDocument/2006/relationships/hyperlink" Target="https://lilinchao.github.io/traffic-book-practice/open-course/chapter-04/#project" TargetMode="External" Id="R7ee740655f5e4873" /><Relationship Type="http://schemas.openxmlformats.org/officeDocument/2006/relationships/notesSlide" Target="/ppt/notesSlides/notesSlide22.xml" Id="Rc88233cac93b4a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06a4630b64c35" /><Relationship Type="http://schemas.openxmlformats.org/officeDocument/2006/relationships/hyperlink" Target="https://lilinchao.github.io/traffic-book-practice/open-course/chapter-04/" TargetMode="External" Id="Ra589aa73f9824ac4" /><Relationship Type="http://schemas.openxmlformats.org/officeDocument/2006/relationships/hyperlink" Target="https://lilinchao.github.io/traffic-book-practice/open-course/#project/ch04/code" TargetMode="External" Id="R1cdf8c5c04b044f7" /><Relationship Type="http://schemas.openxmlformats.org/officeDocument/2006/relationships/hyperlink" Target="https://lilinchao.github.io/traffic-book-practice/open-course/#cases" TargetMode="External" Id="R05de0e766e59479d" /><Relationship Type="http://schemas.openxmlformats.org/officeDocument/2006/relationships/notesSlide" Target="/ppt/notesSlides/notesSlide23.xml" Id="R4c67eb8f0e3448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34.29459519</c:v>
                </c:pt>
                <c:pt idx="1">
                  <c:v>28.75298324</c:v>
                </c:pt>
                <c:pt idx="2">
                  <c:v>23.01173883</c:v>
                </c:pt>
                <c:pt idx="3">
                  <c:v>10.52769904</c:v>
                </c:pt>
                <c:pt idx="4">
                  <c:v>3.41315779</c:v>
                </c:pt>
                <c:pt idx="5">
                  <c:v>17.2205328</c:v>
                </c:pt>
                <c:pt idx="6">
                  <c:v>70.00237697</c:v>
                </c:pt>
                <c:pt idx="7">
                  <c:v>205.26544738</c:v>
                </c:pt>
                <c:pt idx="8">
                  <c:v>302.36394992</c:v>
                </c:pt>
                <c:pt idx="9">
                  <c:v>101.49450997</c:v>
                </c:pt>
                <c:pt idx="10">
                  <c:v>86.15877384</c:v>
                </c:pt>
                <c:pt idx="11">
                  <c:v>104.95409919</c:v>
                </c:pt>
                <c:pt idx="12">
                  <c:v>129.32091231</c:v>
                </c:pt>
                <c:pt idx="13">
                  <c:v>121.5446866</c:v>
                </c:pt>
                <c:pt idx="14">
                  <c:v>114.78845103</c:v>
                </c:pt>
                <c:pt idx="15">
                  <c:v>124.51556453</c:v>
                </c:pt>
                <c:pt idx="16">
                  <c:v>162.91939567</c:v>
                </c:pt>
                <c:pt idx="17">
                  <c:v>251.49937016</c:v>
                </c:pt>
                <c:pt idx="18">
                  <c:v>237.27901397</c:v>
                </c:pt>
                <c:pt idx="19">
                  <c:v>167.98261977</c:v>
                </c:pt>
                <c:pt idx="20">
                  <c:v>121.59335492</c:v>
                </c:pt>
                <c:pt idx="21">
                  <c:v>87.87528726</c:v>
                </c:pt>
                <c:pt idx="22">
                  <c:v>66.55985723</c:v>
                </c:pt>
                <c:pt idx="23">
                  <c:v>47.94215199</c:v>
                </c:pt>
              </c:numCache>
            </c:numRef>
          </c:val>
          <c:smooth val="0"/>
        </c:ser>
        <c:ser>
          <c:idx val="1"/>
          <c:order val="1"/>
          <c:tx>
            <c:v>平均偏差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-25.69767326</c:v>
                </c:pt>
                <c:pt idx="1">
                  <c:v>-15.50499817</c:v>
                </c:pt>
                <c:pt idx="2">
                  <c:v>-8.62575441</c:v>
                </c:pt>
                <c:pt idx="3">
                  <c:v>-3.34174164</c:v>
                </c:pt>
                <c:pt idx="4">
                  <c:v>-2.59240992</c:v>
                </c:pt>
                <c:pt idx="5">
                  <c:v>-12.16393282</c:v>
                </c:pt>
                <c:pt idx="6">
                  <c:v>-37.40781992</c:v>
                </c:pt>
                <c:pt idx="7">
                  <c:v>-108.89926469</c:v>
                </c:pt>
                <c:pt idx="8">
                  <c:v>-155.45674818</c:v>
                </c:pt>
                <c:pt idx="9">
                  <c:v>-84.92564657</c:v>
                </c:pt>
                <c:pt idx="10">
                  <c:v>-81.42218218</c:v>
                </c:pt>
                <c:pt idx="11">
                  <c:v>-100.35562427</c:v>
                </c:pt>
                <c:pt idx="12">
                  <c:v>-122.15040273</c:v>
                </c:pt>
                <c:pt idx="13">
                  <c:v>-113.39298869</c:v>
                </c:pt>
                <c:pt idx="14">
                  <c:v>-104.83080818</c:v>
                </c:pt>
                <c:pt idx="15">
                  <c:v>-117.68798113</c:v>
                </c:pt>
                <c:pt idx="16">
                  <c:v>-153.29355903</c:v>
                </c:pt>
                <c:pt idx="17">
                  <c:v>-199.69587962</c:v>
                </c:pt>
                <c:pt idx="18">
                  <c:v>-183.69217615</c:v>
                </c:pt>
                <c:pt idx="19">
                  <c:v>-136.67468134</c:v>
                </c:pt>
                <c:pt idx="20">
                  <c:v>-102.24503227</c:v>
                </c:pt>
                <c:pt idx="21">
                  <c:v>-73.14443898</c:v>
                </c:pt>
                <c:pt idx="22">
                  <c:v>-53.54765285</c:v>
                </c:pt>
                <c:pt idx="23">
                  <c:v>-40.60782282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Poisson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</c:numCache>
            </c:numRef>
          </c:val>
          <c:smooth val="0"/>
        </c:ser>
        <c:ser>
          <c:idx val="1"/>
          <c:order val="1"/>
          <c:tx>
            <c:v>NB2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15</c:v>
                </c:pt>
                <c:pt idx="1">
                  <c:v>175</c:v>
                </c:pt>
                <c:pt idx="2">
                  <c:v>600</c:v>
                </c:pt>
                <c:pt idx="3">
                  <c:v>2200</c:v>
                </c:pt>
                <c:pt idx="4">
                  <c:v>13000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OLS</c:v>
                </c:pt>
                <c:pt idx="1">
                  <c:v>Poisson</c:v>
                </c:pt>
                <c:pt idx="2">
                  <c:v>NB2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116.1112432</c:v>
                </c:pt>
                <c:pt idx="1">
                  <c:v>108.45701277</c:v>
                </c:pt>
                <c:pt idx="2">
                  <c:v>109.36399782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OLS</c:v>
                </c:pt>
                <c:pt idx="1">
                  <c:v>Poisson</c:v>
                </c:pt>
                <c:pt idx="2">
                  <c:v>NB2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169.92381002</c:v>
                </c:pt>
                <c:pt idx="1">
                  <c:v>160.09927266</c:v>
                </c:pt>
                <c:pt idx="2">
                  <c:v>160.1293655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未抵消低估量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OLS</c:v>
                </c:pt>
                <c:pt idx="1">
                  <c:v>Poisson</c:v>
                </c:pt>
                <c:pt idx="2">
                  <c:v>NB2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445834.59197051</c:v>
                </c:pt>
                <c:pt idx="1">
                  <c:v>428922.02481873</c:v>
                </c:pt>
                <c:pt idx="2">
                  <c:v>425333.88077341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9dd8d24ba46e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4章">
            <a:extLst xmlns:a="http://schemas.openxmlformats.org/drawingml/2006/main">
              <a:ext uri="{FF2B5EF4-FFF2-40B4-BE49-F238E27FC236}">
                <a16:creationId xmlns:a16="http://schemas.microsoft.com/office/drawing/2014/main" id="{0A9868D2-96E0-4727-A6F6-6FD2851F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rPr>
              <a:t>第4章</a:t>
            </a:r>
          </a:p>
        </p:txBody>
      </p:sp>
      <p:sp>
        <p:nvSpPr>
          <p:cNvPr id="3" name="交通表格型数据分析">
            <a:extLst xmlns:a="http://schemas.openxmlformats.org/drawingml/2006/main">
              <a:ext uri="{FF2B5EF4-FFF2-40B4-BE49-F238E27FC236}">
                <a16:creationId xmlns:a16="http://schemas.microsoft.com/office/drawing/2014/main" id="{21D103A2-3080-4990-9A30-11413283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交通表格型数据分析</a:t>
            </a:r>
          </a:p>
        </p:txBody>
      </p:sp>
      <p:sp>
        <p:nvSpPr>
          <p:cNvPr id="4" name="交通数据挖掘理论与应用">
            <a:extLst xmlns:a="http://schemas.openxmlformats.org/drawingml/2006/main">
              <a:ext uri="{FF2B5EF4-FFF2-40B4-BE49-F238E27FC236}">
                <a16:creationId xmlns:a16="http://schemas.microsoft.com/office/drawing/2014/main" id="{DDEABF2C-1479-4442-BD1A-D8013C3F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交通数据挖掘理论与应用</a:t>
            </a:r>
          </a:p>
        </p:txBody>
      </p:sp>
      <p:sp>
        <p:nvSpPr>
          <p:cNvPr id="5" name="共享单车高峰服务准备需要怎样的租借量估计？">
            <a:extLst xmlns:a="http://schemas.openxmlformats.org/drawingml/2006/main">
              <a:ext uri="{FF2B5EF4-FFF2-40B4-BE49-F238E27FC236}">
                <a16:creationId xmlns:a16="http://schemas.microsoft.com/office/drawing/2014/main" id="{37CF5683-92C6-47BE-ACD7-79A5A88F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共享单车高峰服务准备需要怎样的租借量估计？</a:t>
            </a:r>
          </a:p>
        </p:txBody>
      </p:sp>
    </p:spTree>
    <p:extLst>
      <p:ext uri="{BB962C8B-B14F-4D97-AF65-F5344CB8AC3E}">
        <p14:creationId xmlns:p14="http://schemas.microsoft.com/office/powerpoint/2010/main" val="2042322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章学习目标">
            <a:extLst xmlns:a="http://schemas.openxmlformats.org/drawingml/2006/main">
              <a:ext uri="{FF2B5EF4-FFF2-40B4-BE49-F238E27FC236}">
                <a16:creationId xmlns:a16="http://schemas.microsoft.com/office/drawing/2014/main" id="{ADF37F78-87A9-43CF-B837-126564CE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本章学习目标</a:t>
            </a:r>
          </a:p>
        </p:txBody>
      </p:sp>
      <p:sp>
        <p:nvSpPr>
          <p:cNvPr id="2" name="第4章 交通表格型数据分析">
            <a:extLst xmlns:a="http://schemas.openxmlformats.org/drawingml/2006/main">
              <a:ext uri="{FF2B5EF4-FFF2-40B4-BE49-F238E27FC236}">
                <a16:creationId xmlns:a16="http://schemas.microsoft.com/office/drawing/2014/main" id="{920B23D6-510E-4856-83C5-581C254F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76C1DD6C-A766-40F9-B0C8-AF3ED099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按交通结果变量选择回归方法。">
            <a:extLst xmlns:a="http://schemas.openxmlformats.org/drawingml/2006/main">
              <a:ext uri="{FF2B5EF4-FFF2-40B4-BE49-F238E27FC236}">
                <a16:creationId xmlns:a16="http://schemas.microsoft.com/office/drawing/2014/main" id="{CCBB4C46-1864-4A3F-A821-6B5D79DE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按交通结果变量选择回归方法。</a:t>
            </a:r>
          </a:p>
        </p:txBody>
      </p:sp>
      <p:sp>
        <p:nvSpPr>
          <p:cNvPr id="5" name="审查决策时点与特征可获得性，防止标签泄漏。">
            <a:extLst xmlns:a="http://schemas.openxmlformats.org/drawingml/2006/main">
              <a:ext uri="{FF2B5EF4-FFF2-40B4-BE49-F238E27FC236}">
                <a16:creationId xmlns:a16="http://schemas.microsoft.com/office/drawing/2014/main" id="{1DF18379-344F-4337-9145-4004BE4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审查决策时点与特征可获得性，防止标签泄漏。</a:t>
            </a:r>
          </a:p>
        </p:txBody>
      </p:sp>
      <p:sp>
        <p:nvSpPr>
          <p:cNvPr id="6" name="比较OLS、Poisson和NB2在共同小时上的表现">
            <a:extLst xmlns:a="http://schemas.openxmlformats.org/drawingml/2006/main">
              <a:ext uri="{FF2B5EF4-FFF2-40B4-BE49-F238E27FC236}">
                <a16:creationId xmlns:a16="http://schemas.microsoft.com/office/drawing/2014/main" id="{28478D30-CF05-4963-A8A4-67296440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比较OLS、Poisson和NB2在共同小时上的表现。</a:t>
            </a:r>
          </a:p>
        </p:txBody>
      </p:sp>
      <p:sp>
        <p:nvSpPr>
          <p:cNvPr id="7" name="将高峰误差解释为服务量估计证据，保留运营约束。">
            <a:extLst xmlns:a="http://schemas.openxmlformats.org/drawingml/2006/main">
              <a:ext uri="{FF2B5EF4-FFF2-40B4-BE49-F238E27FC236}">
                <a16:creationId xmlns:a16="http://schemas.microsoft.com/office/drawing/2014/main" id="{B537241B-029F-4D30-B0F8-5D224AB0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将高峰误差解释为服务量估计证据，保留运营约束。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474105E-9B09-450E-AD78-69856890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e887970c5a4279"/>
              </a:rPr>
              <a:t>配套交互课堂与章节实践</a:t>
            </a:r>
          </a:p>
        </p:txBody>
      </p:sp>
    </p:spTree>
    <p:extLst>
      <p:ext uri="{BB962C8B-B14F-4D97-AF65-F5344CB8AC3E}">
        <p14:creationId xmlns:p14="http://schemas.microsoft.com/office/powerpoint/2010/main" val="920860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共享单车的高峰服务准备">
            <a:extLst xmlns:a="http://schemas.openxmlformats.org/drawingml/2006/main">
              <a:ext uri="{FF2B5EF4-FFF2-40B4-BE49-F238E27FC236}">
                <a16:creationId xmlns:a16="http://schemas.microsoft.com/office/drawing/2014/main" id="{CCE2CAC1-650F-4E80-8DC5-DC2B2DD3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共享单车的高峰服务准备</a:t>
            </a:r>
          </a:p>
        </p:txBody>
      </p:sp>
      <p:sp>
        <p:nvSpPr>
          <p:cNvPr id="2" name="第4章 交通表格型数据分析   4.1">
            <a:extLst xmlns:a="http://schemas.openxmlformats.org/drawingml/2006/main">
              <a:ext uri="{FF2B5EF4-FFF2-40B4-BE49-F238E27FC236}">
                <a16:creationId xmlns:a16="http://schemas.microsoft.com/office/drawing/2014/main" id="{C24431E6-BD1A-4BFA-9D3A-5C09D50D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4.1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90B900A0-5E49-4DEB-B9A9-66AB1A2D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运营分析首先需要明确服务对象与统计范围。">
            <a:extLst xmlns:a="http://schemas.openxmlformats.org/drawingml/2006/main">
              <a:ext uri="{FF2B5EF4-FFF2-40B4-BE49-F238E27FC236}">
                <a16:creationId xmlns:a16="http://schemas.microsoft.com/office/drawing/2014/main" id="{AC3B35AC-2493-40BF-95C1-9297E3BC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运营分析首先需要明确服务对象与统计范围。</a:t>
            </a:r>
          </a:p>
        </p:txBody>
      </p:sp>
      <p:sp>
        <p:nvSpPr>
          <p:cNvPr id="5" name="本章估计整个系统的小时租借次数，为分时服务准备提供参">
            <a:extLst xmlns:a="http://schemas.openxmlformats.org/drawingml/2006/main">
              <a:ext uri="{FF2B5EF4-FFF2-40B4-BE49-F238E27FC236}">
                <a16:creationId xmlns:a16="http://schemas.microsoft.com/office/drawing/2014/main" id="{24220130-65E6-4C72-AD32-F7BB3F0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本章估计整个系统的小时租借次数，为分时服务准备提供参考。</a:t>
            </a:r>
          </a:p>
        </p:txBody>
      </p:sp>
      <p:sp>
        <p:nvSpPr>
          <p:cNvPr id="6" name="资料缺少站点库存、归还量和车辆调运记录，系统租借量不">
            <a:extLst xmlns:a="http://schemas.openxmlformats.org/drawingml/2006/main">
              <a:ext uri="{FF2B5EF4-FFF2-40B4-BE49-F238E27FC236}">
                <a16:creationId xmlns:a16="http://schemas.microsoft.com/office/drawing/2014/main" id="{FDB2B927-1E62-432F-84F9-30F43E37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资料缺少站点库存、归还量和车辆调运记录，系统租借量不能直接换算为调运数量。</a:t>
            </a:r>
          </a:p>
        </p:txBody>
      </p:sp>
      <p:sp>
        <p:nvSpPr>
          <p:cNvPr id="7" name="课堂讨论：即使预测完全正确，还缺什么才能确定某站点应">
            <a:extLst xmlns:a="http://schemas.openxmlformats.org/drawingml/2006/main">
              <a:ext uri="{FF2B5EF4-FFF2-40B4-BE49-F238E27FC236}">
                <a16:creationId xmlns:a16="http://schemas.microsoft.com/office/drawing/2014/main" id="{156A8345-2D68-40E6-88EC-C66FE94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课堂讨论：即使预测完全正确，还缺什么才能确定某站点应补多少辆车？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79DE76DB-1165-4417-A516-2B88648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3f493f499a47ae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2117230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结果变量与交通解释变量">
            <a:extLst xmlns:a="http://schemas.openxmlformats.org/drawingml/2006/main">
              <a:ext uri="{FF2B5EF4-FFF2-40B4-BE49-F238E27FC236}">
                <a16:creationId xmlns:a16="http://schemas.microsoft.com/office/drawing/2014/main" id="{0B1C7A4A-BBF4-48CC-98C0-337A402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结果变量与交通解释变量</a:t>
            </a:r>
          </a:p>
        </p:txBody>
      </p:sp>
      <p:sp>
        <p:nvSpPr>
          <p:cNvPr id="2" name="第4章 交通表格型数据分析   4.1">
            <a:extLst xmlns:a="http://schemas.openxmlformats.org/drawingml/2006/main">
              <a:ext uri="{FF2B5EF4-FFF2-40B4-BE49-F238E27FC236}">
                <a16:creationId xmlns:a16="http://schemas.microsoft.com/office/drawing/2014/main" id="{34BFE266-104B-4518-ABAD-91B8908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4.1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3FB91C74-80FA-470B-91FE-EE103048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一行记录代表整个系统的一个小时。">
            <a:extLst xmlns:a="http://schemas.openxmlformats.org/drawingml/2006/main">
              <a:ext uri="{FF2B5EF4-FFF2-40B4-BE49-F238E27FC236}">
                <a16:creationId xmlns:a16="http://schemas.microsoft.com/office/drawing/2014/main" id="{34901714-56FE-4AF5-BDC0-7322C8FB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一行记录代表整个系统的一个小时。</a:t>
            </a:r>
          </a:p>
        </p:txBody>
      </p:sp>
      <p:sp>
        <p:nvSpPr>
          <p:cNvPr id="5" name="cnt记录小时租借次数，日历和天气描述对应时段条件。">
            <a:extLst xmlns:a="http://schemas.openxmlformats.org/drawingml/2006/main">
              <a:ext uri="{FF2B5EF4-FFF2-40B4-BE49-F238E27FC236}">
                <a16:creationId xmlns:a16="http://schemas.microsoft.com/office/drawing/2014/main" id="{CE0202FE-F1EB-47F0-B8EC-C7425237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cnt记录小时租借次数，日历和天气描述对应时段条件。租借次数不等于独立出行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人数。</a:t>
            </a:r>
          </a:p>
        </p:txBody>
      </p:sp>
      <p:sp>
        <p:nvSpPr>
          <p:cNvPr id="6" name="数值列不一定是连续变量。小时、月份、天气类别须按实际">
            <a:extLst xmlns:a="http://schemas.openxmlformats.org/drawingml/2006/main">
              <a:ext uri="{FF2B5EF4-FFF2-40B4-BE49-F238E27FC236}">
                <a16:creationId xmlns:a16="http://schemas.microsoft.com/office/drawing/2014/main" id="{E7BF4A1E-4880-48FE-B206-3645A2BC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数值列不一定是连续变量。小时、月份、天气类别须按实际含义编码。</a:t>
            </a:r>
          </a:p>
        </p:txBody>
      </p:sp>
      <p:sp>
        <p:nvSpPr>
          <p:cNvPr id="7" name="课堂讨论：把天气类别1、2、3直接当连续数值，会引入">
            <a:extLst xmlns:a="http://schemas.openxmlformats.org/drawingml/2006/main">
              <a:ext uri="{FF2B5EF4-FFF2-40B4-BE49-F238E27FC236}">
                <a16:creationId xmlns:a16="http://schemas.microsoft.com/office/drawing/2014/main" id="{922F1090-0AFB-4A55-AE9B-563F19BD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课堂讨论：把天气类别1、2、3直接当连续数值，会引入什么假设？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FA833E24-7F1C-41B4-8936-A7ED898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67d8e024204441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138567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特征的可获得性">
            <a:extLst xmlns:a="http://schemas.openxmlformats.org/drawingml/2006/main">
              <a:ext uri="{FF2B5EF4-FFF2-40B4-BE49-F238E27FC236}">
                <a16:creationId xmlns:a16="http://schemas.microsoft.com/office/drawing/2014/main" id="{E327248C-BD5B-491F-818A-493CFE9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特征的可获得性</a:t>
            </a:r>
          </a:p>
        </p:txBody>
      </p:sp>
      <p:sp>
        <p:nvSpPr>
          <p:cNvPr id="2" name="第4章 交通表格型数据分析   4.1 / 4.2">
            <a:extLst xmlns:a="http://schemas.openxmlformats.org/drawingml/2006/main">
              <a:ext uri="{FF2B5EF4-FFF2-40B4-BE49-F238E27FC236}">
                <a16:creationId xmlns:a16="http://schemas.microsoft.com/office/drawing/2014/main" id="{36B3B384-F7FB-4B6E-85C0-36EB9231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4.1 / 4.2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3DB949A2-E1D5-470E-97AF-346B4E13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决策时点决定哪些变量可以进入模型。">
            <a:extLst xmlns:a="http://schemas.openxmlformats.org/drawingml/2006/main">
              <a:ext uri="{FF2B5EF4-FFF2-40B4-BE49-F238E27FC236}">
                <a16:creationId xmlns:a16="http://schemas.microsoft.com/office/drawing/2014/main" id="{630C6BFC-60CF-4DCA-8C7E-BDE9581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决策时点决定哪些变量可以进入模型。</a:t>
            </a:r>
          </a:p>
        </p:txBody>
      </p:sp>
      <p:sp>
        <p:nvSpPr>
          <p:cNvPr id="5" name="casual与registered相加就是cnt，属">
            <a:extLst xmlns:a="http://schemas.openxmlformats.org/drawingml/2006/main">
              <a:ext uri="{FF2B5EF4-FFF2-40B4-BE49-F238E27FC236}">
                <a16:creationId xmlns:a16="http://schemas.microsoft.com/office/drawing/2014/main" id="{E7B0E6AC-2BBF-4CA5-95E4-3E22B41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casual与registered相加就是cnt，属于目标的组成部分，不能用于预测同一小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时的总量。</a:t>
            </a:r>
          </a:p>
        </p:txBody>
      </p:sp>
      <p:sp>
        <p:nvSpPr>
          <p:cNvPr id="6" name="本实验使用当小时实测天气做条件回归。真正提前预测时，">
            <a:extLst xmlns:a="http://schemas.openxmlformats.org/drawingml/2006/main">
              <a:ext uri="{FF2B5EF4-FFF2-40B4-BE49-F238E27FC236}">
                <a16:creationId xmlns:a16="http://schemas.microsoft.com/office/drawing/2014/main" id="{54764F35-421F-4A6B-AAC7-262D8CCC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本实验使用当小时实测天气做条件回归。真正提前预测时，应改用当时可获得的天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气预报并重新验证。</a:t>
            </a:r>
          </a:p>
        </p:txBody>
      </p:sp>
      <p:sp>
        <p:nvSpPr>
          <p:cNvPr id="7" name="课堂讨论：训练时使用实测天气、部署时使用天气预报，误">
            <a:extLst xmlns:a="http://schemas.openxmlformats.org/drawingml/2006/main">
              <a:ext uri="{FF2B5EF4-FFF2-40B4-BE49-F238E27FC236}">
                <a16:creationId xmlns:a16="http://schemas.microsoft.com/office/drawing/2014/main" id="{584E7F0F-9590-4AD5-A6C4-5A887CF4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课堂讨论：训练时使用实测天气、部署时使用天气预报，误差来源会怎样改变？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999F80D-ECD0-4256-A195-230C9302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8051a012ed047d1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554521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预处理与时间切分">
            <a:extLst xmlns:a="http://schemas.openxmlformats.org/drawingml/2006/main">
              <a:ext uri="{FF2B5EF4-FFF2-40B4-BE49-F238E27FC236}">
                <a16:creationId xmlns:a16="http://schemas.microsoft.com/office/drawing/2014/main" id="{5D238498-4187-4560-9F45-EC3AAB20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预处理与时间切分</a:t>
            </a:r>
          </a:p>
        </p:txBody>
      </p:sp>
      <p:sp>
        <p:nvSpPr>
          <p:cNvPr id="2" name="第4章 交通表格型数据分析   4.2">
            <a:extLst xmlns:a="http://schemas.openxmlformats.org/drawingml/2006/main">
              <a:ext uri="{FF2B5EF4-FFF2-40B4-BE49-F238E27FC236}">
                <a16:creationId xmlns:a16="http://schemas.microsoft.com/office/drawing/2014/main" id="{DD87389E-8A52-4B34-BCA9-2D99EEA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4.2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BAA74429-74F0-403F-9076-C2918EB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所有学习到的处理参数都来自训练期。">
            <a:extLst xmlns:a="http://schemas.openxmlformats.org/drawingml/2006/main">
              <a:ext uri="{FF2B5EF4-FFF2-40B4-BE49-F238E27FC236}">
                <a16:creationId xmlns:a16="http://schemas.microsoft.com/office/drawing/2014/main" id="{A83FBEDE-5C62-4826-AC21-788A3E7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所有学习到的处理参数都来自训练期。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06800"/>
                <a:gridCol w="3606800"/>
                <a:gridCol w="36068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资料阶段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小时数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2011年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拟合参数与预处理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8645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2012年上半年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选择NB2离散参数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4358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2012年下半年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冻结模型后评价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4376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6" name="若用全体数据均值做标准化，测试期的信息在哪里进入了模">
            <a:extLst xmlns:a="http://schemas.openxmlformats.org/drawingml/2006/main">
              <a:ext uri="{FF2B5EF4-FFF2-40B4-BE49-F238E27FC236}">
                <a16:creationId xmlns:a16="http://schemas.microsoft.com/office/drawing/2014/main" id="{91F06BB9-61AD-4A24-898F-959A461A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若用全体数据均值做标准化，测试期的信息在哪里进入了模型？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FCD21E51-2281-4B4B-AACF-3098469F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e20b6e155842cb"/>
              </a:rPr>
              <a:t>课堂讨论与完整案例</a:t>
            </a:r>
          </a:p>
        </p:txBody>
      </p:sp>
    </p:spTree>
    <p:extLst>
      <p:ext uri="{BB962C8B-B14F-4D97-AF65-F5344CB8AC3E}">
        <p14:creationId xmlns:p14="http://schemas.microsoft.com/office/powerpoint/2010/main" val="85071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线性回归与条件均值">
            <a:extLst xmlns:a="http://schemas.openxmlformats.org/drawingml/2006/main">
              <a:ext uri="{FF2B5EF4-FFF2-40B4-BE49-F238E27FC236}">
                <a16:creationId xmlns:a16="http://schemas.microsoft.com/office/drawing/2014/main" id="{54598BF5-E9EA-4D99-8379-E123379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线性回归与条件均值</a:t>
            </a:r>
          </a:p>
        </p:txBody>
      </p:sp>
      <p:sp>
        <p:nvSpPr>
          <p:cNvPr id="2" name="第4章 交通表格型数据分析   4.3">
            <a:extLst xmlns:a="http://schemas.openxmlformats.org/drawingml/2006/main">
              <a:ext uri="{FF2B5EF4-FFF2-40B4-BE49-F238E27FC236}">
                <a16:creationId xmlns:a16="http://schemas.microsoft.com/office/drawing/2014/main" id="{C4CD84F5-57DB-4A14-8B1C-D92D78B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4.3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BC5D85AA-0F6C-4811-9F79-3EEFB227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OLS用特征的线性组合估计平均租借量。">
            <a:extLst xmlns:a="http://schemas.openxmlformats.org/drawingml/2006/main">
              <a:ext uri="{FF2B5EF4-FFF2-40B4-BE49-F238E27FC236}">
                <a16:creationId xmlns:a16="http://schemas.microsoft.com/office/drawing/2014/main" id="{3423DFA8-0A76-4059-A649-5CE65687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OLS用特征的线性组合估计平均租借量。</a:t>
            </a:r>
          </a:p>
        </p:txBody>
      </p:sp>
      <p:sp>
        <p:nvSpPr>
          <p:cNvPr id="5" name="μ_i = β₀ + Σ_j β_j x_ij">
            <a:extLst xmlns:a="http://schemas.openxmlformats.org/drawingml/2006/main">
              <a:ext uri="{FF2B5EF4-FFF2-40B4-BE49-F238E27FC236}">
                <a16:creationId xmlns:a16="http://schemas.microsoft.com/office/drawing/2014/main" id="{5BDF5BF9-6C55-458C-8F95-D8672A51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μ_i = β₀ + Σ_j β_j x_ij</a:t>
            </a:r>
          </a:p>
        </p:txBody>
      </p:sp>
      <p:sp>
        <p:nvSpPr>
          <p:cNvPr id="6" name="μ_i：第i小时条件均值，次/小时。x_ij：第j个">
            <a:extLst xmlns:a="http://schemas.openxmlformats.org/drawingml/2006/main">
              <a:ext uri="{FF2B5EF4-FFF2-40B4-BE49-F238E27FC236}">
                <a16:creationId xmlns:a16="http://schemas.microsoft.com/office/drawing/2014/main" id="{717CA5B0-0E53-4CD1-8D3A-F16D68A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μ_i：第i小时条件均值，次/小时。x_ij：第j个特征。β₀：截距。β_j：特征系数。Σ_j：对全部非截距特征求和。</a:t>
            </a:r>
          </a:p>
        </p:txBody>
      </p:sp>
      <p:sp>
        <p:nvSpPr>
          <p:cNvPr id="7" name="最小二乘法使训练样本的平方残差和最小，系数解释以其他">
            <a:extLst xmlns:a="http://schemas.openxmlformats.org/drawingml/2006/main">
              <a:ext uri="{FF2B5EF4-FFF2-40B4-BE49-F238E27FC236}">
                <a16:creationId xmlns:a16="http://schemas.microsoft.com/office/drawing/2014/main" id="{E67B4BA5-1B61-4F9A-BB3E-8001C631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最小二乘法使训练样本的平方残差和最小，系数解释以其他变量保持不变为前提。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CBB0C76-F0ED-4C3F-85C5-425567E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13763bff8148b9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669220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残差与分组误差">
            <a:extLst xmlns:a="http://schemas.openxmlformats.org/drawingml/2006/main">
              <a:ext uri="{FF2B5EF4-FFF2-40B4-BE49-F238E27FC236}">
                <a16:creationId xmlns:a16="http://schemas.microsoft.com/office/drawing/2014/main" id="{628D8870-BEBA-4252-87C1-B5C2AED8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残差与分组误差</a:t>
            </a:r>
          </a:p>
        </p:txBody>
      </p:sp>
      <p:sp>
        <p:nvSpPr>
          <p:cNvPr id="2" name="第4章 交通表格型数据分析   4.3">
            <a:extLst xmlns:a="http://schemas.openxmlformats.org/drawingml/2006/main">
              <a:ext uri="{FF2B5EF4-FFF2-40B4-BE49-F238E27FC236}">
                <a16:creationId xmlns:a16="http://schemas.microsoft.com/office/drawing/2014/main" id="{748B8679-9621-468A-AD7B-BD189B2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4.3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1550931-54E9-42C4-AD2A-34C27255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总体误差可能掩盖高峰时段的系统低估。">
            <a:extLst xmlns:a="http://schemas.openxmlformats.org/drawingml/2006/main">
              <a:ext uri="{FF2B5EF4-FFF2-40B4-BE49-F238E27FC236}">
                <a16:creationId xmlns:a16="http://schemas.microsoft.com/office/drawing/2014/main" id="{15BB8AC6-FEEE-40B5-A889-305A22D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总体误差可能掩盖高峰时段的系统低估。</a:t>
            </a:r>
          </a:p>
        </p:txBody>
      </p:sp>
      <p:sp>
        <p:nvSpPr>
          <p:cNvPr id="5" name="残差要先约定符号。本课堂偏差定义为预测减实测，负值表">
            <a:extLst xmlns:a="http://schemas.openxmlformats.org/drawingml/2006/main">
              <a:ext uri="{FF2B5EF4-FFF2-40B4-BE49-F238E27FC236}">
                <a16:creationId xmlns:a16="http://schemas.microsoft.com/office/drawing/2014/main" id="{188F7CDC-3571-4203-9FD9-3D4F10D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残差要先约定符号。本课堂偏差定义为预测减实测，负值表示平均低估。</a:t>
            </a:r>
          </a:p>
        </p:txBody>
      </p:sp>
      <p:sp>
        <p:nvSpPr>
          <p:cNvPr id="6" name="MAE给出典型绝对偏离，RMSE对大误差更敏感，平均">
            <a:extLst xmlns:a="http://schemas.openxmlformats.org/drawingml/2006/main">
              <a:ext uri="{FF2B5EF4-FFF2-40B4-BE49-F238E27FC236}">
                <a16:creationId xmlns:a16="http://schemas.microsoft.com/office/drawing/2014/main" id="{9FAE138F-6867-4A44-B53D-765834F2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MAE给出典型绝对偏离，RMSE对大误差更敏感，平均偏差可能因正负抵消而接近0。</a:t>
            </a:r>
          </a:p>
        </p:txBody>
      </p:sp>
      <p:sp>
        <p:nvSpPr>
          <p:cNvPr id="7" name="课堂讨论：平均偏差接近0但MAE较大时，运营人员应该">
            <a:extLst xmlns:a="http://schemas.openxmlformats.org/drawingml/2006/main">
              <a:ext uri="{FF2B5EF4-FFF2-40B4-BE49-F238E27FC236}">
                <a16:creationId xmlns:a16="http://schemas.microsoft.com/office/drawing/2014/main" id="{1CBA6E65-39DB-4538-B509-7FBD038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课堂讨论：平均偏差接近0但MAE较大时，运营人员应该怎样理解？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89AAFE6C-1A38-42A4-8FCF-E3E2230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8b256bd58da4456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977239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残差与分组误差：计算结果">
            <a:extLst xmlns:a="http://schemas.openxmlformats.org/drawingml/2006/main">
              <a:ext uri="{FF2B5EF4-FFF2-40B4-BE49-F238E27FC236}">
                <a16:creationId xmlns:a16="http://schemas.microsoft.com/office/drawing/2014/main" id="{604658DB-23E4-4ECD-8404-54C805A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残差与分组误差：计算结果</a:t>
            </a:r>
          </a:p>
        </p:txBody>
      </p:sp>
      <p:sp>
        <p:nvSpPr>
          <p:cNvPr id="2" name="第4章 交通表格型数据分析   4.3">
            <a:extLst xmlns:a="http://schemas.openxmlformats.org/drawingml/2006/main">
              <a:ext uri="{FF2B5EF4-FFF2-40B4-BE49-F238E27FC236}">
                <a16:creationId xmlns:a16="http://schemas.microsoft.com/office/drawing/2014/main" id="{5125B634-76FF-4A07-9E92-785DFFC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4.3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3DB48CEE-6A5D-40E4-8F12-D3ABE0A8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冻结预测分组评价">
            <a:extLst xmlns:a="http://schemas.openxmlformats.org/drawingml/2006/main">
              <a:ext uri="{FF2B5EF4-FFF2-40B4-BE49-F238E27FC236}">
                <a16:creationId xmlns:a16="http://schemas.microsoft.com/office/drawing/2014/main" id="{93E7CE73-D0D6-4E28-8EE7-1CCC062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冻结预测分组评价</a:t>
            </a:r>
          </a:p>
        </p:txBody>
      </p:sp>
      <p:sp>
        <p:nvSpPr>
          <p:cNvPr id="5" name="默认配置：模型：NB2">
            <a:extLst xmlns:a="http://schemas.openxmlformats.org/drawingml/2006/main">
              <a:ext uri="{FF2B5EF4-FFF2-40B4-BE49-F238E27FC236}">
                <a16:creationId xmlns:a16="http://schemas.microsoft.com/office/drawing/2014/main" id="{7F74EFBD-9347-4C26-9987-BF0E0D66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默认配置：模型：NB2</a:t>
            </a:r>
          </a:p>
        </p:txBody>
      </p:sp>
      <p:sp>
        <p:nvSpPr>
          <p:cNvPr id="6" name="误差（次/小时）">
            <a:extLst xmlns:a="http://schemas.openxmlformats.org/drawingml/2006/main">
              <a:ext uri="{FF2B5EF4-FFF2-40B4-BE49-F238E27FC236}">
                <a16:creationId xmlns:a16="http://schemas.microsoft.com/office/drawing/2014/main" id="{A8821AAA-9DB9-4A0B-AB7F-5BE6FA26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误差（次/小时）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b7577270ce48c2"/>
          </a:graphicData>
        </a:graphic>
      </p:graphicFrame>
      <p:sp>
        <p:nvSpPr>
          <p:cNvPr id="8" name="按钟点重算全部测试期误差。">
            <a:extLst xmlns:a="http://schemas.openxmlformats.org/drawingml/2006/main">
              <a:ext uri="{FF2B5EF4-FFF2-40B4-BE49-F238E27FC236}">
                <a16:creationId xmlns:a16="http://schemas.microsoft.com/office/drawing/2014/main" id="{903CB288-443A-4975-9887-C547CE0A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按钟点重算全部测试期误差。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2EFAF352-E950-49F6-8AC5-71A86298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09ffcff4cd49f4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8486135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分类回归与出行方式选择">
            <a:extLst xmlns:a="http://schemas.openxmlformats.org/drawingml/2006/main">
              <a:ext uri="{FF2B5EF4-FFF2-40B4-BE49-F238E27FC236}">
                <a16:creationId xmlns:a16="http://schemas.microsoft.com/office/drawing/2014/main" id="{FD003D5F-EAC3-4DE3-91AB-32625627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分类回归与出行方式选择</a:t>
            </a:r>
          </a:p>
        </p:txBody>
      </p:sp>
      <p:sp>
        <p:nvSpPr>
          <p:cNvPr id="2" name="第4章 交通表格型数据分析   4.4">
            <a:extLst xmlns:a="http://schemas.openxmlformats.org/drawingml/2006/main">
              <a:ext uri="{FF2B5EF4-FFF2-40B4-BE49-F238E27FC236}">
                <a16:creationId xmlns:a16="http://schemas.microsoft.com/office/drawing/2014/main" id="{8DA2646D-80A6-4BC9-ADBE-5D7511A3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4.4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184B779F-1048-41F8-A7EC-7F17BC09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公交选择等二分类问题输出概率。">
            <a:extLst xmlns:a="http://schemas.openxmlformats.org/drawingml/2006/main">
              <a:ext uri="{FF2B5EF4-FFF2-40B4-BE49-F238E27FC236}">
                <a16:creationId xmlns:a16="http://schemas.microsoft.com/office/drawing/2014/main" id="{783152F2-9645-4927-888E-DBA090A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公交选择等二分类问题输出概率。</a:t>
            </a:r>
          </a:p>
        </p:txBody>
      </p:sp>
      <p:sp>
        <p:nvSpPr>
          <p:cNvPr id="5" name="p = 1 / (1 + exp(−η))，η = ">
            <a:extLst xmlns:a="http://schemas.openxmlformats.org/drawingml/2006/main">
              <a:ext uri="{FF2B5EF4-FFF2-40B4-BE49-F238E27FC236}">
                <a16:creationId xmlns:a16="http://schemas.microsoft.com/office/drawing/2014/main" id="{5F521C92-83BF-4CCE-8BEA-14D002D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 = 1 / (1 + exp(−η))，η = β₀ + Σ_j β_j x_j</a:t>
            </a:r>
          </a:p>
        </p:txBody>
      </p:sp>
      <p:sp>
        <p:nvSpPr>
          <p:cNvPr id="6" name="p：公交选择概率。η：对数优势。x_j：第j个特征。">
            <a:extLst xmlns:a="http://schemas.openxmlformats.org/drawingml/2006/main">
              <a:ext uri="{FF2B5EF4-FFF2-40B4-BE49-F238E27FC236}">
                <a16:creationId xmlns:a16="http://schemas.microsoft.com/office/drawing/2014/main" id="{6A213BAF-F183-455B-B60B-CCE15D0C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p：公交选择概率。η：对数优势。x_j：第j个特征。β₀、β_j：截距和系数。exp：指数函数。Σ_j：特征求和。本页仅说明方法。</a:t>
            </a:r>
          </a:p>
        </p:txBody>
      </p:sp>
      <p:sp>
        <p:nvSpPr>
          <p:cNvPr id="7" name="逻辑回归将线性预测量变换到0至1，适合明确的二分类结">
            <a:extLst xmlns:a="http://schemas.openxmlformats.org/drawingml/2006/main">
              <a:ext uri="{FF2B5EF4-FFF2-40B4-BE49-F238E27FC236}">
                <a16:creationId xmlns:a16="http://schemas.microsoft.com/office/drawing/2014/main" id="{F75DAB6A-D5B3-4A2E-811C-A0348BF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逻辑回归将线性预测量变换到0至1，适合明确的二分类结果。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2DB732F1-9A09-455D-99C9-725BE0CD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abfa5bbe934059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619748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泊松回归与计数结果">
            <a:extLst xmlns:a="http://schemas.openxmlformats.org/drawingml/2006/main">
              <a:ext uri="{FF2B5EF4-FFF2-40B4-BE49-F238E27FC236}">
                <a16:creationId xmlns:a16="http://schemas.microsoft.com/office/drawing/2014/main" id="{1CCB2677-FA7F-40E6-A8F4-066028F3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泊松回归与计数结果</a:t>
            </a:r>
          </a:p>
        </p:txBody>
      </p:sp>
      <p:sp>
        <p:nvSpPr>
          <p:cNvPr id="2" name="第4章 交通表格型数据分析   4.5">
            <a:extLst xmlns:a="http://schemas.openxmlformats.org/drawingml/2006/main">
              <a:ext uri="{FF2B5EF4-FFF2-40B4-BE49-F238E27FC236}">
                <a16:creationId xmlns:a16="http://schemas.microsoft.com/office/drawing/2014/main" id="{633DB5A7-4B0A-4766-B8F8-9EB81E76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4.5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93A19D78-1667-407B-A8BF-299F84D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计数结果需要非负的条件均值。">
            <a:extLst xmlns:a="http://schemas.openxmlformats.org/drawingml/2006/main">
              <a:ext uri="{FF2B5EF4-FFF2-40B4-BE49-F238E27FC236}">
                <a16:creationId xmlns:a16="http://schemas.microsoft.com/office/drawing/2014/main" id="{1A056192-A750-4FC7-8D68-81A1EAC3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计数结果需要非负的条件均值。</a:t>
            </a:r>
          </a:p>
        </p:txBody>
      </p:sp>
      <p:sp>
        <p:nvSpPr>
          <p:cNvPr id="5" name="log(μ_i) = β₀ + Σ_j β_j x_">
            <a:extLst xmlns:a="http://schemas.openxmlformats.org/drawingml/2006/main">
              <a:ext uri="{FF2B5EF4-FFF2-40B4-BE49-F238E27FC236}">
                <a16:creationId xmlns:a16="http://schemas.microsoft.com/office/drawing/2014/main" id="{664C0FF4-3266-4392-AAF1-F5BFB761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log(μ_i) = β₀ + Σ_j β_j x_ij</a:t>
            </a:r>
          </a:p>
        </p:txBody>
      </p:sp>
      <p:sp>
        <p:nvSpPr>
          <p:cNvPr id="6" name="μ_i：第i小时条件均值，次/小时。x_ij：第j个">
            <a:extLst xmlns:a="http://schemas.openxmlformats.org/drawingml/2006/main">
              <a:ext uri="{FF2B5EF4-FFF2-40B4-BE49-F238E27FC236}">
                <a16:creationId xmlns:a16="http://schemas.microsoft.com/office/drawing/2014/main" id="{6634DDD1-2955-4A75-90C8-1884D528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μ_i：第i小时条件均值，次/小时。x_ij：第j个特征。β₀、β_j：截距和系数。Σ_j：特征求和。log：自然对数。</a:t>
            </a:r>
          </a:p>
        </p:txBody>
      </p:sp>
      <p:sp>
        <p:nvSpPr>
          <p:cNvPr id="7" name="泊松回归常用对数连接：特征先形成线性预测量，再取指数">
            <a:extLst xmlns:a="http://schemas.openxmlformats.org/drawingml/2006/main">
              <a:ext uri="{FF2B5EF4-FFF2-40B4-BE49-F238E27FC236}">
                <a16:creationId xmlns:a16="http://schemas.microsoft.com/office/drawing/2014/main" id="{3BD21E51-F4B2-463F-A40B-9F3B503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泊松回归常用对数连接：特征先形成线性预测量，再取指数得到均值。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6AA43E1-4EF8-490A-AC21-C95D07F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ab1cb265e84090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782127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暴露量与offset">
            <a:extLst xmlns:a="http://schemas.openxmlformats.org/drawingml/2006/main">
              <a:ext uri="{FF2B5EF4-FFF2-40B4-BE49-F238E27FC236}">
                <a16:creationId xmlns:a16="http://schemas.microsoft.com/office/drawing/2014/main" id="{405C052B-3D46-4D01-9AD3-2322289E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交通暴露量与offset</a:t>
            </a:r>
          </a:p>
        </p:txBody>
      </p:sp>
      <p:sp>
        <p:nvSpPr>
          <p:cNvPr id="2" name="第4章 交通表格型数据分析   4.5">
            <a:extLst xmlns:a="http://schemas.openxmlformats.org/drawingml/2006/main">
              <a:ext uri="{FF2B5EF4-FFF2-40B4-BE49-F238E27FC236}">
                <a16:creationId xmlns:a16="http://schemas.microsoft.com/office/drawing/2014/main" id="{55CFAF03-3668-4FFC-B65A-7086768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4.5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2E301808-2A12-417E-B608-29A8DD21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事故次数比较需要考虑被观察的交通活动规模。">
            <a:extLst xmlns:a="http://schemas.openxmlformats.org/drawingml/2006/main">
              <a:ext uri="{FF2B5EF4-FFF2-40B4-BE49-F238E27FC236}">
                <a16:creationId xmlns:a16="http://schemas.microsoft.com/office/drawing/2014/main" id="{8B04D3AD-0378-4522-A763-9D61390A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事故次数比较需要考虑被观察的交通活动规模。</a:t>
            </a:r>
          </a:p>
        </p:txBody>
      </p:sp>
      <p:sp>
        <p:nvSpPr>
          <p:cNvPr id="5" name="log(μ_i) = log(E_i) + β₀ +">
            <a:extLst xmlns:a="http://schemas.openxmlformats.org/drawingml/2006/main">
              <a:ext uri="{FF2B5EF4-FFF2-40B4-BE49-F238E27FC236}">
                <a16:creationId xmlns:a16="http://schemas.microsoft.com/office/drawing/2014/main" id="{35B4F8A2-0AF5-4E82-8387-A7943A62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log(μ_i) = log(E_i) + β₀ + Σ_j β_j x_ij</a:t>
            </a:r>
          </a:p>
        </p:txBody>
      </p:sp>
      <p:sp>
        <p:nvSpPr>
          <p:cNvPr id="6" name="μ_i：第i单元期望事故数。E_i&gt;0：同期暴露量，">
            <a:extLst xmlns:a="http://schemas.openxmlformats.org/drawingml/2006/main">
              <a:ext uri="{FF2B5EF4-FFF2-40B4-BE49-F238E27FC236}">
                <a16:creationId xmlns:a16="http://schemas.microsoft.com/office/drawing/2014/main" id="{96F70B43-7084-49AA-8434-8F299DEF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μ_i：第i单元期望事故数。E_i&gt;0：同期暴露量，如车辆公里。x_ij：第j个特征。β₀、β_j：截距和系数。Σ_j：特征求和。log：自然对数。</a:t>
            </a:r>
          </a:p>
        </p:txBody>
      </p:sp>
      <p:sp>
        <p:nvSpPr>
          <p:cNvPr id="7" name="道路事故建模可加入log(E_i)作为系数固定为1的">
            <a:extLst xmlns:a="http://schemas.openxmlformats.org/drawingml/2006/main">
              <a:ext uri="{FF2B5EF4-FFF2-40B4-BE49-F238E27FC236}">
                <a16:creationId xmlns:a16="http://schemas.microsoft.com/office/drawing/2014/main" id="{EC6CA304-9E44-43A9-A414-EF0F1642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道路事故建模可加入log(E_i)作为系数固定为1的offset，E_i表示明确口径的暴露量。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F27B5FE-FC3A-4AE7-9108-927AF1A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afb2c9d8cd4d3b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606357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负二项回归与过度离散">
            <a:extLst xmlns:a="http://schemas.openxmlformats.org/drawingml/2006/main">
              <a:ext uri="{FF2B5EF4-FFF2-40B4-BE49-F238E27FC236}">
                <a16:creationId xmlns:a16="http://schemas.microsoft.com/office/drawing/2014/main" id="{0E6BB3C7-3935-4DF9-A843-CDF929EB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负二项回归与过度离散</a:t>
            </a:r>
          </a:p>
        </p:txBody>
      </p:sp>
      <p:sp>
        <p:nvSpPr>
          <p:cNvPr id="2" name="第4章 交通表格型数据分析   4.5">
            <a:extLst xmlns:a="http://schemas.openxmlformats.org/drawingml/2006/main">
              <a:ext uri="{FF2B5EF4-FFF2-40B4-BE49-F238E27FC236}">
                <a16:creationId xmlns:a16="http://schemas.microsoft.com/office/drawing/2014/main" id="{3E4C4106-0B7A-4380-AC85-083AD72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4.5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4B041CA1-5B08-40FA-B8CC-0508098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NB2允许条件方差随均值增加得更快。">
            <a:extLst xmlns:a="http://schemas.openxmlformats.org/drawingml/2006/main">
              <a:ext uri="{FF2B5EF4-FFF2-40B4-BE49-F238E27FC236}">
                <a16:creationId xmlns:a16="http://schemas.microsoft.com/office/drawing/2014/main" id="{4FF0A3C7-626A-4EC5-8968-3B28CA1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NB2允许条件方差随均值增加得更快。</a:t>
            </a:r>
          </a:p>
        </p:txBody>
      </p:sp>
      <p:sp>
        <p:nvSpPr>
          <p:cNvPr id="5" name="Var(Y|X)=μ+αμ²，α控制超出泊松方差的部">
            <a:extLst xmlns:a="http://schemas.openxmlformats.org/drawingml/2006/main">
              <a:ext uri="{FF2B5EF4-FFF2-40B4-BE49-F238E27FC236}">
                <a16:creationId xmlns:a16="http://schemas.microsoft.com/office/drawing/2014/main" id="{AF10F14C-C9DA-4C01-AA72-6538E48D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Var(Y|X)=μ+αμ²，α控制超出泊松方差的部分。μ与α在解释中不能混用。</a:t>
            </a:r>
          </a:p>
        </p:txBody>
      </p:sp>
      <p:sp>
        <p:nvSpPr>
          <p:cNvPr id="6" name="本轮仅以验证期RMSE从预定候选中选择α，固定为0.">
            <a:extLst xmlns:a="http://schemas.openxmlformats.org/drawingml/2006/main">
              <a:ext uri="{FF2B5EF4-FFF2-40B4-BE49-F238E27FC236}">
                <a16:creationId xmlns:a16="http://schemas.microsoft.com/office/drawing/2014/main" id="{9F3D7199-93AF-4E98-9B9A-5ECEE1B8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本轮仅以验证期RMSE从预定候选中选择α，固定为0.05后再评价测试期。</a:t>
            </a:r>
          </a:p>
        </p:txBody>
      </p:sp>
      <p:sp>
        <p:nvSpPr>
          <p:cNvPr id="7" name="课堂讨论：更灵活的条件方差是否必然带来更小的预测误差">
            <a:extLst xmlns:a="http://schemas.openxmlformats.org/drawingml/2006/main">
              <a:ext uri="{FF2B5EF4-FFF2-40B4-BE49-F238E27FC236}">
                <a16:creationId xmlns:a16="http://schemas.microsoft.com/office/drawing/2014/main" id="{1DB5A058-6513-4159-81B0-099EEA0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课堂讨论：更灵活的条件方差是否必然带来更小的预测误差？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00553D23-FB3D-41CA-B855-B2029A5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0192a37fdf45ff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2017208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负二项回归与过度离散：计算结果">
            <a:extLst xmlns:a="http://schemas.openxmlformats.org/drawingml/2006/main">
              <a:ext uri="{FF2B5EF4-FFF2-40B4-BE49-F238E27FC236}">
                <a16:creationId xmlns:a16="http://schemas.microsoft.com/office/drawing/2014/main" id="{E2DE9C06-7145-40BB-BFB5-F2F9A00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负二项回归与过度离散：计算结果</a:t>
            </a:r>
          </a:p>
        </p:txBody>
      </p:sp>
      <p:sp>
        <p:nvSpPr>
          <p:cNvPr id="2" name="第4章 交通表格型数据分析   4.5">
            <a:extLst xmlns:a="http://schemas.openxmlformats.org/drawingml/2006/main">
              <a:ext uri="{FF2B5EF4-FFF2-40B4-BE49-F238E27FC236}">
                <a16:creationId xmlns:a16="http://schemas.microsoft.com/office/drawing/2014/main" id="{C6763E27-5356-40C7-BEF0-71183C9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4.5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DFAB7E32-03D7-4A43-9E9F-CA74035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公式关系演示，非观测结果">
            <a:extLst xmlns:a="http://schemas.openxmlformats.org/drawingml/2006/main">
              <a:ext uri="{FF2B5EF4-FFF2-40B4-BE49-F238E27FC236}">
                <a16:creationId xmlns:a16="http://schemas.microsoft.com/office/drawing/2014/main" id="{5197E003-486C-4263-A2E8-00CBD069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公式关系演示，非观测结果</a:t>
            </a:r>
          </a:p>
        </p:txBody>
      </p:sp>
      <p:sp>
        <p:nvSpPr>
          <p:cNvPr id="5" name="默认配置：NB2离散系数α：0.05">
            <a:extLst xmlns:a="http://schemas.openxmlformats.org/drawingml/2006/main">
              <a:ext uri="{FF2B5EF4-FFF2-40B4-BE49-F238E27FC236}">
                <a16:creationId xmlns:a16="http://schemas.microsoft.com/office/drawing/2014/main" id="{4C57EC18-6227-46D8-B43A-88F0B9F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默认配置：NB2离散系数α：0.05</a:t>
            </a:r>
          </a:p>
        </p:txBody>
      </p:sp>
      <p:sp>
        <p:nvSpPr>
          <p:cNvPr id="6" name="条件方差（次数²）">
            <a:extLst xmlns:a="http://schemas.openxmlformats.org/drawingml/2006/main">
              <a:ext uri="{FF2B5EF4-FFF2-40B4-BE49-F238E27FC236}">
                <a16:creationId xmlns:a16="http://schemas.microsoft.com/office/drawing/2014/main" id="{96893EF3-F979-4362-9669-A914C03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条件方差（次数²）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b3b3f745104e01"/>
          </a:graphicData>
        </a:graphic>
      </p:graphicFrame>
      <p:sp>
        <p:nvSpPr>
          <p:cNvPr id="8" name="这些均值为明确指定的数学演示输入，不是真实新观测。">
            <a:extLst xmlns:a="http://schemas.openxmlformats.org/drawingml/2006/main">
              <a:ext uri="{FF2B5EF4-FFF2-40B4-BE49-F238E27FC236}">
                <a16:creationId xmlns:a16="http://schemas.microsoft.com/office/drawing/2014/main" id="{6793C6B0-353F-4D77-87EF-B680116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这些均值为明确指定的数学演示输入，不是真实新观测。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7B481149-3B03-4DAE-8746-BB4B93A3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b45ccbb1bd43b9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7727412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三个模型的同样本比较">
            <a:extLst xmlns:a="http://schemas.openxmlformats.org/drawingml/2006/main">
              <a:ext uri="{FF2B5EF4-FFF2-40B4-BE49-F238E27FC236}">
                <a16:creationId xmlns:a16="http://schemas.microsoft.com/office/drawing/2014/main" id="{511886AD-98D1-4917-A2E6-3497DC7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三个模型的同样本比较</a:t>
            </a:r>
          </a:p>
        </p:txBody>
      </p:sp>
      <p:sp>
        <p:nvSpPr>
          <p:cNvPr id="2" name="第4章 交通表格型数据分析   4.3 / 4.5">
            <a:extLst xmlns:a="http://schemas.openxmlformats.org/drawingml/2006/main">
              <a:ext uri="{FF2B5EF4-FFF2-40B4-BE49-F238E27FC236}">
                <a16:creationId xmlns:a16="http://schemas.microsoft.com/office/drawing/2014/main" id="{B7E8C288-2EBE-454E-91EE-555800C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4.3 / 4.5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23F4A7AE-EDA0-478D-9B92-5BFEA592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模型成绩来自同一组公开练习测试小时。">
            <a:extLst xmlns:a="http://schemas.openxmlformats.org/drawingml/2006/main">
              <a:ext uri="{FF2B5EF4-FFF2-40B4-BE49-F238E27FC236}">
                <a16:creationId xmlns:a16="http://schemas.microsoft.com/office/drawing/2014/main" id="{75A4B9B7-780E-467E-B8B6-F3F2108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模型成绩来自同一组公开练习测试小时。</a:t>
            </a:r>
          </a:p>
        </p:txBody>
      </p:sp>
      <p:sp>
        <p:nvSpPr>
          <p:cNvPr id="5" name="OLS、Poisson和NB2使用相同特征与时间协议">
            <a:extLst xmlns:a="http://schemas.openxmlformats.org/drawingml/2006/main">
              <a:ext uri="{FF2B5EF4-FFF2-40B4-BE49-F238E27FC236}">
                <a16:creationId xmlns:a16="http://schemas.microsoft.com/office/drawing/2014/main" id="{649E9BC5-8ECC-487E-A2DD-206E0F32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OLS、Poisson和NB2使用相同特征与时间协议，网页根据冻结预测重新计算误差。</a:t>
            </a:r>
          </a:p>
        </p:txBody>
      </p:sp>
      <p:sp>
        <p:nvSpPr>
          <p:cNvPr id="6" name="浏览器没有重新训练这三个模型。完整Python拟合在">
            <a:extLst xmlns:a="http://schemas.openxmlformats.org/drawingml/2006/main">
              <a:ext uri="{FF2B5EF4-FFF2-40B4-BE49-F238E27FC236}">
                <a16:creationId xmlns:a16="http://schemas.microsoft.com/office/drawing/2014/main" id="{43202E02-0AAB-49E1-9745-42F83087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浏览器没有重新训练这三个模型。完整Python拟合在配套工作本中，比较不能混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入旧版岭回归成绩。</a:t>
            </a:r>
          </a:p>
        </p:txBody>
      </p:sp>
      <p:sp>
        <p:nvSpPr>
          <p:cNvPr id="7" name="课堂讨论：总体最好、早间最好和夜间最好的模型是否一致">
            <a:extLst xmlns:a="http://schemas.openxmlformats.org/drawingml/2006/main">
              <a:ext uri="{FF2B5EF4-FFF2-40B4-BE49-F238E27FC236}">
                <a16:creationId xmlns:a16="http://schemas.microsoft.com/office/drawing/2014/main" id="{A4B23EAD-86A7-4CA2-8893-5229FB4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课堂讨论：总体最好、早间最好和夜间最好的模型是否一致？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15AA754D-030A-404F-AAB7-79ED4D2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593c0dc50644cf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9544791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三个模型的同样本比较：计算结果">
            <a:extLst xmlns:a="http://schemas.openxmlformats.org/drawingml/2006/main">
              <a:ext uri="{FF2B5EF4-FFF2-40B4-BE49-F238E27FC236}">
                <a16:creationId xmlns:a16="http://schemas.microsoft.com/office/drawing/2014/main" id="{D786DB58-46B3-40A5-B54C-4DF8385B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三个模型的同样本比较：计算结果</a:t>
            </a:r>
          </a:p>
        </p:txBody>
      </p:sp>
      <p:sp>
        <p:nvSpPr>
          <p:cNvPr id="2" name="第4章 交通表格型数据分析   4.3 / 4.5">
            <a:extLst xmlns:a="http://schemas.openxmlformats.org/drawingml/2006/main">
              <a:ext uri="{FF2B5EF4-FFF2-40B4-BE49-F238E27FC236}">
                <a16:creationId xmlns:a16="http://schemas.microsoft.com/office/drawing/2014/main" id="{8725584E-293F-4B27-9D81-250183F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4.3 / 4.5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9183A4B6-F715-48B7-BEF7-7B498B0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根据冻结预测重新计算；不在浏览器拟合模型">
            <a:extLst xmlns:a="http://schemas.openxmlformats.org/drawingml/2006/main">
              <a:ext uri="{FF2B5EF4-FFF2-40B4-BE49-F238E27FC236}">
                <a16:creationId xmlns:a16="http://schemas.microsoft.com/office/drawing/2014/main" id="{45DA9FE3-7839-4BDE-A4A6-5CEFCE97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根据冻结预测重新计算；不在浏览器拟合模型</a:t>
            </a:r>
          </a:p>
        </p:txBody>
      </p:sp>
      <p:sp>
        <p:nvSpPr>
          <p:cNvPr id="5" name="默认配置：评价时段：全天">
            <a:extLst xmlns:a="http://schemas.openxmlformats.org/drawingml/2006/main">
              <a:ext uri="{FF2B5EF4-FFF2-40B4-BE49-F238E27FC236}">
                <a16:creationId xmlns:a16="http://schemas.microsoft.com/office/drawing/2014/main" id="{4A7FB097-0A66-4A7D-94DD-57B688C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默认配置：评价时段：全天</a:t>
            </a:r>
          </a:p>
        </p:txBody>
      </p:sp>
      <p:sp>
        <p:nvSpPr>
          <p:cNvPr id="6" name="误差（次/小时）">
            <a:extLst xmlns:a="http://schemas.openxmlformats.org/drawingml/2006/main">
              <a:ext uri="{FF2B5EF4-FFF2-40B4-BE49-F238E27FC236}">
                <a16:creationId xmlns:a16="http://schemas.microsoft.com/office/drawing/2014/main" id="{74B56803-28EF-45D7-B3CC-3D40AC1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误差（次/小时）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a0c7b237cf4846"/>
          </a:graphicData>
        </a:graphic>
      </p:graphicFrame>
      <p:sp>
        <p:nvSpPr>
          <p:cNvPr id="8" name="4376个公开测试小时按所选时段筛选。">
            <a:extLst xmlns:a="http://schemas.openxmlformats.org/drawingml/2006/main">
              <a:ext uri="{FF2B5EF4-FFF2-40B4-BE49-F238E27FC236}">
                <a16:creationId xmlns:a16="http://schemas.microsoft.com/office/drawing/2014/main" id="{02F4428D-CEDD-4541-8CB4-6400C20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4376个公开测试小时按所选时段筛选。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D3E5F330-633D-413B-A01C-3D3EE238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8c5b8d8a8d44cc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613650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重点时段低估的运营含义">
            <a:extLst xmlns:a="http://schemas.openxmlformats.org/drawingml/2006/main">
              <a:ext uri="{FF2B5EF4-FFF2-40B4-BE49-F238E27FC236}">
                <a16:creationId xmlns:a16="http://schemas.microsoft.com/office/drawing/2014/main" id="{FBEC54F4-F744-4938-B938-8C78786E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重点时段低估的运营含义</a:t>
            </a:r>
          </a:p>
        </p:txBody>
      </p:sp>
      <p:sp>
        <p:nvSpPr>
          <p:cNvPr id="2" name="第4章 交通表格型数据分析   4.7">
            <a:extLst xmlns:a="http://schemas.openxmlformats.org/drawingml/2006/main">
              <a:ext uri="{FF2B5EF4-FFF2-40B4-BE49-F238E27FC236}">
                <a16:creationId xmlns:a16="http://schemas.microsoft.com/office/drawing/2014/main" id="{0DD914C3-92DD-488C-9A09-63EF33E8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4.7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57B8A625-9B39-48CC-B004-DAF7A858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低估诊断应保留逐小时误差的方向。">
            <a:extLst xmlns:a="http://schemas.openxmlformats.org/drawingml/2006/main">
              <a:ext uri="{FF2B5EF4-FFF2-40B4-BE49-F238E27FC236}">
                <a16:creationId xmlns:a16="http://schemas.microsoft.com/office/drawing/2014/main" id="{77164B38-B6CE-435D-914B-67D58C21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低估诊断应保留逐小时误差的方向。</a:t>
            </a:r>
          </a:p>
        </p:txBody>
      </p:sp>
      <p:sp>
        <p:nvSpPr>
          <p:cNvPr id="5" name="未抵消低估量只累计max(实测−预测,0)，不让另一">
            <a:extLst xmlns:a="http://schemas.openxmlformats.org/drawingml/2006/main">
              <a:ext uri="{FF2B5EF4-FFF2-40B4-BE49-F238E27FC236}">
                <a16:creationId xmlns:a16="http://schemas.microsoft.com/office/drawing/2014/main" id="{7B19E2E0-A228-4FAE-9A69-351C3B6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未抵消低估量只累计max(实测−预测,0)，不让另一小时的高估抵消本小时低估。</a:t>
            </a:r>
          </a:p>
        </p:txBody>
      </p:sp>
      <p:sp>
        <p:nvSpPr>
          <p:cNvPr id="6" name="这个累计量是模型误差诊断，不能称为缺车次数或流失需求">
            <a:extLst xmlns:a="http://schemas.openxmlformats.org/drawingml/2006/main">
              <a:ext uri="{FF2B5EF4-FFF2-40B4-BE49-F238E27FC236}">
                <a16:creationId xmlns:a16="http://schemas.microsoft.com/office/drawing/2014/main" id="{95F160B8-8D4D-46D2-9D18-C6751957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这个累计量是模型误差诊断，不能称为缺车次数或流失需求。观测租借量本身可能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受到供给约束。</a:t>
            </a:r>
          </a:p>
        </p:txBody>
      </p:sp>
      <p:sp>
        <p:nvSpPr>
          <p:cNvPr id="7" name="课堂讨论：哪个时段应优先补充库存与服务可用性记录？">
            <a:extLst xmlns:a="http://schemas.openxmlformats.org/drawingml/2006/main">
              <a:ext uri="{FF2B5EF4-FFF2-40B4-BE49-F238E27FC236}">
                <a16:creationId xmlns:a16="http://schemas.microsoft.com/office/drawing/2014/main" id="{F3B17D5B-6147-466B-9BB4-6BC5860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课堂讨论：哪个时段应优先补充库存与服务可用性记录？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434D5E65-AE5E-4A2F-8E83-B5491E37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6f0bddc1b74686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2886636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重点时段低估的运营含义：计算结果">
            <a:extLst xmlns:a="http://schemas.openxmlformats.org/drawingml/2006/main">
              <a:ext uri="{FF2B5EF4-FFF2-40B4-BE49-F238E27FC236}">
                <a16:creationId xmlns:a16="http://schemas.microsoft.com/office/drawing/2014/main" id="{0C9BDDB7-8A25-40D1-8B5B-A62EB29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重点时段低估的运营含义：计算结果</a:t>
            </a:r>
          </a:p>
        </p:txBody>
      </p:sp>
      <p:sp>
        <p:nvSpPr>
          <p:cNvPr id="2" name="第4章 交通表格型数据分析   4.7">
            <a:extLst xmlns:a="http://schemas.openxmlformats.org/drawingml/2006/main">
              <a:ext uri="{FF2B5EF4-FFF2-40B4-BE49-F238E27FC236}">
                <a16:creationId xmlns:a16="http://schemas.microsoft.com/office/drawing/2014/main" id="{D74D4CDB-05CE-4515-89F9-4DC0291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4.7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9B08CF3B-4341-4766-8465-9203C35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冻结预测误差重新汇总">
            <a:extLst xmlns:a="http://schemas.openxmlformats.org/drawingml/2006/main">
              <a:ext uri="{FF2B5EF4-FFF2-40B4-BE49-F238E27FC236}">
                <a16:creationId xmlns:a16="http://schemas.microsoft.com/office/drawing/2014/main" id="{75058D08-152C-4956-B620-744C246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冻结预测误差重新汇总</a:t>
            </a:r>
          </a:p>
        </p:txBody>
      </p:sp>
      <p:sp>
        <p:nvSpPr>
          <p:cNvPr id="5" name="默认配置：评价时段：全天">
            <a:extLst xmlns:a="http://schemas.openxmlformats.org/drawingml/2006/main">
              <a:ext uri="{FF2B5EF4-FFF2-40B4-BE49-F238E27FC236}">
                <a16:creationId xmlns:a16="http://schemas.microsoft.com/office/drawing/2014/main" id="{017310D4-71BF-4AA0-8FE2-DD880CB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默认配置：评价时段：全天</a:t>
            </a:r>
          </a:p>
        </p:txBody>
      </p:sp>
      <p:sp>
        <p:nvSpPr>
          <p:cNvPr id="6" name="累计低估（次）">
            <a:extLst xmlns:a="http://schemas.openxmlformats.org/drawingml/2006/main">
              <a:ext uri="{FF2B5EF4-FFF2-40B4-BE49-F238E27FC236}">
                <a16:creationId xmlns:a16="http://schemas.microsoft.com/office/drawing/2014/main" id="{85DDAC0B-666F-4A79-9C80-5F391E3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累计低估（次）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1b3dad47364c89"/>
          </a:graphicData>
        </a:graphic>
      </p:graphicFrame>
      <p:sp>
        <p:nvSpPr>
          <p:cNvPr id="8" name="仅在被评价小时上累计模型低估。">
            <a:extLst xmlns:a="http://schemas.openxmlformats.org/drawingml/2006/main">
              <a:ext uri="{FF2B5EF4-FFF2-40B4-BE49-F238E27FC236}">
                <a16:creationId xmlns:a16="http://schemas.microsoft.com/office/drawing/2014/main" id="{80502727-EF49-4B01-B3F0-87A88FBC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仅在被评价小时上累计模型低估。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840CF8A6-93FC-449A-95AA-F91C32D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ac66eb7e694230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6122805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大量零值与混合机制">
            <a:extLst xmlns:a="http://schemas.openxmlformats.org/drawingml/2006/main">
              <a:ext uri="{FF2B5EF4-FFF2-40B4-BE49-F238E27FC236}">
                <a16:creationId xmlns:a16="http://schemas.microsoft.com/office/drawing/2014/main" id="{2AA529C7-8308-4DAA-9EBD-5EC6DA9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大量零值与混合机制</a:t>
            </a:r>
          </a:p>
        </p:txBody>
      </p:sp>
      <p:sp>
        <p:nvSpPr>
          <p:cNvPr id="2" name="第4章 交通表格型数据分析   4.6">
            <a:extLst xmlns:a="http://schemas.openxmlformats.org/drawingml/2006/main">
              <a:ext uri="{FF2B5EF4-FFF2-40B4-BE49-F238E27FC236}">
                <a16:creationId xmlns:a16="http://schemas.microsoft.com/office/drawing/2014/main" id="{6A1C130E-B9A8-42CF-8D9C-F0ADB97C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4.6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2FD9EB2B-49A0-422C-B99A-518EC736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零值可能来自不同的交通过程。">
            <a:extLst xmlns:a="http://schemas.openxmlformats.org/drawingml/2006/main">
              <a:ext uri="{FF2B5EF4-FFF2-40B4-BE49-F238E27FC236}">
                <a16:creationId xmlns:a16="http://schemas.microsoft.com/office/drawing/2014/main" id="{75208155-BF69-454C-90D5-F347DC9A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零值可能来自不同的交通过程。</a:t>
            </a:r>
          </a:p>
        </p:txBody>
      </p:sp>
      <p:sp>
        <p:nvSpPr>
          <p:cNvPr id="5" name="P(Y=0) = π + (1−π) exp(−μ)">
            <a:extLst xmlns:a="http://schemas.openxmlformats.org/drawingml/2006/main">
              <a:ext uri="{FF2B5EF4-FFF2-40B4-BE49-F238E27FC236}">
                <a16:creationId xmlns:a16="http://schemas.microsoft.com/office/drawing/2014/main" id="{CC9A36D1-EE1A-4A16-91A1-D01F158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P(Y=0) = π + (1−π) exp(−μ)</a:t>
            </a:r>
          </a:p>
        </p:txBody>
      </p:sp>
      <p:sp>
        <p:nvSpPr>
          <p:cNvPr id="6" name="Y：观察期出行次数。P(Y=0)：零次概率。π：结构">
            <a:extLst xmlns:a="http://schemas.openxmlformats.org/drawingml/2006/main">
              <a:ext uri="{FF2B5EF4-FFF2-40B4-BE49-F238E27FC236}">
                <a16:creationId xmlns:a16="http://schemas.microsoft.com/office/drawing/2014/main" id="{7D8BA8BD-D91E-415C-A59C-FAC0A93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Y：观察期出行次数。P(Y=0)：零次概率。π：结构零概率。μ：泊松过程均值。exp：指数函数。本页仅说明ZIP机制。</a:t>
            </a:r>
          </a:p>
        </p:txBody>
      </p:sp>
      <p:sp>
        <p:nvSpPr>
          <p:cNvPr id="7" name="零公交出行可来自未选择公交，也可来自某观察期内恰好没">
            <a:extLst xmlns:a="http://schemas.openxmlformats.org/drawingml/2006/main">
              <a:ext uri="{FF2B5EF4-FFF2-40B4-BE49-F238E27FC236}">
                <a16:creationId xmlns:a16="http://schemas.microsoft.com/office/drawing/2014/main" id="{B9A494F4-18C0-425A-B2C1-7ED9479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零公交出行可来自未选择公交，也可来自某观察期内恰好没有出行。零膨胀模型把两个机制组合起来。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6FED3E30-0004-424D-8F48-1710A7A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95020a7f6f4d2e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8894511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系数与交通工程结论">
            <a:extLst xmlns:a="http://schemas.openxmlformats.org/drawingml/2006/main">
              <a:ext uri="{FF2B5EF4-FFF2-40B4-BE49-F238E27FC236}">
                <a16:creationId xmlns:a16="http://schemas.microsoft.com/office/drawing/2014/main" id="{AB3FD285-BE40-49D8-B748-ACD470F2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系数与交通工程结论</a:t>
            </a:r>
          </a:p>
        </p:txBody>
      </p:sp>
      <p:sp>
        <p:nvSpPr>
          <p:cNvPr id="2" name="第4章 交通表格型数据分析   4.7">
            <a:extLst xmlns:a="http://schemas.openxmlformats.org/drawingml/2006/main">
              <a:ext uri="{FF2B5EF4-FFF2-40B4-BE49-F238E27FC236}">
                <a16:creationId xmlns:a16="http://schemas.microsoft.com/office/drawing/2014/main" id="{4E856C3B-48AC-4F3A-9F82-0EBBE7FE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4.7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402EA061-9863-484B-84B0-AAF8EA8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统计关联需要保留条件与尺度。">
            <a:extLst xmlns:a="http://schemas.openxmlformats.org/drawingml/2006/main">
              <a:ext uri="{FF2B5EF4-FFF2-40B4-BE49-F238E27FC236}">
                <a16:creationId xmlns:a16="http://schemas.microsoft.com/office/drawing/2014/main" id="{25ACCCCD-58DF-4BBA-800A-C6687D6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统计关联需要保留条件与尺度。</a:t>
            </a:r>
          </a:p>
        </p:txBody>
      </p:sp>
      <p:sp>
        <p:nvSpPr>
          <p:cNvPr id="5" name="标准化气温系数对应增加一个训练期标准差，不能直接解释">
            <a:extLst xmlns:a="http://schemas.openxmlformats.org/drawingml/2006/main">
              <a:ext uri="{FF2B5EF4-FFF2-40B4-BE49-F238E27FC236}">
                <a16:creationId xmlns:a16="http://schemas.microsoft.com/office/drawing/2014/main" id="{652C7115-5416-49C5-AAF8-0B8E327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标准化气温系数对应增加一个训练期标准差，不能直接解释为增加1°C。</a:t>
            </a:r>
          </a:p>
        </p:txBody>
      </p:sp>
      <p:sp>
        <p:nvSpPr>
          <p:cNvPr id="6" name="天气与季节、小时等变量相关，系数不能直接当作改变交通">
            <a:extLst xmlns:a="http://schemas.openxmlformats.org/drawingml/2006/main">
              <a:ext uri="{FF2B5EF4-FFF2-40B4-BE49-F238E27FC236}">
                <a16:creationId xmlns:a16="http://schemas.microsoft.com/office/drawing/2014/main" id="{B37F6EB5-BC55-4956-9E93-F0A3FB81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天气与季节、小时等变量相关，系数不能直接当作改变交通政策后的因果效果。</a:t>
            </a:r>
          </a:p>
        </p:txBody>
      </p:sp>
      <p:sp>
        <p:nvSpPr>
          <p:cNvPr id="7" name="课堂讨论：报告中的“影响”一词，何时应改为“条件关联">
            <a:extLst xmlns:a="http://schemas.openxmlformats.org/drawingml/2006/main">
              <a:ext uri="{FF2B5EF4-FFF2-40B4-BE49-F238E27FC236}">
                <a16:creationId xmlns:a16="http://schemas.microsoft.com/office/drawing/2014/main" id="{A5202219-4CB6-49F4-AA6C-B133357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课堂讨论：报告中的“影响”一词，何时应改为“条件关联”？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467F85D6-898B-465D-86A0-9D78DFD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c5d5687a43440c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4203732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高峰误差的代码复核">
            <a:extLst xmlns:a="http://schemas.openxmlformats.org/drawingml/2006/main">
              <a:ext uri="{FF2B5EF4-FFF2-40B4-BE49-F238E27FC236}">
                <a16:creationId xmlns:a16="http://schemas.microsoft.com/office/drawing/2014/main" id="{8BEC9C6A-B2BD-4887-8F0C-E08AACA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高峰误差的代码复核</a:t>
            </a:r>
          </a:p>
        </p:txBody>
      </p:sp>
      <p:sp>
        <p:nvSpPr>
          <p:cNvPr id="2" name="第4章 交通表格型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9405417E-D183-4D35-AEB3-E951F542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综合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9F09FE32-BA58-4FF4-A525-D16C188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修改评价时段，观察结果是否与交通问题一致。">
            <a:extLst xmlns:a="http://schemas.openxmlformats.org/drawingml/2006/main">
              <a:ext uri="{FF2B5EF4-FFF2-40B4-BE49-F238E27FC236}">
                <a16:creationId xmlns:a16="http://schemas.microsoft.com/office/drawing/2014/main" id="{A8233CC8-57DD-45BF-9F39-1187E97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修改评价时段，观察结果是否与交通问题一致。</a:t>
            </a:r>
          </a:p>
        </p:txBody>
      </p:sp>
      <p:sp>
        <p:nvSpPr>
          <p:cNvPr id="5" name="// JavaScript：本机实际执行，可修改参数">
            <a:extLst xmlns:a="http://schemas.openxmlformats.org/drawingml/2006/main">
              <a:ext uri="{FF2B5EF4-FFF2-40B4-BE49-F238E27FC236}">
                <a16:creationId xmlns:a16="http://schemas.microsoft.com/office/drawing/2014/main" id="{C60D1F34-5AD8-49C3-8FC0-8D3085A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JavaScript：本机实际执行，可修改参数。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data为本章真实快照；runLab为公开计算模块。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const result = runLab("bike-models", data, {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"period": "morning"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print(result.columns);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print(result.rows);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print(result.note);</a:t>
            </a:r>
          </a:p>
        </p:txBody>
      </p:sp>
      <p:sp>
        <p:nvSpPr>
          <p:cNvPr id="6" name="JavaScript在网页中实际执行。&#10;&#10;Pytho">
            <a:extLst xmlns:a="http://schemas.openxmlformats.org/drawingml/2006/main">
              <a:ext uri="{FF2B5EF4-FFF2-40B4-BE49-F238E27FC236}">
                <a16:creationId xmlns:a16="http://schemas.microsoft.com/office/drawing/2014/main" id="{D2C64F0E-3CA9-4C0F-B881-4B2942E6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285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JavaScript在网页中实际执行。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Python模型训练使用本章完整工作本。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5E353C39-85AC-496B-8C14-308249D1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fef591662144e7"/>
              </a:rPr>
              <a:t>打开代码编辑器，修改参数并运行</a:t>
            </a:r>
          </a:p>
        </p:txBody>
      </p:sp>
    </p:spTree>
    <p:extLst>
      <p:ext uri="{BB962C8B-B14F-4D97-AF65-F5344CB8AC3E}">
        <p14:creationId xmlns:p14="http://schemas.microsoft.com/office/powerpoint/2010/main" val="15971167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分时服务量估计报告">
            <a:extLst xmlns:a="http://schemas.openxmlformats.org/drawingml/2006/main">
              <a:ext uri="{FF2B5EF4-FFF2-40B4-BE49-F238E27FC236}">
                <a16:creationId xmlns:a16="http://schemas.microsoft.com/office/drawing/2014/main" id="{2183073F-D5E2-4609-8D2D-A381E209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分时服务量估计报告</a:t>
            </a:r>
          </a:p>
        </p:txBody>
      </p:sp>
      <p:sp>
        <p:nvSpPr>
          <p:cNvPr id="2" name="第4章 交通表格型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5C6244D8-B8CC-49CF-9343-741189C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   综合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07F71186-E203-4948-AB5B-A2129FBA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报告应同时呈现方法与运营边界。">
            <a:extLst xmlns:a="http://schemas.openxmlformats.org/drawingml/2006/main">
              <a:ext uri="{FF2B5EF4-FFF2-40B4-BE49-F238E27FC236}">
                <a16:creationId xmlns:a16="http://schemas.microsoft.com/office/drawing/2014/main" id="{990203B6-FFB4-4F5C-AF0A-994BA30E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报告应同时呈现方法与运营边界。</a:t>
            </a:r>
          </a:p>
        </p:txBody>
      </p:sp>
      <p:sp>
        <p:nvSpPr>
          <p:cNvPr id="5" name="比较三个模型在全日、07—09时和16—18时的成绩">
            <a:extLst xmlns:a="http://schemas.openxmlformats.org/drawingml/2006/main">
              <a:ext uri="{FF2B5EF4-FFF2-40B4-BE49-F238E27FC236}">
                <a16:creationId xmlns:a16="http://schemas.microsoft.com/office/drawing/2014/main" id="{2E1ABCCB-C132-4218-9AD5-E8977625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比较三个模型在全日、07—09时和16—18时的成绩，复核一个明显失败小时。</a:t>
            </a:r>
          </a:p>
        </p:txBody>
      </p:sp>
      <p:sp>
        <p:nvSpPr>
          <p:cNvPr id="6" name="结合站点库存、借还方向和可用车辆资料提出下一步调查要">
            <a:extLst xmlns:a="http://schemas.openxmlformats.org/drawingml/2006/main">
              <a:ext uri="{FF2B5EF4-FFF2-40B4-BE49-F238E27FC236}">
                <a16:creationId xmlns:a16="http://schemas.microsoft.com/office/drawing/2014/main" id="{9B431EBB-F662-4B93-87DC-558AB8CB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结合站点库存、借还方向和可用车辆资料提出下一步调查要求，不直接给调运指令。</a:t>
            </a:r>
          </a:p>
        </p:txBody>
      </p:sp>
      <p:sp>
        <p:nvSpPr>
          <p:cNvPr id="7" name="课堂讨论：你能否给出一个有证据支持、但不过度外推的服">
            <a:extLst xmlns:a="http://schemas.openxmlformats.org/drawingml/2006/main">
              <a:ext uri="{FF2B5EF4-FFF2-40B4-BE49-F238E27FC236}">
                <a16:creationId xmlns:a16="http://schemas.microsoft.com/office/drawing/2014/main" id="{34E93A1A-C462-49BB-8CC0-E270D23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课堂讨论：你能否给出一个有证据支持、但不过度外推的服务准备建议？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8EFE593-3797-4F07-9AF1-EC5FC899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ee740655f5e4873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8035139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课程资源与数据来源">
            <a:extLst xmlns:a="http://schemas.openxmlformats.org/drawingml/2006/main">
              <a:ext uri="{FF2B5EF4-FFF2-40B4-BE49-F238E27FC236}">
                <a16:creationId xmlns:a16="http://schemas.microsoft.com/office/drawing/2014/main" id="{BA4E8FAD-28BC-4D36-B254-A459DC6F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课程资源与数据来源</a:t>
            </a:r>
          </a:p>
        </p:txBody>
      </p:sp>
      <p:sp>
        <p:nvSpPr>
          <p:cNvPr id="2" name="第4章 交通表格型数据分析">
            <a:extLst xmlns:a="http://schemas.openxmlformats.org/drawingml/2006/main">
              <a:ext uri="{FF2B5EF4-FFF2-40B4-BE49-F238E27FC236}">
                <a16:creationId xmlns:a16="http://schemas.microsoft.com/office/drawing/2014/main" id="{6A0E0CBA-F6BB-473D-A0CC-F4E6E5A5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第4章 交通表格型数据分析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EBEB469D-0878-412F-9F05-10C674B7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link">
            <a:extLst xmlns:a="http://schemas.openxmlformats.org/drawingml/2006/main">
              <a:ext uri="{FF2B5EF4-FFF2-40B4-BE49-F238E27FC236}">
                <a16:creationId xmlns:a16="http://schemas.microsoft.com/office/drawing/2014/main" id="{4E68C070-57E1-4A79-8DCE-BC52C11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89aa73f9824ac4"/>
              </a:rPr>
              <a:t>本章交互课堂</a:t>
            </a:r>
          </a:p>
        </p:txBody>
      </p:sp>
      <p:sp>
        <p:nvSpPr>
          <p:cNvPr id="5" name="link">
            <a:extLst xmlns:a="http://schemas.openxmlformats.org/drawingml/2006/main">
              <a:ext uri="{FF2B5EF4-FFF2-40B4-BE49-F238E27FC236}">
                <a16:creationId xmlns:a16="http://schemas.microsoft.com/office/drawing/2014/main" id="{12B13C5C-DCB7-4A3C-8A22-8DCFB558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df8c5c04b044f7"/>
              </a:rPr>
              <a:t>本章完整Python项目与工作本</a:t>
            </a:r>
          </a:p>
        </p:txBody>
      </p:sp>
      <p:sp>
        <p:nvSpPr>
          <p:cNvPr id="6" name="link">
            <a:extLst xmlns:a="http://schemas.openxmlformats.org/drawingml/2006/main">
              <a:ext uri="{FF2B5EF4-FFF2-40B4-BE49-F238E27FC236}">
                <a16:creationId xmlns:a16="http://schemas.microsoft.com/office/drawing/2014/main" id="{0E169B25-2F91-4C0B-A272-E0F7C822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5de0e766e59479d"/>
              </a:rPr>
              <a:t>交通工程案例库</a:t>
            </a:r>
          </a:p>
        </p:txBody>
      </p:sp>
      <p:sp>
        <p:nvSpPr>
          <p:cNvPr id="7" name="Hadi Fanaee-T (2013) / UCI">
            <a:extLst xmlns:a="http://schemas.openxmlformats.org/drawingml/2006/main">
              <a:ext uri="{FF2B5EF4-FFF2-40B4-BE49-F238E27FC236}">
                <a16:creationId xmlns:a16="http://schemas.microsoft.com/office/drawing/2014/main" id="{0984427C-8CFA-403D-A2DD-B9BE46B0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Hadi Fanaee-T (2013) / UCI Bike Sharing，CC BY 4.0</a:t>
            </a:r>
          </a:p>
        </p:txBody>
      </p:sp>
      <p:sp>
        <p:nvSpPr>
          <p:cNvPr id="8" name="输入范围、数据处理与许可详见课堂说明。&#10;课堂代码MI">
            <a:extLst xmlns:a="http://schemas.openxmlformats.org/drawingml/2006/main">
              <a:ext uri="{FF2B5EF4-FFF2-40B4-BE49-F238E27FC236}">
                <a16:creationId xmlns:a16="http://schemas.microsoft.com/office/drawing/2014/main" id="{A3E38D85-9F7D-4752-9008-F00B244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输入范围、数据处理与许可详见课堂说明。</a:t>
            </a:r>
          </a:p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课堂代码MIT，原创讲解CC BY-SA 4.0，第三方材料保留原许可。</a:t>
            </a:r>
          </a:p>
        </p:txBody>
      </p:sp>
    </p:spTree>
    <p:extLst>
      <p:ext uri="{BB962C8B-B14F-4D97-AF65-F5344CB8AC3E}">
        <p14:creationId xmlns:p14="http://schemas.microsoft.com/office/powerpoint/2010/main" val="1391103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2026-09-17T02:42:48.6870000Z</dcterms:created>
  <dcterms:modified xsi:type="dcterms:W3CDTF">2026-09-17T02:42:48.6870000Z</dcterms:modified>
</coreProperties>
</file>