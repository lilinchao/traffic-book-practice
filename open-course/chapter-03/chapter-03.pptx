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4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c71e4794b54877" /><Relationship Type="http://schemas.openxmlformats.org/officeDocument/2006/relationships/extended-properties" Target="/docProps/app.xml" Id="R62afa5427b224036" /><Relationship Type="http://schemas.openxmlformats.org/officeDocument/2006/relationships/officeDocument" Target="/ppt/presentation.xml" Id="R1040baa37c7047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01b3b8ad90480d"/>
  </p:sldMasterIdLst>
  <p:notesMasterIdLst>
    <p:notesMasterId xmlns:r="http://schemas.openxmlformats.org/officeDocument/2006/relationships" r:id="R87a9c7e6a1064473"/>
  </p:notesMasterIdLst>
  <p:sldIdLst>
    <p:sldId xmlns:r="http://schemas.openxmlformats.org/officeDocument/2006/relationships" id="256" r:id="Rc3f867e1b7544689"/>
    <p:sldId xmlns:r="http://schemas.openxmlformats.org/officeDocument/2006/relationships" id="257" r:id="Rd87ea5eec47f4322"/>
    <p:sldId xmlns:r="http://schemas.openxmlformats.org/officeDocument/2006/relationships" id="258" r:id="Rdf79d3f62b9a4384"/>
    <p:sldId xmlns:r="http://schemas.openxmlformats.org/officeDocument/2006/relationships" id="259" r:id="Rd267932941464d9f"/>
    <p:sldId xmlns:r="http://schemas.openxmlformats.org/officeDocument/2006/relationships" id="260" r:id="R9f46b0adb68b438e"/>
    <p:sldId xmlns:r="http://schemas.openxmlformats.org/officeDocument/2006/relationships" id="261" r:id="Rd2cbd85383884a5c"/>
    <p:sldId xmlns:r="http://schemas.openxmlformats.org/officeDocument/2006/relationships" id="262" r:id="R27825155afc2416b"/>
    <p:sldId xmlns:r="http://schemas.openxmlformats.org/officeDocument/2006/relationships" id="263" r:id="Ree87645b9d064e97"/>
    <p:sldId xmlns:r="http://schemas.openxmlformats.org/officeDocument/2006/relationships" id="264" r:id="R7cd63e5a2fa44e99"/>
    <p:sldId xmlns:r="http://schemas.openxmlformats.org/officeDocument/2006/relationships" id="265" r:id="R11549aa091c34136"/>
    <p:sldId xmlns:r="http://schemas.openxmlformats.org/officeDocument/2006/relationships" id="266" r:id="Re69516c27e334ed6"/>
    <p:sldId xmlns:r="http://schemas.openxmlformats.org/officeDocument/2006/relationships" id="267" r:id="Re246bbcaec80428d"/>
    <p:sldId xmlns:r="http://schemas.openxmlformats.org/officeDocument/2006/relationships" id="268" r:id="R063c29888cf6442a"/>
    <p:sldId xmlns:r="http://schemas.openxmlformats.org/officeDocument/2006/relationships" id="269" r:id="R30879d30788d4e04"/>
    <p:sldId xmlns:r="http://schemas.openxmlformats.org/officeDocument/2006/relationships" id="270" r:id="R4b641b1158764a4e"/>
    <p:sldId xmlns:r="http://schemas.openxmlformats.org/officeDocument/2006/relationships" id="271" r:id="R8e41c55be58b4e02"/>
    <p:sldId xmlns:r="http://schemas.openxmlformats.org/officeDocument/2006/relationships" id="272" r:id="Rebfbb36a0d5a46e2"/>
    <p:sldId xmlns:r="http://schemas.openxmlformats.org/officeDocument/2006/relationships" id="273" r:id="R0c8cf713e7bf42e6"/>
    <p:sldId xmlns:r="http://schemas.openxmlformats.org/officeDocument/2006/relationships" id="274" r:id="Rc4f0029382734c15"/>
    <p:sldId xmlns:r="http://schemas.openxmlformats.org/officeDocument/2006/relationships" id="275" r:id="R61f39147cb5345f8"/>
    <p:sldId xmlns:r="http://schemas.openxmlformats.org/officeDocument/2006/relationships" id="276" r:id="R6bd52ac3b0b540a7"/>
    <p:sldId xmlns:r="http://schemas.openxmlformats.org/officeDocument/2006/relationships" id="277" r:id="Rd503377b04a046ed"/>
    <p:sldId xmlns:r="http://schemas.openxmlformats.org/officeDocument/2006/relationships" id="278" r:id="Re03e9cf53bf5439e"/>
    <p:sldId xmlns:r="http://schemas.openxmlformats.org/officeDocument/2006/relationships" id="279" r:id="R7b34b6e733a544b5"/>
    <p:sldId xmlns:r="http://schemas.openxmlformats.org/officeDocument/2006/relationships" id="280" r:id="R451ec09d89434919"/>
    <p:sldId xmlns:r="http://schemas.openxmlformats.org/officeDocument/2006/relationships" id="281" r:id="R40e368b233da4c0f"/>
    <p:sldId xmlns:r="http://schemas.openxmlformats.org/officeDocument/2006/relationships" id="282" r:id="R5ea35d5cdec344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21e8a96dc94707" /><Relationship Type="http://schemas.openxmlformats.org/officeDocument/2006/relationships/slideMaster" Target="/ppt/slideMasters/slideMaster1.xml" Id="Rc201b3b8ad90480d" /><Relationship Type="http://schemas.openxmlformats.org/officeDocument/2006/relationships/notesMaster" Target="/ppt/notesMasters/notesMaster1.xml" Id="R87a9c7e6a1064473" /><Relationship Type="http://schemas.openxmlformats.org/officeDocument/2006/relationships/presProps" Target="/ppt/presProps.xml" Id="R99160cb69a7a4ec0" /><Relationship Type="http://schemas.openxmlformats.org/officeDocument/2006/relationships/tableStyles" Target="/ppt/tableStyles.xml" Id="R92d30e3036684130" /><Relationship Type="http://schemas.openxmlformats.org/officeDocument/2006/relationships/slide" Target="/ppt/slides/slide1.xml" Id="Rc3f867e1b7544689" /><Relationship Type="http://schemas.openxmlformats.org/officeDocument/2006/relationships/slide" Target="/ppt/slides/slide2.xml" Id="Rd87ea5eec47f4322" /><Relationship Type="http://schemas.openxmlformats.org/officeDocument/2006/relationships/slide" Target="/ppt/slides/slide3.xml" Id="Rdf79d3f62b9a4384" /><Relationship Type="http://schemas.openxmlformats.org/officeDocument/2006/relationships/slide" Target="/ppt/slides/slide4.xml" Id="Rd267932941464d9f" /><Relationship Type="http://schemas.openxmlformats.org/officeDocument/2006/relationships/slide" Target="/ppt/slides/slide5.xml" Id="R9f46b0adb68b438e" /><Relationship Type="http://schemas.openxmlformats.org/officeDocument/2006/relationships/slide" Target="/ppt/slides/slide6.xml" Id="Rd2cbd85383884a5c" /><Relationship Type="http://schemas.openxmlformats.org/officeDocument/2006/relationships/slide" Target="/ppt/slides/slide7.xml" Id="R27825155afc2416b" /><Relationship Type="http://schemas.openxmlformats.org/officeDocument/2006/relationships/slide" Target="/ppt/slides/slide8.xml" Id="Ree87645b9d064e97" /><Relationship Type="http://schemas.openxmlformats.org/officeDocument/2006/relationships/slide" Target="/ppt/slides/slide9.xml" Id="R7cd63e5a2fa44e99" /><Relationship Type="http://schemas.openxmlformats.org/officeDocument/2006/relationships/slide" Target="/ppt/slides/slide10.xml" Id="R11549aa091c34136" /><Relationship Type="http://schemas.openxmlformats.org/officeDocument/2006/relationships/slide" Target="/ppt/slides/slide11.xml" Id="Re69516c27e334ed6" /><Relationship Type="http://schemas.openxmlformats.org/officeDocument/2006/relationships/slide" Target="/ppt/slides/slide12.xml" Id="Re246bbcaec80428d" /><Relationship Type="http://schemas.openxmlformats.org/officeDocument/2006/relationships/slide" Target="/ppt/slides/slide13.xml" Id="R063c29888cf6442a" /><Relationship Type="http://schemas.openxmlformats.org/officeDocument/2006/relationships/slide" Target="/ppt/slides/slide14.xml" Id="R30879d30788d4e04" /><Relationship Type="http://schemas.openxmlformats.org/officeDocument/2006/relationships/slide" Target="/ppt/slides/slide15.xml" Id="R4b641b1158764a4e" /><Relationship Type="http://schemas.openxmlformats.org/officeDocument/2006/relationships/slide" Target="/ppt/slides/slide16.xml" Id="R8e41c55be58b4e02" /><Relationship Type="http://schemas.openxmlformats.org/officeDocument/2006/relationships/slide" Target="/ppt/slides/slide17.xml" Id="Rebfbb36a0d5a46e2" /><Relationship Type="http://schemas.openxmlformats.org/officeDocument/2006/relationships/slide" Target="/ppt/slides/slide18.xml" Id="R0c8cf713e7bf42e6" /><Relationship Type="http://schemas.openxmlformats.org/officeDocument/2006/relationships/slide" Target="/ppt/slides/slide19.xml" Id="Rc4f0029382734c15" /><Relationship Type="http://schemas.openxmlformats.org/officeDocument/2006/relationships/slide" Target="/ppt/slides/slide20.xml" Id="R61f39147cb5345f8" /><Relationship Type="http://schemas.openxmlformats.org/officeDocument/2006/relationships/slide" Target="/ppt/slides/slide21.xml" Id="R6bd52ac3b0b540a7" /><Relationship Type="http://schemas.openxmlformats.org/officeDocument/2006/relationships/slide" Target="/ppt/slides/slide22.xml" Id="Rd503377b04a046ed" /><Relationship Type="http://schemas.openxmlformats.org/officeDocument/2006/relationships/slide" Target="/ppt/slides/slide23.xml" Id="Re03e9cf53bf5439e" /><Relationship Type="http://schemas.openxmlformats.org/officeDocument/2006/relationships/slide" Target="/ppt/slides/slide24.xml" Id="R7b34b6e733a544b5" /><Relationship Type="http://schemas.openxmlformats.org/officeDocument/2006/relationships/slide" Target="/ppt/slides/slide25.xml" Id="R451ec09d89434919" /><Relationship Type="http://schemas.openxmlformats.org/officeDocument/2006/relationships/slide" Target="/ppt/slides/slide26.xml" Id="R40e368b233da4c0f" /><Relationship Type="http://schemas.openxmlformats.org/officeDocument/2006/relationships/slide" Target="/ppt/slides/slide27.xml" Id="R5ea35d5cdec344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fddd8e682245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e9668a1ddb4474" /><Relationship Type="http://schemas.openxmlformats.org/officeDocument/2006/relationships/notesMaster" Target="/ppt/notesMasters/notesMaster1.xml" Id="Rca809a53e4534e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382498a42d4cb0" /><Relationship Type="http://schemas.openxmlformats.org/officeDocument/2006/relationships/notesMaster" Target="/ppt/notesMasters/notesMaster1.xml" Id="Re2d3ed10d2ac4c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3352fde2404637" /><Relationship Type="http://schemas.openxmlformats.org/officeDocument/2006/relationships/notesMaster" Target="/ppt/notesMasters/notesMaster1.xml" Id="Re526a9bcdc504e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b0ea9789234e6f" /><Relationship Type="http://schemas.openxmlformats.org/officeDocument/2006/relationships/notesMaster" Target="/ppt/notesMasters/notesMaster1.xml" Id="Rfda8e4f549cd48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83b797e59c42fd" /><Relationship Type="http://schemas.openxmlformats.org/officeDocument/2006/relationships/notesMaster" Target="/ppt/notesMasters/notesMaster1.xml" Id="Rcac9a77cc14840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b9ff7176754280" /><Relationship Type="http://schemas.openxmlformats.org/officeDocument/2006/relationships/notesMaster" Target="/ppt/notesMasters/notesMaster1.xml" Id="R864747a24fef49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2498ca47734157" /><Relationship Type="http://schemas.openxmlformats.org/officeDocument/2006/relationships/notesMaster" Target="/ppt/notesMasters/notesMaster1.xml" Id="R2b688ef628184d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07b735a99e43c0" /><Relationship Type="http://schemas.openxmlformats.org/officeDocument/2006/relationships/notesMaster" Target="/ppt/notesMasters/notesMaster1.xml" Id="R0af0b1be55394c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8edc500dd14798" /><Relationship Type="http://schemas.openxmlformats.org/officeDocument/2006/relationships/notesMaster" Target="/ppt/notesMasters/notesMaster1.xml" Id="R37b28a8f7c6542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c97d51207d4754" /><Relationship Type="http://schemas.openxmlformats.org/officeDocument/2006/relationships/notesMaster" Target="/ppt/notesMasters/notesMaster1.xml" Id="Rd749f765d33544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cfa3fd7ba943e9" /><Relationship Type="http://schemas.openxmlformats.org/officeDocument/2006/relationships/notesMaster" Target="/ppt/notesMasters/notesMaster1.xml" Id="Ra35bb26e7e004c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33676655814d74" /><Relationship Type="http://schemas.openxmlformats.org/officeDocument/2006/relationships/notesMaster" Target="/ppt/notesMasters/notesMaster1.xml" Id="R3add664aa282416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8fba59706a4ca9" /><Relationship Type="http://schemas.openxmlformats.org/officeDocument/2006/relationships/notesMaster" Target="/ppt/notesMasters/notesMaster1.xml" Id="R10c8d4d5255341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2e4c55383d4b6c" /><Relationship Type="http://schemas.openxmlformats.org/officeDocument/2006/relationships/notesMaster" Target="/ppt/notesMasters/notesMaster1.xml" Id="R0f16efbfeb2147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458bb418f8440b3" /><Relationship Type="http://schemas.openxmlformats.org/officeDocument/2006/relationships/notesMaster" Target="/ppt/notesMasters/notesMaster1.xml" Id="Ref6792041b394eb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6f8f38021a540a5" /><Relationship Type="http://schemas.openxmlformats.org/officeDocument/2006/relationships/notesMaster" Target="/ppt/notesMasters/notesMaster1.xml" Id="Rf0457371c5df43b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199ce859e244aee" /><Relationship Type="http://schemas.openxmlformats.org/officeDocument/2006/relationships/notesMaster" Target="/ppt/notesMasters/notesMaster1.xml" Id="R2fa6fc5a1fc84d6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d597fd7a57b4d1a" /><Relationship Type="http://schemas.openxmlformats.org/officeDocument/2006/relationships/notesMaster" Target="/ppt/notesMasters/notesMaster1.xml" Id="Ra6551e3c64d64d4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0691274614549d9" /><Relationship Type="http://schemas.openxmlformats.org/officeDocument/2006/relationships/notesMaster" Target="/ppt/notesMasters/notesMaster1.xml" Id="R9ddd69ecbbfd4ea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2d50a5989c24be5" /><Relationship Type="http://schemas.openxmlformats.org/officeDocument/2006/relationships/notesMaster" Target="/ppt/notesMasters/notesMaster1.xml" Id="R02df8f6efe9442e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8eb909293dd4e6c" /><Relationship Type="http://schemas.openxmlformats.org/officeDocument/2006/relationships/notesMaster" Target="/ppt/notesMasters/notesMaster1.xml" Id="R15099bfe98b3486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ca93c8cd7764990" /><Relationship Type="http://schemas.openxmlformats.org/officeDocument/2006/relationships/notesMaster" Target="/ppt/notesMasters/notesMaster1.xml" Id="Re7edd40a017a47b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597ba6ea0064baa" /><Relationship Type="http://schemas.openxmlformats.org/officeDocument/2006/relationships/notesMaster" Target="/ppt/notesMasters/notesMaster1.xml" Id="Rfab64538cda04ab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e63ef6d16e2412c" /><Relationship Type="http://schemas.openxmlformats.org/officeDocument/2006/relationships/notesMaster" Target="/ppt/notesMasters/notesMaster1.xml" Id="R23be027b4309489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db16196b8344b09" /><Relationship Type="http://schemas.openxmlformats.org/officeDocument/2006/relationships/notesMaster" Target="/ppt/notesMasters/notesMaster1.xml" Id="R1aa03bd15eb445d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22866b5240841f9" /><Relationship Type="http://schemas.openxmlformats.org/officeDocument/2006/relationships/notesMaster" Target="/ppt/notesMasters/notesMaster1.xml" Id="R1c514a031ea84d5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677ad01162948ce" /><Relationship Type="http://schemas.openxmlformats.org/officeDocument/2006/relationships/notesMaster" Target="/ppt/notesMasters/notesMaster1.xml" Id="Ref75556f65854d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本章面向交通运输工程专业。道路早高峰调查需要观测多少天？</a:t>
            </a:r>
          </a:p>
          <a:p xmlns:a="http://schemas.openxmlformats.org/drawingml/2006/main">
            <a:r>
              <a:t>背景为第一章已有课程概念插画，不是I-94、纽约或天津的实地照片。</a:t>
            </a:r>
          </a:p>
          <a:p xmlns:a="http://schemas.openxmlformats.org/drawingml/2006/main">
            <a:r>
              <a:t>建议135分钟讲授与讨论 + 45分钟上机</a:t>
            </a:r>
          </a:p>
          <a:p xmlns:a="http://schemas.openxmlformats.org/drawingml/2006/main">
            <a:r>
              <a:t>课堂：https://lilinchao.github.io/traffic-book-practice/open-course/chapter-03/</a:t>
            </a:r>
          </a:p>
          <a:p xmlns:a="http://schemas.openxmlformats.org/drawingml/2006/main">
            <a:r>
              <a:t>数据：https://archive.ics.uci.edu/dataset/492/metro+interstate+traffic+volume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教学主线：道路早高峰调查需要观测多少天？</a:t>
            </a:r>
          </a:p>
          <a:p xmlns:a="http://schemas.openxmlformats.org/drawingml/2006/main">
            <a:r>
              <a:t>建议135分钟讲授与讨论 + 45分钟上机</a:t>
            </a:r>
          </a:p>
          <a:p xmlns:a="http://schemas.openxmlformats.org/drawingml/2006/main">
            <a:r>
              <a:t>课堂：https://lilinchao.github.io/traffic-book-practice/open-course/chapter-03/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输入哈希：{"chapters/data/ch03.json":"8184a62e638030ef3c029035f6084c5efd73641a00b9119ad7b16724d31cd8ca"}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监测部门希望以部分日期估计该断面的早间交通量。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第二章已完成小时记录整编。本章只使用07、08、09时均有记录的358个日期。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课程指定三小时观察窗口，尚未逐日识别实际高峰。调查结论限定于这一断面与这一时期。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课堂追问：少调查一天节省了工作量，怎样判断估计结果是否仍然可用？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交互课堂：https://lilinchao.github.io/traffic-book-practice/open-course/chapter-03/#mission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输入哈希：{"chapters/data/ch03.json":"8184a62e638030ef3c029035f6084c5efd73641a00b9119ad7b16724d31cd8ca"}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先明确要估计的量，再选择计算方法。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每日三小时均值保持单位为辆/小时，三小时累计量则以辆表示。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以日期为抽样单位，保留同一天三个小时之间的关系。358个完整日期构成文件中的抽样框。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q̄_d = (q_d,07 + q_d,08 + q_d,09) / 3</a:t>
            </a:r>
          </a:p>
          <a:p xmlns:a="http://schemas.openxmlformats.org/drawingml/2006/main">
            <a:r>
              <a:t>q_d,h：第d日h时段交通量，辆/小时。q̄_d：该日指定窗口的平均交通量。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课堂追问：把三个小时当作三个独立日期，会高估多少样本信息？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交互课堂：https://lilinchao.github.io/traffic-book-practice/open-course/chapter-03/#target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输入哈希：{"chapters/data/ch03.json":"8184a62e638030ef3c029035f6084c5efd73641a00b9119ad7b16724d31cd8ca"}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变化率描述曲线在局部如何变化。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相邻日期早间均值之差可以描述日际变化，但不能等同于日内交通流的瞬时变化率。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导数适用于可微函数。离散监测数据需要说明差分步长，跨缺测间隔不能仍除以一天。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课堂追问：日期之间相隔两天时，差分分母应该怎样变化？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交互课堂：https://lilinchao.github.io/traffic-book-practice/open-course/chapter-03/#change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输入哈希：{"chapters/data/ch03.json":"8184a62e638030ef3c029035f6084c5efd73641a00b9119ad7b16724d31cd8ca"}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计算方式：根据真实观测在浏览器重新计算</a:t>
            </a:r>
          </a:p>
          <a:p xmlns:a="http://schemas.openxmlformats.org/drawingml/2006/main">
            <a:r>
              <a:t>默认参数：{}</a:t>
            </a:r>
          </a:p>
          <a:p xmlns:a="http://schemas.openxmlformats.org/drawingml/2006/main">
            <a:r>
              <a:t>数据范围：2017年358个完整日期，I-94西向ATR 301断面</a:t>
            </a:r>
          </a:p>
          <a:p xmlns:a="http://schemas.openxmlformats.org/drawingml/2006/main">
            <a:r>
              <a:t>结果解释：仅展示抽样框前31个有效日期的日际变化。跨日缺口按实际日期间隔换算；不代表连续时间导数。</a:t>
            </a:r>
          </a:p>
          <a:p xmlns:a="http://schemas.openxmlformats.org/drawingml/2006/main">
            <a:r>
              <a:t>全部结果：{"columns":["日期","距前个有效日期（天）","平均变化率（辆/小时/天）"],"rows":[["2017-01-02",1,564.666667],["2017-01-03",1,3250.3333329999996],["2017-01-04",1,-86.66666599999917],["2017-01-05",1,361.66666599999917],["2017-01-06",1,-155.66666599999917],["2017-01-07",1,-2868.6666670000004],["2017-01-08",1,-649],["2017-01-09",1,3715.6666670000004],["2017-01-10",1,-1811.3333340000004],["2017-01-11",1,136.66666699999996],["2017-01-12",1,1469.6666670000004],["2017-01-13",1,120.66666599999917],["2017-01-14",1,-3362.6666659999996],["2017-01-15",1,-550.3333339999999],["2017-01-16",1,2280.666667],["2017-01-17",1,1083],["2017-01-18",1,638.6666670000004],["2017-01-19",1,-57],["2017-01-20",1,-87.66666700000042],["2017-01-21",1,-2682],["2017-01-22",1,-636.333333],["2017-01-23",1,3202.6666659999996],["2017-01-24",1,216.33333400000083],["2017-01-25",1,-561.3333340000008],["2017-01-26",1,744.3333340000008],["2017-01-27",1,-109.33333400000083],["2017-01-28",1,-2711.9999999999995],["2017-01-29",1,-1033.666666],["2017-01-30",1,2765.6666659999996],["2017-01-31",1,960]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默认网页：https://lilinchao.github.io/traffic-book-practice/open-course/chapter-03/#change</a:t>
            </a:r>
          </a:p>
          <a:p xmlns:a="http://schemas.openxmlformats.org/drawingml/2006/main">
            <a:r>
              <a:t>输入文件SHA256：{"chapters/data/ch03.json":"8184a62e638030ef3c029035f6084c5efd73641a00b9119ad7b16724d31cd8ca"}</a:t>
            </a:r>
          </a:p>
          <a:p xmlns:a="http://schemas.openxmlformats.org/drawingml/2006/main">
            <a:r>
              <a:t>来源：https://archive.ics.uci.edu/dataset/492/metro+interstate+traffic+volume。John Hogue (2019) / UCI I-94，CC BY 4.0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参数变化如何影响拟合误差？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本实验用单一常数θ估计各日早间交通量，以均方误差作为目标。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梯度给出误差增长最快的方向。沿负梯度更新参数，步长由学习率η控制。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L(θ) = mean[(q̄_d − θ)²]；θ_new = θ − η · 2(θ − mean(q̄_d))</a:t>
            </a:r>
          </a:p>
          <a:p xmlns:a="http://schemas.openxmlformats.org/drawingml/2006/main">
            <a:r>
              <a:t>q̄_d：第d日窗口均值。θ、θ_new：更新前后估计，辆/小时。L：均方误差，(辆/小时)²。η：学习率。mean：对完整日期取平均。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课堂追问：学习率过大时，为什么参数会在最优值两侧振荡？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交互课堂：https://lilinchao.github.io/traffic-book-practice/open-course/chapter-03/#gradient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输入哈希：{"chapters/data/ch03.json":"8184a62e638030ef3c029035f6084c5efd73641a00b9119ad7b16724d31cd8ca"}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计算方式：在真实交通量上执行常数最小二乘梯度下降</a:t>
            </a:r>
          </a:p>
          <a:p xmlns:a="http://schemas.openxmlformats.org/drawingml/2006/main">
            <a:r>
              <a:t>默认参数：{"eta":"0.15","steps":"15","initial":"0"}</a:t>
            </a:r>
          </a:p>
          <a:p xmlns:a="http://schemas.openxmlformats.org/drawingml/2006/main">
            <a:r>
              <a:t>数据范围：2017年358个完整日期，I-94西向ATR 301断面</a:t>
            </a:r>
          </a:p>
          <a:p xmlns:a="http://schemas.openxmlformats.org/drawingml/2006/main">
            <a:r>
              <a:t>结果解释：直接拟合全部358个完整日期，用于解释优化过程，无留出测试。常数模型不解释交通变化原因。</a:t>
            </a:r>
          </a:p>
          <a:p xmlns:a="http://schemas.openxmlformats.org/drawingml/2006/main">
            <a:r>
              <a:t>全部结果：{"columns":["迭代","常数估计（辆/小时）","均方误差（辆/小时）²"],"rows":[[0,0,24200108.244297873],[1,1395.5991620103352,13163158.458608827],[2,2372.51857541757,7755053.063621196],[3,3056.362164802634,5105081.420077248],[4,3535.0526773721795,3806595.3147407165],[5,3870.1360361708607,3170337.1231258214],[6,4104.694387329938,2858570.6092345165],[7,4268.885233141292,2705805.017427778],[8,4383.81882520924,2630949.8774424796],[9,4464.272339656803,2594270.85884968],[10,4520.589799770097,2576298.1397392093],[11,4560.012021849403,2567491.5073750815],[12,4587.607577304918,2563176.2575166547],[13,4606.924466123778,2561061.785086028],[14,4620.44628829698,2560025.6935950206],[15,4629.911563818221,2559518.0087644276]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默认网页：https://lilinchao.github.io/traffic-book-practice/open-course/chapter-03/#gradient</a:t>
            </a:r>
          </a:p>
          <a:p xmlns:a="http://schemas.openxmlformats.org/drawingml/2006/main">
            <a:r>
              <a:t>输入文件SHA256：{"chapters/data/ch03.json":"8184a62e638030ef3c029035f6084c5efd73641a00b9119ad7b16724d31cd8ca"}</a:t>
            </a:r>
          </a:p>
          <a:p xmlns:a="http://schemas.openxmlformats.org/drawingml/2006/main">
            <a:r>
              <a:t>来源：https://archive.ics.uci.edu/dataset/492/metro+interstate+traffic+volume。John Hogue (2019) / UCI I-94，CC BY 4.0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数学近似需要明确适用范围。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泰勒展开在给定点附近用多项式近似函数，离展开点较远时须检查近似误差。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调查预算可写成日期成本的约束。拉格朗日乘子法把目标和约束联系起来，但乘子的交通含义取决于所定义的成本与目标。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课堂追问：没有调查成本资料时，能否直接声称某样本量最经济？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交互课堂：https://lilinchao.github.io/traffic-book-practice/open-course/chapter-03/#taylor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输入哈希：{"chapters/data/ch03.json":"8184a62e638030ef3c029035f6084c5efd73641a00b9119ad7b16724d31cd8ca"}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通勤相关时段与周末活动可能具有不同分布。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分别计算周一至周五、周六至周日的日期均值，观察位置和离散程度。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本页按星期分组，没有剔除节假日，因此不把周一至周五自动称为工作日。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课堂追问：混合日期平均值能代表通勤日的典型运行水平吗？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交互课堂：https://lilinchao.github.io/traffic-book-practice/open-course/chapter-03/#distribution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输入哈希：{"chapters/data/ch03.json":"8184a62e638030ef3c029035f6084c5efd73641a00b9119ad7b16724d31cd8ca"}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计算方式：根据真实观测在浏览器重新计算</a:t>
            </a:r>
          </a:p>
          <a:p xmlns:a="http://schemas.openxmlformats.org/drawingml/2006/main">
            <a:r>
              <a:t>默认参数：{}</a:t>
            </a:r>
          </a:p>
          <a:p xmlns:a="http://schemas.openxmlformats.org/drawingml/2006/main">
            <a:r>
              <a:t>数据范围：2017年358个完整日期，I-94西向ATR 301断面</a:t>
            </a:r>
          </a:p>
          <a:p xmlns:a="http://schemas.openxmlformats.org/drawingml/2006/main">
            <a:r>
              <a:t>结果解释：只描述完整日期文件，不剔除节假日。高交通量阈值不是拥堵标准。</a:t>
            </a:r>
          </a:p>
          <a:p xmlns:a="http://schemas.openxmlformats.org/drawingml/2006/main">
            <a:r>
              <a:t>全部结果：{"columns":["日期组","完整日期","均值（辆/小时）","样本标准差（辆/小时）"],"rows":[["周一至周五",254,5560.933070874012,814.1339006954082],["周六、周日",104,2432.096153817307,503.2632276703099]]}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默认网页：https://lilinchao.github.io/traffic-book-practice/open-course/chapter-03/#distribution</a:t>
            </a:r>
          </a:p>
          <a:p xmlns:a="http://schemas.openxmlformats.org/drawingml/2006/main">
            <a:r>
              <a:t>输入文件SHA256：{"chapters/data/ch03.json":"8184a62e638030ef3c029035f6084c5efd73641a00b9119ad7b16724d31cd8ca"}</a:t>
            </a:r>
          </a:p>
          <a:p xmlns:a="http://schemas.openxmlformats.org/drawingml/2006/main">
            <a:r>
              <a:t>来源：https://archive.ics.uci.edu/dataset/492/metro+interstate+traffic+volume。John Hogue (2019) / UCI I-94，CC BY 4.0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条件概率回答给定观测条件后的比例。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把“早间均值超过阈值”定义为事件，再比较两类日期中的经验发生比例。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阈值仅用于课堂统计，不是拥堵判别阈值。交通量较高时，道路速度仍可能正常。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P̂(A | G) = n(A ∩ G) / n(G)</a:t>
            </a:r>
          </a:p>
          <a:p xmlns:a="http://schemas.openxmlformats.org/drawingml/2006/main">
            <a:r>
              <a:t>A：早间均值超过给定阈值。G：指定日期组。n：文件中满足条件的日期数。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课堂追问：若改变阈值，条件比例和样本分母分别怎样变化？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交互课堂：https://lilinchao.github.io/traffic-book-practice/open-course/chapter-03/#probability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输入哈希：{"chapters/data/ch03.json":"8184a62e638030ef3c029035f6084c5efd73641a00b9119ad7b16724d31cd8ca"}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计算方式：根据真实观测在浏览器重新计算</a:t>
            </a:r>
          </a:p>
          <a:p xmlns:a="http://schemas.openxmlformats.org/drawingml/2006/main">
            <a:r>
              <a:t>默认参数：{"threshold":"5000"}</a:t>
            </a:r>
          </a:p>
          <a:p xmlns:a="http://schemas.openxmlformats.org/drawingml/2006/main">
            <a:r>
              <a:t>数据范围：2017年358个完整日期，I-94西向ATR 301断面</a:t>
            </a:r>
          </a:p>
          <a:p xmlns:a="http://schemas.openxmlformats.org/drawingml/2006/main">
            <a:r>
              <a:t>结果解释：只描述完整日期文件，不剔除节假日。高交通量阈值不是拥堵标准。</a:t>
            </a:r>
          </a:p>
          <a:p xmlns:a="http://schemas.openxmlformats.org/drawingml/2006/main">
            <a:r>
              <a:t>全部结果：{"columns":["日期组","完整日期","超过阈值日期","经验比例（%）"],"rows":[["周一至周五",254,233,91.73228346456693],["周六、周日",104,0,0]]}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默认网页：https://lilinchao.github.io/traffic-book-practice/open-course/chapter-03/#probability</a:t>
            </a:r>
          </a:p>
          <a:p xmlns:a="http://schemas.openxmlformats.org/drawingml/2006/main">
            <a:r>
              <a:t>输入文件SHA256：{"chapters/data/ch03.json":"8184a62e638030ef3c029035f6084c5efd73641a00b9119ad7b16724d31cd8ca"}</a:t>
            </a:r>
          </a:p>
          <a:p xmlns:a="http://schemas.openxmlformats.org/drawingml/2006/main">
            <a:r>
              <a:t>来源：https://archive.ics.uci.edu/dataset/492/metro+interstate+traffic+volume。John Hogue (2019) / UCI I-94，CC BY 4.0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“给定日期类型观察到高交通量”与逆向判断是两个问题。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P(A|G)表示某类日期出现事件A的概率。P(G|A)则询问事件A出现时属于该类日期的可能性。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逆向判断还依赖日期类型的先验比例。只用灵敏度或单个条件比例，无法完成完整判断。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P(G | A) = P(A | G)P(G) / P(A)</a:t>
            </a:r>
          </a:p>
          <a:p xmlns:a="http://schemas.openxmlformats.org/drawingml/2006/main">
            <a:r>
              <a:t>P(G)：日期类型先验比例。P(A)：事件总概率，须大于0。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课堂追问：两类日期的数量相差很大时，为什么不能互换条件概率？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交互课堂：https://lilinchao.github.io/traffic-book-practice/open-course/chapter-03/#bayes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输入哈希：{"chapters/data/ch03.json":"8184a62e638030ef3c029035f6084c5efd73641a00b9119ad7b16724d31cd8ca"}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样本行与变量列共同确定模型输入。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n个日期、p个特征可组织为n×p矩阵X。行号需要与交通量标签y逐行对齐。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线性预测Xβ将每个日期的特征与系数相乘求和。列顺序变化时，系数顺序必须同步变化。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 ∈ ℝ^(n×p)，β ∈ ℝ^p，ŷ = Xβ</a:t>
            </a:r>
          </a:p>
          <a:p xmlns:a="http://schemas.openxmlformats.org/drawingml/2006/main">
            <a:r>
              <a:t>X：设计矩阵。n：样本数。p：设计列数，含截距列。β：列对应系数。ŷ：n维估计向量。ℝ：实数集合。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课堂追问：如果小时列与天气列交换而系数不变，会发生什么？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交互课堂：https://lilinchao.github.io/traffic-book-practice/open-course/chapter-03/#matrix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输入哈希：{"chapters/data/ch03.json":"8184a62e638030ef3c029035f6084c5efd73641a00b9119ad7b16724d31cd8ca"}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相关特征可用较少的方向描述。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PCA在训练数据上确定方差较大的方向，尺度差异明显时需先讨论标准化。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解释方差高不保证对交通量预测更有用。降维后的主成分也不自动对应某种交通机理。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课堂追问：为何需要在训练集拟合标准化和降维，而不能先处理全体数据？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交互课堂：https://lilinchao.github.io/traffic-book-practice/open-course/chapter-03/#pca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输入哈希：{"chapters/data/ch03.json":"8184a62e638030ef3c029035f6084c5efd73641a00b9119ad7b16724d31cd8ca"}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用20、60、90天方案比较调查精度。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固定种子42和1000次重采样，较小样本嵌套于较大样本，减少无关变化。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比较点估计和区间宽度。一次样本量增加不保证每个区间端点单调变化。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课堂追问：你会选择哪个调查方案？还需要什么成本和精度要求？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交互课堂：https://lilinchao.github.io/traffic-book-practice/open-course/chapter-03/#sample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输入哈希：{"chapters/data/ch03.json":"8184a62e638030ef3c029035f6084c5efd73641a00b9119ad7b16724d31cd8ca"}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计算方式：根据真实观测在浏览器重新计算</a:t>
            </a:r>
          </a:p>
          <a:p xmlns:a="http://schemas.openxmlformats.org/drawingml/2006/main">
            <a:r>
              <a:t>默认参数：{"group":"all","seed":"42"}</a:t>
            </a:r>
          </a:p>
          <a:p xmlns:a="http://schemas.openxmlformats.org/drawingml/2006/main">
            <a:r>
              <a:t>数据范围：2017年358个完整日期，I-94西向ATR 301断面</a:t>
            </a:r>
          </a:p>
          <a:p xmlns:a="http://schemas.openxmlformats.org/drawingml/2006/main">
            <a:r>
              <a:t>结果解释：虚线仅为所选文件中完整观测日期的参考均值，不是真实总体已知参数。日期近似独立是本方法的假设；相邻日期相关、缺失日期与选择偏差没有被Bootstrap自动解决。</a:t>
            </a:r>
          </a:p>
          <a:p xmlns:a="http://schemas.openxmlformats.org/drawingml/2006/main">
            <a:r>
              <a:t>全部结果：{"columns":["方案","日期数","种子","重采样次数","估计均值","区间下限","区间上限","区间宽度"],"rows":[["20天",20,42,1000,4807.68333335,4060.37124991875,5450.857499936251,1390.4862500175009],["60天",60,42,1000,4697.950000033335,4269.957222260002,5110.326805600418,840.3695833404163],["90天",90,42,1000,4629.637037066667,4269.850925988057,4969.524814859443,699.6738888713862]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默认网页：https://lilinchao.github.io/traffic-book-practice/open-course/chapter-03/#sample</a:t>
            </a:r>
          </a:p>
          <a:p xmlns:a="http://schemas.openxmlformats.org/drawingml/2006/main">
            <a:r>
              <a:t>输入文件SHA256：{"chapters/data/ch03.json":"8184a62e638030ef3c029035f6084c5efd73641a00b9119ad7b16724d31cd8ca"}</a:t>
            </a:r>
          </a:p>
          <a:p xmlns:a="http://schemas.openxmlformats.org/drawingml/2006/main">
            <a:r>
              <a:t>来源：https://archive.ics.uci.edu/dataset/492/metro+interstate+traffic+volume。John Hogue (2019) / UCI I-94，CC BY 4.0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重复抽取已有样本，近似描述均值的波动。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先从抽样框无放回选取n日，再从这n日有放回抽取n日，计算一次均值。重复B次。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取重采样均值的2.5%和97.5%分位数。增加B提高数值稳定性，不会增加实际调查日期。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课堂追问：把B从200增至2000，是否相当于增加了1800天调查？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交互课堂：https://lilinchao.github.io/traffic-book-practice/open-course/chapter-03/#bootstrap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输入哈希：{"chapters/data/ch03.json":"8184a62e638030ef3c029035f6084c5efd73641a00b9119ad7b16724d31cd8ca"}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计算方式：根据真实观测在浏览器重新计算</a:t>
            </a:r>
          </a:p>
          <a:p xmlns:a="http://schemas.openxmlformats.org/drawingml/2006/main">
            <a:r>
              <a:t>默认参数：{"group":"all","seed":"42"}</a:t>
            </a:r>
          </a:p>
          <a:p xmlns:a="http://schemas.openxmlformats.org/drawingml/2006/main">
            <a:r>
              <a:t>数据范围：2017年358个完整日期，I-94西向ATR 301断面</a:t>
            </a:r>
          </a:p>
          <a:p xmlns:a="http://schemas.openxmlformats.org/drawingml/2006/main">
            <a:r>
              <a:t>结果解释：虚线仅为所选文件中完整观测日期的参考均值，不是真实总体已知参数。日期近似独立是本方法的假设；相邻日期相关、缺失日期与选择偏差没有被Bootstrap自动解决。</a:t>
            </a:r>
          </a:p>
          <a:p xmlns:a="http://schemas.openxmlformats.org/drawingml/2006/main">
            <a:r>
              <a:t>全部结果：{"columns":["方案","日期数","种子","重采样次数","估计均值","区间下限","区间上限","区间宽度"],"rows":[["200次",60,42,200,4697.950000033335,4270.57916671625,5104.783055578335,834.2038888620846],["500次",60,42,500,4697.950000033335,4240.016249995,5095.003055555001,854.9868055600009],["1000次",60,42,1000,4697.950000033335,4269.957222260002,5110.326805600418,840.3695833404163],["2000次",60,42,2000,4697.950000033335,4275.324166667917,5104.974027807498,829.6498611395809]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默认网页：https://lilinchao.github.io/traffic-book-practice/open-course/chapter-03/#bootstrap</a:t>
            </a:r>
          </a:p>
          <a:p xmlns:a="http://schemas.openxmlformats.org/drawingml/2006/main">
            <a:r>
              <a:t>输入文件SHA256：{"chapters/data/ch03.json":"8184a62e638030ef3c029035f6084c5efd73641a00b9119ad7b16724d31cd8ca"}</a:t>
            </a:r>
          </a:p>
          <a:p xmlns:a="http://schemas.openxmlformats.org/drawingml/2006/main">
            <a:r>
              <a:t>来源：https://archive.ics.uci.edu/dataset/492/metro+interstate+traffic+volume。John Hogue (2019) / UCI I-94，CC BY 4.0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相同日期数也会抽到不同交通观测。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保持每次60日和B=1000，只更换抽样种子。比较均值与区间的位置变化。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六次抽样用于课堂敏感性观察，次数不足以验证95%的长期覆盖率。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课堂追问：区间相互重叠能否说明两个总体完全相同？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交互课堂：https://lilinchao.github.io/traffic-book-practice/open-course/chapter-03/#seeds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输入哈希：{"chapters/data/ch03.json":"8184a62e638030ef3c029035f6084c5efd73641a00b9119ad7b16724d31cd8ca"}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计算方式：根据真实观测在浏览器重新计算</a:t>
            </a:r>
          </a:p>
          <a:p xmlns:a="http://schemas.openxmlformats.org/drawingml/2006/main">
            <a:r>
              <a:t>默认参数：{"group":"all","seed":"42"}</a:t>
            </a:r>
          </a:p>
          <a:p xmlns:a="http://schemas.openxmlformats.org/drawingml/2006/main">
            <a:r>
              <a:t>数据范围：2017年358个完整日期，I-94西向ATR 301断面</a:t>
            </a:r>
          </a:p>
          <a:p xmlns:a="http://schemas.openxmlformats.org/drawingml/2006/main">
            <a:r>
              <a:t>结果解释：虚线仅为所选文件中完整观测日期的参考均值，不是真实总体已知参数。日期近似独立是本方法的假设；相邻日期相关、缺失日期与选择偏差没有被Bootstrap自动解决。</a:t>
            </a:r>
          </a:p>
          <a:p xmlns:a="http://schemas.openxmlformats.org/drawingml/2006/main">
            <a:r>
              <a:t>全部结果：{"columns":["方案","日期数","种子","重采样次数","估计均值","区间下限","区间上限","区间宽度"],"rows":[["种子42",60,42,1000,4697.950000033335,4269.957222260002,5110.326805600418,840.3695833404163],["种子43",60,43,1000,4581.544444450001,4152.2561110291645,4982.8877778000015,830.631666770837],["种子44",60,44,1000,4478.255555550001,4030.963888846248,4890.281111131249,859.3172222850012],["种子45",60,45,1000,4797.494444433334,4416.524305517083,5197.902499988333,781.37819447125],["种子46",60,46,1000,4673.972222200001,4267.557083261667,5064.248333311251,796.6912500495846],["种子47",60,47,1000,4751.777777733331,4356.8759721299975,5131.0655554566665,774.189583326669]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默认网页：https://lilinchao.github.io/traffic-book-practice/open-course/chapter-03/#seeds</a:t>
            </a:r>
          </a:p>
          <a:p xmlns:a="http://schemas.openxmlformats.org/drawingml/2006/main">
            <a:r>
              <a:t>输入文件SHA256：{"chapters/data/ch03.json":"8184a62e638030ef3c029035f6084c5efd73641a00b9119ad7b16724d31cd8ca"}</a:t>
            </a:r>
          </a:p>
          <a:p xmlns:a="http://schemas.openxmlformats.org/drawingml/2006/main">
            <a:r>
              <a:t>来源：https://archive.ics.uci.edu/dataset/492/metro+interstate+traffic+volume。John Hogue (2019) / UCI I-94，CC BY 4.0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抽样波动与资料偏差需要分别讨论。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百分位Bootstrap依赖样本代表性和日期近似独立等假设，不能自动消除连续日期相关。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7个不完整日期没有进入抽样框。文件内参考均值也不能当作其他年份或其他道路的真实总体参数。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课堂追问：连续多日区块重采样可以处理哪类问题，又不能解决哪类问题？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交互课堂：https://lilinchao.github.io/traffic-book-practice/open-course/chapter-03/#uncertainty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输入哈希：{"chapters/data/ch03.json":"8184a62e638030ef3c029035f6084c5efd73641a00b9119ad7b16724d31cd8ca"}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预测、分类和聚类需要不同的输出与证据。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交通量预测输出数值，出行方式识别输出类别，交通日型聚类输出相似样本分组。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第4章按时间切分数据，第6章明确预测起点，第7章区分全月探索与留出预测。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课堂追问：同一模型在随机切分中成绩较好，为什么不能直接保证未来时段表现？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交互课堂：https://lilinchao.github.io/traffic-book-practice/open-course/chapter-03/#learning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输入哈希：{"chapters/data/ch03.json":"8184a62e638030ef3c029035f6084c5efd73641a00b9119ad7b16724d31cd8ca"}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修改日期总体或种子，重新计算真实样本。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JavaScript编辑器调用与参数实验相同的Bootstrap模块，代码实际在本机执行。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每次保留日期总体、样本量、种子与重采样次数。完整Python实现见本章工作本。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课堂追问：两份结果不一致时，你会先核对哪些参数？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交互课堂：https://lilinchao.github.io/traffic-book-practice/open-course/chapter-03/#code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输入哈希：{"chapters/data/ch03.json":"8184a62e638030ef3c029035f6084c5efd73641a00b9119ad7b16724d31cd8ca"}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数学结果最终要回到调查任务。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报告抽样框、日期名单、统计量、参数和区间，说明调查工作量与可接受精度。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给出相邻日期相关与不完整日期的补充核查方案，再进入第4章回归和第6章预测。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课堂追问：用两句话向监测部门说明结果可用于什么、不足以支持什么。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交互课堂：https://lilinchao.github.io/traffic-book-practice/open-course/chapter-03/#project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输入哈希：{"chapters/data/ch03.json":"8184a62e638030ef3c029035f6084c5efd73641a00b9119ad7b16724d31cd8ca"}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教学主线：道路早高峰调查需要观测多少天？</a:t>
            </a:r>
          </a:p>
          <a:p xmlns:a="http://schemas.openxmlformats.org/drawingml/2006/main">
            <a:r>
              <a:t>建议135分钟讲授与讨论 + 45分钟上机</a:t>
            </a:r>
          </a:p>
          <a:p xmlns:a="http://schemas.openxmlformats.org/drawingml/2006/main">
            <a:r>
              <a:t>课堂：https://lilinchao.github.io/traffic-book-practice/open-course/chapter-03/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输入哈希：{"chapters/data/ch03.json":"8184a62e638030ef3c029035f6084c5efd73641a00b9119ad7b16724d31cd8ca"}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32710236e94f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9105771bfd4d9e" /><Relationship Type="http://schemas.openxmlformats.org/officeDocument/2006/relationships/slideLayout" Target="/ppt/slideLayouts/slideLayout1.xml" Id="R6ae1f4a090b94f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e1f4a090b94f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ed26b43a546e5" /><Relationship Type="http://schemas.openxmlformats.org/officeDocument/2006/relationships/image" Target="/ppt/media/image.png" Id="R21b7a33cfc724a3b" /><Relationship Type="http://schemas.openxmlformats.org/officeDocument/2006/relationships/notesSlide" Target="/ppt/notesSlides/notesSlide1.xml" Id="R06b27c10bf324c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f8051ef814831" /><Relationship Type="http://schemas.openxmlformats.org/officeDocument/2006/relationships/hyperlink" Target="https://lilinchao.github.io/traffic-book-practice/open-course/chapter-03/" TargetMode="External" Id="R7d8b637088384f35" /><Relationship Type="http://schemas.openxmlformats.org/officeDocument/2006/relationships/notesSlide" Target="/ppt/notesSlides/notesSlide2.xml" Id="R2831cc3a27d54d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da32225fa4f47" /><Relationship Type="http://schemas.openxmlformats.org/officeDocument/2006/relationships/hyperlink" Target="https://lilinchao.github.io/traffic-book-practice/open-course/chapter-03/#mission" TargetMode="External" Id="Re6fb09ef9cf94286" /><Relationship Type="http://schemas.openxmlformats.org/officeDocument/2006/relationships/notesSlide" Target="/ppt/notesSlides/notesSlide3.xml" Id="R6b96d2ae94ce48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43e5052914193" /><Relationship Type="http://schemas.openxmlformats.org/officeDocument/2006/relationships/hyperlink" Target="https://lilinchao.github.io/traffic-book-practice/open-course/chapter-03/#target" TargetMode="External" Id="Rbc1e9eab2d574b27" /><Relationship Type="http://schemas.openxmlformats.org/officeDocument/2006/relationships/notesSlide" Target="/ppt/notesSlides/notesSlide4.xml" Id="R1a4f5cc3841f4f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e68e2e714454a" /><Relationship Type="http://schemas.openxmlformats.org/officeDocument/2006/relationships/hyperlink" Target="https://lilinchao.github.io/traffic-book-practice/open-course/chapter-03/#change" TargetMode="External" Id="R11c7be140c244eac" /><Relationship Type="http://schemas.openxmlformats.org/officeDocument/2006/relationships/notesSlide" Target="/ppt/notesSlides/notesSlide5.xml" Id="Re429cb31b9ea4f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82231eaa143a6" /><Relationship Type="http://schemas.openxmlformats.org/officeDocument/2006/relationships/chart" Target="/ppt/slides/charts/chart1.xml" Id="R1c4d164152eb409a" /><Relationship Type="http://schemas.openxmlformats.org/officeDocument/2006/relationships/hyperlink" Target="https://lilinchao.github.io/traffic-book-practice/open-course/chapter-03/#change" TargetMode="External" Id="R7feed74b0603438d" /><Relationship Type="http://schemas.openxmlformats.org/officeDocument/2006/relationships/notesSlide" Target="/ppt/notesSlides/notesSlide6.xml" Id="Re7594175408a4f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d1fb209294be7" /><Relationship Type="http://schemas.openxmlformats.org/officeDocument/2006/relationships/hyperlink" Target="https://lilinchao.github.io/traffic-book-practice/open-course/chapter-03/#gradient" TargetMode="External" Id="R6c50fea9e9044388" /><Relationship Type="http://schemas.openxmlformats.org/officeDocument/2006/relationships/notesSlide" Target="/ppt/notesSlides/notesSlide7.xml" Id="R7d4e6f23aa814e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0f32b1060484c" /><Relationship Type="http://schemas.openxmlformats.org/officeDocument/2006/relationships/chart" Target="/ppt/slides/charts/chart2.xml" Id="Ra989b2125ea74ce6" /><Relationship Type="http://schemas.openxmlformats.org/officeDocument/2006/relationships/hyperlink" Target="https://lilinchao.github.io/traffic-book-practice/open-course/chapter-03/#gradient" TargetMode="External" Id="R57b7fd7b13ce4e9a" /><Relationship Type="http://schemas.openxmlformats.org/officeDocument/2006/relationships/notesSlide" Target="/ppt/notesSlides/notesSlide8.xml" Id="R141411c9413045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6220518934643" /><Relationship Type="http://schemas.openxmlformats.org/officeDocument/2006/relationships/hyperlink" Target="https://lilinchao.github.io/traffic-book-practice/open-course/chapter-03/#taylor" TargetMode="External" Id="R106408478b384f0d" /><Relationship Type="http://schemas.openxmlformats.org/officeDocument/2006/relationships/notesSlide" Target="/ppt/notesSlides/notesSlide9.xml" Id="R48eda531daaa44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f5038ff114dc5" /><Relationship Type="http://schemas.openxmlformats.org/officeDocument/2006/relationships/hyperlink" Target="https://lilinchao.github.io/traffic-book-practice/open-course/chapter-03/#distribution" TargetMode="External" Id="R5420d8c459824d80" /><Relationship Type="http://schemas.openxmlformats.org/officeDocument/2006/relationships/notesSlide" Target="/ppt/notesSlides/notesSlide10.xml" Id="R866f1316f31540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b5ef27601403e" /><Relationship Type="http://schemas.openxmlformats.org/officeDocument/2006/relationships/chart" Target="/ppt/slides/charts/chart3.xml" Id="R0dc2544d239a4856" /><Relationship Type="http://schemas.openxmlformats.org/officeDocument/2006/relationships/hyperlink" Target="https://lilinchao.github.io/traffic-book-practice/open-course/chapter-03/#distribution" TargetMode="External" Id="R956a7435ad744e06" /><Relationship Type="http://schemas.openxmlformats.org/officeDocument/2006/relationships/notesSlide" Target="/ppt/notesSlides/notesSlide11.xml" Id="Rc77681e712614d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e7e862e8846a2" /><Relationship Type="http://schemas.openxmlformats.org/officeDocument/2006/relationships/hyperlink" Target="https://lilinchao.github.io/traffic-book-practice/open-course/chapter-03/#probability" TargetMode="External" Id="R5cb960492aa940b3" /><Relationship Type="http://schemas.openxmlformats.org/officeDocument/2006/relationships/notesSlide" Target="/ppt/notesSlides/notesSlide12.xml" Id="Rc47ae71ca32b49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ff7f83dca441b" /><Relationship Type="http://schemas.openxmlformats.org/officeDocument/2006/relationships/chart" Target="/ppt/slides/charts/chart4.xml" Id="R4961a9a657a0474f" /><Relationship Type="http://schemas.openxmlformats.org/officeDocument/2006/relationships/hyperlink" Target="https://lilinchao.github.io/traffic-book-practice/open-course/chapter-03/#probability" TargetMode="External" Id="Rc31f7551584b4111" /><Relationship Type="http://schemas.openxmlformats.org/officeDocument/2006/relationships/notesSlide" Target="/ppt/notesSlides/notesSlide13.xml" Id="R998eafb7e2114b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2f0d8cdc44388" /><Relationship Type="http://schemas.openxmlformats.org/officeDocument/2006/relationships/hyperlink" Target="https://lilinchao.github.io/traffic-book-practice/open-course/chapter-03/#bayes" TargetMode="External" Id="R95ad2bba63d04088" /><Relationship Type="http://schemas.openxmlformats.org/officeDocument/2006/relationships/notesSlide" Target="/ppt/notesSlides/notesSlide14.xml" Id="R007e1d813d054f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71dcf75ed436c" /><Relationship Type="http://schemas.openxmlformats.org/officeDocument/2006/relationships/hyperlink" Target="https://lilinchao.github.io/traffic-book-practice/open-course/chapter-03/#matrix" TargetMode="External" Id="Rdbd4e4c06f58487f" /><Relationship Type="http://schemas.openxmlformats.org/officeDocument/2006/relationships/notesSlide" Target="/ppt/notesSlides/notesSlide15.xml" Id="R00d3076bcc00457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071b2b908422f" /><Relationship Type="http://schemas.openxmlformats.org/officeDocument/2006/relationships/hyperlink" Target="https://lilinchao.github.io/traffic-book-practice/open-course/chapter-03/#pca" TargetMode="External" Id="R03b7bf75254541ba" /><Relationship Type="http://schemas.openxmlformats.org/officeDocument/2006/relationships/notesSlide" Target="/ppt/notesSlides/notesSlide16.xml" Id="R1c0eea1d52e44f7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8c51493b24489" /><Relationship Type="http://schemas.openxmlformats.org/officeDocument/2006/relationships/hyperlink" Target="https://lilinchao.github.io/traffic-book-practice/open-course/chapter-03/#sample" TargetMode="External" Id="R9b766d2fd8e54f6d" /><Relationship Type="http://schemas.openxmlformats.org/officeDocument/2006/relationships/notesSlide" Target="/ppt/notesSlides/notesSlide17.xml" Id="R62d517e677a7447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8e80c7c2e460a" /><Relationship Type="http://schemas.openxmlformats.org/officeDocument/2006/relationships/hyperlink" Target="https://lilinchao.github.io/traffic-book-practice/open-course/chapter-03/#sample" TargetMode="External" Id="R37087667e26e4419" /><Relationship Type="http://schemas.openxmlformats.org/officeDocument/2006/relationships/notesSlide" Target="/ppt/notesSlides/notesSlide18.xml" Id="R1f432212d97c48e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e750c748c447a" /><Relationship Type="http://schemas.openxmlformats.org/officeDocument/2006/relationships/hyperlink" Target="https://lilinchao.github.io/traffic-book-practice/open-course/chapter-03/#bootstrap" TargetMode="External" Id="R85486b821e4146cf" /><Relationship Type="http://schemas.openxmlformats.org/officeDocument/2006/relationships/notesSlide" Target="/ppt/notesSlides/notesSlide19.xml" Id="R2d3ab3b355b1497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453d648384ba6" /><Relationship Type="http://schemas.openxmlformats.org/officeDocument/2006/relationships/hyperlink" Target="https://lilinchao.github.io/traffic-book-practice/open-course/chapter-03/#bootstrap" TargetMode="External" Id="R3f90d81887f54a57" /><Relationship Type="http://schemas.openxmlformats.org/officeDocument/2006/relationships/notesSlide" Target="/ppt/notesSlides/notesSlide20.xml" Id="R13e0905fb50b41a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ad3c239c24d02" /><Relationship Type="http://schemas.openxmlformats.org/officeDocument/2006/relationships/hyperlink" Target="https://lilinchao.github.io/traffic-book-practice/open-course/chapter-03/#seeds" TargetMode="External" Id="Rf12e5aa51a234891" /><Relationship Type="http://schemas.openxmlformats.org/officeDocument/2006/relationships/notesSlide" Target="/ppt/notesSlides/notesSlide21.xml" Id="R5f7c7680736946d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5df124bea4ff1" /><Relationship Type="http://schemas.openxmlformats.org/officeDocument/2006/relationships/hyperlink" Target="https://lilinchao.github.io/traffic-book-practice/open-course/chapter-03/#seeds" TargetMode="External" Id="R7003aa71b57747f0" /><Relationship Type="http://schemas.openxmlformats.org/officeDocument/2006/relationships/notesSlide" Target="/ppt/notesSlides/notesSlide22.xml" Id="R87d963c24a1e404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ceb07e0a04970" /><Relationship Type="http://schemas.openxmlformats.org/officeDocument/2006/relationships/hyperlink" Target="https://lilinchao.github.io/traffic-book-practice/open-course/chapter-03/#uncertainty" TargetMode="External" Id="Rc926b275fc484dca" /><Relationship Type="http://schemas.openxmlformats.org/officeDocument/2006/relationships/notesSlide" Target="/ppt/notesSlides/notesSlide23.xml" Id="Re8691c2e339841e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0ba87a49b444d" /><Relationship Type="http://schemas.openxmlformats.org/officeDocument/2006/relationships/hyperlink" Target="https://lilinchao.github.io/traffic-book-practice/open-course/chapter-03/#learning" TargetMode="External" Id="R4380bbdb23074eca" /><Relationship Type="http://schemas.openxmlformats.org/officeDocument/2006/relationships/notesSlide" Target="/ppt/notesSlides/notesSlide24.xml" Id="Rf12be3104bf94d3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d242ad4904ef0" /><Relationship Type="http://schemas.openxmlformats.org/officeDocument/2006/relationships/hyperlink" Target="https://lilinchao.github.io/traffic-book-practice/open-course/chapter-03/#code" TargetMode="External" Id="R0317a1a773434778" /><Relationship Type="http://schemas.openxmlformats.org/officeDocument/2006/relationships/notesSlide" Target="/ppt/notesSlides/notesSlide25.xml" Id="R85067654676846f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c2ea1906b4968" /><Relationship Type="http://schemas.openxmlformats.org/officeDocument/2006/relationships/hyperlink" Target="https://lilinchao.github.io/traffic-book-practice/open-course/chapter-03/#project" TargetMode="External" Id="R7050ae25d6994591" /><Relationship Type="http://schemas.openxmlformats.org/officeDocument/2006/relationships/notesSlide" Target="/ppt/notesSlides/notesSlide26.xml" Id="Re4ad78dd629c467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295e82366432a" /><Relationship Type="http://schemas.openxmlformats.org/officeDocument/2006/relationships/hyperlink" Target="https://lilinchao.github.io/traffic-book-practice/open-course/chapter-03/" TargetMode="External" Id="Re7004c315ca84b89" /><Relationship Type="http://schemas.openxmlformats.org/officeDocument/2006/relationships/hyperlink" Target="https://lilinchao.github.io/traffic-book-practice/open-course/#project/ch03/code" TargetMode="External" Id="R1d3da6b55e5b45f5" /><Relationship Type="http://schemas.openxmlformats.org/officeDocument/2006/relationships/hyperlink" Target="https://lilinchao.github.io/traffic-book-practice/open-course/#cases" TargetMode="External" Id="Re463e51875644f79" /><Relationship Type="http://schemas.openxmlformats.org/officeDocument/2006/relationships/notesSlide" Target="/ppt/notesSlides/notesSlide27.xml" Id="Ra6d6333d343d4c6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相邻有效日差分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marker>
            <c:symbol val="none"/>
          </c:marker>
          <c:cat>
            <c:strRef>
              <c:f>'Chart Data'!$A$2:$A$31</c:f>
              <c:strCache>
                <c:ptCount val="30"/>
                <c:pt idx="0">
                  <c:v>01-02</c:v>
                </c:pt>
                <c:pt idx="1">
                  <c:v>01-03</c:v>
                </c:pt>
                <c:pt idx="2">
                  <c:v>01-04</c:v>
                </c:pt>
                <c:pt idx="3">
                  <c:v>01-05</c:v>
                </c:pt>
                <c:pt idx="4">
                  <c:v>01-06</c:v>
                </c:pt>
                <c:pt idx="5">
                  <c:v>01-07</c:v>
                </c:pt>
                <c:pt idx="6">
                  <c:v>01-08</c:v>
                </c:pt>
                <c:pt idx="7">
                  <c:v>01-09</c:v>
                </c:pt>
                <c:pt idx="8">
                  <c:v>01-10</c:v>
                </c:pt>
                <c:pt idx="9">
                  <c:v>01-11</c:v>
                </c:pt>
                <c:pt idx="10">
                  <c:v>01-12</c:v>
                </c:pt>
                <c:pt idx="11">
                  <c:v>01-13</c:v>
                </c:pt>
                <c:pt idx="12">
                  <c:v>01-14</c:v>
                </c:pt>
                <c:pt idx="13">
                  <c:v>01-15</c:v>
                </c:pt>
                <c:pt idx="14">
                  <c:v>01-16</c:v>
                </c:pt>
                <c:pt idx="15">
                  <c:v>01-17</c:v>
                </c:pt>
                <c:pt idx="16">
                  <c:v>01-18</c:v>
                </c:pt>
                <c:pt idx="17">
                  <c:v>01-19</c:v>
                </c:pt>
                <c:pt idx="18">
                  <c:v>01-20</c:v>
                </c:pt>
                <c:pt idx="19">
                  <c:v>01-21</c:v>
                </c:pt>
                <c:pt idx="20">
                  <c:v>01-22</c:v>
                </c:pt>
                <c:pt idx="21">
                  <c:v>01-23</c:v>
                </c:pt>
                <c:pt idx="22">
                  <c:v>01-24</c:v>
                </c:pt>
                <c:pt idx="23">
                  <c:v>01-25</c:v>
                </c:pt>
                <c:pt idx="24">
                  <c:v>01-26</c:v>
                </c:pt>
                <c:pt idx="25">
                  <c:v>01-27</c:v>
                </c:pt>
                <c:pt idx="26">
                  <c:v>01-28</c:v>
                </c:pt>
                <c:pt idx="27">
                  <c:v>01-29</c:v>
                </c:pt>
                <c:pt idx="28">
                  <c:v>01-30</c:v>
                </c:pt>
                <c:pt idx="29">
                  <c:v>01-31</c:v>
                </c:pt>
              </c:strCache>
            </c:strRef>
          </c:cat>
          <c:val>
            <c:numRef>
              <c:f>'Chart Data'!$B$2:$B$31</c:f>
              <c:numCache>
                <c:formatCode>#,##0</c:formatCode>
                <c:ptCount val="30"/>
                <c:pt idx="0">
                  <c:v>564.666667</c:v>
                </c:pt>
                <c:pt idx="1">
                  <c:v>3250.333333</c:v>
                </c:pt>
                <c:pt idx="2">
                  <c:v>-86.666666</c:v>
                </c:pt>
                <c:pt idx="3">
                  <c:v>361.666666</c:v>
                </c:pt>
                <c:pt idx="4">
                  <c:v>-155.666666</c:v>
                </c:pt>
                <c:pt idx="5">
                  <c:v>-2868.666667</c:v>
                </c:pt>
                <c:pt idx="6">
                  <c:v>-649</c:v>
                </c:pt>
                <c:pt idx="7">
                  <c:v>3715.666667</c:v>
                </c:pt>
                <c:pt idx="8">
                  <c:v>-1811.333334</c:v>
                </c:pt>
                <c:pt idx="9">
                  <c:v>136.666667</c:v>
                </c:pt>
                <c:pt idx="10">
                  <c:v>1469.666667</c:v>
                </c:pt>
                <c:pt idx="11">
                  <c:v>120.666666</c:v>
                </c:pt>
                <c:pt idx="12">
                  <c:v>-3362.666666</c:v>
                </c:pt>
                <c:pt idx="13">
                  <c:v>-550.333334</c:v>
                </c:pt>
                <c:pt idx="14">
                  <c:v>2280.666667</c:v>
                </c:pt>
                <c:pt idx="15">
                  <c:v>1083</c:v>
                </c:pt>
                <c:pt idx="16">
                  <c:v>638.666667</c:v>
                </c:pt>
                <c:pt idx="17">
                  <c:v>-57</c:v>
                </c:pt>
                <c:pt idx="18">
                  <c:v>-87.666667</c:v>
                </c:pt>
                <c:pt idx="19">
                  <c:v>-2682</c:v>
                </c:pt>
                <c:pt idx="20">
                  <c:v>-636.333333</c:v>
                </c:pt>
                <c:pt idx="21">
                  <c:v>3202.666666</c:v>
                </c:pt>
                <c:pt idx="22">
                  <c:v>216.333334</c:v>
                </c:pt>
                <c:pt idx="23">
                  <c:v>-561.333334</c:v>
                </c:pt>
                <c:pt idx="24">
                  <c:v>744.333334</c:v>
                </c:pt>
                <c:pt idx="25">
                  <c:v>-109.333334</c:v>
                </c:pt>
                <c:pt idx="26">
                  <c:v>-2712</c:v>
                </c:pt>
                <c:pt idx="27">
                  <c:v>-1033.666666</c:v>
                </c:pt>
                <c:pt idx="28">
                  <c:v>2765.666666</c:v>
                </c:pt>
                <c:pt idx="29">
                  <c:v>960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tickLblSkip val="4"/>
        <c:tickMarkSkip val="4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梯度下降估计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marker>
            <c:symbol val="none"/>
          </c:marker>
          <c:cat>
            <c:numRef>
              <c:f>'Chart Data'!$A$2:$A$17</c:f>
              <c:numCache>
                <c:formatCode>General</c:formatCode>
                <c:ptCount val="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</c:numCache>
            </c:numRef>
          </c:cat>
          <c:val>
            <c:numRef>
              <c:f>'Chart Data'!$B$2:$B$17</c:f>
              <c:numCache>
                <c:formatCode>#,##0</c:formatCode>
                <c:ptCount val="16"/>
                <c:pt idx="0">
                  <c:v>0</c:v>
                </c:pt>
                <c:pt idx="1">
                  <c:v>1395.59916201</c:v>
                </c:pt>
                <c:pt idx="2">
                  <c:v>2372.51857542</c:v>
                </c:pt>
                <c:pt idx="3">
                  <c:v>3056.3621648</c:v>
                </c:pt>
                <c:pt idx="4">
                  <c:v>3535.05267737</c:v>
                </c:pt>
                <c:pt idx="5">
                  <c:v>3870.13603617</c:v>
                </c:pt>
                <c:pt idx="6">
                  <c:v>4104.69438733</c:v>
                </c:pt>
                <c:pt idx="7">
                  <c:v>4268.88523314</c:v>
                </c:pt>
                <c:pt idx="8">
                  <c:v>4383.81882521</c:v>
                </c:pt>
                <c:pt idx="9">
                  <c:v>4464.27233966</c:v>
                </c:pt>
                <c:pt idx="10">
                  <c:v>4520.58979977</c:v>
                </c:pt>
                <c:pt idx="11">
                  <c:v>4560.01202185</c:v>
                </c:pt>
                <c:pt idx="12">
                  <c:v>4587.6075773</c:v>
                </c:pt>
                <c:pt idx="13">
                  <c:v>4606.92446612</c:v>
                </c:pt>
                <c:pt idx="14">
                  <c:v>4620.4462883</c:v>
                </c:pt>
                <c:pt idx="15">
                  <c:v>4629.91156382</c:v>
                </c:pt>
              </c:numCache>
            </c:numRef>
          </c:val>
          <c:smooth val="0"/>
        </c:ser>
        <c:ser>
          <c:idx val="1"/>
          <c:order val="1"/>
          <c:tx>
            <c:v>完整日期参考均值</c:v>
          </c:tx>
          <c:spPr>
            <a:solidFill xmlns:a="http://schemas.openxmlformats.org/drawingml/2006/main">
              <a:srgbClr val="B66C24"/>
            </a:solidFill>
            <a:ln xmlns:a="http://schemas.openxmlformats.org/drawingml/2006/main" w="28575">
              <a:solidFill>
                <a:srgbClr val="B66C24"/>
              </a:solidFill>
            </a:ln>
          </c:spPr>
          <c:marker>
            <c:symbol val="none"/>
          </c:marker>
          <c:cat>
            <c:numRef>
              <c:f>'Chart Data'!$C$2:$C$17</c:f>
              <c:numCache>
                <c:formatCode>General</c:formatCode>
                <c:ptCount val="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</c:numCache>
            </c:numRef>
          </c:cat>
          <c:val>
            <c:numRef>
              <c:f>'Chart Data'!$D$2:$D$17</c:f>
              <c:numCache>
                <c:formatCode>#,##0</c:formatCode>
                <c:ptCount val="16"/>
                <c:pt idx="0">
                  <c:v>4651.9972067</c:v>
                </c:pt>
                <c:pt idx="1">
                  <c:v>4651.9972067</c:v>
                </c:pt>
                <c:pt idx="2">
                  <c:v>4651.9972067</c:v>
                </c:pt>
                <c:pt idx="3">
                  <c:v>4651.9972067</c:v>
                </c:pt>
                <c:pt idx="4">
                  <c:v>4651.9972067</c:v>
                </c:pt>
                <c:pt idx="5">
                  <c:v>4651.9972067</c:v>
                </c:pt>
                <c:pt idx="6">
                  <c:v>4651.9972067</c:v>
                </c:pt>
                <c:pt idx="7">
                  <c:v>4651.9972067</c:v>
                </c:pt>
                <c:pt idx="8">
                  <c:v>4651.9972067</c:v>
                </c:pt>
                <c:pt idx="9">
                  <c:v>4651.9972067</c:v>
                </c:pt>
                <c:pt idx="10">
                  <c:v>4651.9972067</c:v>
                </c:pt>
                <c:pt idx="11">
                  <c:v>4651.9972067</c:v>
                </c:pt>
                <c:pt idx="12">
                  <c:v>4651.9972067</c:v>
                </c:pt>
                <c:pt idx="13">
                  <c:v>4651.9972067</c:v>
                </c:pt>
                <c:pt idx="14">
                  <c:v>4651.9972067</c:v>
                </c:pt>
                <c:pt idx="15">
                  <c:v>4651.9972067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日期均值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周一至周五</c:v>
                </c:pt>
                <c:pt idx="1">
                  <c:v>周六、周日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5560.93307087</c:v>
                </c:pt>
                <c:pt idx="1">
                  <c:v>2432.09615382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.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经验条件比例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周一至周五</c:v>
                </c:pt>
                <c:pt idx="1">
                  <c:v>周六、周日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91.73228346</c:v>
                </c:pt>
                <c:pt idx="1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.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7a33cfc724a3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第3章">
            <a:extLst xmlns:a="http://schemas.openxmlformats.org/drawingml/2006/main">
              <a:ext uri="{FF2B5EF4-FFF2-40B4-BE49-F238E27FC236}">
                <a16:creationId xmlns:a16="http://schemas.microsoft.com/office/drawing/2014/main" id="{A1DA09B3-EA34-48B7-8868-521409A1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EAB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EABB76"/>
                </a:solidFill>
                <a:latin typeface="Microsoft YaHei"/>
                <a:ea typeface="Microsoft YaHei"/>
                <a:cs typeface="Microsoft YaHei"/>
              </a:rPr>
              <a:t>第3章</a:t>
            </a:r>
          </a:p>
        </p:txBody>
      </p:sp>
      <p:sp>
        <p:nvSpPr>
          <p:cNvPr id="3" name="数理理论基础">
            <a:extLst xmlns:a="http://schemas.openxmlformats.org/drawingml/2006/main">
              <a:ext uri="{FF2B5EF4-FFF2-40B4-BE49-F238E27FC236}">
                <a16:creationId xmlns:a16="http://schemas.microsoft.com/office/drawing/2014/main" id="{803F5E41-1061-42CE-A512-C1167377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9429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数理理论基础</a:t>
            </a:r>
          </a:p>
        </p:txBody>
      </p:sp>
      <p:sp>
        <p:nvSpPr>
          <p:cNvPr id="4" name="交通数据挖掘理论与应用">
            <a:extLst xmlns:a="http://schemas.openxmlformats.org/drawingml/2006/main">
              <a:ext uri="{FF2B5EF4-FFF2-40B4-BE49-F238E27FC236}">
                <a16:creationId xmlns:a16="http://schemas.microsoft.com/office/drawing/2014/main" id="{0A540346-9307-4A78-8370-A1F47870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9E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9ECE8"/>
                </a:solidFill>
                <a:latin typeface="Microsoft YaHei"/>
                <a:ea typeface="Microsoft YaHei"/>
                <a:cs typeface="Microsoft YaHei"/>
              </a:rPr>
              <a:t>交通数据挖掘理论与应用</a:t>
            </a:r>
          </a:p>
        </p:txBody>
      </p:sp>
      <p:sp>
        <p:nvSpPr>
          <p:cNvPr id="5" name="道路早高峰调查需要观测多少天？">
            <a:extLst xmlns:a="http://schemas.openxmlformats.org/drawingml/2006/main">
              <a:ext uri="{FF2B5EF4-FFF2-40B4-BE49-F238E27FC236}">
                <a16:creationId xmlns:a16="http://schemas.microsoft.com/office/drawing/2014/main" id="{4277C311-0923-4DE5-9C5C-EE2A0E23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9E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9ECE8"/>
                </a:solidFill>
                <a:latin typeface="Microsoft YaHei"/>
                <a:ea typeface="Microsoft YaHei"/>
                <a:cs typeface="Microsoft YaHei"/>
              </a:rPr>
              <a:t>道路早高峰调查需要观测多少天？</a:t>
            </a:r>
          </a:p>
        </p:txBody>
      </p:sp>
    </p:spTree>
    <p:extLst>
      <p:ext uri="{BB962C8B-B14F-4D97-AF65-F5344CB8AC3E}">
        <p14:creationId xmlns:p14="http://schemas.microsoft.com/office/powerpoint/2010/main" val="19484389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本章学习目标">
            <a:extLst xmlns:a="http://schemas.openxmlformats.org/drawingml/2006/main">
              <a:ext uri="{FF2B5EF4-FFF2-40B4-BE49-F238E27FC236}">
                <a16:creationId xmlns:a16="http://schemas.microsoft.com/office/drawing/2014/main" id="{D8C2458D-7694-4213-A77B-62EFE99F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本章学习目标</a:t>
            </a:r>
          </a:p>
        </p:txBody>
      </p:sp>
      <p:sp>
        <p:nvSpPr>
          <p:cNvPr id="2" name="第3章 数理理论基础">
            <a:extLst xmlns:a="http://schemas.openxmlformats.org/drawingml/2006/main">
              <a:ext uri="{FF2B5EF4-FFF2-40B4-BE49-F238E27FC236}">
                <a16:creationId xmlns:a16="http://schemas.microsoft.com/office/drawing/2014/main" id="{DDB4E20A-E2A2-419A-96C9-75C12255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CF10544A-5D66-4D2B-9051-0C85FD80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明确调查总体、抽样日期和交通量统计口径。">
            <a:extLst xmlns:a="http://schemas.openxmlformats.org/drawingml/2006/main">
              <a:ext uri="{FF2B5EF4-FFF2-40B4-BE49-F238E27FC236}">
                <a16:creationId xmlns:a16="http://schemas.microsoft.com/office/drawing/2014/main" id="{4B84E204-974E-4681-86BE-9DDCBB64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明确调查总体、抽样日期和交通量统计口径。</a:t>
            </a:r>
          </a:p>
        </p:txBody>
      </p:sp>
      <p:sp>
        <p:nvSpPr>
          <p:cNvPr id="5" name="用变化率、概率和矩阵描述交通观测与模型。">
            <a:extLst xmlns:a="http://schemas.openxmlformats.org/drawingml/2006/main">
              <a:ext uri="{FF2B5EF4-FFF2-40B4-BE49-F238E27FC236}">
                <a16:creationId xmlns:a16="http://schemas.microsoft.com/office/drawing/2014/main" id="{34D1305E-4089-419D-B4FE-23F44734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用变化率、概率和矩阵描述交通观测与模型。</a:t>
            </a:r>
          </a:p>
        </p:txBody>
      </p:sp>
      <p:sp>
        <p:nvSpPr>
          <p:cNvPr id="6" name="比较抽样规模及区间宽度，解释调查结论的不确定性。">
            <a:extLst xmlns:a="http://schemas.openxmlformats.org/drawingml/2006/main">
              <a:ext uri="{FF2B5EF4-FFF2-40B4-BE49-F238E27FC236}">
                <a16:creationId xmlns:a16="http://schemas.microsoft.com/office/drawing/2014/main" id="{80A18C2E-E710-43DB-AC38-9C283C49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比较抽样规模及区间宽度，解释调查结论的不确定性。</a:t>
            </a:r>
          </a:p>
        </p:txBody>
      </p:sp>
      <p:sp>
        <p:nvSpPr>
          <p:cNvPr id="7" name="理解损失函数、梯度下降与时间外推评价的关系。">
            <a:extLst xmlns:a="http://schemas.openxmlformats.org/drawingml/2006/main">
              <a:ext uri="{FF2B5EF4-FFF2-40B4-BE49-F238E27FC236}">
                <a16:creationId xmlns:a16="http://schemas.microsoft.com/office/drawing/2014/main" id="{A0DF2FBC-B618-40E9-B364-0CA7D20A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理解损失函数、梯度下降与时间外推评价的关系。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9DA17F83-97DF-49E8-9C7A-EE63F370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d8b637088384f35"/>
              </a:rPr>
              <a:t>配套交互课堂与章节实践</a:t>
            </a:r>
          </a:p>
        </p:txBody>
      </p:sp>
    </p:spTree>
    <p:extLst>
      <p:ext uri="{BB962C8B-B14F-4D97-AF65-F5344CB8AC3E}">
        <p14:creationId xmlns:p14="http://schemas.microsoft.com/office/powerpoint/2010/main" val="17480797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早高峰调查的精度与工作量">
            <a:extLst xmlns:a="http://schemas.openxmlformats.org/drawingml/2006/main">
              <a:ext uri="{FF2B5EF4-FFF2-40B4-BE49-F238E27FC236}">
                <a16:creationId xmlns:a16="http://schemas.microsoft.com/office/drawing/2014/main" id="{6ACB5EFE-F81F-4457-A3F1-1FF7AFD3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早高峰调查的精度与工作量</a:t>
            </a:r>
          </a:p>
        </p:txBody>
      </p:sp>
      <p:sp>
        <p:nvSpPr>
          <p:cNvPr id="2" name="第3章 数理理论基础   导入">
            <a:extLst xmlns:a="http://schemas.openxmlformats.org/drawingml/2006/main">
              <a:ext uri="{FF2B5EF4-FFF2-40B4-BE49-F238E27FC236}">
                <a16:creationId xmlns:a16="http://schemas.microsoft.com/office/drawing/2014/main" id="{7F0C6035-B4FE-4CA8-BDC0-96F45989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   导入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D8C9498B-FAA1-4D0E-810B-0F4EFFE9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监测部门希望以部分日期估计该断面的早间交通量。">
            <a:extLst xmlns:a="http://schemas.openxmlformats.org/drawingml/2006/main">
              <a:ext uri="{FF2B5EF4-FFF2-40B4-BE49-F238E27FC236}">
                <a16:creationId xmlns:a16="http://schemas.microsoft.com/office/drawing/2014/main" id="{6D293C69-35DD-4295-BC64-8371D1DA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监测部门希望以部分日期估计该断面的早间交通量。</a:t>
            </a:r>
          </a:p>
        </p:txBody>
      </p:sp>
      <p:sp>
        <p:nvSpPr>
          <p:cNvPr id="5" name="第二章已完成小时记录整编。本章只使用07、08、09">
            <a:extLst xmlns:a="http://schemas.openxmlformats.org/drawingml/2006/main">
              <a:ext uri="{FF2B5EF4-FFF2-40B4-BE49-F238E27FC236}">
                <a16:creationId xmlns:a16="http://schemas.microsoft.com/office/drawing/2014/main" id="{DF477F51-4385-4E4A-B4E1-8318F89E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第二章已完成小时记录整编。本章只使用07、08、09时均有记录的358个日期。</a:t>
            </a:r>
          </a:p>
        </p:txBody>
      </p:sp>
      <p:sp>
        <p:nvSpPr>
          <p:cNvPr id="6" name="课程指定三小时观察窗口，尚未逐日识别实际高峰。调查结">
            <a:extLst xmlns:a="http://schemas.openxmlformats.org/drawingml/2006/main">
              <a:ext uri="{FF2B5EF4-FFF2-40B4-BE49-F238E27FC236}">
                <a16:creationId xmlns:a16="http://schemas.microsoft.com/office/drawing/2014/main" id="{055110E8-F07D-4676-B718-E0A2B1F8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课程指定三小时观察窗口，尚未逐日识别实际高峰。调查结论限定于这一断面与这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一时期。</a:t>
            </a:r>
          </a:p>
        </p:txBody>
      </p:sp>
      <p:sp>
        <p:nvSpPr>
          <p:cNvPr id="7" name="课堂讨论：少调查一天节省了工作量，怎样判断估计结果是">
            <a:extLst xmlns:a="http://schemas.openxmlformats.org/drawingml/2006/main">
              <a:ext uri="{FF2B5EF4-FFF2-40B4-BE49-F238E27FC236}">
                <a16:creationId xmlns:a16="http://schemas.microsoft.com/office/drawing/2014/main" id="{78CA955B-E3BE-45FA-8E30-941B22D7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课堂讨论：少调查一天节省了工作量，怎样判断估计结果是否仍然可用？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1F218C7A-341D-405A-9699-6C145E75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6fb09ef9cf94286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563928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调查总体与统计量">
            <a:extLst xmlns:a="http://schemas.openxmlformats.org/drawingml/2006/main">
              <a:ext uri="{FF2B5EF4-FFF2-40B4-BE49-F238E27FC236}">
                <a16:creationId xmlns:a16="http://schemas.microsoft.com/office/drawing/2014/main" id="{CF4603DE-E2DD-43D2-8C0E-170F05A1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调查总体与统计量</a:t>
            </a:r>
          </a:p>
        </p:txBody>
      </p:sp>
      <p:sp>
        <p:nvSpPr>
          <p:cNvPr id="2" name="第3章 数理理论基础   3.2">
            <a:extLst xmlns:a="http://schemas.openxmlformats.org/drawingml/2006/main">
              <a:ext uri="{FF2B5EF4-FFF2-40B4-BE49-F238E27FC236}">
                <a16:creationId xmlns:a16="http://schemas.microsoft.com/office/drawing/2014/main" id="{4A070F16-B2EF-4FA1-B4F1-26431469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   3.2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913C853C-AC95-4B63-9E72-9BC525E0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先明确要估计的量，再选择计算方法。">
            <a:extLst xmlns:a="http://schemas.openxmlformats.org/drawingml/2006/main">
              <a:ext uri="{FF2B5EF4-FFF2-40B4-BE49-F238E27FC236}">
                <a16:creationId xmlns:a16="http://schemas.microsoft.com/office/drawing/2014/main" id="{6B4236E5-8BD6-4D1B-BA2A-B85577B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先明确要估计的量，再选择计算方法。</a:t>
            </a:r>
          </a:p>
        </p:txBody>
      </p:sp>
      <p:sp>
        <p:nvSpPr>
          <p:cNvPr id="5" name="q̄_d = (q_d,07 + q_d,08 + ">
            <a:extLst xmlns:a="http://schemas.openxmlformats.org/drawingml/2006/main">
              <a:ext uri="{FF2B5EF4-FFF2-40B4-BE49-F238E27FC236}">
                <a16:creationId xmlns:a16="http://schemas.microsoft.com/office/drawing/2014/main" id="{87B9DA5E-2142-49CB-8D8E-3C3EB214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q̄_d = (q_d,07 + q_d,08 + q_d,09) / 3</a:t>
            </a:r>
          </a:p>
        </p:txBody>
      </p:sp>
      <p:sp>
        <p:nvSpPr>
          <p:cNvPr id="6" name="q_d,h：第d日h时段交通量，辆/小时。q̄_d：">
            <a:extLst xmlns:a="http://schemas.openxmlformats.org/drawingml/2006/main">
              <a:ext uri="{FF2B5EF4-FFF2-40B4-BE49-F238E27FC236}">
                <a16:creationId xmlns:a16="http://schemas.microsoft.com/office/drawing/2014/main" id="{29B2641C-528B-414E-BC35-216AFA4E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q_d,h：第d日h时段交通量，辆/小时。q̄_d：该日指定窗口的平均交通量。</a:t>
            </a:r>
          </a:p>
        </p:txBody>
      </p:sp>
      <p:sp>
        <p:nvSpPr>
          <p:cNvPr id="7" name="每日三小时均值保持单位为辆/小时，三小时累计量则以辆">
            <a:extLst xmlns:a="http://schemas.openxmlformats.org/drawingml/2006/main">
              <a:ext uri="{FF2B5EF4-FFF2-40B4-BE49-F238E27FC236}">
                <a16:creationId xmlns:a16="http://schemas.microsoft.com/office/drawing/2014/main" id="{AD8F93CE-8FA5-4A55-A0FD-EC5DCA45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每日三小时均值保持单位为辆/小时，三小时累计量则以辆表示。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5622F135-BDB6-4C43-A694-E434A6BC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c1e9eab2d574b27"/>
              </a:rPr>
              <a:t>公式解释与交通问题讨论</a:t>
            </a:r>
          </a:p>
        </p:txBody>
      </p:sp>
    </p:spTree>
    <p:extLst>
      <p:ext uri="{BB962C8B-B14F-4D97-AF65-F5344CB8AC3E}">
        <p14:creationId xmlns:p14="http://schemas.microsoft.com/office/powerpoint/2010/main" val="8762068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交通量的变化率">
            <a:extLst xmlns:a="http://schemas.openxmlformats.org/drawingml/2006/main">
              <a:ext uri="{FF2B5EF4-FFF2-40B4-BE49-F238E27FC236}">
                <a16:creationId xmlns:a16="http://schemas.microsoft.com/office/drawing/2014/main" id="{AE1A7BD3-5205-4FC5-A988-8ADF96F8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交通量的变化率</a:t>
            </a:r>
          </a:p>
        </p:txBody>
      </p:sp>
      <p:sp>
        <p:nvSpPr>
          <p:cNvPr id="2" name="第3章 数理理论基础   3.1">
            <a:extLst xmlns:a="http://schemas.openxmlformats.org/drawingml/2006/main">
              <a:ext uri="{FF2B5EF4-FFF2-40B4-BE49-F238E27FC236}">
                <a16:creationId xmlns:a16="http://schemas.microsoft.com/office/drawing/2014/main" id="{7963E33E-5FB5-4D79-891F-15B66B73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   3.1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044F7D81-21E1-4AAC-A527-0B19FA37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变化率描述曲线在局部如何变化。">
            <a:extLst xmlns:a="http://schemas.openxmlformats.org/drawingml/2006/main">
              <a:ext uri="{FF2B5EF4-FFF2-40B4-BE49-F238E27FC236}">
                <a16:creationId xmlns:a16="http://schemas.microsoft.com/office/drawing/2014/main" id="{D0F8435F-529F-4830-9857-637B90B6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变化率描述曲线在局部如何变化。</a:t>
            </a:r>
          </a:p>
        </p:txBody>
      </p:sp>
      <p:sp>
        <p:nvSpPr>
          <p:cNvPr id="5" name="相邻日期早间均值之差可以描述日际变化，但不能等同于日">
            <a:extLst xmlns:a="http://schemas.openxmlformats.org/drawingml/2006/main">
              <a:ext uri="{FF2B5EF4-FFF2-40B4-BE49-F238E27FC236}">
                <a16:creationId xmlns:a16="http://schemas.microsoft.com/office/drawing/2014/main" id="{7E488690-0556-4AA3-98BF-B1A845F4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相邻日期早间均值之差可以描述日际变化，但不能等同于日内交通流的瞬时变化率。</a:t>
            </a:r>
          </a:p>
        </p:txBody>
      </p:sp>
      <p:sp>
        <p:nvSpPr>
          <p:cNvPr id="6" name="导数适用于可微函数。离散监测数据需要说明差分步长，跨">
            <a:extLst xmlns:a="http://schemas.openxmlformats.org/drawingml/2006/main">
              <a:ext uri="{FF2B5EF4-FFF2-40B4-BE49-F238E27FC236}">
                <a16:creationId xmlns:a16="http://schemas.microsoft.com/office/drawing/2014/main" id="{D179584D-F303-40E1-8992-CC1C483E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导数适用于可微函数。离散监测数据需要说明差分步长，跨缺测间隔不能仍除以一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天。</a:t>
            </a:r>
          </a:p>
        </p:txBody>
      </p:sp>
      <p:sp>
        <p:nvSpPr>
          <p:cNvPr id="7" name="课堂讨论：日期之间相隔两天时，差分分母应该怎样变化？">
            <a:extLst xmlns:a="http://schemas.openxmlformats.org/drawingml/2006/main">
              <a:ext uri="{FF2B5EF4-FFF2-40B4-BE49-F238E27FC236}">
                <a16:creationId xmlns:a16="http://schemas.microsoft.com/office/drawing/2014/main" id="{C8A6D789-4CC2-45D9-9176-697204F5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课堂讨论：日期之间相隔两天时，差分分母应该怎样变化？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82FC5123-C628-4A2C-B320-0881D9C0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1c7be140c244eac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8983512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交通量的变化率：计算结果">
            <a:extLst xmlns:a="http://schemas.openxmlformats.org/drawingml/2006/main">
              <a:ext uri="{FF2B5EF4-FFF2-40B4-BE49-F238E27FC236}">
                <a16:creationId xmlns:a16="http://schemas.microsoft.com/office/drawing/2014/main" id="{483B97FB-F6C2-46D8-938B-D1CB2901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交通量的变化率：计算结果</a:t>
            </a:r>
          </a:p>
        </p:txBody>
      </p:sp>
      <p:sp>
        <p:nvSpPr>
          <p:cNvPr id="2" name="第3章 数理理论基础   3.1">
            <a:extLst xmlns:a="http://schemas.openxmlformats.org/drawingml/2006/main">
              <a:ext uri="{FF2B5EF4-FFF2-40B4-BE49-F238E27FC236}">
                <a16:creationId xmlns:a16="http://schemas.microsoft.com/office/drawing/2014/main" id="{E11D40BB-8B5C-4258-AEE9-15C2FC7F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   3.1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DDE468CA-736C-43D7-822B-A0E623B2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根据真实观测在浏览器重新计算">
            <a:extLst xmlns:a="http://schemas.openxmlformats.org/drawingml/2006/main">
              <a:ext uri="{FF2B5EF4-FFF2-40B4-BE49-F238E27FC236}">
                <a16:creationId xmlns:a16="http://schemas.microsoft.com/office/drawing/2014/main" id="{82412D5A-8103-4757-AC47-3A2D30D6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根据真实观测在浏览器重新计算</a:t>
            </a:r>
          </a:p>
        </p:txBody>
      </p:sp>
      <p:sp>
        <p:nvSpPr>
          <p:cNvPr id="5" name="日际变化率（辆/小时/天）">
            <a:extLst xmlns:a="http://schemas.openxmlformats.org/drawingml/2006/main">
              <a:ext uri="{FF2B5EF4-FFF2-40B4-BE49-F238E27FC236}">
                <a16:creationId xmlns:a16="http://schemas.microsoft.com/office/drawing/2014/main" id="{D32A8D37-0EFA-4935-BC45-956DDF52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日际变化率（辆/小时/天）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4d164152eb409a"/>
          </a:graphicData>
        </a:graphic>
      </p:graphicFrame>
      <p:sp>
        <p:nvSpPr>
          <p:cNvPr id="7" name="仅展示抽样框前31个有效日期的日际变化。">
            <a:extLst xmlns:a="http://schemas.openxmlformats.org/drawingml/2006/main">
              <a:ext uri="{FF2B5EF4-FFF2-40B4-BE49-F238E27FC236}">
                <a16:creationId xmlns:a16="http://schemas.microsoft.com/office/drawing/2014/main" id="{376A71B0-74E8-4906-B718-0F3F18B6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仅展示抽样框前31个有效日期的日际变化。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E3306EFA-15E2-4670-B3B5-8F2CBE72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feed74b0603438d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14783208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损失函数的梯度">
            <a:extLst xmlns:a="http://schemas.openxmlformats.org/drawingml/2006/main">
              <a:ext uri="{FF2B5EF4-FFF2-40B4-BE49-F238E27FC236}">
                <a16:creationId xmlns:a16="http://schemas.microsoft.com/office/drawing/2014/main" id="{C2E2BC1C-500D-4C86-BEF0-B57D842F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损失函数的梯度</a:t>
            </a:r>
          </a:p>
        </p:txBody>
      </p:sp>
      <p:sp>
        <p:nvSpPr>
          <p:cNvPr id="2" name="第3章 数理理论基础   3.1 / 3.4">
            <a:extLst xmlns:a="http://schemas.openxmlformats.org/drawingml/2006/main">
              <a:ext uri="{FF2B5EF4-FFF2-40B4-BE49-F238E27FC236}">
                <a16:creationId xmlns:a16="http://schemas.microsoft.com/office/drawing/2014/main" id="{74BE26C8-4911-45AD-9341-42275578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   3.1 / 3.4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35414748-948B-4E58-8CAD-A9F9831B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参数变化如何影响拟合误差？">
            <a:extLst xmlns:a="http://schemas.openxmlformats.org/drawingml/2006/main">
              <a:ext uri="{FF2B5EF4-FFF2-40B4-BE49-F238E27FC236}">
                <a16:creationId xmlns:a16="http://schemas.microsoft.com/office/drawing/2014/main" id="{4C158648-B92E-4CFF-93DA-7EFCD914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参数变化如何影响拟合误差？</a:t>
            </a:r>
          </a:p>
        </p:txBody>
      </p:sp>
      <p:sp>
        <p:nvSpPr>
          <p:cNvPr id="5" name="L(θ) = mean[(q̄_d − θ)²]&#10;θ">
            <a:extLst xmlns:a="http://schemas.openxmlformats.org/drawingml/2006/main">
              <a:ext uri="{FF2B5EF4-FFF2-40B4-BE49-F238E27FC236}">
                <a16:creationId xmlns:a16="http://schemas.microsoft.com/office/drawing/2014/main" id="{B32F2EAC-B7D2-492B-9B5B-44630189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L(θ) = mean[(q̄_d − θ)²]</a:t>
            </a:r>
          </a:p>
          <a:p xmlns:a="http://schemas.openxmlformats.org/drawingml/2006/main">
            <a:pPr algn="l">
              <a:def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θ_new = θ − η · 2(θ − mean(q̄_d))</a:t>
            </a:r>
          </a:p>
        </p:txBody>
      </p:sp>
      <p:sp>
        <p:nvSpPr>
          <p:cNvPr id="6" name="q̄_d：第d日窗口均值。θ、θ_new：更新前后估">
            <a:extLst xmlns:a="http://schemas.openxmlformats.org/drawingml/2006/main">
              <a:ext uri="{FF2B5EF4-FFF2-40B4-BE49-F238E27FC236}">
                <a16:creationId xmlns:a16="http://schemas.microsoft.com/office/drawing/2014/main" id="{F5D76DF6-3825-4B9A-8FBD-35E4BCC4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q̄_d：第d日窗口均值。θ、θ_new：更新前后估计，辆/小时。L：均方误差，(辆/小时)²。η：学习率。mean：对完整日期取平均。</a:t>
            </a:r>
          </a:p>
        </p:txBody>
      </p:sp>
      <p:sp>
        <p:nvSpPr>
          <p:cNvPr id="7" name="本实验用单一常数θ估计各日早间交通量，以均方误差作为">
            <a:extLst xmlns:a="http://schemas.openxmlformats.org/drawingml/2006/main">
              <a:ext uri="{FF2B5EF4-FFF2-40B4-BE49-F238E27FC236}">
                <a16:creationId xmlns:a16="http://schemas.microsoft.com/office/drawing/2014/main" id="{2F1ABB87-AAB6-4284-961B-F5BDA48B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本实验用单一常数θ估计各日早间交通量，以均方误差作为目标。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7D91528E-7692-4DDF-8663-2002BDFA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c50fea9e9044388"/>
              </a:rPr>
              <a:t>公式解释与交通问题讨论</a:t>
            </a:r>
          </a:p>
        </p:txBody>
      </p:sp>
    </p:spTree>
    <p:extLst>
      <p:ext uri="{BB962C8B-B14F-4D97-AF65-F5344CB8AC3E}">
        <p14:creationId xmlns:p14="http://schemas.microsoft.com/office/powerpoint/2010/main" val="20402798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损失函数的梯度：计算结果">
            <a:extLst xmlns:a="http://schemas.openxmlformats.org/drawingml/2006/main">
              <a:ext uri="{FF2B5EF4-FFF2-40B4-BE49-F238E27FC236}">
                <a16:creationId xmlns:a16="http://schemas.microsoft.com/office/drawing/2014/main" id="{FD0F04F6-E3FC-4E76-8DED-A2FD3330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损失函数的梯度：计算结果</a:t>
            </a:r>
          </a:p>
        </p:txBody>
      </p:sp>
      <p:sp>
        <p:nvSpPr>
          <p:cNvPr id="2" name="第3章 数理理论基础   3.1 / 3.4">
            <a:extLst xmlns:a="http://schemas.openxmlformats.org/drawingml/2006/main">
              <a:ext uri="{FF2B5EF4-FFF2-40B4-BE49-F238E27FC236}">
                <a16:creationId xmlns:a16="http://schemas.microsoft.com/office/drawing/2014/main" id="{7F4AC72A-80BA-44A1-B535-CC8EF136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   3.1 / 3.4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A64D6620-EB45-4775-8544-D1BE4B4E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在真实交通量上执行常数最小二乘梯度下降">
            <a:extLst xmlns:a="http://schemas.openxmlformats.org/drawingml/2006/main">
              <a:ext uri="{FF2B5EF4-FFF2-40B4-BE49-F238E27FC236}">
                <a16:creationId xmlns:a16="http://schemas.microsoft.com/office/drawing/2014/main" id="{C49A62E5-718A-4D9C-8025-0C8B3696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在真实交通量上执行常数最小二乘梯度下降</a:t>
            </a:r>
          </a:p>
        </p:txBody>
      </p:sp>
      <p:sp>
        <p:nvSpPr>
          <p:cNvPr id="5" name="默认配置：学习率：0.15，迭代次数：15，初始估计">
            <a:extLst xmlns:a="http://schemas.openxmlformats.org/drawingml/2006/main">
              <a:ext uri="{FF2B5EF4-FFF2-40B4-BE49-F238E27FC236}">
                <a16:creationId xmlns:a16="http://schemas.microsoft.com/office/drawing/2014/main" id="{B2EA1FC7-F3FC-44E5-84B4-887D7EDC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默认配置：学习率：0.15，迭代次数：15，初始估计（辆/小时）：0</a:t>
            </a:r>
          </a:p>
        </p:txBody>
      </p:sp>
      <p:sp>
        <p:nvSpPr>
          <p:cNvPr id="6" name="常数估计（辆/小时）">
            <a:extLst xmlns:a="http://schemas.openxmlformats.org/drawingml/2006/main">
              <a:ext uri="{FF2B5EF4-FFF2-40B4-BE49-F238E27FC236}">
                <a16:creationId xmlns:a16="http://schemas.microsoft.com/office/drawing/2014/main" id="{5E8CAF22-9373-4AA9-BB61-F5D37E80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常数估计（辆/小时）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89b2125ea74ce6"/>
          </a:graphicData>
        </a:graphic>
      </p:graphicFrame>
      <p:sp>
        <p:nvSpPr>
          <p:cNvPr id="8" name="真实358日的常数模型优化，不是留出预测成绩。">
            <a:extLst xmlns:a="http://schemas.openxmlformats.org/drawingml/2006/main">
              <a:ext uri="{FF2B5EF4-FFF2-40B4-BE49-F238E27FC236}">
                <a16:creationId xmlns:a16="http://schemas.microsoft.com/office/drawing/2014/main" id="{F45E5F84-12A8-4585-9884-613BED75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真实358日的常数模型优化，不是留出预测成绩。</a:t>
            </a:r>
          </a:p>
        </p:txBody>
      </p:sp>
      <p:sp>
        <p:nvSpPr>
          <p:cNvPr id="9" name="link">
            <a:extLst xmlns:a="http://schemas.openxmlformats.org/drawingml/2006/main">
              <a:ext uri="{FF2B5EF4-FFF2-40B4-BE49-F238E27FC236}">
                <a16:creationId xmlns:a16="http://schemas.microsoft.com/office/drawing/2014/main" id="{4C108D3C-8114-49E3-8F71-FDCCAF46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7b7fd7b13ce4e9a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2999030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局部近似与约束优化">
            <a:extLst xmlns:a="http://schemas.openxmlformats.org/drawingml/2006/main">
              <a:ext uri="{FF2B5EF4-FFF2-40B4-BE49-F238E27FC236}">
                <a16:creationId xmlns:a16="http://schemas.microsoft.com/office/drawing/2014/main" id="{5D184ACD-589A-400F-8031-9E4E5A1B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局部近似与约束优化</a:t>
            </a:r>
          </a:p>
        </p:txBody>
      </p:sp>
      <p:sp>
        <p:nvSpPr>
          <p:cNvPr id="2" name="第3章 数理理论基础   3.1">
            <a:extLst xmlns:a="http://schemas.openxmlformats.org/drawingml/2006/main">
              <a:ext uri="{FF2B5EF4-FFF2-40B4-BE49-F238E27FC236}">
                <a16:creationId xmlns:a16="http://schemas.microsoft.com/office/drawing/2014/main" id="{8E67D2A7-B834-4F35-A303-23CAE2A5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   3.1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C670D9F7-2431-4CB2-866E-0E7DFFA5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数学近似需要明确适用范围。">
            <a:extLst xmlns:a="http://schemas.openxmlformats.org/drawingml/2006/main">
              <a:ext uri="{FF2B5EF4-FFF2-40B4-BE49-F238E27FC236}">
                <a16:creationId xmlns:a16="http://schemas.microsoft.com/office/drawing/2014/main" id="{A911FE84-3E2E-40F5-A844-028F87AD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数学近似需要明确适用范围。</a:t>
            </a:r>
          </a:p>
        </p:txBody>
      </p:sp>
      <p:sp>
        <p:nvSpPr>
          <p:cNvPr id="5" name="泰勒展开在给定点附近用多项式近似函数，离展开点较远时">
            <a:extLst xmlns:a="http://schemas.openxmlformats.org/drawingml/2006/main">
              <a:ext uri="{FF2B5EF4-FFF2-40B4-BE49-F238E27FC236}">
                <a16:creationId xmlns:a16="http://schemas.microsoft.com/office/drawing/2014/main" id="{1100B523-98C5-4206-8AEE-45DFFBAE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泰勒展开在给定点附近用多项式近似函数，离展开点较远时须检查近似误差。</a:t>
            </a:r>
          </a:p>
        </p:txBody>
      </p:sp>
      <p:sp>
        <p:nvSpPr>
          <p:cNvPr id="6" name="调查预算可写成日期成本的约束。拉格朗日乘子法把目标和">
            <a:extLst xmlns:a="http://schemas.openxmlformats.org/drawingml/2006/main">
              <a:ext uri="{FF2B5EF4-FFF2-40B4-BE49-F238E27FC236}">
                <a16:creationId xmlns:a16="http://schemas.microsoft.com/office/drawing/2014/main" id="{7FF3A301-B5F4-4814-9C54-B7B0E967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调查预算可写成日期成本的约束。拉格朗日乘子法把目标和约束联系起来，但乘子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的交通含义取决于所定义的成本与目标。</a:t>
            </a:r>
          </a:p>
        </p:txBody>
      </p:sp>
      <p:sp>
        <p:nvSpPr>
          <p:cNvPr id="7" name="课堂讨论：没有调查成本资料时，能否直接声称某样本量最">
            <a:extLst xmlns:a="http://schemas.openxmlformats.org/drawingml/2006/main">
              <a:ext uri="{FF2B5EF4-FFF2-40B4-BE49-F238E27FC236}">
                <a16:creationId xmlns:a16="http://schemas.microsoft.com/office/drawing/2014/main" id="{145EA0BF-B86C-4E2B-9EF9-7DB88DD3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课堂讨论：没有调查成本资料时，能否直接声称某样本量最经济？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DD3D8074-3768-44A6-A30E-99BB1FDA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06408478b384f0d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8292715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日期类型与交通量分布">
            <a:extLst xmlns:a="http://schemas.openxmlformats.org/drawingml/2006/main">
              <a:ext uri="{FF2B5EF4-FFF2-40B4-BE49-F238E27FC236}">
                <a16:creationId xmlns:a16="http://schemas.microsoft.com/office/drawing/2014/main" id="{544FB647-E210-4416-B671-3C32DDFA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日期类型与交通量分布</a:t>
            </a:r>
          </a:p>
        </p:txBody>
      </p:sp>
      <p:sp>
        <p:nvSpPr>
          <p:cNvPr id="2" name="第3章 数理理论基础   3.2">
            <a:extLst xmlns:a="http://schemas.openxmlformats.org/drawingml/2006/main">
              <a:ext uri="{FF2B5EF4-FFF2-40B4-BE49-F238E27FC236}">
                <a16:creationId xmlns:a16="http://schemas.microsoft.com/office/drawing/2014/main" id="{083248F9-DD88-449F-9ED7-960E3DFB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   3.2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7BC4E0F4-00C7-4BA9-9ED6-6B093F10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通勤相关时段与周末活动可能具有不同分布。">
            <a:extLst xmlns:a="http://schemas.openxmlformats.org/drawingml/2006/main">
              <a:ext uri="{FF2B5EF4-FFF2-40B4-BE49-F238E27FC236}">
                <a16:creationId xmlns:a16="http://schemas.microsoft.com/office/drawing/2014/main" id="{9A91BE29-190E-4251-8EF1-2057ECCB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通勤相关时段与周末活动可能具有不同分布。</a:t>
            </a:r>
          </a:p>
        </p:txBody>
      </p:sp>
      <p:sp>
        <p:nvSpPr>
          <p:cNvPr id="5" name="分别计算周一至周五、周六至周日的日期均值，观察位置和">
            <a:extLst xmlns:a="http://schemas.openxmlformats.org/drawingml/2006/main">
              <a:ext uri="{FF2B5EF4-FFF2-40B4-BE49-F238E27FC236}">
                <a16:creationId xmlns:a16="http://schemas.microsoft.com/office/drawing/2014/main" id="{CFA5B8BC-45C5-4F1D-8D7D-19C8033A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分别计算周一至周五、周六至周日的日期均值，观察位置和离散程度。</a:t>
            </a:r>
          </a:p>
        </p:txBody>
      </p:sp>
      <p:sp>
        <p:nvSpPr>
          <p:cNvPr id="6" name="本页按星期分组，没有剔除节假日，因此不把周一至周五自">
            <a:extLst xmlns:a="http://schemas.openxmlformats.org/drawingml/2006/main">
              <a:ext uri="{FF2B5EF4-FFF2-40B4-BE49-F238E27FC236}">
                <a16:creationId xmlns:a16="http://schemas.microsoft.com/office/drawing/2014/main" id="{5C09FDAA-EF9E-4F23-8B4C-88330FA2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本页按星期分组，没有剔除节假日，因此不把周一至周五自动称为工作日。</a:t>
            </a:r>
          </a:p>
        </p:txBody>
      </p:sp>
      <p:sp>
        <p:nvSpPr>
          <p:cNvPr id="7" name="课堂讨论：混合日期平均值能代表通勤日的典型运行水平吗">
            <a:extLst xmlns:a="http://schemas.openxmlformats.org/drawingml/2006/main">
              <a:ext uri="{FF2B5EF4-FFF2-40B4-BE49-F238E27FC236}">
                <a16:creationId xmlns:a16="http://schemas.microsoft.com/office/drawing/2014/main" id="{46AF55CD-A88F-4EF9-8EB5-CA96336F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课堂讨论：混合日期平均值能代表通勤日的典型运行水平吗？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DDA19F82-687F-4D34-B042-5E9CB2C7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420d8c459824d80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20726738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日期类型与交通量分布：计算结果">
            <a:extLst xmlns:a="http://schemas.openxmlformats.org/drawingml/2006/main">
              <a:ext uri="{FF2B5EF4-FFF2-40B4-BE49-F238E27FC236}">
                <a16:creationId xmlns:a16="http://schemas.microsoft.com/office/drawing/2014/main" id="{837F690D-7090-4C5D-9F38-3F43B0D2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日期类型与交通量分布：计算结果</a:t>
            </a:r>
          </a:p>
        </p:txBody>
      </p:sp>
      <p:sp>
        <p:nvSpPr>
          <p:cNvPr id="2" name="第3章 数理理论基础   3.2">
            <a:extLst xmlns:a="http://schemas.openxmlformats.org/drawingml/2006/main">
              <a:ext uri="{FF2B5EF4-FFF2-40B4-BE49-F238E27FC236}">
                <a16:creationId xmlns:a16="http://schemas.microsoft.com/office/drawing/2014/main" id="{75585CF1-6812-4775-AB4E-CE0B9B9B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   3.2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4F076E89-417D-45FE-B688-75C5ABF4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根据真实观测在浏览器重新计算">
            <a:extLst xmlns:a="http://schemas.openxmlformats.org/drawingml/2006/main">
              <a:ext uri="{FF2B5EF4-FFF2-40B4-BE49-F238E27FC236}">
                <a16:creationId xmlns:a16="http://schemas.microsoft.com/office/drawing/2014/main" id="{0E953FF1-7A39-43A9-B120-D0D22780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根据真实观测在浏览器重新计算</a:t>
            </a:r>
          </a:p>
        </p:txBody>
      </p:sp>
      <p:sp>
        <p:nvSpPr>
          <p:cNvPr id="5" name="平均交通量（辆/小时）">
            <a:extLst xmlns:a="http://schemas.openxmlformats.org/drawingml/2006/main">
              <a:ext uri="{FF2B5EF4-FFF2-40B4-BE49-F238E27FC236}">
                <a16:creationId xmlns:a16="http://schemas.microsoft.com/office/drawing/2014/main" id="{20619969-68E3-4985-AEEE-D3DFC48D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平均交通量（辆/小时）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c2544d239a4856"/>
          </a:graphicData>
        </a:graphic>
      </p:graphicFrame>
      <p:sp>
        <p:nvSpPr>
          <p:cNvPr id="7" name="只描述完整日期文件，不剔除节假日。">
            <a:extLst xmlns:a="http://schemas.openxmlformats.org/drawingml/2006/main">
              <a:ext uri="{FF2B5EF4-FFF2-40B4-BE49-F238E27FC236}">
                <a16:creationId xmlns:a16="http://schemas.microsoft.com/office/drawing/2014/main" id="{33175E4F-CF55-4E56-BB97-21184206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只描述完整日期文件，不剔除节假日。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3BDC51FC-8848-4F5E-9E22-558BE599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56a7435ad744e06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4608786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条件概率的交通含义">
            <a:extLst xmlns:a="http://schemas.openxmlformats.org/drawingml/2006/main">
              <a:ext uri="{FF2B5EF4-FFF2-40B4-BE49-F238E27FC236}">
                <a16:creationId xmlns:a16="http://schemas.microsoft.com/office/drawing/2014/main" id="{240A3BEB-9D8F-44B0-A585-BC7C6C42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条件概率的交通含义</a:t>
            </a:r>
          </a:p>
        </p:txBody>
      </p:sp>
      <p:sp>
        <p:nvSpPr>
          <p:cNvPr id="2" name="第3章 数理理论基础   3.2">
            <a:extLst xmlns:a="http://schemas.openxmlformats.org/drawingml/2006/main">
              <a:ext uri="{FF2B5EF4-FFF2-40B4-BE49-F238E27FC236}">
                <a16:creationId xmlns:a16="http://schemas.microsoft.com/office/drawing/2014/main" id="{258C366E-F9F1-4607-8964-4807A327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   3.2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233E0D89-92BC-4CAC-ACC1-CE801C97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条件概率回答给定观测条件后的比例。">
            <a:extLst xmlns:a="http://schemas.openxmlformats.org/drawingml/2006/main">
              <a:ext uri="{FF2B5EF4-FFF2-40B4-BE49-F238E27FC236}">
                <a16:creationId xmlns:a16="http://schemas.microsoft.com/office/drawing/2014/main" id="{2A1AA953-74C3-4E37-A2B4-F4C0E2CE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条件概率回答给定观测条件后的比例。</a:t>
            </a:r>
          </a:p>
        </p:txBody>
      </p:sp>
      <p:sp>
        <p:nvSpPr>
          <p:cNvPr id="5" name="P̂(A | G) = n(A ∩ G) / n(G">
            <a:extLst xmlns:a="http://schemas.openxmlformats.org/drawingml/2006/main">
              <a:ext uri="{FF2B5EF4-FFF2-40B4-BE49-F238E27FC236}">
                <a16:creationId xmlns:a16="http://schemas.microsoft.com/office/drawing/2014/main" id="{F546491A-75A2-43F5-AB16-49640816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P̂(A | G) = n(A ∩ G) / n(G)</a:t>
            </a:r>
          </a:p>
        </p:txBody>
      </p:sp>
      <p:sp>
        <p:nvSpPr>
          <p:cNvPr id="6" name="A：早间均值超过给定阈值。G：指定日期组。n：文件中">
            <a:extLst xmlns:a="http://schemas.openxmlformats.org/drawingml/2006/main">
              <a:ext uri="{FF2B5EF4-FFF2-40B4-BE49-F238E27FC236}">
                <a16:creationId xmlns:a16="http://schemas.microsoft.com/office/drawing/2014/main" id="{5FE19256-32CD-4531-9812-B14FEFEB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A：早间均值超过给定阈值。G：指定日期组。n：文件中满足条件的日期数。</a:t>
            </a:r>
          </a:p>
        </p:txBody>
      </p:sp>
      <p:sp>
        <p:nvSpPr>
          <p:cNvPr id="7" name="把“早间均值超过阈值”定义为事件，再比较两类日期中的">
            <a:extLst xmlns:a="http://schemas.openxmlformats.org/drawingml/2006/main">
              <a:ext uri="{FF2B5EF4-FFF2-40B4-BE49-F238E27FC236}">
                <a16:creationId xmlns:a16="http://schemas.microsoft.com/office/drawing/2014/main" id="{5CB8466C-E6F3-47AC-9E36-C541B0BC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把“早间均值超过阈值”定义为事件，再比较两类日期中的经验发生比例。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AE278A74-9A9F-4013-872F-F8EC4644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cb960492aa940b3"/>
              </a:rPr>
              <a:t>公式解释与交通问题讨论</a:t>
            </a:r>
          </a:p>
        </p:txBody>
      </p:sp>
    </p:spTree>
    <p:extLst>
      <p:ext uri="{BB962C8B-B14F-4D97-AF65-F5344CB8AC3E}">
        <p14:creationId xmlns:p14="http://schemas.microsoft.com/office/powerpoint/2010/main" val="5353246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条件概率的交通含义：计算结果">
            <a:extLst xmlns:a="http://schemas.openxmlformats.org/drawingml/2006/main">
              <a:ext uri="{FF2B5EF4-FFF2-40B4-BE49-F238E27FC236}">
                <a16:creationId xmlns:a16="http://schemas.microsoft.com/office/drawing/2014/main" id="{FBFBD36C-7F4E-4E54-953D-4E9D094E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条件概率的交通含义：计算结果</a:t>
            </a:r>
          </a:p>
        </p:txBody>
      </p:sp>
      <p:sp>
        <p:nvSpPr>
          <p:cNvPr id="2" name="第3章 数理理论基础   3.2">
            <a:extLst xmlns:a="http://schemas.openxmlformats.org/drawingml/2006/main">
              <a:ext uri="{FF2B5EF4-FFF2-40B4-BE49-F238E27FC236}">
                <a16:creationId xmlns:a16="http://schemas.microsoft.com/office/drawing/2014/main" id="{827FE944-95DA-4DD5-A90C-011E5D59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   3.2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986EFDCE-3433-4821-BB7D-FC5A0EBD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根据真实观测在浏览器重新计算">
            <a:extLst xmlns:a="http://schemas.openxmlformats.org/drawingml/2006/main">
              <a:ext uri="{FF2B5EF4-FFF2-40B4-BE49-F238E27FC236}">
                <a16:creationId xmlns:a16="http://schemas.microsoft.com/office/drawing/2014/main" id="{AAE25A57-0FF3-4778-8416-E98C3A1C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根据真实观测在浏览器重新计算</a:t>
            </a:r>
          </a:p>
        </p:txBody>
      </p:sp>
      <p:sp>
        <p:nvSpPr>
          <p:cNvPr id="5" name="默认配置：均值阈值（辆/小时）：5000">
            <a:extLst xmlns:a="http://schemas.openxmlformats.org/drawingml/2006/main">
              <a:ext uri="{FF2B5EF4-FFF2-40B4-BE49-F238E27FC236}">
                <a16:creationId xmlns:a16="http://schemas.microsoft.com/office/drawing/2014/main" id="{4E26839A-DF87-43C3-B12C-D545D1B0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默认配置：均值阈值（辆/小时）：5000</a:t>
            </a:r>
          </a:p>
        </p:txBody>
      </p:sp>
      <p:sp>
        <p:nvSpPr>
          <p:cNvPr id="6" name="超过阈值比例（%）">
            <a:extLst xmlns:a="http://schemas.openxmlformats.org/drawingml/2006/main">
              <a:ext uri="{FF2B5EF4-FFF2-40B4-BE49-F238E27FC236}">
                <a16:creationId xmlns:a16="http://schemas.microsoft.com/office/drawing/2014/main" id="{81E85203-B672-4436-8B83-4D090989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超过阈值比例（%）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61a9a657a0474f"/>
          </a:graphicData>
        </a:graphic>
      </p:graphicFrame>
      <p:sp>
        <p:nvSpPr>
          <p:cNvPr id="8" name="只描述完整日期文件，不剔除节假日。">
            <a:extLst xmlns:a="http://schemas.openxmlformats.org/drawingml/2006/main">
              <a:ext uri="{FF2B5EF4-FFF2-40B4-BE49-F238E27FC236}">
                <a16:creationId xmlns:a16="http://schemas.microsoft.com/office/drawing/2014/main" id="{9F956FE7-C681-4DA8-A3A0-E6761880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只描述完整日期文件，不剔除节假日。</a:t>
            </a:r>
          </a:p>
        </p:txBody>
      </p:sp>
      <p:sp>
        <p:nvSpPr>
          <p:cNvPr id="9" name="link">
            <a:extLst xmlns:a="http://schemas.openxmlformats.org/drawingml/2006/main">
              <a:ext uri="{FF2B5EF4-FFF2-40B4-BE49-F238E27FC236}">
                <a16:creationId xmlns:a16="http://schemas.microsoft.com/office/drawing/2014/main" id="{7F45C67B-7CB7-40BA-9ED9-191F0BF3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31f7551584b4111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371722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贝叶斯公式与信息更新">
            <a:extLst xmlns:a="http://schemas.openxmlformats.org/drawingml/2006/main">
              <a:ext uri="{FF2B5EF4-FFF2-40B4-BE49-F238E27FC236}">
                <a16:creationId xmlns:a16="http://schemas.microsoft.com/office/drawing/2014/main" id="{92005D2E-B487-4D33-9F37-02BA851A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贝叶斯公式与信息更新</a:t>
            </a:r>
          </a:p>
        </p:txBody>
      </p:sp>
      <p:sp>
        <p:nvSpPr>
          <p:cNvPr id="2" name="第3章 数理理论基础   3.2">
            <a:extLst xmlns:a="http://schemas.openxmlformats.org/drawingml/2006/main">
              <a:ext uri="{FF2B5EF4-FFF2-40B4-BE49-F238E27FC236}">
                <a16:creationId xmlns:a16="http://schemas.microsoft.com/office/drawing/2014/main" id="{E103C515-0F8B-4AFB-8313-9DF09A6F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   3.2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741DB6F8-CDDD-4DFA-A2E7-E98B453E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“给定日期类型观察到高交通量”与逆向判断是两个问题。">
            <a:extLst xmlns:a="http://schemas.openxmlformats.org/drawingml/2006/main">
              <a:ext uri="{FF2B5EF4-FFF2-40B4-BE49-F238E27FC236}">
                <a16:creationId xmlns:a16="http://schemas.microsoft.com/office/drawing/2014/main" id="{FA1CF51B-66DC-432B-A01F-755CFBC4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“给定日期类型观察到高交通量”与逆向判断是两个问题。</a:t>
            </a:r>
          </a:p>
        </p:txBody>
      </p:sp>
      <p:sp>
        <p:nvSpPr>
          <p:cNvPr id="5" name="P(G | A) = P(A | G)P(G) / ">
            <a:extLst xmlns:a="http://schemas.openxmlformats.org/drawingml/2006/main">
              <a:ext uri="{FF2B5EF4-FFF2-40B4-BE49-F238E27FC236}">
                <a16:creationId xmlns:a16="http://schemas.microsoft.com/office/drawing/2014/main" id="{C3ED4234-5D76-4BB4-8AC0-E400B20A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P(G | A) = P(A | G)P(G) / P(A)</a:t>
            </a:r>
          </a:p>
        </p:txBody>
      </p:sp>
      <p:sp>
        <p:nvSpPr>
          <p:cNvPr id="6" name="P(G)：日期类型先验比例。P(A)：事件总概率，须">
            <a:extLst xmlns:a="http://schemas.openxmlformats.org/drawingml/2006/main">
              <a:ext uri="{FF2B5EF4-FFF2-40B4-BE49-F238E27FC236}">
                <a16:creationId xmlns:a16="http://schemas.microsoft.com/office/drawing/2014/main" id="{48302535-3E85-4DBE-AE64-336DF05C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P(G)：日期类型先验比例。P(A)：事件总概率，须大于0。</a:t>
            </a:r>
          </a:p>
        </p:txBody>
      </p:sp>
      <p:sp>
        <p:nvSpPr>
          <p:cNvPr id="7" name="P(A|G)表示某类日期出现事件A的概率。P(G|A">
            <a:extLst xmlns:a="http://schemas.openxmlformats.org/drawingml/2006/main">
              <a:ext uri="{FF2B5EF4-FFF2-40B4-BE49-F238E27FC236}">
                <a16:creationId xmlns:a16="http://schemas.microsoft.com/office/drawing/2014/main" id="{9C7755A4-EA4B-4F01-93B1-A3EC7CC7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P(A|G)表示某类日期出现事件A的概率。P(G|A)则询问事件A出现时属于该类日期的可能性。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D1ADE1E5-604F-4F8E-B6B2-BD91144F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5ad2bba63d04088"/>
              </a:rPr>
              <a:t>公式解释与交通问题讨论</a:t>
            </a:r>
          </a:p>
        </p:txBody>
      </p:sp>
    </p:spTree>
    <p:extLst>
      <p:ext uri="{BB962C8B-B14F-4D97-AF65-F5344CB8AC3E}">
        <p14:creationId xmlns:p14="http://schemas.microsoft.com/office/powerpoint/2010/main" val="11039387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交通观测的矩阵表示">
            <a:extLst xmlns:a="http://schemas.openxmlformats.org/drawingml/2006/main">
              <a:ext uri="{FF2B5EF4-FFF2-40B4-BE49-F238E27FC236}">
                <a16:creationId xmlns:a16="http://schemas.microsoft.com/office/drawing/2014/main" id="{09CA8590-3384-438E-8CE9-30F3A85D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交通观测的矩阵表示</a:t>
            </a:r>
          </a:p>
        </p:txBody>
      </p:sp>
      <p:sp>
        <p:nvSpPr>
          <p:cNvPr id="2" name="第3章 数理理论基础   3.3">
            <a:extLst xmlns:a="http://schemas.openxmlformats.org/drawingml/2006/main">
              <a:ext uri="{FF2B5EF4-FFF2-40B4-BE49-F238E27FC236}">
                <a16:creationId xmlns:a16="http://schemas.microsoft.com/office/drawing/2014/main" id="{3AD3918B-A60A-49D6-A779-83E8AB5F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   3.3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339A12EB-A0E1-47B5-9CB4-553B4FD6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样本行与变量列共同确定模型输入。">
            <a:extLst xmlns:a="http://schemas.openxmlformats.org/drawingml/2006/main">
              <a:ext uri="{FF2B5EF4-FFF2-40B4-BE49-F238E27FC236}">
                <a16:creationId xmlns:a16="http://schemas.microsoft.com/office/drawing/2014/main" id="{5A56BB26-AE9A-4B0E-A472-D599DF8B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样本行与变量列共同确定模型输入。</a:t>
            </a:r>
          </a:p>
        </p:txBody>
      </p:sp>
      <p:sp>
        <p:nvSpPr>
          <p:cNvPr id="5" name="X ∈ ℝ^(n×p)，β ∈ ℝ^p，ŷ = Xβ">
            <a:extLst xmlns:a="http://schemas.openxmlformats.org/drawingml/2006/main">
              <a:ext uri="{FF2B5EF4-FFF2-40B4-BE49-F238E27FC236}">
                <a16:creationId xmlns:a16="http://schemas.microsoft.com/office/drawing/2014/main" id="{2399F8F2-BB1F-4B34-BC37-98F19DE9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X ∈ ℝ^(n×p)，β ∈ ℝ^p，ŷ = Xβ</a:t>
            </a:r>
          </a:p>
        </p:txBody>
      </p:sp>
      <p:sp>
        <p:nvSpPr>
          <p:cNvPr id="6" name="X：设计矩阵。n：样本数。p：设计列数，含截距列。β">
            <a:extLst xmlns:a="http://schemas.openxmlformats.org/drawingml/2006/main">
              <a:ext uri="{FF2B5EF4-FFF2-40B4-BE49-F238E27FC236}">
                <a16:creationId xmlns:a16="http://schemas.microsoft.com/office/drawing/2014/main" id="{B0ABD41B-7AD9-400F-B228-54E0C5C8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X：设计矩阵。n：样本数。p：设计列数，含截距列。β：列对应系数。ŷ：n维估计向量。ℝ：实数集合。</a:t>
            </a:r>
          </a:p>
        </p:txBody>
      </p:sp>
      <p:sp>
        <p:nvSpPr>
          <p:cNvPr id="7" name="n个日期、p个特征可组织为n×p矩阵X。行号需要与交">
            <a:extLst xmlns:a="http://schemas.openxmlformats.org/drawingml/2006/main">
              <a:ext uri="{FF2B5EF4-FFF2-40B4-BE49-F238E27FC236}">
                <a16:creationId xmlns:a16="http://schemas.microsoft.com/office/drawing/2014/main" id="{673518DA-3360-4105-8501-7ADD1818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n个日期、p个特征可组织为n×p矩阵X。行号需要与交通量标签y逐行对齐。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5954AF76-3795-4792-827F-2E5BEDB9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bd4e4c06f58487f"/>
              </a:rPr>
              <a:t>公式解释与交通问题讨论</a:t>
            </a:r>
          </a:p>
        </p:txBody>
      </p:sp>
    </p:spTree>
    <p:extLst>
      <p:ext uri="{BB962C8B-B14F-4D97-AF65-F5344CB8AC3E}">
        <p14:creationId xmlns:p14="http://schemas.microsoft.com/office/powerpoint/2010/main" val="10043568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阵分解与交通特征压缩">
            <a:extLst xmlns:a="http://schemas.openxmlformats.org/drawingml/2006/main">
              <a:ext uri="{FF2B5EF4-FFF2-40B4-BE49-F238E27FC236}">
                <a16:creationId xmlns:a16="http://schemas.microsoft.com/office/drawing/2014/main" id="{220F00FE-D892-4868-8C25-CA6968A9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矩阵分解与交通特征压缩</a:t>
            </a:r>
          </a:p>
        </p:txBody>
      </p:sp>
      <p:sp>
        <p:nvSpPr>
          <p:cNvPr id="2" name="第3章 数理理论基础   3.3">
            <a:extLst xmlns:a="http://schemas.openxmlformats.org/drawingml/2006/main">
              <a:ext uri="{FF2B5EF4-FFF2-40B4-BE49-F238E27FC236}">
                <a16:creationId xmlns:a16="http://schemas.microsoft.com/office/drawing/2014/main" id="{B7BF379D-D9A3-4451-84F6-8E40E4FB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   3.3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1F18FEBF-DA85-4E0A-BDDA-F40B28B3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相关特征可用较少的方向描述。">
            <a:extLst xmlns:a="http://schemas.openxmlformats.org/drawingml/2006/main">
              <a:ext uri="{FF2B5EF4-FFF2-40B4-BE49-F238E27FC236}">
                <a16:creationId xmlns:a16="http://schemas.microsoft.com/office/drawing/2014/main" id="{DD281FCD-A4CE-4B81-A0BA-D20CC1EE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相关特征可用较少的方向描述。</a:t>
            </a:r>
          </a:p>
        </p:txBody>
      </p:sp>
      <p:sp>
        <p:nvSpPr>
          <p:cNvPr id="5" name="PCA在训练数据上确定方差较大的方向，尺度差异明显时">
            <a:extLst xmlns:a="http://schemas.openxmlformats.org/drawingml/2006/main">
              <a:ext uri="{FF2B5EF4-FFF2-40B4-BE49-F238E27FC236}">
                <a16:creationId xmlns:a16="http://schemas.microsoft.com/office/drawing/2014/main" id="{47D404EC-568E-4138-9C11-78D21F33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PCA在训练数据上确定方差较大的方向，尺度差异明显时需先讨论标准化。</a:t>
            </a:r>
          </a:p>
        </p:txBody>
      </p:sp>
      <p:sp>
        <p:nvSpPr>
          <p:cNvPr id="6" name="解释方差高不保证对交通量预测更有用。降维后的主成分也">
            <a:extLst xmlns:a="http://schemas.openxmlformats.org/drawingml/2006/main">
              <a:ext uri="{FF2B5EF4-FFF2-40B4-BE49-F238E27FC236}">
                <a16:creationId xmlns:a16="http://schemas.microsoft.com/office/drawing/2014/main" id="{99DD5855-2275-44F1-87BC-FA2FB7F0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解释方差高不保证对交通量预测更有用。降维后的主成分也不自动对应某种交通机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理。</a:t>
            </a:r>
          </a:p>
        </p:txBody>
      </p:sp>
      <p:sp>
        <p:nvSpPr>
          <p:cNvPr id="7" name="课堂讨论：为何需要在训练集拟合标准化和降维，而不能先">
            <a:extLst xmlns:a="http://schemas.openxmlformats.org/drawingml/2006/main">
              <a:ext uri="{FF2B5EF4-FFF2-40B4-BE49-F238E27FC236}">
                <a16:creationId xmlns:a16="http://schemas.microsoft.com/office/drawing/2014/main" id="{7C2826B7-54C1-4C62-9013-5EB0F639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课堂讨论：为何需要在训练集拟合标准化和降维，而不能先处理全体数据？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3ACDA5BB-02D9-4DF2-A00E-655AA32D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3b7bf75254541ba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7843963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抽样日期数与区间宽度">
            <a:extLst xmlns:a="http://schemas.openxmlformats.org/drawingml/2006/main">
              <a:ext uri="{FF2B5EF4-FFF2-40B4-BE49-F238E27FC236}">
                <a16:creationId xmlns:a16="http://schemas.microsoft.com/office/drawing/2014/main" id="{AA1DCD61-8349-4C68-8F16-1183E4B6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抽样日期数与区间宽度</a:t>
            </a:r>
          </a:p>
        </p:txBody>
      </p:sp>
      <p:sp>
        <p:nvSpPr>
          <p:cNvPr id="2" name="第3章 数理理论基础   3.2 / 3.5">
            <a:extLst xmlns:a="http://schemas.openxmlformats.org/drawingml/2006/main">
              <a:ext uri="{FF2B5EF4-FFF2-40B4-BE49-F238E27FC236}">
                <a16:creationId xmlns:a16="http://schemas.microsoft.com/office/drawing/2014/main" id="{D6488034-DE00-4424-9D3D-B2AE0AB3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   3.2 / 3.5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81C99F04-711D-4A07-B94A-9823848F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用20、60、90天方案比较调查精度。">
            <a:extLst xmlns:a="http://schemas.openxmlformats.org/drawingml/2006/main">
              <a:ext uri="{FF2B5EF4-FFF2-40B4-BE49-F238E27FC236}">
                <a16:creationId xmlns:a16="http://schemas.microsoft.com/office/drawing/2014/main" id="{E26549E0-8F80-44E1-B9BC-710EF9F9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用20、60、90天方案比较调查精度。</a:t>
            </a:r>
          </a:p>
        </p:txBody>
      </p:sp>
      <p:sp>
        <p:nvSpPr>
          <p:cNvPr id="5" name="固定种子42和1000次重采样，较小样本嵌套于较大样">
            <a:extLst xmlns:a="http://schemas.openxmlformats.org/drawingml/2006/main">
              <a:ext uri="{FF2B5EF4-FFF2-40B4-BE49-F238E27FC236}">
                <a16:creationId xmlns:a16="http://schemas.microsoft.com/office/drawing/2014/main" id="{3867DACF-9BF3-4BEA-B649-4C16183F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固定种子42和1000次重采样，较小样本嵌套于较大样本，减少无关变化。</a:t>
            </a:r>
          </a:p>
        </p:txBody>
      </p:sp>
      <p:sp>
        <p:nvSpPr>
          <p:cNvPr id="6" name="比较点估计和区间宽度。一次样本量增加不保证每个区间端">
            <a:extLst xmlns:a="http://schemas.openxmlformats.org/drawingml/2006/main">
              <a:ext uri="{FF2B5EF4-FFF2-40B4-BE49-F238E27FC236}">
                <a16:creationId xmlns:a16="http://schemas.microsoft.com/office/drawing/2014/main" id="{D6B97EDD-F974-4203-A424-B00B6E65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比较点估计和区间宽度。一次样本量增加不保证每个区间端点单调变化。</a:t>
            </a:r>
          </a:p>
        </p:txBody>
      </p:sp>
      <p:sp>
        <p:nvSpPr>
          <p:cNvPr id="7" name="课堂讨论：你会选择哪个调查方案？还需要什么成本和精度">
            <a:extLst xmlns:a="http://schemas.openxmlformats.org/drawingml/2006/main">
              <a:ext uri="{FF2B5EF4-FFF2-40B4-BE49-F238E27FC236}">
                <a16:creationId xmlns:a16="http://schemas.microsoft.com/office/drawing/2014/main" id="{E94CF74F-0151-460B-A628-1EB82A6F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课堂讨论：你会选择哪个调查方案？还需要什么成本和精度要求？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7C6183EC-E655-4801-AC0E-2D2289C7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b766d2fd8e54f6d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9000394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抽样日期数与区间宽度：计算结果">
            <a:extLst xmlns:a="http://schemas.openxmlformats.org/drawingml/2006/main">
              <a:ext uri="{FF2B5EF4-FFF2-40B4-BE49-F238E27FC236}">
                <a16:creationId xmlns:a16="http://schemas.microsoft.com/office/drawing/2014/main" id="{557F2EC9-3312-49A5-A360-B495EBA0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抽样日期数与区间宽度：计算结果</a:t>
            </a:r>
          </a:p>
        </p:txBody>
      </p:sp>
      <p:sp>
        <p:nvSpPr>
          <p:cNvPr id="2" name="第3章 数理理论基础   3.2 / 3.5">
            <a:extLst xmlns:a="http://schemas.openxmlformats.org/drawingml/2006/main">
              <a:ext uri="{FF2B5EF4-FFF2-40B4-BE49-F238E27FC236}">
                <a16:creationId xmlns:a16="http://schemas.microsoft.com/office/drawing/2014/main" id="{D599FCDA-C630-4E2B-BC12-79D98C63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   3.2 / 3.5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A1A305BD-417B-42D8-8333-16864A6F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根据真实观测在浏览器重新计算">
            <a:extLst xmlns:a="http://schemas.openxmlformats.org/drawingml/2006/main">
              <a:ext uri="{FF2B5EF4-FFF2-40B4-BE49-F238E27FC236}">
                <a16:creationId xmlns:a16="http://schemas.microsoft.com/office/drawing/2014/main" id="{CDCF8475-8A4D-4F4F-A831-DAD537CA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根据真实观测在浏览器重新计算</a:t>
            </a:r>
          </a:p>
        </p:txBody>
      </p:sp>
      <p:sp>
        <p:nvSpPr>
          <p:cNvPr id="5" name="默认配置：日期总体：全部完整日期，随机种子：42">
            <a:extLst xmlns:a="http://schemas.openxmlformats.org/drawingml/2006/main">
              <a:ext uri="{FF2B5EF4-FFF2-40B4-BE49-F238E27FC236}">
                <a16:creationId xmlns:a16="http://schemas.microsoft.com/office/drawing/2014/main" id="{8DB88636-147A-4A3E-A0B8-C69E07B1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默认配置：日期总体：全部完整日期，随机种子：42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85800" y="2352675"/>
          <a:ext xmlns:a="http://schemas.openxmlformats.org/drawingml/2006/main" cx="10820400" cy="1981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66875"/>
                <a:gridCol w="1143000"/>
                <a:gridCol w="2095500"/>
                <a:gridCol w="1971675"/>
                <a:gridCol w="1971675"/>
                <a:gridCol w="1971675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日期数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估计均值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下限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上限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区间宽度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20天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4807.7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4060.4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5450.9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1390.5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60天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4698.0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4270.0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5110.3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840.4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90天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4629.6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4269.9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4969.5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699.7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</a:tbl>
          </a:graphicData>
        </a:graphic>
      </p:graphicFrame>
      <p:sp>
        <p:nvSpPr>
          <p:cNvPr id="7" name="单位：辆/小时。文件参考均值不代表未知总体的真值。">
            <a:extLst xmlns:a="http://schemas.openxmlformats.org/drawingml/2006/main">
              <a:ext uri="{FF2B5EF4-FFF2-40B4-BE49-F238E27FC236}">
                <a16:creationId xmlns:a16="http://schemas.microsoft.com/office/drawing/2014/main" id="{17B963BC-7109-4427-939F-7A9E4DFA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单位：辆/小时。文件参考均值不代表未知总体的真值。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824BF39E-4BEB-4BB2-B891-A7FEB7E2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7087667e26e4419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8894129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日级Bootstrap百分位区间">
            <a:extLst xmlns:a="http://schemas.openxmlformats.org/drawingml/2006/main">
              <a:ext uri="{FF2B5EF4-FFF2-40B4-BE49-F238E27FC236}">
                <a16:creationId xmlns:a16="http://schemas.microsoft.com/office/drawing/2014/main" id="{31FC72FE-9AC3-4D1B-9742-B37E5797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日级Bootstrap百分位区间</a:t>
            </a:r>
          </a:p>
        </p:txBody>
      </p:sp>
      <p:sp>
        <p:nvSpPr>
          <p:cNvPr id="2" name="第3章 数理理论基础   3.2">
            <a:extLst xmlns:a="http://schemas.openxmlformats.org/drawingml/2006/main">
              <a:ext uri="{FF2B5EF4-FFF2-40B4-BE49-F238E27FC236}">
                <a16:creationId xmlns:a16="http://schemas.microsoft.com/office/drawing/2014/main" id="{FDAFDF63-1773-4D71-92B7-D68996AC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   3.2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31FEFEE9-FF5A-47A5-9114-2155F3DA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重复抽取已有样本，近似描述均值的波动。">
            <a:extLst xmlns:a="http://schemas.openxmlformats.org/drawingml/2006/main">
              <a:ext uri="{FF2B5EF4-FFF2-40B4-BE49-F238E27FC236}">
                <a16:creationId xmlns:a16="http://schemas.microsoft.com/office/drawing/2014/main" id="{249007A1-9085-4269-A544-87E72F78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重复抽取已有样本，近似描述均值的波动。</a:t>
            </a:r>
          </a:p>
        </p:txBody>
      </p:sp>
      <p:sp>
        <p:nvSpPr>
          <p:cNvPr id="5" name="先从抽样框无放回选取n日，再从这n日有放回抽取n日，">
            <a:extLst xmlns:a="http://schemas.openxmlformats.org/drawingml/2006/main">
              <a:ext uri="{FF2B5EF4-FFF2-40B4-BE49-F238E27FC236}">
                <a16:creationId xmlns:a16="http://schemas.microsoft.com/office/drawing/2014/main" id="{8283BE99-A6FD-43A8-8B00-CA944756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先从抽样框无放回选取n日，再从这n日有放回抽取n日，计算一次均值。重复B次。</a:t>
            </a:r>
          </a:p>
        </p:txBody>
      </p:sp>
      <p:sp>
        <p:nvSpPr>
          <p:cNvPr id="6" name="取重采样均值的2.5%和97.5%分位数。增加B提高">
            <a:extLst xmlns:a="http://schemas.openxmlformats.org/drawingml/2006/main">
              <a:ext uri="{FF2B5EF4-FFF2-40B4-BE49-F238E27FC236}">
                <a16:creationId xmlns:a16="http://schemas.microsoft.com/office/drawing/2014/main" id="{99F3CFE3-A4E5-41C4-912C-9E98E762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取重采样均值的2.5%和97.5%分位数。增加B提高数值稳定性，不会增加实际调查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日期。</a:t>
            </a:r>
          </a:p>
        </p:txBody>
      </p:sp>
      <p:sp>
        <p:nvSpPr>
          <p:cNvPr id="7" name="课堂讨论：把B从200增至2000，是否相当于增加了">
            <a:extLst xmlns:a="http://schemas.openxmlformats.org/drawingml/2006/main">
              <a:ext uri="{FF2B5EF4-FFF2-40B4-BE49-F238E27FC236}">
                <a16:creationId xmlns:a16="http://schemas.microsoft.com/office/drawing/2014/main" id="{A57DA60C-89CF-4747-A5F6-9631CD79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课堂讨论：把B从200增至2000，是否相当于增加了1800天调查？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1DF7D884-1694-417B-B3F7-A90C2AA2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5486b821e4146cf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6917927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日级Bootstrap百分位区间：计算结果">
            <a:extLst xmlns:a="http://schemas.openxmlformats.org/drawingml/2006/main">
              <a:ext uri="{FF2B5EF4-FFF2-40B4-BE49-F238E27FC236}">
                <a16:creationId xmlns:a16="http://schemas.microsoft.com/office/drawing/2014/main" id="{BD31D545-E94D-4787-AB0C-121E87C6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日级Bootstrap百分位区间：计算结果</a:t>
            </a:r>
          </a:p>
        </p:txBody>
      </p:sp>
      <p:sp>
        <p:nvSpPr>
          <p:cNvPr id="2" name="第3章 数理理论基础   3.2">
            <a:extLst xmlns:a="http://schemas.openxmlformats.org/drawingml/2006/main">
              <a:ext uri="{FF2B5EF4-FFF2-40B4-BE49-F238E27FC236}">
                <a16:creationId xmlns:a16="http://schemas.microsoft.com/office/drawing/2014/main" id="{04058AFE-ABED-4BC4-AACA-2C3D89C4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   3.2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36EF044E-C4E1-4D6F-B59F-6677E8CE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根据真实观测在浏览器重新计算">
            <a:extLst xmlns:a="http://schemas.openxmlformats.org/drawingml/2006/main">
              <a:ext uri="{FF2B5EF4-FFF2-40B4-BE49-F238E27FC236}">
                <a16:creationId xmlns:a16="http://schemas.microsoft.com/office/drawing/2014/main" id="{28F9614B-1556-47F5-9A4C-E72CF388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根据真实观测在浏览器重新计算</a:t>
            </a:r>
          </a:p>
        </p:txBody>
      </p:sp>
      <p:sp>
        <p:nvSpPr>
          <p:cNvPr id="5" name="默认配置：日期总体：全部完整日期，随机种子：42">
            <a:extLst xmlns:a="http://schemas.openxmlformats.org/drawingml/2006/main">
              <a:ext uri="{FF2B5EF4-FFF2-40B4-BE49-F238E27FC236}">
                <a16:creationId xmlns:a16="http://schemas.microsoft.com/office/drawing/2014/main" id="{08EC75FC-EE66-4972-AAC5-5309039A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默认配置：日期总体：全部完整日期，随机种子：42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85800" y="2352675"/>
          <a:ext xmlns:a="http://schemas.openxmlformats.org/drawingml/2006/main" cx="10820400" cy="2476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66875"/>
                <a:gridCol w="1143000"/>
                <a:gridCol w="2095500"/>
                <a:gridCol w="1971675"/>
                <a:gridCol w="1971675"/>
                <a:gridCol w="1971675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日期数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估计均值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下限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上限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区间宽度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200次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4698.0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4270.6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5104.8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834.2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500次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4698.0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4240.0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5095.0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855.0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1000次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4698.0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4270.0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5110.3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840.4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2000次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4698.0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4275.3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5105.0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829.6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</a:tr>
            </a:tbl>
          </a:graphicData>
        </a:graphic>
      </p:graphicFrame>
      <p:sp>
        <p:nvSpPr>
          <p:cNvPr id="7" name="单位：辆/小时。文件参考均值不代表未知总体的真值。">
            <a:extLst xmlns:a="http://schemas.openxmlformats.org/drawingml/2006/main">
              <a:ext uri="{FF2B5EF4-FFF2-40B4-BE49-F238E27FC236}">
                <a16:creationId xmlns:a16="http://schemas.microsoft.com/office/drawing/2014/main" id="{E7EC1AC8-B1D8-4590-8D30-D47A3BC1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单位：辆/小时。文件参考均值不代表未知总体的真值。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2ACBC862-B4BA-4829-8711-B139C308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f90d81887f54a57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146568539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更换样本后的结果稳定性">
            <a:extLst xmlns:a="http://schemas.openxmlformats.org/drawingml/2006/main">
              <a:ext uri="{FF2B5EF4-FFF2-40B4-BE49-F238E27FC236}">
                <a16:creationId xmlns:a16="http://schemas.microsoft.com/office/drawing/2014/main" id="{24E25F5F-15F0-44BA-A5B1-5006F1DE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更换样本后的结果稳定性</a:t>
            </a:r>
          </a:p>
        </p:txBody>
      </p:sp>
      <p:sp>
        <p:nvSpPr>
          <p:cNvPr id="2" name="第3章 数理理论基础   3.2 / 3.5">
            <a:extLst xmlns:a="http://schemas.openxmlformats.org/drawingml/2006/main">
              <a:ext uri="{FF2B5EF4-FFF2-40B4-BE49-F238E27FC236}">
                <a16:creationId xmlns:a16="http://schemas.microsoft.com/office/drawing/2014/main" id="{D6755BAE-BF32-487F-A75B-C1DDF2F1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   3.2 / 3.5</a:t>
            </a:r>
          </a:p>
        </p:txBody>
      </p:sp>
      <p:sp>
        <p:nvSpPr>
          <p:cNvPr id="3" name="21">
            <a:extLst xmlns:a="http://schemas.openxmlformats.org/drawingml/2006/main">
              <a:ext uri="{FF2B5EF4-FFF2-40B4-BE49-F238E27FC236}">
                <a16:creationId xmlns:a16="http://schemas.microsoft.com/office/drawing/2014/main" id="{7C6EE98D-FBDE-495E-A5BD-6412B37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" name="相同日期数也会抽到不同交通观测。">
            <a:extLst xmlns:a="http://schemas.openxmlformats.org/drawingml/2006/main">
              <a:ext uri="{FF2B5EF4-FFF2-40B4-BE49-F238E27FC236}">
                <a16:creationId xmlns:a16="http://schemas.microsoft.com/office/drawing/2014/main" id="{5A6C3BCB-1EE3-412C-B47D-7210A34B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相同日期数也会抽到不同交通观测。</a:t>
            </a:r>
          </a:p>
        </p:txBody>
      </p:sp>
      <p:sp>
        <p:nvSpPr>
          <p:cNvPr id="5" name="保持每次60日和B=1000，只更换抽样种子。比较均">
            <a:extLst xmlns:a="http://schemas.openxmlformats.org/drawingml/2006/main">
              <a:ext uri="{FF2B5EF4-FFF2-40B4-BE49-F238E27FC236}">
                <a16:creationId xmlns:a16="http://schemas.microsoft.com/office/drawing/2014/main" id="{1AA8DF31-3695-4E5D-9119-F620A3F4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保持每次60日和B=1000，只更换抽样种子。比较均值与区间的位置变化。</a:t>
            </a:r>
          </a:p>
        </p:txBody>
      </p:sp>
      <p:sp>
        <p:nvSpPr>
          <p:cNvPr id="6" name="六次抽样用于课堂敏感性观察，次数不足以验证95%的长">
            <a:extLst xmlns:a="http://schemas.openxmlformats.org/drawingml/2006/main">
              <a:ext uri="{FF2B5EF4-FFF2-40B4-BE49-F238E27FC236}">
                <a16:creationId xmlns:a16="http://schemas.microsoft.com/office/drawing/2014/main" id="{908FF972-6B9A-4A0B-A145-1EADA6D4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六次抽样用于课堂敏感性观察，次数不足以验证95%的长期覆盖率。</a:t>
            </a:r>
          </a:p>
        </p:txBody>
      </p:sp>
      <p:sp>
        <p:nvSpPr>
          <p:cNvPr id="7" name="课堂讨论：区间相互重叠能否说明两个总体完全相同？">
            <a:extLst xmlns:a="http://schemas.openxmlformats.org/drawingml/2006/main">
              <a:ext uri="{FF2B5EF4-FFF2-40B4-BE49-F238E27FC236}">
                <a16:creationId xmlns:a16="http://schemas.microsoft.com/office/drawing/2014/main" id="{8E944740-3903-4036-8E7F-F60DF231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课堂讨论：区间相互重叠能否说明两个总体完全相同？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47797C68-B8FA-4486-AB7D-122C8E16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12e5aa51a234891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149333281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更换样本后的结果稳定性：计算结果">
            <a:extLst xmlns:a="http://schemas.openxmlformats.org/drawingml/2006/main">
              <a:ext uri="{FF2B5EF4-FFF2-40B4-BE49-F238E27FC236}">
                <a16:creationId xmlns:a16="http://schemas.microsoft.com/office/drawing/2014/main" id="{ACB6FF0B-4A81-4A90-A179-D4381A35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更换样本后的结果稳定性：计算结果</a:t>
            </a:r>
          </a:p>
        </p:txBody>
      </p:sp>
      <p:sp>
        <p:nvSpPr>
          <p:cNvPr id="2" name="第3章 数理理论基础   3.2 / 3.5">
            <a:extLst xmlns:a="http://schemas.openxmlformats.org/drawingml/2006/main">
              <a:ext uri="{FF2B5EF4-FFF2-40B4-BE49-F238E27FC236}">
                <a16:creationId xmlns:a16="http://schemas.microsoft.com/office/drawing/2014/main" id="{7459FC32-4140-4C25-BD59-7C527C09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   3.2 / 3.5</a:t>
            </a:r>
          </a:p>
        </p:txBody>
      </p:sp>
      <p:sp>
        <p:nvSpPr>
          <p:cNvPr id="3" name="22">
            <a:extLst xmlns:a="http://schemas.openxmlformats.org/drawingml/2006/main">
              <a:ext uri="{FF2B5EF4-FFF2-40B4-BE49-F238E27FC236}">
                <a16:creationId xmlns:a16="http://schemas.microsoft.com/office/drawing/2014/main" id="{E12A8B5F-300B-4BCE-8221-8391736C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4" name="根据真实观测在浏览器重新计算">
            <a:extLst xmlns:a="http://schemas.openxmlformats.org/drawingml/2006/main">
              <a:ext uri="{FF2B5EF4-FFF2-40B4-BE49-F238E27FC236}">
                <a16:creationId xmlns:a16="http://schemas.microsoft.com/office/drawing/2014/main" id="{489BA4DD-44DD-4905-A3D8-6A4BB666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根据真实观测在浏览器重新计算</a:t>
            </a:r>
          </a:p>
        </p:txBody>
      </p:sp>
      <p:sp>
        <p:nvSpPr>
          <p:cNvPr id="5" name="默认配置：日期总体：全部完整日期，随机种子：42">
            <a:extLst xmlns:a="http://schemas.openxmlformats.org/drawingml/2006/main">
              <a:ext uri="{FF2B5EF4-FFF2-40B4-BE49-F238E27FC236}">
                <a16:creationId xmlns:a16="http://schemas.microsoft.com/office/drawing/2014/main" id="{4A948E72-845A-43BE-8D67-A20E0BAA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默认配置：日期总体：全部完整日期，随机种子：42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85800" y="2352675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66875"/>
                <a:gridCol w="1143000"/>
                <a:gridCol w="2095500"/>
                <a:gridCol w="1971675"/>
                <a:gridCol w="1971675"/>
                <a:gridCol w="1971675"/>
              </a:tblGrid>
              <a:tr h="4354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日期数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估计均值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下限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上限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区间宽度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</a:tr>
              <a:tr h="4354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种子42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4698.0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4270.0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5110.3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840.4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4354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种子43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4581.5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4152.3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4982.9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830.6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</a:tr>
              <a:tr h="4354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种子44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4478.3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4031.0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4890.3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859.3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4354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种子45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4797.5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4416.5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5197.9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781.4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</a:tr>
              <a:tr h="4354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种子46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4674.0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4267.6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5064.2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796.7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4354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种子47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4751.8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4356.9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5131.1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774.2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</a:tr>
            </a:tbl>
          </a:graphicData>
        </a:graphic>
      </p:graphicFrame>
      <p:sp>
        <p:nvSpPr>
          <p:cNvPr id="7" name="单位：辆/小时。文件参考均值不代表未知总体的真值。">
            <a:extLst xmlns:a="http://schemas.openxmlformats.org/drawingml/2006/main">
              <a:ext uri="{FF2B5EF4-FFF2-40B4-BE49-F238E27FC236}">
                <a16:creationId xmlns:a16="http://schemas.microsoft.com/office/drawing/2014/main" id="{7DC3E2B2-6C74-4CC9-B1E5-EA3E5B21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单位：辆/小时。文件参考均值不代表未知总体的真值。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56C52C5B-92FF-46E2-B311-E8F950E7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003aa71b57747f0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210243811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区间估计的解释边界">
            <a:extLst xmlns:a="http://schemas.openxmlformats.org/drawingml/2006/main">
              <a:ext uri="{FF2B5EF4-FFF2-40B4-BE49-F238E27FC236}">
                <a16:creationId xmlns:a16="http://schemas.microsoft.com/office/drawing/2014/main" id="{BAC4A7E2-F92D-4D68-90AC-C952F727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区间估计的解释边界</a:t>
            </a:r>
          </a:p>
        </p:txBody>
      </p:sp>
      <p:sp>
        <p:nvSpPr>
          <p:cNvPr id="2" name="第3章 数理理论基础   3.2 / 3.5">
            <a:extLst xmlns:a="http://schemas.openxmlformats.org/drawingml/2006/main">
              <a:ext uri="{FF2B5EF4-FFF2-40B4-BE49-F238E27FC236}">
                <a16:creationId xmlns:a16="http://schemas.microsoft.com/office/drawing/2014/main" id="{EAB7948C-E6FC-4BCF-8F20-9B1407D5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   3.2 / 3.5</a:t>
            </a:r>
          </a:p>
        </p:txBody>
      </p:sp>
      <p:sp>
        <p:nvSpPr>
          <p:cNvPr id="3" name="23">
            <a:extLst xmlns:a="http://schemas.openxmlformats.org/drawingml/2006/main">
              <a:ext uri="{FF2B5EF4-FFF2-40B4-BE49-F238E27FC236}">
                <a16:creationId xmlns:a16="http://schemas.microsoft.com/office/drawing/2014/main" id="{62AA1B3D-F63B-48CB-8B72-0242EA7D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4" name="抽样波动与资料偏差需要分别讨论。">
            <a:extLst xmlns:a="http://schemas.openxmlformats.org/drawingml/2006/main">
              <a:ext uri="{FF2B5EF4-FFF2-40B4-BE49-F238E27FC236}">
                <a16:creationId xmlns:a16="http://schemas.microsoft.com/office/drawing/2014/main" id="{6E6EE8B0-4B38-433F-9CBB-7026599D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抽样波动与资料偏差需要分别讨论。</a:t>
            </a:r>
          </a:p>
        </p:txBody>
      </p:sp>
      <p:sp>
        <p:nvSpPr>
          <p:cNvPr id="5" name="百分位Bootstrap依赖样本代表性和日期近似独立">
            <a:extLst xmlns:a="http://schemas.openxmlformats.org/drawingml/2006/main">
              <a:ext uri="{FF2B5EF4-FFF2-40B4-BE49-F238E27FC236}">
                <a16:creationId xmlns:a16="http://schemas.microsoft.com/office/drawing/2014/main" id="{7A00909D-7F65-4113-80C1-5D408DC7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百分位Bootstrap依赖样本代表性和日期近似独立等假设，不能自动消除连续日期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相关。</a:t>
            </a:r>
          </a:p>
        </p:txBody>
      </p:sp>
      <p:sp>
        <p:nvSpPr>
          <p:cNvPr id="6" name="7个不完整日期没有进入抽样框。文件内参考均值也不能当">
            <a:extLst xmlns:a="http://schemas.openxmlformats.org/drawingml/2006/main">
              <a:ext uri="{FF2B5EF4-FFF2-40B4-BE49-F238E27FC236}">
                <a16:creationId xmlns:a16="http://schemas.microsoft.com/office/drawing/2014/main" id="{09AFFE05-D71F-42CC-B3DA-F8000196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7个不完整日期没有进入抽样框。文件内参考均值也不能当作其他年份或其他道路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的真实总体参数。</a:t>
            </a:r>
          </a:p>
        </p:txBody>
      </p:sp>
      <p:sp>
        <p:nvSpPr>
          <p:cNvPr id="7" name="课堂讨论：连续多日区块重采样可以处理哪类问题，又不能">
            <a:extLst xmlns:a="http://schemas.openxmlformats.org/drawingml/2006/main">
              <a:ext uri="{FF2B5EF4-FFF2-40B4-BE49-F238E27FC236}">
                <a16:creationId xmlns:a16="http://schemas.microsoft.com/office/drawing/2014/main" id="{63B57F73-6DFB-4C1F-9CC8-63113666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课堂讨论：连续多日区块重采样可以处理哪类问题，又不能解决哪类问题？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F3DC3B59-9D0F-4BDF-80C4-852976BB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926b275fc484dca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82366222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交通建模任务与评价">
            <a:extLst xmlns:a="http://schemas.openxmlformats.org/drawingml/2006/main">
              <a:ext uri="{FF2B5EF4-FFF2-40B4-BE49-F238E27FC236}">
                <a16:creationId xmlns:a16="http://schemas.microsoft.com/office/drawing/2014/main" id="{CED135A2-C4BE-4375-80BC-605E0C35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交通建模任务与评价</a:t>
            </a:r>
          </a:p>
        </p:txBody>
      </p:sp>
      <p:sp>
        <p:nvSpPr>
          <p:cNvPr id="2" name="第3章 数理理论基础   3.5">
            <a:extLst xmlns:a="http://schemas.openxmlformats.org/drawingml/2006/main">
              <a:ext uri="{FF2B5EF4-FFF2-40B4-BE49-F238E27FC236}">
                <a16:creationId xmlns:a16="http://schemas.microsoft.com/office/drawing/2014/main" id="{CAB8272F-4BB1-4D35-A5F3-25B24F1B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   3.5</a:t>
            </a:r>
          </a:p>
        </p:txBody>
      </p:sp>
      <p:sp>
        <p:nvSpPr>
          <p:cNvPr id="3" name="24">
            <a:extLst xmlns:a="http://schemas.openxmlformats.org/drawingml/2006/main">
              <a:ext uri="{FF2B5EF4-FFF2-40B4-BE49-F238E27FC236}">
                <a16:creationId xmlns:a16="http://schemas.microsoft.com/office/drawing/2014/main" id="{6C81EFFD-A64C-4928-AC6A-7594A7A3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4" name="预测、分类和聚类需要不同的输出与证据。">
            <a:extLst xmlns:a="http://schemas.openxmlformats.org/drawingml/2006/main">
              <a:ext uri="{FF2B5EF4-FFF2-40B4-BE49-F238E27FC236}">
                <a16:creationId xmlns:a16="http://schemas.microsoft.com/office/drawing/2014/main" id="{42915A3F-28F5-4988-BC01-BE3E02D2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预测、分类和聚类需要不同的输出与证据。</a:t>
            </a:r>
          </a:p>
        </p:txBody>
      </p:sp>
      <p:sp>
        <p:nvSpPr>
          <p:cNvPr id="5" name="交通量预测输出数值，出行方式识别输出类别，交通日型聚">
            <a:extLst xmlns:a="http://schemas.openxmlformats.org/drawingml/2006/main">
              <a:ext uri="{FF2B5EF4-FFF2-40B4-BE49-F238E27FC236}">
                <a16:creationId xmlns:a16="http://schemas.microsoft.com/office/drawing/2014/main" id="{E197A9CC-73DD-4D34-9AA6-2942DDB6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交通量预测输出数值，出行方式识别输出类别，交通日型聚类输出相似样本分组。</a:t>
            </a:r>
          </a:p>
        </p:txBody>
      </p:sp>
      <p:sp>
        <p:nvSpPr>
          <p:cNvPr id="6" name="第4章按时间切分数据，第6章明确预测起点，第7章区分">
            <a:extLst xmlns:a="http://schemas.openxmlformats.org/drawingml/2006/main">
              <a:ext uri="{FF2B5EF4-FFF2-40B4-BE49-F238E27FC236}">
                <a16:creationId xmlns:a16="http://schemas.microsoft.com/office/drawing/2014/main" id="{7753E2E2-B243-4BD8-A0FD-84EBE027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第4章按时间切分数据，第6章明确预测起点，第7章区分全月探索与留出预测。</a:t>
            </a:r>
          </a:p>
        </p:txBody>
      </p:sp>
      <p:sp>
        <p:nvSpPr>
          <p:cNvPr id="7" name="课堂讨论：同一模型在随机切分中成绩较好，为什么不能直">
            <a:extLst xmlns:a="http://schemas.openxmlformats.org/drawingml/2006/main">
              <a:ext uri="{FF2B5EF4-FFF2-40B4-BE49-F238E27FC236}">
                <a16:creationId xmlns:a16="http://schemas.microsoft.com/office/drawing/2014/main" id="{9CBC50DA-5CA7-4F77-AE6A-9E0C4AAE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课堂讨论：同一模型在随机切分中成绩较好，为什么不能直接保证未来时段表现？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36D1C2EB-A0AD-46E1-B9B9-1A779ACC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380bbdb23074eca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74619749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抽样结果的代码复核">
            <a:extLst xmlns:a="http://schemas.openxmlformats.org/drawingml/2006/main">
              <a:ext uri="{FF2B5EF4-FFF2-40B4-BE49-F238E27FC236}">
                <a16:creationId xmlns:a16="http://schemas.microsoft.com/office/drawing/2014/main" id="{86647493-B087-48E1-A6F5-6AA380D1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抽样结果的代码复核</a:t>
            </a:r>
          </a:p>
        </p:txBody>
      </p:sp>
      <p:sp>
        <p:nvSpPr>
          <p:cNvPr id="2" name="第3章 数理理论基础   综合">
            <a:extLst xmlns:a="http://schemas.openxmlformats.org/drawingml/2006/main">
              <a:ext uri="{FF2B5EF4-FFF2-40B4-BE49-F238E27FC236}">
                <a16:creationId xmlns:a16="http://schemas.microsoft.com/office/drawing/2014/main" id="{DD64AA76-9DB1-47D6-ADEA-36B89DEF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   综合</a:t>
            </a:r>
          </a:p>
        </p:txBody>
      </p:sp>
      <p:sp>
        <p:nvSpPr>
          <p:cNvPr id="3" name="25">
            <a:extLst xmlns:a="http://schemas.openxmlformats.org/drawingml/2006/main">
              <a:ext uri="{FF2B5EF4-FFF2-40B4-BE49-F238E27FC236}">
                <a16:creationId xmlns:a16="http://schemas.microsoft.com/office/drawing/2014/main" id="{3B81C059-666E-4B63-8AFB-0992D982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4" name="修改日期总体或种子，重新计算真实样本。">
            <a:extLst xmlns:a="http://schemas.openxmlformats.org/drawingml/2006/main">
              <a:ext uri="{FF2B5EF4-FFF2-40B4-BE49-F238E27FC236}">
                <a16:creationId xmlns:a16="http://schemas.microsoft.com/office/drawing/2014/main" id="{F0C1E777-AE08-498A-91ED-0620A55A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修改日期总体或种子，重新计算真实样本。</a:t>
            </a:r>
          </a:p>
        </p:txBody>
      </p:sp>
      <p:sp>
        <p:nvSpPr>
          <p:cNvPr id="5" name="// JavaScript：本机实际执行，可修改参数">
            <a:extLst xmlns:a="http://schemas.openxmlformats.org/drawingml/2006/main">
              <a:ext uri="{FF2B5EF4-FFF2-40B4-BE49-F238E27FC236}">
                <a16:creationId xmlns:a16="http://schemas.microsoft.com/office/drawing/2014/main" id="{D7926849-0B0A-401B-87C4-D7B93110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7429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// JavaScript：本机实际执行，可修改参数。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// data为本章真实快照；runLab为公开计算模块。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const result = runLab("sample-size", data, {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  "group": "all",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  "seed": 42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});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print(result.columns);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print(result.rows);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print(result.note);</a:t>
            </a:r>
          </a:p>
        </p:txBody>
      </p:sp>
      <p:sp>
        <p:nvSpPr>
          <p:cNvPr id="6" name="JavaScript在网页中实际执行。&#10;&#10;Pytho">
            <a:extLst xmlns:a="http://schemas.openxmlformats.org/drawingml/2006/main">
              <a:ext uri="{FF2B5EF4-FFF2-40B4-BE49-F238E27FC236}">
                <a16:creationId xmlns:a16="http://schemas.microsoft.com/office/drawing/2014/main" id="{FBEF950C-AF9F-4506-8050-A005CEBE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47925"/>
            <a:ext cx="28575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JavaScript在网页中实际执行。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Python模型训练使用本章完整工作本。</a:t>
            </a:r>
          </a:p>
        </p:txBody>
      </p:sp>
      <p:sp>
        <p:nvSpPr>
          <p:cNvPr id="7" name="link">
            <a:extLst xmlns:a="http://schemas.openxmlformats.org/drawingml/2006/main">
              <a:ext uri="{FF2B5EF4-FFF2-40B4-BE49-F238E27FC236}">
                <a16:creationId xmlns:a16="http://schemas.microsoft.com/office/drawing/2014/main" id="{7AE1CFE6-239D-4D4D-972A-4ACCEE35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317a1a773434778"/>
              </a:rPr>
              <a:t>打开代码编辑器，修改参数并运行</a:t>
            </a:r>
          </a:p>
        </p:txBody>
      </p:sp>
    </p:spTree>
    <p:extLst>
      <p:ext uri="{BB962C8B-B14F-4D97-AF65-F5344CB8AC3E}">
        <p14:creationId xmlns:p14="http://schemas.microsoft.com/office/powerpoint/2010/main" val="201482930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调查建议的工程表达">
            <a:extLst xmlns:a="http://schemas.openxmlformats.org/drawingml/2006/main">
              <a:ext uri="{FF2B5EF4-FFF2-40B4-BE49-F238E27FC236}">
                <a16:creationId xmlns:a16="http://schemas.microsoft.com/office/drawing/2014/main" id="{26BA2FE3-73B3-43C8-B9B3-B03F4A02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调查建议的工程表达</a:t>
            </a:r>
          </a:p>
        </p:txBody>
      </p:sp>
      <p:sp>
        <p:nvSpPr>
          <p:cNvPr id="2" name="第3章 数理理论基础   3.6 / 综合">
            <a:extLst xmlns:a="http://schemas.openxmlformats.org/drawingml/2006/main">
              <a:ext uri="{FF2B5EF4-FFF2-40B4-BE49-F238E27FC236}">
                <a16:creationId xmlns:a16="http://schemas.microsoft.com/office/drawing/2014/main" id="{B5EB3B51-A8C9-43E8-915B-D93352AC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   3.6 / 综合</a:t>
            </a:r>
          </a:p>
        </p:txBody>
      </p:sp>
      <p:sp>
        <p:nvSpPr>
          <p:cNvPr id="3" name="26">
            <a:extLst xmlns:a="http://schemas.openxmlformats.org/drawingml/2006/main">
              <a:ext uri="{FF2B5EF4-FFF2-40B4-BE49-F238E27FC236}">
                <a16:creationId xmlns:a16="http://schemas.microsoft.com/office/drawing/2014/main" id="{40699894-F260-4DC5-8982-39AF9A7C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4" name="数学结果最终要回到调查任务。">
            <a:extLst xmlns:a="http://schemas.openxmlformats.org/drawingml/2006/main">
              <a:ext uri="{FF2B5EF4-FFF2-40B4-BE49-F238E27FC236}">
                <a16:creationId xmlns:a16="http://schemas.microsoft.com/office/drawing/2014/main" id="{0443A747-C5F7-4706-A4C5-2B21FE63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数学结果最终要回到调查任务。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85800" y="2533650"/>
          <a:ext xmlns:a="http://schemas.openxmlformats.org/drawingml/2006/main" cx="10820400" cy="2381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410200"/>
                <a:gridCol w="5410200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成果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最低要求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抽样调查表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日期、类型、n、seed、B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估计结果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均值、区间、单位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方案比较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/ 60 / 90日同口径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工程解释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适用范围与补充调查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</a:tr>
            </a:tbl>
          </a:graphicData>
        </a:graphic>
      </p:graphicFrame>
      <p:sp>
        <p:nvSpPr>
          <p:cNvPr id="6" name="用两句话向监测部门说明结果可用于什么、不足以支持什么">
            <a:extLst xmlns:a="http://schemas.openxmlformats.org/drawingml/2006/main">
              <a:ext uri="{FF2B5EF4-FFF2-40B4-BE49-F238E27FC236}">
                <a16:creationId xmlns:a16="http://schemas.microsoft.com/office/drawing/2014/main" id="{7050F5D4-C7CB-46EC-AA15-620C9A16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用两句话向监测部门说明结果可用于什么、不足以支持什么。</a:t>
            </a:r>
          </a:p>
        </p:txBody>
      </p:sp>
      <p:sp>
        <p:nvSpPr>
          <p:cNvPr id="7" name="link">
            <a:extLst xmlns:a="http://schemas.openxmlformats.org/drawingml/2006/main">
              <a:ext uri="{FF2B5EF4-FFF2-40B4-BE49-F238E27FC236}">
                <a16:creationId xmlns:a16="http://schemas.microsoft.com/office/drawing/2014/main" id="{C31EC193-0CA1-40DF-982F-6CE1112E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050ae25d6994591"/>
              </a:rPr>
              <a:t>课堂讨论与完整案例</a:t>
            </a:r>
          </a:p>
        </p:txBody>
      </p:sp>
    </p:spTree>
    <p:extLst>
      <p:ext uri="{BB962C8B-B14F-4D97-AF65-F5344CB8AC3E}">
        <p14:creationId xmlns:p14="http://schemas.microsoft.com/office/powerpoint/2010/main" val="125555909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课程资源与数据来源">
            <a:extLst xmlns:a="http://schemas.openxmlformats.org/drawingml/2006/main">
              <a:ext uri="{FF2B5EF4-FFF2-40B4-BE49-F238E27FC236}">
                <a16:creationId xmlns:a16="http://schemas.microsoft.com/office/drawing/2014/main" id="{B0A244CB-5DF3-4E92-B410-1DC1E3CF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课程资源与数据来源</a:t>
            </a:r>
          </a:p>
        </p:txBody>
      </p:sp>
      <p:sp>
        <p:nvSpPr>
          <p:cNvPr id="2" name="第3章 数理理论基础">
            <a:extLst xmlns:a="http://schemas.openxmlformats.org/drawingml/2006/main">
              <a:ext uri="{FF2B5EF4-FFF2-40B4-BE49-F238E27FC236}">
                <a16:creationId xmlns:a16="http://schemas.microsoft.com/office/drawing/2014/main" id="{E5DDA160-FA86-46FD-96CA-5463880E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第3章 数理理论基础</a:t>
            </a:r>
          </a:p>
        </p:txBody>
      </p:sp>
      <p:sp>
        <p:nvSpPr>
          <p:cNvPr id="3" name="27">
            <a:extLst xmlns:a="http://schemas.openxmlformats.org/drawingml/2006/main">
              <a:ext uri="{FF2B5EF4-FFF2-40B4-BE49-F238E27FC236}">
                <a16:creationId xmlns:a16="http://schemas.microsoft.com/office/drawing/2014/main" id="{BD7A36F8-B49A-4982-AC4E-3660E95A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4" name="link">
            <a:extLst xmlns:a="http://schemas.openxmlformats.org/drawingml/2006/main">
              <a:ext uri="{FF2B5EF4-FFF2-40B4-BE49-F238E27FC236}">
                <a16:creationId xmlns:a16="http://schemas.microsoft.com/office/drawing/2014/main" id="{B558F518-F4B5-47E0-9E9D-503BF597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7004c315ca84b89"/>
              </a:rPr>
              <a:t>本章交互课堂</a:t>
            </a:r>
          </a:p>
        </p:txBody>
      </p:sp>
      <p:sp>
        <p:nvSpPr>
          <p:cNvPr id="5" name="link">
            <a:extLst xmlns:a="http://schemas.openxmlformats.org/drawingml/2006/main">
              <a:ext uri="{FF2B5EF4-FFF2-40B4-BE49-F238E27FC236}">
                <a16:creationId xmlns:a16="http://schemas.microsoft.com/office/drawing/2014/main" id="{749CDF29-AA1B-4470-8F5C-EEF8E014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d3da6b55e5b45f5"/>
              </a:rPr>
              <a:t>本章完整Python项目与工作本</a:t>
            </a:r>
          </a:p>
        </p:txBody>
      </p:sp>
      <p:sp>
        <p:nvSpPr>
          <p:cNvPr id="6" name="link">
            <a:extLst xmlns:a="http://schemas.openxmlformats.org/drawingml/2006/main">
              <a:ext uri="{FF2B5EF4-FFF2-40B4-BE49-F238E27FC236}">
                <a16:creationId xmlns:a16="http://schemas.microsoft.com/office/drawing/2014/main" id="{9EF8A941-92E1-4209-B6ED-7153ED72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463e51875644f79"/>
              </a:rPr>
              <a:t>交通工程案例库</a:t>
            </a:r>
          </a:p>
        </p:txBody>
      </p:sp>
      <p:sp>
        <p:nvSpPr>
          <p:cNvPr id="7" name="John Hogue (2019) / UCI I-">
            <a:extLst xmlns:a="http://schemas.openxmlformats.org/drawingml/2006/main">
              <a:ext uri="{FF2B5EF4-FFF2-40B4-BE49-F238E27FC236}">
                <a16:creationId xmlns:a16="http://schemas.microsoft.com/office/drawing/2014/main" id="{77AB942D-31D1-441E-B472-E0E2820F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John Hogue (2019) / UCI I-94，CC BY 4.0</a:t>
            </a:r>
          </a:p>
        </p:txBody>
      </p:sp>
      <p:sp>
        <p:nvSpPr>
          <p:cNvPr id="8" name="输入范围、数据处理与许可详见课堂说明。&#10;课堂代码MI">
            <a:extLst xmlns:a="http://schemas.openxmlformats.org/drawingml/2006/main">
              <a:ext uri="{FF2B5EF4-FFF2-40B4-BE49-F238E27FC236}">
                <a16:creationId xmlns:a16="http://schemas.microsoft.com/office/drawing/2014/main" id="{5B6E66BB-8BA4-4B13-833A-560C9414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输入范围、数据处理与许可详见课堂说明。</a:t>
            </a:r>
          </a:p>
          <a:p xmlns:a="http://schemas.openxmlformats.org/drawingml/2006/main">
            <a:pPr algn="l">
              <a:defRPr sz="18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课堂代码MIT，原创讲解CC BY-SA 4.0，第三方材料保留原许可。</a:t>
            </a:r>
          </a:p>
        </p:txBody>
      </p:sp>
    </p:spTree>
    <p:extLst>
      <p:ext uri="{BB962C8B-B14F-4D97-AF65-F5344CB8AC3E}">
        <p14:creationId xmlns:p14="http://schemas.microsoft.com/office/powerpoint/2010/main" val="9546995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2026-09-17T02:42:41.8600000Z</dcterms:created>
  <dcterms:modified xsi:type="dcterms:W3CDTF">2026-09-17T02:42:41.8600000Z</dcterms:modified>
</coreProperties>
</file>