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1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2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slides/charts/chart3.xml" ContentType="application/vnd.openxmlformats-officedocument.drawingml.chart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slides/charts/chart4.xml" ContentType="application/vnd.openxmlformats-officedocument.drawingml.chart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slides/charts/chart5.xml" ContentType="application/vnd.openxmlformats-officedocument.drawingml.chart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f0c8904be3940a5" /><Relationship Type="http://schemas.openxmlformats.org/officeDocument/2006/relationships/extended-properties" Target="/docProps/app.xml" Id="Rf6a750f5d2ea4607" /><Relationship Type="http://schemas.openxmlformats.org/officeDocument/2006/relationships/officeDocument" Target="/ppt/presentation.xml" Id="Rd1b65b203c564c1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3eb429b0df0455f"/>
  </p:sldMasterIdLst>
  <p:notesMasterIdLst>
    <p:notesMasterId xmlns:r="http://schemas.openxmlformats.org/officeDocument/2006/relationships" r:id="Rec76d6ddc0a04c11"/>
  </p:notesMasterIdLst>
  <p:sldIdLst>
    <p:sldId xmlns:r="http://schemas.openxmlformats.org/officeDocument/2006/relationships" id="256" r:id="R4d367c7c14e548ac"/>
    <p:sldId xmlns:r="http://schemas.openxmlformats.org/officeDocument/2006/relationships" id="257" r:id="R0bb03b77fc334e56"/>
    <p:sldId xmlns:r="http://schemas.openxmlformats.org/officeDocument/2006/relationships" id="258" r:id="R21108ac185c74f09"/>
    <p:sldId xmlns:r="http://schemas.openxmlformats.org/officeDocument/2006/relationships" id="259" r:id="Rfd8f5b77b0d94fbe"/>
    <p:sldId xmlns:r="http://schemas.openxmlformats.org/officeDocument/2006/relationships" id="260" r:id="R94a007c27bc44fed"/>
    <p:sldId xmlns:r="http://schemas.openxmlformats.org/officeDocument/2006/relationships" id="261" r:id="R85ac726d7ab14d24"/>
    <p:sldId xmlns:r="http://schemas.openxmlformats.org/officeDocument/2006/relationships" id="262" r:id="Rf7fcf32d731d40a8"/>
    <p:sldId xmlns:r="http://schemas.openxmlformats.org/officeDocument/2006/relationships" id="263" r:id="Re7e2b22e10c04069"/>
    <p:sldId xmlns:r="http://schemas.openxmlformats.org/officeDocument/2006/relationships" id="264" r:id="R2fb022b1891a4a96"/>
    <p:sldId xmlns:r="http://schemas.openxmlformats.org/officeDocument/2006/relationships" id="265" r:id="R0724d21da548480b"/>
    <p:sldId xmlns:r="http://schemas.openxmlformats.org/officeDocument/2006/relationships" id="266" r:id="Rfd9bbfe5048c411c"/>
    <p:sldId xmlns:r="http://schemas.openxmlformats.org/officeDocument/2006/relationships" id="267" r:id="R35d683e1d5ee4027"/>
    <p:sldId xmlns:r="http://schemas.openxmlformats.org/officeDocument/2006/relationships" id="268" r:id="R9a5cf72ddd694a3f"/>
    <p:sldId xmlns:r="http://schemas.openxmlformats.org/officeDocument/2006/relationships" id="269" r:id="Rc13393a73955459b"/>
    <p:sldId xmlns:r="http://schemas.openxmlformats.org/officeDocument/2006/relationships" id="270" r:id="R2d8cf1a6125a4e58"/>
    <p:sldId xmlns:r="http://schemas.openxmlformats.org/officeDocument/2006/relationships" id="271" r:id="Rf67e698385104fb5"/>
    <p:sldId xmlns:r="http://schemas.openxmlformats.org/officeDocument/2006/relationships" id="272" r:id="R1d582b2b8f1a4d9c"/>
    <p:sldId xmlns:r="http://schemas.openxmlformats.org/officeDocument/2006/relationships" id="273" r:id="R95a41f2b69c34d59"/>
    <p:sldId xmlns:r="http://schemas.openxmlformats.org/officeDocument/2006/relationships" id="274" r:id="R4a11273166fb4863"/>
    <p:sldId xmlns:r="http://schemas.openxmlformats.org/officeDocument/2006/relationships" id="275" r:id="R5b56889110504653"/>
    <p:sldId xmlns:r="http://schemas.openxmlformats.org/officeDocument/2006/relationships" id="276" r:id="R711c778699d44a45"/>
    <p:sldId xmlns:r="http://schemas.openxmlformats.org/officeDocument/2006/relationships" id="277" r:id="R4d73757fb3084b3a"/>
    <p:sldId xmlns:r="http://schemas.openxmlformats.org/officeDocument/2006/relationships" id="278" r:id="R864f71bad20a4c13"/>
    <p:sldId xmlns:r="http://schemas.openxmlformats.org/officeDocument/2006/relationships" id="279" r:id="R7c9cd5482fcd4e77"/>
    <p:sldId xmlns:r="http://schemas.openxmlformats.org/officeDocument/2006/relationships" id="280" r:id="R29942b46eb3c43f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9fdbc10e19d45cc" /><Relationship Type="http://schemas.openxmlformats.org/officeDocument/2006/relationships/slideMaster" Target="/ppt/slideMasters/slideMaster1.xml" Id="Ra3eb429b0df0455f" /><Relationship Type="http://schemas.openxmlformats.org/officeDocument/2006/relationships/notesMaster" Target="/ppt/notesMasters/notesMaster1.xml" Id="Rec76d6ddc0a04c11" /><Relationship Type="http://schemas.openxmlformats.org/officeDocument/2006/relationships/presProps" Target="/ppt/presProps.xml" Id="R20972d2a05774cb2" /><Relationship Type="http://schemas.openxmlformats.org/officeDocument/2006/relationships/tableStyles" Target="/ppt/tableStyles.xml" Id="R57fea95d73334153" /><Relationship Type="http://schemas.openxmlformats.org/officeDocument/2006/relationships/slide" Target="/ppt/slides/slide1.xml" Id="R4d367c7c14e548ac" /><Relationship Type="http://schemas.openxmlformats.org/officeDocument/2006/relationships/slide" Target="/ppt/slides/slide2.xml" Id="R0bb03b77fc334e56" /><Relationship Type="http://schemas.openxmlformats.org/officeDocument/2006/relationships/slide" Target="/ppt/slides/slide3.xml" Id="R21108ac185c74f09" /><Relationship Type="http://schemas.openxmlformats.org/officeDocument/2006/relationships/slide" Target="/ppt/slides/slide4.xml" Id="Rfd8f5b77b0d94fbe" /><Relationship Type="http://schemas.openxmlformats.org/officeDocument/2006/relationships/slide" Target="/ppt/slides/slide5.xml" Id="R94a007c27bc44fed" /><Relationship Type="http://schemas.openxmlformats.org/officeDocument/2006/relationships/slide" Target="/ppt/slides/slide6.xml" Id="R85ac726d7ab14d24" /><Relationship Type="http://schemas.openxmlformats.org/officeDocument/2006/relationships/slide" Target="/ppt/slides/slide7.xml" Id="Rf7fcf32d731d40a8" /><Relationship Type="http://schemas.openxmlformats.org/officeDocument/2006/relationships/slide" Target="/ppt/slides/slide8.xml" Id="Re7e2b22e10c04069" /><Relationship Type="http://schemas.openxmlformats.org/officeDocument/2006/relationships/slide" Target="/ppt/slides/slide9.xml" Id="R2fb022b1891a4a96" /><Relationship Type="http://schemas.openxmlformats.org/officeDocument/2006/relationships/slide" Target="/ppt/slides/slide10.xml" Id="R0724d21da548480b" /><Relationship Type="http://schemas.openxmlformats.org/officeDocument/2006/relationships/slide" Target="/ppt/slides/slide11.xml" Id="Rfd9bbfe5048c411c" /><Relationship Type="http://schemas.openxmlformats.org/officeDocument/2006/relationships/slide" Target="/ppt/slides/slide12.xml" Id="R35d683e1d5ee4027" /><Relationship Type="http://schemas.openxmlformats.org/officeDocument/2006/relationships/slide" Target="/ppt/slides/slide13.xml" Id="R9a5cf72ddd694a3f" /><Relationship Type="http://schemas.openxmlformats.org/officeDocument/2006/relationships/slide" Target="/ppt/slides/slide14.xml" Id="Rc13393a73955459b" /><Relationship Type="http://schemas.openxmlformats.org/officeDocument/2006/relationships/slide" Target="/ppt/slides/slide15.xml" Id="R2d8cf1a6125a4e58" /><Relationship Type="http://schemas.openxmlformats.org/officeDocument/2006/relationships/slide" Target="/ppt/slides/slide16.xml" Id="Rf67e698385104fb5" /><Relationship Type="http://schemas.openxmlformats.org/officeDocument/2006/relationships/slide" Target="/ppt/slides/slide17.xml" Id="R1d582b2b8f1a4d9c" /><Relationship Type="http://schemas.openxmlformats.org/officeDocument/2006/relationships/slide" Target="/ppt/slides/slide18.xml" Id="R95a41f2b69c34d59" /><Relationship Type="http://schemas.openxmlformats.org/officeDocument/2006/relationships/slide" Target="/ppt/slides/slide19.xml" Id="R4a11273166fb4863" /><Relationship Type="http://schemas.openxmlformats.org/officeDocument/2006/relationships/slide" Target="/ppt/slides/slide20.xml" Id="R5b56889110504653" /><Relationship Type="http://schemas.openxmlformats.org/officeDocument/2006/relationships/slide" Target="/ppt/slides/slide21.xml" Id="R711c778699d44a45" /><Relationship Type="http://schemas.openxmlformats.org/officeDocument/2006/relationships/slide" Target="/ppt/slides/slide22.xml" Id="R4d73757fb3084b3a" /><Relationship Type="http://schemas.openxmlformats.org/officeDocument/2006/relationships/slide" Target="/ppt/slides/slide23.xml" Id="R864f71bad20a4c13" /><Relationship Type="http://schemas.openxmlformats.org/officeDocument/2006/relationships/slide" Target="/ppt/slides/slide24.xml" Id="R7c9cd5482fcd4e77" /><Relationship Type="http://schemas.openxmlformats.org/officeDocument/2006/relationships/slide" Target="/ppt/slides/slide25.xml" Id="R29942b46eb3c43f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12adfcd2e5c4b5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47d688df1464161" /><Relationship Type="http://schemas.openxmlformats.org/officeDocument/2006/relationships/notesMaster" Target="/ppt/notesMasters/notesMaster1.xml" Id="Rddbf712602ca463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9bae71a37df4713" /><Relationship Type="http://schemas.openxmlformats.org/officeDocument/2006/relationships/notesMaster" Target="/ppt/notesMasters/notesMaster1.xml" Id="R3372efdff7c94bc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e9c3f3c4eaa4538" /><Relationship Type="http://schemas.openxmlformats.org/officeDocument/2006/relationships/notesMaster" Target="/ppt/notesMasters/notesMaster1.xml" Id="R575dd8e811fd4df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5cf877678fd49e9" /><Relationship Type="http://schemas.openxmlformats.org/officeDocument/2006/relationships/notesMaster" Target="/ppt/notesMasters/notesMaster1.xml" Id="Rb9ce1c3453de46f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42bab70d65b4b67" /><Relationship Type="http://schemas.openxmlformats.org/officeDocument/2006/relationships/notesMaster" Target="/ppt/notesMasters/notesMaster1.xml" Id="R99f1d3c8d10e4c8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889aae25db24621" /><Relationship Type="http://schemas.openxmlformats.org/officeDocument/2006/relationships/notesMaster" Target="/ppt/notesMasters/notesMaster1.xml" Id="R581625f6df9a426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34d685dedc94a69" /><Relationship Type="http://schemas.openxmlformats.org/officeDocument/2006/relationships/notesMaster" Target="/ppt/notesMasters/notesMaster1.xml" Id="Rdfe5fcf6ad82456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4bf7bef147645fe" /><Relationship Type="http://schemas.openxmlformats.org/officeDocument/2006/relationships/notesMaster" Target="/ppt/notesMasters/notesMaster1.xml" Id="Re406b451efe2459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36f872c4d23487a" /><Relationship Type="http://schemas.openxmlformats.org/officeDocument/2006/relationships/notesMaster" Target="/ppt/notesMasters/notesMaster1.xml" Id="R003561c4cc42484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cf2637f56a14e61" /><Relationship Type="http://schemas.openxmlformats.org/officeDocument/2006/relationships/notesMaster" Target="/ppt/notesMasters/notesMaster1.xml" Id="R562895a6d1c64ad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0b48dbed8e24a41" /><Relationship Type="http://schemas.openxmlformats.org/officeDocument/2006/relationships/notesMaster" Target="/ppt/notesMasters/notesMaster1.xml" Id="R8daf126928ce48a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e21025993a04a4a" /><Relationship Type="http://schemas.openxmlformats.org/officeDocument/2006/relationships/notesMaster" Target="/ppt/notesMasters/notesMaster1.xml" Id="R5f12e5160079466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6774919e5f0844d7" /><Relationship Type="http://schemas.openxmlformats.org/officeDocument/2006/relationships/notesMaster" Target="/ppt/notesMasters/notesMaster1.xml" Id="Rb824d7f5ce6443bf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a82c4c1350c34339" /><Relationship Type="http://schemas.openxmlformats.org/officeDocument/2006/relationships/notesMaster" Target="/ppt/notesMasters/notesMaster1.xml" Id="Raa310741fe694ef5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4d77712e93d54266" /><Relationship Type="http://schemas.openxmlformats.org/officeDocument/2006/relationships/notesMaster" Target="/ppt/notesMasters/notesMaster1.xml" Id="Ra2631b9f0528478b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09c11a72caa64c46" /><Relationship Type="http://schemas.openxmlformats.org/officeDocument/2006/relationships/notesMaster" Target="/ppt/notesMasters/notesMaster1.xml" Id="Rde7ae4f0ea9840de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6eb194c9e17f435b" /><Relationship Type="http://schemas.openxmlformats.org/officeDocument/2006/relationships/notesMaster" Target="/ppt/notesMasters/notesMaster1.xml" Id="R488fa9e1e51947e8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4f573f66f2c24590" /><Relationship Type="http://schemas.openxmlformats.org/officeDocument/2006/relationships/notesMaster" Target="/ppt/notesMasters/notesMaster1.xml" Id="Rc24593f347f24849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6a8f5df8cf3f4196" /><Relationship Type="http://schemas.openxmlformats.org/officeDocument/2006/relationships/notesMaster" Target="/ppt/notesMasters/notesMaster1.xml" Id="R33d2e41c943e44b5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be61f8fe4609416b" /><Relationship Type="http://schemas.openxmlformats.org/officeDocument/2006/relationships/notesMaster" Target="/ppt/notesMasters/notesMaster1.xml" Id="Rc2cedf0e8f2f4d0e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fe812f74992d4d6f" /><Relationship Type="http://schemas.openxmlformats.org/officeDocument/2006/relationships/notesMaster" Target="/ppt/notesMasters/notesMaster1.xml" Id="R46b4d9a3ebd54158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2983032a2dc14ab1" /><Relationship Type="http://schemas.openxmlformats.org/officeDocument/2006/relationships/notesMaster" Target="/ppt/notesMasters/notesMaster1.xml" Id="Rfd2085c6414448fc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985c3d887a0f4fe4" /><Relationship Type="http://schemas.openxmlformats.org/officeDocument/2006/relationships/notesMaster" Target="/ppt/notesMasters/notesMaster1.xml" Id="Rd21bea5be1db4b04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b7d10be5d2b04728" /><Relationship Type="http://schemas.openxmlformats.org/officeDocument/2006/relationships/notesMaster" Target="/ppt/notesMasters/notesMaster1.xml" Id="Rde68acc8eaf34a30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2e9a288c65cc4efc" /><Relationship Type="http://schemas.openxmlformats.org/officeDocument/2006/relationships/notesMaster" Target="/ppt/notesMasters/notesMaster1.xml" Id="R965adfd85ea44ea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本章面向交通运输工程专业。道路运行准备需要提前多久掌握交通量？</a:t>
            </a:r>
          </a:p>
          <a:p xmlns:a="http://schemas.openxmlformats.org/drawingml/2006/main">
            <a:r>
              <a:t>背景为第一章已有课程概念插画，不是I-94、纽约或天津的实地照片。</a:t>
            </a:r>
          </a:p>
          <a:p xmlns:a="http://schemas.openxmlformats.org/drawingml/2006/main">
            <a:r>
              <a:t>建议135分钟讲授与讨论 + 90分钟上机</a:t>
            </a:r>
          </a:p>
          <a:p xmlns:a="http://schemas.openxmlformats.org/drawingml/2006/main">
            <a:r>
              <a:t>课堂：https://lilinchao.github.io/traffic-book-practice/open-course/chapter-06/</a:t>
            </a:r>
          </a:p>
          <a:p xmlns:a="http://schemas.openxmlformats.org/drawingml/2006/main">
            <a:r>
              <a:t>数据：https://archive.ics.uci.edu/dataset/492/metro+interstate+traffic+volume</a:t>
            </a:r>
          </a:p>
          <a:p xmlns:a="http://schemas.openxmlformats.org/drawingml/2006/main">
            <a:r>
              <a:t>John Hogue (2019) / UCI I-94，CC BY 4.0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教学主线：道路运行准备需要提前多久掌握交通量？</a:t>
            </a:r>
          </a:p>
          <a:p xmlns:a="http://schemas.openxmlformats.org/drawingml/2006/main">
            <a:r>
              <a:t>建议135分钟讲授与讨论 + 90分钟上机</a:t>
            </a:r>
          </a:p>
          <a:p xmlns:a="http://schemas.openxmlformats.org/drawingml/2006/main">
            <a:r>
              <a:t>课堂：https://lilinchao.github.io/traffic-book-practice/open-course/chapter-06/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来源：https://archive.ics.uci.edu/dataset/492/metro+interstate+traffic+volume</a:t>
            </a:r>
          </a:p>
          <a:p xmlns:a="http://schemas.openxmlformats.org/drawingml/2006/main">
            <a:r>
              <a:t>John Hogue (2019) / UCI I-94，CC BY 4.0</a:t>
            </a:r>
          </a:p>
          <a:p xmlns:a="http://schemas.openxmlformats.org/drawingml/2006/main">
            <a:r>
              <a:t>输入哈希：{"projects/data/audit.json":"e94603938353a88fd33a7dce94e288e556da60c17fd4d99b43e0e78fbbda2908","projects/data/forecast.json":"ea0bfab243ef70f7c5472406dfeb75da3ef316d5b316c41ad94dd4a92c9522c1","chapters/data/algorithms/ch6.json":"b90000ae0dcc08b21feab29a9678c14f690c204ade6795a11b6dfc9ba47ca09a"}</a:t>
            </a:r>
          </a:p>
          <a:p xmlns:a="http://schemas.openxmlformats.org/drawingml/2006/main">
            <a:r>
              <a:t>课文源：符号释义与教学逻辑修订清洁合稿的已核验提取稿；本轮不修改书稿。</a:t>
            </a:r>
          </a:p>
          <a:p xmlns:a="http://schemas.openxmlformats.org/drawingml/2006/main">
            <a:r>
              <a:t>课程原创讲解CC BY-SA 4.0，代码MIT，第三方材料遵守原始条款。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预测提前量应服务于具体管理任务。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临近时段监测和较早的人员准备对时效与误差有不同要求。本章分别研究提前1、3、6小时。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小时交通量描述通过断面的车辆规模，没有速度和占有率时不能直接判定拥堵等级。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课堂追问：若任务是识别拥堵形成，还需同步监测哪些交通参数？</a:t>
            </a:r>
          </a:p>
          <a:p xmlns:a="http://schemas.openxmlformats.org/drawingml/2006/main">
            <a:r>
              <a:t>教学建议：先请学生预测参数变化方向，再运行网页对照；要求用交通对象、范围、分母和单位解释。</a:t>
            </a:r>
          </a:p>
          <a:p xmlns:a="http://schemas.openxmlformats.org/drawingml/2006/main">
            <a:r>
              <a:t>交互课堂：https://lilinchao.github.io/traffic-book-practice/open-course/chapter-06/#mission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来源：https://archive.ics.uci.edu/dataset/492/metro+interstate+traffic+volume</a:t>
            </a:r>
          </a:p>
          <a:p xmlns:a="http://schemas.openxmlformats.org/drawingml/2006/main">
            <a:r>
              <a:t>John Hogue (2019) / UCI I-94，CC BY 4.0</a:t>
            </a:r>
          </a:p>
          <a:p xmlns:a="http://schemas.openxmlformats.org/drawingml/2006/main">
            <a:r>
              <a:t>输入哈希：{"projects/data/audit.json":"e94603938353a88fd33a7dce94e288e556da60c17fd4d99b43e0e78fbbda2908","projects/data/forecast.json":"ea0bfab243ef70f7c5472406dfeb75da3ef316d5b316c41ad94dd4a92c9522c1","chapters/data/algorithms/ch6.json":"b90000ae0dcc08b21feab29a9678c14f690c204ade6795a11b6dfc9ba47ca09a"}</a:t>
            </a:r>
          </a:p>
          <a:p xmlns:a="http://schemas.openxmlformats.org/drawingml/2006/main">
            <a:r>
              <a:t>课文源：符号释义与教学逻辑修订清洁合稿的已核验提取稿；本轮不修改书稿。</a:t>
            </a:r>
          </a:p>
          <a:p xmlns:a="http://schemas.openxmlformats.org/drawingml/2006/main">
            <a:r>
              <a:t>课程原创讲解CC BY-SA 4.0，代码MIT，第三方材料遵守原始条款。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相邻文件行不一定是相邻小时。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2017年训练段有8,760个本地小时标签，47处缺口保留为缺失值。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按时间标签构建连续索引，明确数据延迟与时区。课程不重建夏令时，不把缺测写为0。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课堂追问：删去缺测行再计算第24个前序行，仍然代表前日同期吗？</a:t>
            </a:r>
          </a:p>
          <a:p xmlns:a="http://schemas.openxmlformats.org/drawingml/2006/main">
            <a:r>
              <a:t>教学建议：先请学生预测参数变化方向，再运行网页对照；要求用交通对象、范围、分母和单位解释。</a:t>
            </a:r>
          </a:p>
          <a:p xmlns:a="http://schemas.openxmlformats.org/drawingml/2006/main">
            <a:r>
              <a:t>交互课堂：https://lilinchao.github.io/traffic-book-practice/open-course/chapter-06/#index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来源：https://archive.ics.uci.edu/dataset/492/metro+interstate+traffic+volume</a:t>
            </a:r>
          </a:p>
          <a:p xmlns:a="http://schemas.openxmlformats.org/drawingml/2006/main">
            <a:r>
              <a:t>John Hogue (2019) / UCI I-94，CC BY 4.0</a:t>
            </a:r>
          </a:p>
          <a:p xmlns:a="http://schemas.openxmlformats.org/drawingml/2006/main">
            <a:r>
              <a:t>输入哈希：{"projects/data/audit.json":"e94603938353a88fd33a7dce94e288e556da60c17fd4d99b43e0e78fbbda2908","projects/data/forecast.json":"ea0bfab243ef70f7c5472406dfeb75da3ef316d5b316c41ad94dd4a92c9522c1","chapters/data/algorithms/ch6.json":"b90000ae0dcc08b21feab29a9678c14f690c204ade6795a11b6dfc9ba47ca09a"}</a:t>
            </a:r>
          </a:p>
          <a:p xmlns:a="http://schemas.openxmlformats.org/drawingml/2006/main">
            <a:r>
              <a:t>课文源：符号释义与教学逻辑修订清洁合稿的已核验提取稿；本轮不修改书稿。</a:t>
            </a:r>
          </a:p>
          <a:p xmlns:a="http://schemas.openxmlformats.org/drawingml/2006/main">
            <a:r>
              <a:t>课程原创讲解CC BY-SA 4.0，代码MIT，第三方材料遵守原始条款。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平滑图与实时预测输入的要求不同。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居中滑动均值使用当前点两侧数据，适合事后描述，不可作为当时已知的预测特征。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向后窗口只读取已到达历史，但可能造成高峰响应滞后。需说明窗口长度和用途。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课堂追问：在08时发布的预测里，能使用09时观测参与平滑吗？</a:t>
            </a:r>
          </a:p>
          <a:p xmlns:a="http://schemas.openxmlformats.org/drawingml/2006/main">
            <a:r>
              <a:t>教学建议：先请学生预测参数变化方向，再运行网页对照；要求用交通对象、范围、分母和单位解释。</a:t>
            </a:r>
          </a:p>
          <a:p xmlns:a="http://schemas.openxmlformats.org/drawingml/2006/main">
            <a:r>
              <a:t>交互课堂：https://lilinchao.github.io/traffic-book-practice/open-course/chapter-06/#smoothing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来源：https://archive.ics.uci.edu/dataset/492/metro+interstate+traffic+volume</a:t>
            </a:r>
          </a:p>
          <a:p xmlns:a="http://schemas.openxmlformats.org/drawingml/2006/main">
            <a:r>
              <a:t>John Hogue (2019) / UCI I-94，CC BY 4.0</a:t>
            </a:r>
          </a:p>
          <a:p xmlns:a="http://schemas.openxmlformats.org/drawingml/2006/main">
            <a:r>
              <a:t>输入哈希：{"projects/data/audit.json":"e94603938353a88fd33a7dce94e288e556da60c17fd4d99b43e0e78fbbda2908","projects/data/forecast.json":"ea0bfab243ef70f7c5472406dfeb75da3ef316d5b316c41ad94dd4a92c9522c1","chapters/data/algorithms/ch6.json":"b90000ae0dcc08b21feab29a9678c14f690c204ade6795a11b6dfc9ba47ca09a"}</a:t>
            </a:r>
          </a:p>
          <a:p xmlns:a="http://schemas.openxmlformats.org/drawingml/2006/main">
            <a:r>
              <a:t>课文源：符号释义与教学逻辑修订清洁合稿的已核验提取稿；本轮不修改书稿。</a:t>
            </a:r>
          </a:p>
          <a:p xmlns:a="http://schemas.openxmlformats.org/drawingml/2006/main">
            <a:r>
              <a:t>课程原创讲解CC BY-SA 4.0，代码MIT，第三方材料遵守原始条款。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交通活动常随钟点和日期类型变化。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观察2017年每个钟点的均值，分别比较周一至周五与周末。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日变化提供基线选择的线索，但均值曲线掩盖个别日的节假日、天气或异常扰动。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课堂追问：为什么前日同期和上周同期可能给出不同的高峰参照？</a:t>
            </a:r>
          </a:p>
          <a:p xmlns:a="http://schemas.openxmlformats.org/drawingml/2006/main">
            <a:r>
              <a:t>教学建议：先请学生预测参数变化方向，再运行网页对照；要求用交通对象、范围、分母和单位解释。</a:t>
            </a:r>
          </a:p>
          <a:p xmlns:a="http://schemas.openxmlformats.org/drawingml/2006/main">
            <a:r>
              <a:t>交互课堂：https://lilinchao.github.io/traffic-book-practice/open-course/chapter-06/#season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来源：https://archive.ics.uci.edu/dataset/492/metro+interstate+traffic+volume</a:t>
            </a:r>
          </a:p>
          <a:p xmlns:a="http://schemas.openxmlformats.org/drawingml/2006/main">
            <a:r>
              <a:t>John Hogue (2019) / UCI I-94，CC BY 4.0</a:t>
            </a:r>
          </a:p>
          <a:p xmlns:a="http://schemas.openxmlformats.org/drawingml/2006/main">
            <a:r>
              <a:t>输入哈希：{"projects/data/audit.json":"e94603938353a88fd33a7dce94e288e556da60c17fd4d99b43e0e78fbbda2908","projects/data/forecast.json":"ea0bfab243ef70f7c5472406dfeb75da3ef316d5b316c41ad94dd4a92c9522c1","chapters/data/algorithms/ch6.json":"b90000ae0dcc08b21feab29a9678c14f690c204ade6795a11b6dfc9ba47ca09a"}</a:t>
            </a:r>
          </a:p>
          <a:p xmlns:a="http://schemas.openxmlformats.org/drawingml/2006/main">
            <a:r>
              <a:t>课文源：符号释义与教学逻辑修订清洁合稿的已核验提取稿；本轮不修改书稿。</a:t>
            </a:r>
          </a:p>
          <a:p xmlns:a="http://schemas.openxmlformats.org/drawingml/2006/main">
            <a:r>
              <a:t>课程原创讲解CC BY-SA 4.0，代码MIT，第三方材料遵守原始条款。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计算方式：根据真实观测在浏览器重新计算</a:t>
            </a:r>
          </a:p>
          <a:p xmlns:a="http://schemas.openxmlformats.org/drawingml/2006/main">
            <a:r>
              <a:t>默认参数：{}</a:t>
            </a:r>
          </a:p>
          <a:p xmlns:a="http://schemas.openxmlformats.org/drawingml/2006/main">
            <a:r>
              <a:t>数据范围：I-94小时交通量，1/3/6小时共同2,169个测试目标</a:t>
            </a:r>
          </a:p>
          <a:p xmlns:a="http://schemas.openxmlformats.org/drawingml/2006/main">
            <a:r>
              <a:t>结果解释：2017训练段有效小时按组计算，无缺测填0，不把周一至周五自动视为剔除节假日的工作日。</a:t>
            </a:r>
          </a:p>
          <a:p xmlns:a="http://schemas.openxmlformats.org/drawingml/2006/main">
            <a:r>
              <a:t>全部结果：{"columns":["钟点","周一至周五均值","周末均值"],"rows":[[0,697.096525096525,1470.152380952381],[1,415.6576923076923,897.2952380952381],[2,308.84435797665367,660.3333333333334],[3,368.1821705426357,429.1142857142857],[4,853.3151750972762,421.7142857142857],[5,2765.468992248062,664.1634615384615],[6,5458.875968992248,1154.5673076923076],[7,6108.352713178295,1622.2788461538462],[8,5599.272373540856,2420.5384615384614],[9,4979.3828125,3247.609523809524],[10,4437.922480620155,3885.752380952381],[11,4694.679536679537,4279.914285714286],[12,4898.830115830116,4581.085714285714],[13,4904.648648648648,4578.971428571429],[14,5170.215384615384,4582.0952380952385],[15,5655.228682170543,4542.457142857143],[16,6356.903100775194,4550.428571428572],[17,5918.472868217054,4417.866666666667],[18,4561.96138996139,4056.904761904762],[19,3424.5521235521237,3413.9142857142856],[20,2954.8262548262546,3024.5904761904762],[21,2801.073359073359,2785.447619047619],[22,2280.030888030888,2517.5904761904762],[23,1457.1124031007753,1872.3619047619047]]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默认网页：https://lilinchao.github.io/traffic-book-practice/open-course/chapter-06/#season</a:t>
            </a:r>
          </a:p>
          <a:p xmlns:a="http://schemas.openxmlformats.org/drawingml/2006/main">
            <a:r>
              <a:t>输入文件SHA256：{"projects/data/audit.json":"e94603938353a88fd33a7dce94e288e556da60c17fd4d99b43e0e78fbbda2908","projects/data/forecast.json":"ea0bfab243ef70f7c5472406dfeb75da3ef316d5b316c41ad94dd4a92c9522c1","chapters/data/algorithms/ch6.json":"b90000ae0dcc08b21feab29a9678c14f690c204ade6795a11b6dfc9ba47ca09a"}</a:t>
            </a:r>
          </a:p>
          <a:p xmlns:a="http://schemas.openxmlformats.org/drawingml/2006/main">
            <a:r>
              <a:t>来源：https://archive.ics.uci.edu/dataset/492/metro+interstate+traffic+volume。John Hogue (2019) / UCI I-94，CC BY 4.0</a:t>
            </a:r>
          </a:p>
          <a:p xmlns:a="http://schemas.openxmlformats.org/drawingml/2006/main">
            <a:r>
              <a:t>本页图表为默认配置快照，课堂改变参数后以网页重新计算为准。图表与底层数据可编辑。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自相关衡量不同时间位置观测的线性联系。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本实验按确切小时标签配对，不把缺口两侧记录当成连续小时。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曲线展示训练期的成对Pearson滞后相关，每个滞后的样本均值单独计算，不等同于所有软件默认ACF估计量。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课堂追问：24小时或168小时相关较高，可以说明哪些周期线索？</a:t>
            </a:r>
          </a:p>
          <a:p xmlns:a="http://schemas.openxmlformats.org/drawingml/2006/main">
            <a:r>
              <a:t>教学建议：先请学生预测参数变化方向，再运行网页对照；要求用交通对象、范围、分母和单位解释。</a:t>
            </a:r>
          </a:p>
          <a:p xmlns:a="http://schemas.openxmlformats.org/drawingml/2006/main">
            <a:r>
              <a:t>交互课堂：https://lilinchao.github.io/traffic-book-practice/open-course/chapter-06/#acf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来源：https://archive.ics.uci.edu/dataset/492/metro+interstate+traffic+volume</a:t>
            </a:r>
          </a:p>
          <a:p xmlns:a="http://schemas.openxmlformats.org/drawingml/2006/main">
            <a:r>
              <a:t>John Hogue (2019) / UCI I-94，CC BY 4.0</a:t>
            </a:r>
          </a:p>
          <a:p xmlns:a="http://schemas.openxmlformats.org/drawingml/2006/main">
            <a:r>
              <a:t>输入哈希：{"projects/data/audit.json":"e94603938353a88fd33a7dce94e288e556da60c17fd4d99b43e0e78fbbda2908","projects/data/forecast.json":"ea0bfab243ef70f7c5472406dfeb75da3ef316d5b316c41ad94dd4a92c9522c1","chapters/data/algorithms/ch6.json":"b90000ae0dcc08b21feab29a9678c14f690c204ade6795a11b6dfc9ba47ca09a"}</a:t>
            </a:r>
          </a:p>
          <a:p xmlns:a="http://schemas.openxmlformats.org/drawingml/2006/main">
            <a:r>
              <a:t>课文源：符号释义与教学逻辑修订清洁合稿的已核验提取稿；本轮不修改书稿。</a:t>
            </a:r>
          </a:p>
          <a:p xmlns:a="http://schemas.openxmlformats.org/drawingml/2006/main">
            <a:r>
              <a:t>课程原创讲解CC BY-SA 4.0，代码MIT，第三方材料遵守原始条款。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计算方式：根据真实观测在浏览器重新计算</a:t>
            </a:r>
          </a:p>
          <a:p xmlns:a="http://schemas.openxmlformats.org/drawingml/2006/main">
            <a:r>
              <a:t>默认参数：{"lag":"48"}</a:t>
            </a:r>
          </a:p>
          <a:p xmlns:a="http://schemas.openxmlformats.org/drawingml/2006/main">
            <a:r>
              <a:t>数据范围：I-94小时交通量，1/3/6小时共同2,169个测试目标</a:t>
            </a:r>
          </a:p>
          <a:p xmlns:a="http://schemas.openxmlformats.org/drawingml/2006/main">
            <a:r>
              <a:t>结果解释：每个滞后分别计算成对均值与相关，不等同于所有软件默认ACF。Z仅作本地标签运算轴，不恢复时区偏移。</a:t>
            </a:r>
          </a:p>
          <a:p xmlns:a="http://schemas.openxmlformats.org/drawingml/2006/main">
            <a:r>
              <a:t>全部结果：{"columns":["滞后小时","有效观测对","成对Pearson相关"],"rows":[[1,8691,0.9108838051178615],[2,8684,0.7169267620678773],[3,8677,0.5003343080836309],[4,8672,0.30047872765380257],[5,8669,0.11818528064121045],[6,8664,-0.052404194789455606],[7,8661,-0.19732679127826439],[8,8659,-0.3072045569466944],[9,8657,-0.3986438278300982],[10,8656,-0.49460289118484824],[11,8655,-0.5873459514100798],[12,8654,-0.6317320614683312],[13,8653,-0.5984677378991426],[14,8652,-0.5127607360207763],[15,8651,-0.4181306990095116],[16,8650,-0.3254630082506803],[17,8649,-0.21602909069765927],[18,8648,-0.07431937534614219],[19,8648,0.09000845830208823],[20,8646,0.2629966469921239],[21,8645,0.4451408855665509],[22,8644,0.6341709245590569],[23,8643,0.7975918750789076],[24,8643,0.8704939903062906],[25,8641,0.8083068066615408],[26,8640,0.6518675771991815],[27,8639,0.46769098225553657],[28,8638,0.2900636258066383],[29,8637,0.12076055041254333],[30,8636,-0.04369478224920133],[31,8636,-0.19049134984391836],[32,8634,-0.3096282393758425],[33,8633,-0.41142122282133886],[34,8632,-0.5108748697653066],[35,8631,-0.5994859323540274],[36,8630,-0.6400859349822818],[37,8629,-0.6091679361567424],[38,8628,-0.5263499740886333],[39,8627,-0.4285647212832922],[40,8626,-0.32877548584679084],[41,8625,-0.21474800741222475],[42,8624,-0.07409006034580924],[43,8623,0.08272645652855037],[44,8622,0.2416593262154963],[45,8621,0.4015262119922643],[46,8620,0.5611115523795586],[47,8619,0.6947664308088397],[48,8620,0.7529792664293952]]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默认网页：https://lilinchao.github.io/traffic-book-practice/open-course/chapter-06/#acf</a:t>
            </a:r>
          </a:p>
          <a:p xmlns:a="http://schemas.openxmlformats.org/drawingml/2006/main">
            <a:r>
              <a:t>输入文件SHA256：{"projects/data/audit.json":"e94603938353a88fd33a7dce94e288e556da60c17fd4d99b43e0e78fbbda2908","projects/data/forecast.json":"ea0bfab243ef70f7c5472406dfeb75da3ef316d5b316c41ad94dd4a92c9522c1","chapters/data/algorithms/ch6.json":"b90000ae0dcc08b21feab29a9678c14f690c204ade6795a11b6dfc9ba47ca09a"}</a:t>
            </a:r>
          </a:p>
          <a:p xmlns:a="http://schemas.openxmlformats.org/drawingml/2006/main">
            <a:r>
              <a:t>来源：https://archive.ics.uci.edu/dataset/492/metro+interstate+traffic+volume。John Hogue (2019) / UCI I-94，CC BY 4.0</a:t>
            </a:r>
          </a:p>
          <a:p xmlns:a="http://schemas.openxmlformats.org/drawingml/2006/main">
            <a:r>
              <a:t>本页图表为默认配置快照，课堂改变参数后以网页重新计算为准。图表与底层数据可编辑。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检验结果需要结合模型和观测范围。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ADF的原假设涉及单位根，拒绝单位根不等于不存在季节性、异方差或结构突变。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Ljung–Box检验检查一组滞后上的剩余相关。p值很小提示残差仍含结构，不等于模型完全没有预测用途。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课堂追问：为什么一次检验不能代替时间图、残差图与留出误差？</a:t>
            </a:r>
          </a:p>
          <a:p xmlns:a="http://schemas.openxmlformats.org/drawingml/2006/main">
            <a:r>
              <a:t>教学建议：先请学生预测参数变化方向，再运行网页对照；要求用交通对象、范围、分母和单位解释。</a:t>
            </a:r>
          </a:p>
          <a:p xmlns:a="http://schemas.openxmlformats.org/drawingml/2006/main">
            <a:r>
              <a:t>交互课堂：https://lilinchao.github.io/traffic-book-practice/open-course/chapter-06/#tests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来源：https://archive.ics.uci.edu/dataset/492/metro+interstate+traffic+volume</a:t>
            </a:r>
          </a:p>
          <a:p xmlns:a="http://schemas.openxmlformats.org/drawingml/2006/main">
            <a:r>
              <a:t>John Hogue (2019) / UCI I-94，CC BY 4.0</a:t>
            </a:r>
          </a:p>
          <a:p xmlns:a="http://schemas.openxmlformats.org/drawingml/2006/main">
            <a:r>
              <a:t>输入哈希：{"projects/data/audit.json":"e94603938353a88fd33a7dce94e288e556da60c17fd4d99b43e0e78fbbda2908","projects/data/forecast.json":"ea0bfab243ef70f7c5472406dfeb75da3ef316d5b316c41ad94dd4a92c9522c1","chapters/data/algorithms/ch6.json":"b90000ae0dcc08b21feab29a9678c14f690c204ade6795a11b6dfc9ba47ca09a"}</a:t>
            </a:r>
          </a:p>
          <a:p xmlns:a="http://schemas.openxmlformats.org/drawingml/2006/main">
            <a:r>
              <a:t>课文源：符号释义与教学逻辑修订清洁合稿的已核验提取稿；本轮不修改书稿。</a:t>
            </a:r>
          </a:p>
          <a:p xmlns:a="http://schemas.openxmlformats.org/drawingml/2006/main">
            <a:r>
              <a:t>课程原创讲解CC BY-SA 4.0，代码MIT，第三方材料遵守原始条款。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自回归和误差项描述不同的时间依赖。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AR使用过去观测，MA使用过去创新误差。ARIMA中的d表示差分阶数，不是预测提前小时数。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本轮ARIMA(2,0,0)使用两阶自回归，参数在2017年训练期固定。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y_t = c + φ₁y_(t−1) + φ₂y_(t−2) + ε_t</a:t>
            </a:r>
          </a:p>
          <a:p xmlns:a="http://schemas.openxmlformats.org/drawingml/2006/main">
            <a:r>
              <a:t>y_t：小时交通量。c：截距。φ₁、φ₂：自回归系数。ε_t：创新误差。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课堂追问：ARIMA(2,0,0)中的0是否意味着序列没有随机波动？</a:t>
            </a:r>
          </a:p>
          <a:p xmlns:a="http://schemas.openxmlformats.org/drawingml/2006/main">
            <a:r>
              <a:t>教学建议：先请学生预测参数变化方向，再运行网页对照；要求用交通对象、范围、分母和单位解释。</a:t>
            </a:r>
          </a:p>
          <a:p xmlns:a="http://schemas.openxmlformats.org/drawingml/2006/main">
            <a:r>
              <a:t>交互课堂：https://lilinchao.github.io/traffic-book-practice/open-course/chapter-06/#arima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来源：https://archive.ics.uci.edu/dataset/492/metro+interstate+traffic+volume</a:t>
            </a:r>
          </a:p>
          <a:p xmlns:a="http://schemas.openxmlformats.org/drawingml/2006/main">
            <a:r>
              <a:t>John Hogue (2019) / UCI I-94，CC BY 4.0</a:t>
            </a:r>
          </a:p>
          <a:p xmlns:a="http://schemas.openxmlformats.org/drawingml/2006/main">
            <a:r>
              <a:t>输入哈希：{"projects/data/audit.json":"e94603938353a88fd33a7dce94e288e556da60c17fd4d99b43e0e78fbbda2908","projects/data/forecast.json":"ea0bfab243ef70f7c5472406dfeb75da3ef316d5b316c41ad94dd4a92c9522c1","chapters/data/algorithms/ch6.json":"b90000ae0dcc08b21feab29a9678c14f690c204ade6795a11b6dfc9ba47ca09a"}</a:t>
            </a:r>
          </a:p>
          <a:p xmlns:a="http://schemas.openxmlformats.org/drawingml/2006/main">
            <a:r>
              <a:t>课文源：符号释义与教学逻辑修订清洁合稿的已核验提取稿；本轮不修改书稿。</a:t>
            </a:r>
          </a:p>
          <a:p xmlns:a="http://schemas.openxmlformats.org/drawingml/2006/main">
            <a:r>
              <a:t>课程原创讲解CC BY-SA 4.0，代码MIT，第三方材料遵守原始条款。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季节项让模型利用前一日的关联结构。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本轮固定SARIMA(2,0,0)(1,0,0)₂₄，以24小时表示日周期。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季节AR项与非季节AR项组合会产生交叉滞后，不能把完整模型简化成只增加一个第24小时特征。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课堂追问：如果某道路的周末差异显著，24小时周期模型还可能缺少什么？</a:t>
            </a:r>
          </a:p>
          <a:p xmlns:a="http://schemas.openxmlformats.org/drawingml/2006/main">
            <a:r>
              <a:t>教学建议：先请学生预测参数变化方向，再运行网页对照；要求用交通对象、范围、分母和单位解释。</a:t>
            </a:r>
          </a:p>
          <a:p xmlns:a="http://schemas.openxmlformats.org/drawingml/2006/main">
            <a:r>
              <a:t>交互课堂：https://lilinchao.github.io/traffic-book-practice/open-course/chapter-06/#sarima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来源：https://archive.ics.uci.edu/dataset/492/metro+interstate+traffic+volume</a:t>
            </a:r>
          </a:p>
          <a:p xmlns:a="http://schemas.openxmlformats.org/drawingml/2006/main">
            <a:r>
              <a:t>John Hogue (2019) / UCI I-94，CC BY 4.0</a:t>
            </a:r>
          </a:p>
          <a:p xmlns:a="http://schemas.openxmlformats.org/drawingml/2006/main">
            <a:r>
              <a:t>输入哈希：{"projects/data/audit.json":"e94603938353a88fd33a7dce94e288e556da60c17fd4d99b43e0e78fbbda2908","projects/data/forecast.json":"ea0bfab243ef70f7c5472406dfeb75da3ef316d5b316c41ad94dd4a92c9522c1","chapters/data/algorithms/ch6.json":"b90000ae0dcc08b21feab29a9678c14f690c204ade6795a11b6dfc9ba47ca09a"}</a:t>
            </a:r>
          </a:p>
          <a:p xmlns:a="http://schemas.openxmlformats.org/drawingml/2006/main">
            <a:r>
              <a:t>课文源：符号释义与教学逻辑修订清洁合稿的已核验提取稿；本轮不修改书稿。</a:t>
            </a:r>
          </a:p>
          <a:p xmlns:a="http://schemas.openxmlformats.org/drawingml/2006/main">
            <a:r>
              <a:t>课程原创讲解CC BY-SA 4.0，代码MIT，第三方材料遵守原始条款。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比较提前量时必须固定被预测的时刻。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目标是12时，提前1、3、6小时分别只能使用11、09、06时及以前的信息。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本协议采用起点的过滤状态递推，不使用包含未来观测的平滑状态；共同目标固定为2,169个。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课堂追问：为什么同一个目标时刻要对应三个不同的信息截止时刻？</a:t>
            </a:r>
          </a:p>
          <a:p xmlns:a="http://schemas.openxmlformats.org/drawingml/2006/main">
            <a:r>
              <a:t>教学建议：先请学生预测参数变化方向，再运行网页对照；要求用交通对象、范围、分母和单位解释。</a:t>
            </a:r>
          </a:p>
          <a:p xmlns:a="http://schemas.openxmlformats.org/drawingml/2006/main">
            <a:r>
              <a:t>交互课堂：https://lilinchao.github.io/traffic-book-practice/open-course/chapter-06/#origin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来源：https://archive.ics.uci.edu/dataset/492/metro+interstate+traffic+volume</a:t>
            </a:r>
          </a:p>
          <a:p xmlns:a="http://schemas.openxmlformats.org/drawingml/2006/main">
            <a:r>
              <a:t>John Hogue (2019) / UCI I-94，CC BY 4.0</a:t>
            </a:r>
          </a:p>
          <a:p xmlns:a="http://schemas.openxmlformats.org/drawingml/2006/main">
            <a:r>
              <a:t>输入哈希：{"projects/data/audit.json":"e94603938353a88fd33a7dce94e288e556da60c17fd4d99b43e0e78fbbda2908","projects/data/forecast.json":"ea0bfab243ef70f7c5472406dfeb75da3ef316d5b316c41ad94dd4a92c9522c1","chapters/data/algorithms/ch6.json":"b90000ae0dcc08b21feab29a9678c14f690c204ade6795a11b6dfc9ba47ca09a"}</a:t>
            </a:r>
          </a:p>
          <a:p xmlns:a="http://schemas.openxmlformats.org/drawingml/2006/main">
            <a:r>
              <a:t>课文源：符号释义与教学逻辑修订清洁合稿的已核验提取稿；本轮不修改书稿。</a:t>
            </a:r>
          </a:p>
          <a:p xmlns:a="http://schemas.openxmlformats.org/drawingml/2006/main">
            <a:r>
              <a:t>课程原创讲解CC BY-SA 4.0，代码MIT，第三方材料遵守原始条款。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计算方式：根据真实观测在浏览器重新计算</a:t>
            </a:r>
          </a:p>
          <a:p xmlns:a="http://schemas.openxmlformats.org/drawingml/2006/main">
            <a:r>
              <a:t>默认参数：{"horizon":"3"}</a:t>
            </a:r>
          </a:p>
          <a:p xmlns:a="http://schemas.openxmlformats.org/drawingml/2006/main">
            <a:r>
              <a:t>数据范围：I-94小时交通量，1/3/6小时共同2,169个测试目标</a:t>
            </a:r>
          </a:p>
          <a:p xmlns:a="http://schemas.openxmlformats.org/drawingml/2006/main">
            <a:r>
              <a:t>结果解释：使用起点的过滤状态。Z只用于无时区干扰的标签减法，不代表源时间转成UTC。表仅展示共同目标的前8条。</a:t>
            </a:r>
          </a:p>
          <a:p xmlns:a="http://schemas.openxmlformats.org/drawingml/2006/main">
            <a:r>
              <a:t>全部结果：{"columns":["目标本地标签","最后可用小时标签","提前小时"],"rows":[["2018-07-01T00:00","2018-06-30T21:00",3],["2018-07-01T01:00","2018-06-30T22:00",3],["2018-07-01T02:00","2018-06-30T23:00",3],["2018-07-01T03:00","2018-07-01T00:00",3],["2018-07-01T04:00","2018-07-01T01:00",3],["2018-07-01T05:00","2018-07-01T02:00",3],["2018-07-01T06:00","2018-07-01T03:00",3],["2018-07-01T07:00","2018-07-01T04:00",3]]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默认网页：https://lilinchao.github.io/traffic-book-practice/open-course/chapter-06/#origin</a:t>
            </a:r>
          </a:p>
          <a:p xmlns:a="http://schemas.openxmlformats.org/drawingml/2006/main">
            <a:r>
              <a:t>输入文件SHA256：{"projects/data/audit.json":"e94603938353a88fd33a7dce94e288e556da60c17fd4d99b43e0e78fbbda2908","projects/data/forecast.json":"ea0bfab243ef70f7c5472406dfeb75da3ef316d5b316c41ad94dd4a92c9522c1","chapters/data/algorithms/ch6.json":"b90000ae0dcc08b21feab29a9678c14f690c204ade6795a11b6dfc9ba47ca09a"}</a:t>
            </a:r>
          </a:p>
          <a:p xmlns:a="http://schemas.openxmlformats.org/drawingml/2006/main">
            <a:r>
              <a:t>来源：https://archive.ics.uci.edu/dataset/492/metro+interstate+traffic+volume。John Hogue (2019) / UCI I-94，CC BY 4.0</a:t>
            </a:r>
          </a:p>
          <a:p xmlns:a="http://schemas.openxmlformats.org/drawingml/2006/main">
            <a:r>
              <a:t>本页图表为默认配置快照，课堂改变参数后以网页重新计算为准。图表与底层数据可编辑。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复杂模型是否有用，需要同口径比较。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训练期星期小时均值、上周同期、ARIMA与SARIMA使用相同目标。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本页基于冻结预测实际重算误差，切换提前量或重点时段不会重新拟合模型。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课堂追问：同一模型MAE较低而RMSE较高，意味着哪类错误仍需关注？</a:t>
            </a:r>
          </a:p>
          <a:p xmlns:a="http://schemas.openxmlformats.org/drawingml/2006/main">
            <a:r>
              <a:t>教学建议：先请学生预测参数变化方向，再运行网页对照；要求用交通对象、范围、分母和单位解释。</a:t>
            </a:r>
          </a:p>
          <a:p xmlns:a="http://schemas.openxmlformats.org/drawingml/2006/main">
            <a:r>
              <a:t>交互课堂：https://lilinchao.github.io/traffic-book-practice/open-course/chapter-06/#models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来源：https://archive.ics.uci.edu/dataset/492/metro+interstate+traffic+volume</a:t>
            </a:r>
          </a:p>
          <a:p xmlns:a="http://schemas.openxmlformats.org/drawingml/2006/main">
            <a:r>
              <a:t>John Hogue (2019) / UCI I-94，CC BY 4.0</a:t>
            </a:r>
          </a:p>
          <a:p xmlns:a="http://schemas.openxmlformats.org/drawingml/2006/main">
            <a:r>
              <a:t>输入哈希：{"projects/data/audit.json":"e94603938353a88fd33a7dce94e288e556da60c17fd4d99b43e0e78fbbda2908","projects/data/forecast.json":"ea0bfab243ef70f7c5472406dfeb75da3ef316d5b316c41ad94dd4a92c9522c1","chapters/data/algorithms/ch6.json":"b90000ae0dcc08b21feab29a9678c14f690c204ade6795a11b6dfc9ba47ca09a"}</a:t>
            </a:r>
          </a:p>
          <a:p xmlns:a="http://schemas.openxmlformats.org/drawingml/2006/main">
            <a:r>
              <a:t>课文源：符号释义与教学逻辑修订清洁合稿的已核验提取稿；本轮不修改书稿。</a:t>
            </a:r>
          </a:p>
          <a:p xmlns:a="http://schemas.openxmlformats.org/drawingml/2006/main">
            <a:r>
              <a:t>课程原创讲解CC BY-SA 4.0，代码MIT，第三方材料遵守原始条款。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计算方式：根据冻结预测重新计算；不在浏览器拟合模型</a:t>
            </a:r>
          </a:p>
          <a:p xmlns:a="http://schemas.openxmlformats.org/drawingml/2006/main">
            <a:r>
              <a:t>默认参数：{"horizon":"1","period":"all"}</a:t>
            </a:r>
          </a:p>
          <a:p xmlns:a="http://schemas.openxmlformats.org/drawingml/2006/main">
            <a:r>
              <a:t>数据范围：I-94小时交通量，1/3/6小时共同2,169个测试目标</a:t>
            </a:r>
          </a:p>
          <a:p xmlns:a="http://schemas.openxmlformats.org/drawingml/2006/main">
            <a:r>
              <a:t>结果解释：全年训练2017年；验证2018年上半年；测试7—9月。全部方案先固定2169共同目标，再筛选相同时段。不把图表切换称为重新训练。</a:t>
            </a:r>
          </a:p>
          <a:p xmlns:a="http://schemas.openxmlformats.org/drawingml/2006/main">
            <a:r>
              <a:t>全部结果：{"columns":["方法","样本数","MAE（辆/小时）","RMSE（辆/小时）","预测减实测（辆/小时）"],"rows":[["星期小时均值",2169,218.68638312586427,409.3202943539202,43.37427893038276],["上周同期",2169,264.05578607653297,556.9814967629392,2.6634393729829413],["ARIMA",2169,416.51301046051833,546.9408240250842,8.783977781665731],["SARIMA",2169,288.3822867805948,404.8337157578309,4.94180095212991]]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默认网页：https://lilinchao.github.io/traffic-book-practice/open-course/chapter-06/#models</a:t>
            </a:r>
          </a:p>
          <a:p xmlns:a="http://schemas.openxmlformats.org/drawingml/2006/main">
            <a:r>
              <a:t>输入文件SHA256：{"projects/data/audit.json":"e94603938353a88fd33a7dce94e288e556da60c17fd4d99b43e0e78fbbda2908","projects/data/forecast.json":"ea0bfab243ef70f7c5472406dfeb75da3ef316d5b316c41ad94dd4a92c9522c1","chapters/data/algorithms/ch6.json":"b90000ae0dcc08b21feab29a9678c14f690c204ade6795a11b6dfc9ba47ca09a"}</a:t>
            </a:r>
          </a:p>
          <a:p xmlns:a="http://schemas.openxmlformats.org/drawingml/2006/main">
            <a:r>
              <a:t>来源：https://archive.ics.uci.edu/dataset/492/metro+interstate+traffic+volume。John Hogue (2019) / UCI I-94，CC BY 4.0</a:t>
            </a:r>
          </a:p>
          <a:p xmlns:a="http://schemas.openxmlformats.org/drawingml/2006/main">
            <a:r>
              <a:t>本页图表为默认配置快照，课堂改变参数后以网页重新计算为准。图表与底层数据可编辑。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多步预测的信息减少与误差累积应分别考虑。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比较同一模型在1、3、6小时的误差，并始终使用共同目标与相同分组。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上周同期对这些提前量可能给出相同预测，因为参照观测在三个起点都已可用。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课堂追问：为什么提前量变长时，基线误差可能完全不变？</a:t>
            </a:r>
          </a:p>
          <a:p xmlns:a="http://schemas.openxmlformats.org/drawingml/2006/main">
            <a:r>
              <a:t>教学建议：先请学生预测参数变化方向，再运行网页对照；要求用交通对象、范围、分母和单位解释。</a:t>
            </a:r>
          </a:p>
          <a:p xmlns:a="http://schemas.openxmlformats.org/drawingml/2006/main">
            <a:r>
              <a:t>交互课堂：https://lilinchao.github.io/traffic-book-practice/open-course/chapter-06/#horizon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来源：https://archive.ics.uci.edu/dataset/492/metro+interstate+traffic+volume</a:t>
            </a:r>
          </a:p>
          <a:p xmlns:a="http://schemas.openxmlformats.org/drawingml/2006/main">
            <a:r>
              <a:t>John Hogue (2019) / UCI I-94，CC BY 4.0</a:t>
            </a:r>
          </a:p>
          <a:p xmlns:a="http://schemas.openxmlformats.org/drawingml/2006/main">
            <a:r>
              <a:t>输入哈希：{"projects/data/audit.json":"e94603938353a88fd33a7dce94e288e556da60c17fd4d99b43e0e78fbbda2908","projects/data/forecast.json":"ea0bfab243ef70f7c5472406dfeb75da3ef316d5b316c41ad94dd4a92c9522c1","chapters/data/algorithms/ch6.json":"b90000ae0dcc08b21feab29a9678c14f690c204ade6795a11b6dfc9ba47ca09a"}</a:t>
            </a:r>
          </a:p>
          <a:p xmlns:a="http://schemas.openxmlformats.org/drawingml/2006/main">
            <a:r>
              <a:t>课文源：符号释义与教学逻辑修订清洁合稿的已核验提取稿；本轮不修改书稿。</a:t>
            </a:r>
          </a:p>
          <a:p xmlns:a="http://schemas.openxmlformats.org/drawingml/2006/main">
            <a:r>
              <a:t>课程原创讲解CC BY-SA 4.0，代码MIT，第三方材料遵守原始条款。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计算方式：根据冻结预测重新计算；不在浏览器拟合模型</a:t>
            </a:r>
          </a:p>
          <a:p xmlns:a="http://schemas.openxmlformats.org/drawingml/2006/main">
            <a:r>
              <a:t>默认参数：{"model":"SARIMA","period":"all"}</a:t>
            </a:r>
          </a:p>
          <a:p xmlns:a="http://schemas.openxmlformats.org/drawingml/2006/main">
            <a:r>
              <a:t>数据范围：I-94小时交通量，1/3/6小时共同2,169个测试目标</a:t>
            </a:r>
          </a:p>
          <a:p xmlns:a="http://schemas.openxmlformats.org/drawingml/2006/main">
            <a:r>
              <a:t>结果解释：全年训练2017年；验证2018年上半年；测试7—9月。全部方案先固定2169共同目标，再筛选相同时段。不把图表切换称为重新训练。</a:t>
            </a:r>
          </a:p>
          <a:p xmlns:a="http://schemas.openxmlformats.org/drawingml/2006/main">
            <a:r>
              <a:t>全部结果：{"columns":["方法","样本数","MAE（辆/小时）","RMSE（辆/小时）","预测减实测（辆/小时）"],"rows":[["提前1小时",2169,288.3822867805948,404.8337157578309,4.94180095212991],["提前3小时",2169,621.8224173175712,874.1314928086806,13.707079677078788],["提前6小时",2169,732.6054091168356,999.0622008188894,19.042278525842743]]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默认网页：https://lilinchao.github.io/traffic-book-practice/open-course/chapter-06/#horizon</a:t>
            </a:r>
          </a:p>
          <a:p xmlns:a="http://schemas.openxmlformats.org/drawingml/2006/main">
            <a:r>
              <a:t>输入文件SHA256：{"projects/data/audit.json":"e94603938353a88fd33a7dce94e288e556da60c17fd4d99b43e0e78fbbda2908","projects/data/forecast.json":"ea0bfab243ef70f7c5472406dfeb75da3ef316d5b316c41ad94dd4a92c9522c1","chapters/data/algorithms/ch6.json":"b90000ae0dcc08b21feab29a9678c14f690c204ade6795a11b6dfc9ba47ca09a"}</a:t>
            </a:r>
          </a:p>
          <a:p xmlns:a="http://schemas.openxmlformats.org/drawingml/2006/main">
            <a:r>
              <a:t>来源：https://archive.ics.uci.edu/dataset/492/metro+interstate+traffic+volume。John Hogue (2019) / UCI I-94，CC BY 4.0</a:t>
            </a:r>
          </a:p>
          <a:p xmlns:a="http://schemas.openxmlformats.org/drawingml/2006/main">
            <a:r>
              <a:t>本页图表为默认配置快照，课堂改变参数后以网页重新计算为准。图表与底层数据可编辑。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序列网络仍然需要明确输入和标签。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长度L的历史窗口对应给定提前量h的标签，窗口构建必须排除目标之后的观测。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LSTM门控机制处理历史信息保留，但不能自动解决缺测、泄漏或小样本问题。此课未声称完成LSTM训练。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课堂追问：换成深度模型后，哪些时间切分和基线规则仍然不能改变？</a:t>
            </a:r>
          </a:p>
          <a:p xmlns:a="http://schemas.openxmlformats.org/drawingml/2006/main">
            <a:r>
              <a:t>教学建议：先请学生预测参数变化方向，再运行网页对照；要求用交通对象、范围、分母和单位解释。</a:t>
            </a:r>
          </a:p>
          <a:p xmlns:a="http://schemas.openxmlformats.org/drawingml/2006/main">
            <a:r>
              <a:t>交互课堂：https://lilinchao.github.io/traffic-book-practice/open-course/chapter-06/#lstm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来源：https://archive.ics.uci.edu/dataset/492/metro+interstate+traffic+volume</a:t>
            </a:r>
          </a:p>
          <a:p xmlns:a="http://schemas.openxmlformats.org/drawingml/2006/main">
            <a:r>
              <a:t>John Hogue (2019) / UCI I-94，CC BY 4.0</a:t>
            </a:r>
          </a:p>
          <a:p xmlns:a="http://schemas.openxmlformats.org/drawingml/2006/main">
            <a:r>
              <a:t>输入哈希：{"projects/data/audit.json":"e94603938353a88fd33a7dce94e288e556da60c17fd4d99b43e0e78fbbda2908","projects/data/forecast.json":"ea0bfab243ef70f7c5472406dfeb75da3ef316d5b316c41ad94dd4a92c9522c1","chapters/data/algorithms/ch6.json":"b90000ae0dcc08b21feab29a9678c14f690c204ade6795a11b6dfc9ba47ca09a"}</a:t>
            </a:r>
          </a:p>
          <a:p xmlns:a="http://schemas.openxmlformats.org/drawingml/2006/main">
            <a:r>
              <a:t>课文源：符号释义与教学逻辑修订清洁合稿的已核验提取稿；本轮不修改书稿。</a:t>
            </a:r>
          </a:p>
          <a:p xmlns:a="http://schemas.openxmlformats.org/drawingml/2006/main">
            <a:r>
              <a:t>课程原创讲解CC BY-SA 4.0，代码MIT，第三方材料遵守原始条款。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DTW允许局部时间伸缩后比较形态。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对2017年两个完整日期的24小时交通量计算DTW，观察允许错位的范围如何影响距离。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原始尺度比较兼有交通量规模差异，标准化后侧重形态。过宽错位会掩盖高峰时间变化。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课堂追问：若管理部门关心准确的高峰到达时刻，是否应允许无限时间伸缩？</a:t>
            </a:r>
          </a:p>
          <a:p xmlns:a="http://schemas.openxmlformats.org/drawingml/2006/main">
            <a:r>
              <a:t>教学建议：先请学生预测参数变化方向，再运行网页对照；要求用交通对象、范围、分母和单位解释。</a:t>
            </a:r>
          </a:p>
          <a:p xmlns:a="http://schemas.openxmlformats.org/drawingml/2006/main">
            <a:r>
              <a:t>交互课堂：https://lilinchao.github.io/traffic-book-practice/open-course/chapter-06/#dtw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来源：https://archive.ics.uci.edu/dataset/492/metro+interstate+traffic+volume</a:t>
            </a:r>
          </a:p>
          <a:p xmlns:a="http://schemas.openxmlformats.org/drawingml/2006/main">
            <a:r>
              <a:t>John Hogue (2019) / UCI I-94，CC BY 4.0</a:t>
            </a:r>
          </a:p>
          <a:p xmlns:a="http://schemas.openxmlformats.org/drawingml/2006/main">
            <a:r>
              <a:t>输入哈希：{"projects/data/audit.json":"e94603938353a88fd33a7dce94e288e556da60c17fd4d99b43e0e78fbbda2908","projects/data/forecast.json":"ea0bfab243ef70f7c5472406dfeb75da3ef316d5b316c41ad94dd4a92c9522c1","chapters/data/algorithms/ch6.json":"b90000ae0dcc08b21feab29a9678c14f690c204ade6795a11b6dfc9ba47ca09a"}</a:t>
            </a:r>
          </a:p>
          <a:p xmlns:a="http://schemas.openxmlformats.org/drawingml/2006/main">
            <a:r>
              <a:t>课文源：符号释义与教学逻辑修订清洁合稿的已核验提取稿；本轮不修改书稿。</a:t>
            </a:r>
          </a:p>
          <a:p xmlns:a="http://schemas.openxmlformats.org/drawingml/2006/main">
            <a:r>
              <a:t>课程原创讲解CC BY-SA 4.0，代码MIT，第三方材料遵守原始条款。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计算方式：根据真实观测在浏览器重新计算</a:t>
            </a:r>
          </a:p>
          <a:p xmlns:a="http://schemas.openxmlformats.org/drawingml/2006/main">
            <a:r>
              <a:t>默认参数：{"dayA":"3","dayB":"7","window":"3","scale":"raw"}</a:t>
            </a:r>
          </a:p>
          <a:p xmlns:a="http://schemas.openxmlformats.org/drawingml/2006/main">
            <a:r>
              <a:t>数据范围：I-94小时交通量，1/3/6小时共同2,169个测试目标</a:t>
            </a:r>
          </a:p>
          <a:p xmlns:a="http://schemas.openxmlformats.org/drawingml/2006/main">
            <a:r>
              <a:t>结果解释：DTW累计绝对代价=14049.000，允许错位±3小时，未按路径长度归一化。代价取决于幅值尺度与路径约束，不是预测误差或显著性。</a:t>
            </a:r>
          </a:p>
          <a:p xmlns:a="http://schemas.openxmlformats.org/drawingml/2006/main">
            <a:r>
              <a:t>全部结果：{"columns":["钟点","2017-01-03","2017-01-07"],"rows":[[0,716,1089],[1,485,685],[2,400,663],[3,483,565],[4,944,664],[5,2755,886],[6,5107,1385],[7,6065,1879],[8,5338,2653],[9,4555,3178],[10,3979,3521],[11,4008,4085],[12,4317,4444],[13,4377,4548],[14,4863,4800],[15,5290,5092],[16,6114,4885],[17,5854,4572],[18,4011,3780],[19,2697,3025],[20,2169,2751],[21,2011,2683],[22,1475,2404],[23,915,1757]]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默认网页：https://lilinchao.github.io/traffic-book-practice/open-course/chapter-06/#dtw</a:t>
            </a:r>
          </a:p>
          <a:p xmlns:a="http://schemas.openxmlformats.org/drawingml/2006/main">
            <a:r>
              <a:t>输入文件SHA256：{"projects/data/audit.json":"e94603938353a88fd33a7dce94e288e556da60c17fd4d99b43e0e78fbbda2908","projects/data/forecast.json":"ea0bfab243ef70f7c5472406dfeb75da3ef316d5b316c41ad94dd4a92c9522c1","chapters/data/algorithms/ch6.json":"b90000ae0dcc08b21feab29a9678c14f690c204ade6795a11b6dfc9ba47ca09a"}</a:t>
            </a:r>
          </a:p>
          <a:p xmlns:a="http://schemas.openxmlformats.org/drawingml/2006/main">
            <a:r>
              <a:t>来源：https://archive.ics.uci.edu/dataset/492/metro+interstate+traffic+volume。John Hogue (2019) / UCI I-94，CC BY 4.0</a:t>
            </a:r>
          </a:p>
          <a:p xmlns:a="http://schemas.openxmlformats.org/drawingml/2006/main">
            <a:r>
              <a:t>本页图表为默认配置快照，课堂改变参数后以网页重新计算为准。图表与底层数据可编辑。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失败诊断应落到具体交通时段。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平均误差不能代替高峰保障分析，应查看逐小时预测与实测、样本数及有符号偏差。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节假日或异常波动可以作为调查线索，现有资料不足时不把误差归因于已确认的事故或天气机制。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课堂追问：你会补充什么资料来核查一个预测明显失准的小时？</a:t>
            </a:r>
          </a:p>
          <a:p xmlns:a="http://schemas.openxmlformats.org/drawingml/2006/main">
            <a:r>
              <a:t>教学建议：先请学生预测参数变化方向，再运行网页对照；要求用交通对象、范围、分母和单位解释。</a:t>
            </a:r>
          </a:p>
          <a:p xmlns:a="http://schemas.openxmlformats.org/drawingml/2006/main">
            <a:r>
              <a:t>交互课堂：https://lilinchao.github.io/traffic-book-practice/open-course/chapter-06/#failure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来源：https://archive.ics.uci.edu/dataset/492/metro+interstate+traffic+volume</a:t>
            </a:r>
          </a:p>
          <a:p xmlns:a="http://schemas.openxmlformats.org/drawingml/2006/main">
            <a:r>
              <a:t>John Hogue (2019) / UCI I-94，CC BY 4.0</a:t>
            </a:r>
          </a:p>
          <a:p xmlns:a="http://schemas.openxmlformats.org/drawingml/2006/main">
            <a:r>
              <a:t>输入哈希：{"projects/data/audit.json":"e94603938353a88fd33a7dce94e288e556da60c17fd4d99b43e0e78fbbda2908","projects/data/forecast.json":"ea0bfab243ef70f7c5472406dfeb75da3ef316d5b316c41ad94dd4a92c9522c1","chapters/data/algorithms/ch6.json":"b90000ae0dcc08b21feab29a9678c14f690c204ade6795a11b6dfc9ba47ca09a"}</a:t>
            </a:r>
          </a:p>
          <a:p xmlns:a="http://schemas.openxmlformats.org/drawingml/2006/main">
            <a:r>
              <a:t>课文源：符号释义与教学逻辑修订清洁合稿的已核验提取稿；本轮不修改书稿。</a:t>
            </a:r>
          </a:p>
          <a:p xmlns:a="http://schemas.openxmlformats.org/drawingml/2006/main">
            <a:r>
              <a:t>课程原创讲解CC BY-SA 4.0，代码MIT，第三方材料遵守原始条款。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固定目标，修改模型与提前量。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代码调用相同的真实预测数组，输出共同样本上的误差表。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Python工作本负责拟合与过滤状态递推，课堂代码负责复核结果。公开测试标签不再用于挑参。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课堂追问：报告的样本数发生变化时，应先核查哪一步？</a:t>
            </a:r>
          </a:p>
          <a:p xmlns:a="http://schemas.openxmlformats.org/drawingml/2006/main">
            <a:r>
              <a:t>教学建议：先请学生预测参数变化方向，再运行网页对照；要求用交通对象、范围、分母和单位解释。</a:t>
            </a:r>
          </a:p>
          <a:p xmlns:a="http://schemas.openxmlformats.org/drawingml/2006/main">
            <a:r>
              <a:t>交互课堂：https://lilinchao.github.io/traffic-book-practice/open-course/chapter-06/#code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来源：https://archive.ics.uci.edu/dataset/492/metro+interstate+traffic+volume</a:t>
            </a:r>
          </a:p>
          <a:p xmlns:a="http://schemas.openxmlformats.org/drawingml/2006/main">
            <a:r>
              <a:t>John Hogue (2019) / UCI I-94，CC BY 4.0</a:t>
            </a:r>
          </a:p>
          <a:p xmlns:a="http://schemas.openxmlformats.org/drawingml/2006/main">
            <a:r>
              <a:t>输入哈希：{"projects/data/audit.json":"e94603938353a88fd33a7dce94e288e556da60c17fd4d99b43e0e78fbbda2908","projects/data/forecast.json":"ea0bfab243ef70f7c5472406dfeb75da3ef316d5b316c41ad94dd4a92c9522c1","chapters/data/algorithms/ch6.json":"b90000ae0dcc08b21feab29a9678c14f690c204ade6795a11b6dfc9ba47ca09a"}</a:t>
            </a:r>
          </a:p>
          <a:p xmlns:a="http://schemas.openxmlformats.org/drawingml/2006/main">
            <a:r>
              <a:t>课文源：符号释义与教学逻辑修订清洁合稿的已核验提取稿；本轮不修改书稿。</a:t>
            </a:r>
          </a:p>
          <a:p xmlns:a="http://schemas.openxmlformats.org/drawingml/2006/main">
            <a:r>
              <a:t>课程原创讲解CC BY-SA 4.0，代码MIT，第三方材料遵守原始条款。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成果应说明预测能支持哪类运行准备。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提交四方法、三提前量预测，给出总体与重点时段的误差，并复核一个失败时段。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说明单断面、历史年份、缺少速度与事件资料的限制，为第7章多区域预测保留同样的评价纪律。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课堂追问：哪些管理任务可以参考本结果，哪些任务仍需额外验证？</a:t>
            </a:r>
          </a:p>
          <a:p xmlns:a="http://schemas.openxmlformats.org/drawingml/2006/main">
            <a:r>
              <a:t>教学建议：先请学生预测参数变化方向，再运行网页对照；要求用交通对象、范围、分母和单位解释。</a:t>
            </a:r>
          </a:p>
          <a:p xmlns:a="http://schemas.openxmlformats.org/drawingml/2006/main">
            <a:r>
              <a:t>交互课堂：https://lilinchao.github.io/traffic-book-practice/open-course/chapter-06/#project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来源：https://archive.ics.uci.edu/dataset/492/metro+interstate+traffic+volume</a:t>
            </a:r>
          </a:p>
          <a:p xmlns:a="http://schemas.openxmlformats.org/drawingml/2006/main">
            <a:r>
              <a:t>John Hogue (2019) / UCI I-94，CC BY 4.0</a:t>
            </a:r>
          </a:p>
          <a:p xmlns:a="http://schemas.openxmlformats.org/drawingml/2006/main">
            <a:r>
              <a:t>输入哈希：{"projects/data/audit.json":"e94603938353a88fd33a7dce94e288e556da60c17fd4d99b43e0e78fbbda2908","projects/data/forecast.json":"ea0bfab243ef70f7c5472406dfeb75da3ef316d5b316c41ad94dd4a92c9522c1","chapters/data/algorithms/ch6.json":"b90000ae0dcc08b21feab29a9678c14f690c204ade6795a11b6dfc9ba47ca09a"}</a:t>
            </a:r>
          </a:p>
          <a:p xmlns:a="http://schemas.openxmlformats.org/drawingml/2006/main">
            <a:r>
              <a:t>课文源：符号释义与教学逻辑修订清洁合稿的已核验提取稿；本轮不修改书稿。</a:t>
            </a:r>
          </a:p>
          <a:p xmlns:a="http://schemas.openxmlformats.org/drawingml/2006/main">
            <a:r>
              <a:t>课程原创讲解CC BY-SA 4.0，代码MIT，第三方材料遵守原始条款。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教学主线：道路运行准备需要提前多久掌握交通量？</a:t>
            </a:r>
          </a:p>
          <a:p xmlns:a="http://schemas.openxmlformats.org/drawingml/2006/main">
            <a:r>
              <a:t>建议135分钟讲授与讨论 + 90分钟上机</a:t>
            </a:r>
          </a:p>
          <a:p xmlns:a="http://schemas.openxmlformats.org/drawingml/2006/main">
            <a:r>
              <a:t>课堂：https://lilinchao.github.io/traffic-book-practice/open-course/chapter-06/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来源：https://archive.ics.uci.edu/dataset/492/metro+interstate+traffic+volume</a:t>
            </a:r>
          </a:p>
          <a:p xmlns:a="http://schemas.openxmlformats.org/drawingml/2006/main">
            <a:r>
              <a:t>John Hogue (2019) / UCI I-94，CC BY 4.0</a:t>
            </a:r>
          </a:p>
          <a:p xmlns:a="http://schemas.openxmlformats.org/drawingml/2006/main">
            <a:r>
              <a:t>输入哈希：{"projects/data/audit.json":"e94603938353a88fd33a7dce94e288e556da60c17fd4d99b43e0e78fbbda2908","projects/data/forecast.json":"ea0bfab243ef70f7c5472406dfeb75da3ef316d5b316c41ad94dd4a92c9522c1","chapters/data/algorithms/ch6.json":"b90000ae0dcc08b21feab29a9678c14f690c204ade6795a11b6dfc9ba47ca09a"}</a:t>
            </a:r>
          </a:p>
          <a:p xmlns:a="http://schemas.openxmlformats.org/drawingml/2006/main">
            <a:r>
              <a:t>课文源：符号释义与教学逻辑修订清洁合稿的已核验提取稿；本轮不修改书稿。</a:t>
            </a:r>
          </a:p>
          <a:p xmlns:a="http://schemas.openxmlformats.org/drawingml/2006/main">
            <a:r>
              <a:t>课程原创讲解CC BY-SA 4.0，代码MIT，第三方材料遵守原始条款。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2886fd201f94d0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4dac17d07e0486f" /><Relationship Type="http://schemas.openxmlformats.org/officeDocument/2006/relationships/slideLayout" Target="/ppt/slideLayouts/slideLayout1.xml" Id="R7ff7590ad9274eb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ff7590ad9274eb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8482b1f2364f45" /><Relationship Type="http://schemas.openxmlformats.org/officeDocument/2006/relationships/image" Target="/ppt/media/image.png" Id="R7d2e02d15e2444e3" /><Relationship Type="http://schemas.openxmlformats.org/officeDocument/2006/relationships/notesSlide" Target="/ppt/notesSlides/notesSlide1.xml" Id="R82fb4b9d317c405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45b97fd8434223" /><Relationship Type="http://schemas.openxmlformats.org/officeDocument/2006/relationships/hyperlink" Target="https://lilinchao.github.io/traffic-book-practice/open-course/chapter-06/" TargetMode="External" Id="Recabcd50e5994ca5" /><Relationship Type="http://schemas.openxmlformats.org/officeDocument/2006/relationships/notesSlide" Target="/ppt/notesSlides/notesSlide2.xml" Id="R331b514c22ee49d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998990e0954572" /><Relationship Type="http://schemas.openxmlformats.org/officeDocument/2006/relationships/hyperlink" Target="https://lilinchao.github.io/traffic-book-practice/open-course/chapter-06/#mission" TargetMode="External" Id="Rd8f88bea78fa44be" /><Relationship Type="http://schemas.openxmlformats.org/officeDocument/2006/relationships/notesSlide" Target="/ppt/notesSlides/notesSlide3.xml" Id="R65a0733252c346c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7944abfff144f2" /><Relationship Type="http://schemas.openxmlformats.org/officeDocument/2006/relationships/hyperlink" Target="https://lilinchao.github.io/traffic-book-practice/open-course/chapter-06/#index" TargetMode="External" Id="R064a3dc77c474955" /><Relationship Type="http://schemas.openxmlformats.org/officeDocument/2006/relationships/notesSlide" Target="/ppt/notesSlides/notesSlide4.xml" Id="R29a80f4e8393448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0328fb16ed45eb" /><Relationship Type="http://schemas.openxmlformats.org/officeDocument/2006/relationships/hyperlink" Target="https://lilinchao.github.io/traffic-book-practice/open-course/chapter-06/#smoothing" TargetMode="External" Id="R57c0263ec45c42cf" /><Relationship Type="http://schemas.openxmlformats.org/officeDocument/2006/relationships/notesSlide" Target="/ppt/notesSlides/notesSlide5.xml" Id="R826b9b8106ba4a4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815b81f26e4eb5" /><Relationship Type="http://schemas.openxmlformats.org/officeDocument/2006/relationships/hyperlink" Target="https://lilinchao.github.io/traffic-book-practice/open-course/chapter-06/#season" TargetMode="External" Id="R02aa1342b0af4695" /><Relationship Type="http://schemas.openxmlformats.org/officeDocument/2006/relationships/notesSlide" Target="/ppt/notesSlides/notesSlide6.xml" Id="R33bcd26e964f4c4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30cd1aedcb4ac7" /><Relationship Type="http://schemas.openxmlformats.org/officeDocument/2006/relationships/chart" Target="/ppt/slides/charts/chart1.xml" Id="R5ca0e6326e2948f9" /><Relationship Type="http://schemas.openxmlformats.org/officeDocument/2006/relationships/hyperlink" Target="https://lilinchao.github.io/traffic-book-practice/open-course/chapter-06/#season" TargetMode="External" Id="R272775e7617a4462" /><Relationship Type="http://schemas.openxmlformats.org/officeDocument/2006/relationships/notesSlide" Target="/ppt/notesSlides/notesSlide7.xml" Id="R77c162faeb6f408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96e542041b4d3f" /><Relationship Type="http://schemas.openxmlformats.org/officeDocument/2006/relationships/hyperlink" Target="https://lilinchao.github.io/traffic-book-practice/open-course/chapter-06/#acf" TargetMode="External" Id="R7802ecea2e30432f" /><Relationship Type="http://schemas.openxmlformats.org/officeDocument/2006/relationships/notesSlide" Target="/ppt/notesSlides/notesSlide8.xml" Id="R69bb1b730b164fa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3992683d08422a" /><Relationship Type="http://schemas.openxmlformats.org/officeDocument/2006/relationships/chart" Target="/ppt/slides/charts/chart2.xml" Id="Rb9ab28b527a1475f" /><Relationship Type="http://schemas.openxmlformats.org/officeDocument/2006/relationships/hyperlink" Target="https://lilinchao.github.io/traffic-book-practice/open-course/chapter-06/#acf" TargetMode="External" Id="Ra6e3c41cd58946b5" /><Relationship Type="http://schemas.openxmlformats.org/officeDocument/2006/relationships/notesSlide" Target="/ppt/notesSlides/notesSlide9.xml" Id="R38aa14531501490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993e97f6774fe9" /><Relationship Type="http://schemas.openxmlformats.org/officeDocument/2006/relationships/hyperlink" Target="https://lilinchao.github.io/traffic-book-practice/open-course/chapter-06/#tests" TargetMode="External" Id="R404c076d5dfe446b" /><Relationship Type="http://schemas.openxmlformats.org/officeDocument/2006/relationships/notesSlide" Target="/ppt/notesSlides/notesSlide10.xml" Id="R04b7b87d689c454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06fb3d95104c79" /><Relationship Type="http://schemas.openxmlformats.org/officeDocument/2006/relationships/hyperlink" Target="https://lilinchao.github.io/traffic-book-practice/open-course/chapter-06/#arima" TargetMode="External" Id="Ra9706d00d63c4a65" /><Relationship Type="http://schemas.openxmlformats.org/officeDocument/2006/relationships/notesSlide" Target="/ppt/notesSlides/notesSlide11.xml" Id="R70a67b8467ac4e5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3317c533264078" /><Relationship Type="http://schemas.openxmlformats.org/officeDocument/2006/relationships/hyperlink" Target="https://lilinchao.github.io/traffic-book-practice/open-course/chapter-06/#sarima" TargetMode="External" Id="Rb955ab58ce7a4b97" /><Relationship Type="http://schemas.openxmlformats.org/officeDocument/2006/relationships/notesSlide" Target="/ppt/notesSlides/notesSlide12.xml" Id="Ref99a1a8eedc4cd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a61e8fae3840e6" /><Relationship Type="http://schemas.openxmlformats.org/officeDocument/2006/relationships/hyperlink" Target="https://lilinchao.github.io/traffic-book-practice/open-course/chapter-06/#origin" TargetMode="External" Id="R287efb1400bb41f5" /><Relationship Type="http://schemas.openxmlformats.org/officeDocument/2006/relationships/notesSlide" Target="/ppt/notesSlides/notesSlide13.xml" Id="Rb13a27e5c8794120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2248053208473a" /><Relationship Type="http://schemas.openxmlformats.org/officeDocument/2006/relationships/hyperlink" Target="https://lilinchao.github.io/traffic-book-practice/open-course/chapter-06/#origin" TargetMode="External" Id="R4d60fe899c8141b0" /><Relationship Type="http://schemas.openxmlformats.org/officeDocument/2006/relationships/notesSlide" Target="/ppt/notesSlides/notesSlide14.xml" Id="R63104ced48914a40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d8519e24d24fc6" /><Relationship Type="http://schemas.openxmlformats.org/officeDocument/2006/relationships/hyperlink" Target="https://lilinchao.github.io/traffic-book-practice/open-course/chapter-06/#models" TargetMode="External" Id="Rac8c514579f742a0" /><Relationship Type="http://schemas.openxmlformats.org/officeDocument/2006/relationships/notesSlide" Target="/ppt/notesSlides/notesSlide15.xml" Id="Rf2d0291c6f9c4472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6c283ba1964df1" /><Relationship Type="http://schemas.openxmlformats.org/officeDocument/2006/relationships/chart" Target="/ppt/slides/charts/chart3.xml" Id="Rbbb30f4aaa0240a6" /><Relationship Type="http://schemas.openxmlformats.org/officeDocument/2006/relationships/hyperlink" Target="https://lilinchao.github.io/traffic-book-practice/open-course/chapter-06/#models" TargetMode="External" Id="R9c9cfcc7ef1149dd" /><Relationship Type="http://schemas.openxmlformats.org/officeDocument/2006/relationships/notesSlide" Target="/ppt/notesSlides/notesSlide16.xml" Id="Rbdebfae40b344014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ee9186b5bb4b8b" /><Relationship Type="http://schemas.openxmlformats.org/officeDocument/2006/relationships/hyperlink" Target="https://lilinchao.github.io/traffic-book-practice/open-course/chapter-06/#horizon" TargetMode="External" Id="R80c391ea82db4d89" /><Relationship Type="http://schemas.openxmlformats.org/officeDocument/2006/relationships/notesSlide" Target="/ppt/notesSlides/notesSlide17.xml" Id="R55570bb541d547af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ba0fd726e54c56" /><Relationship Type="http://schemas.openxmlformats.org/officeDocument/2006/relationships/chart" Target="/ppt/slides/charts/chart4.xml" Id="R4254b5cc4fc54a7d" /><Relationship Type="http://schemas.openxmlformats.org/officeDocument/2006/relationships/hyperlink" Target="https://lilinchao.github.io/traffic-book-practice/open-course/chapter-06/#horizon" TargetMode="External" Id="R99e1c65ee8fe4de7" /><Relationship Type="http://schemas.openxmlformats.org/officeDocument/2006/relationships/notesSlide" Target="/ppt/notesSlides/notesSlide18.xml" Id="Rf632988649e8403d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03372ae47c4f4e" /><Relationship Type="http://schemas.openxmlformats.org/officeDocument/2006/relationships/hyperlink" Target="https://lilinchao.github.io/traffic-book-practice/open-course/chapter-06/#lstm" TargetMode="External" Id="Rddab1e9f14fb4a30" /><Relationship Type="http://schemas.openxmlformats.org/officeDocument/2006/relationships/notesSlide" Target="/ppt/notesSlides/notesSlide19.xml" Id="Re7ac2c08f9624361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09cb2010bc4b0c" /><Relationship Type="http://schemas.openxmlformats.org/officeDocument/2006/relationships/hyperlink" Target="https://lilinchao.github.io/traffic-book-practice/open-course/chapter-06/#dtw" TargetMode="External" Id="R945a3c7c5bf64660" /><Relationship Type="http://schemas.openxmlformats.org/officeDocument/2006/relationships/notesSlide" Target="/ppt/notesSlides/notesSlide20.xml" Id="R021895e877cd4236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a5486e17634841" /><Relationship Type="http://schemas.openxmlformats.org/officeDocument/2006/relationships/chart" Target="/ppt/slides/charts/chart5.xml" Id="Ra3324e5aa63f4e77" /><Relationship Type="http://schemas.openxmlformats.org/officeDocument/2006/relationships/hyperlink" Target="https://lilinchao.github.io/traffic-book-practice/open-course/chapter-06/#dtw" TargetMode="External" Id="Rea899a8ba41b4417" /><Relationship Type="http://schemas.openxmlformats.org/officeDocument/2006/relationships/notesSlide" Target="/ppt/notesSlides/notesSlide21.xml" Id="Rf0bb72b362df4184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4f12d39dcc4ae5" /><Relationship Type="http://schemas.openxmlformats.org/officeDocument/2006/relationships/hyperlink" Target="https://lilinchao.github.io/traffic-book-practice/open-course/chapter-06/#failure" TargetMode="External" Id="Rdf82834985f94d72" /><Relationship Type="http://schemas.openxmlformats.org/officeDocument/2006/relationships/notesSlide" Target="/ppt/notesSlides/notesSlide22.xml" Id="R5f405b1c90244dbe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387f0aebf2450f" /><Relationship Type="http://schemas.openxmlformats.org/officeDocument/2006/relationships/hyperlink" Target="https://lilinchao.github.io/traffic-book-practice/open-course/chapter-06/#code" TargetMode="External" Id="Rd2f65735835a4368" /><Relationship Type="http://schemas.openxmlformats.org/officeDocument/2006/relationships/notesSlide" Target="/ppt/notesSlides/notesSlide23.xml" Id="R7650dcfc5ff94eb1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82347305cf4a69" /><Relationship Type="http://schemas.openxmlformats.org/officeDocument/2006/relationships/hyperlink" Target="https://lilinchao.github.io/traffic-book-practice/open-course/chapter-06/#project" TargetMode="External" Id="R9824f5c5e1fb4e84" /><Relationship Type="http://schemas.openxmlformats.org/officeDocument/2006/relationships/notesSlide" Target="/ppt/notesSlides/notesSlide24.xml" Id="R1ab7f031318c4df1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498f28cc074759" /><Relationship Type="http://schemas.openxmlformats.org/officeDocument/2006/relationships/hyperlink" Target="https://lilinchao.github.io/traffic-book-practice/open-course/chapter-06/" TargetMode="External" Id="Rb570c7cb67814b7c" /><Relationship Type="http://schemas.openxmlformats.org/officeDocument/2006/relationships/hyperlink" Target="https://lilinchao.github.io/traffic-book-practice/open-course/#project/ch06/code" TargetMode="External" Id="R9a9219f8f8a74675" /><Relationship Type="http://schemas.openxmlformats.org/officeDocument/2006/relationships/hyperlink" Target="https://lilinchao.github.io/traffic-book-practice/open-course/#cases" TargetMode="External" Id="R4a2813e6536645b3" /><Relationship Type="http://schemas.openxmlformats.org/officeDocument/2006/relationships/notesSlide" Target="/ppt/notesSlides/notesSlide25.xml" Id="Rb6bc299a27674b0d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_rels/chart4.xml.rels><Relationships xmlns="http://schemas.openxmlformats.org/package/2006/relationships"><Relationship Id="rIdChartSnapshot1" Type="http://schemas.openxmlformats.org/officeDocument/2006/relationships/package" Target="../../embeddings/chart-data-snapshot-004.xlsx"/></Relationships>
</file>

<file path=ppt/slides/charts/_rels/chart5.xml.rels><Relationships xmlns="http://schemas.openxmlformats.org/package/2006/relationships"><Relationship Id="rIdChartSnapshot1" Type="http://schemas.openxmlformats.org/officeDocument/2006/relationships/package" Target="../../embeddings/chart-data-snapshot-005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varyColors val="0"/>
        <c:ser>
          <c:idx val="0"/>
          <c:order val="0"/>
          <c:tx>
            <c:v>周一至周五</c:v>
          </c:tx>
          <c:spPr>
            <a:solidFill xmlns:a="http://schemas.openxmlformats.org/drawingml/2006/main">
              <a:srgbClr val="087E82"/>
            </a:solidFill>
            <a:ln xmlns:a="http://schemas.openxmlformats.org/drawingml/2006/main" w="28575">
              <a:solidFill>
                <a:srgbClr val="087E82"/>
              </a:solidFill>
            </a:ln>
          </c:spPr>
          <c:marker>
            <c:symbol val="none"/>
          </c:marker>
          <c:cat>
            <c:strRef>
              <c:f>'Chart Data'!$A$2:$A$25</c:f>
              <c:strCache>
                <c:ptCount val="24"/>
                <c:pt idx="0">
                  <c:v>0时</c:v>
                </c:pt>
                <c:pt idx="1">
                  <c:v>1时</c:v>
                </c:pt>
                <c:pt idx="2">
                  <c:v>2时</c:v>
                </c:pt>
                <c:pt idx="3">
                  <c:v>3时</c:v>
                </c:pt>
                <c:pt idx="4">
                  <c:v>4时</c:v>
                </c:pt>
                <c:pt idx="5">
                  <c:v>5时</c:v>
                </c:pt>
                <c:pt idx="6">
                  <c:v>6时</c:v>
                </c:pt>
                <c:pt idx="7">
                  <c:v>7时</c:v>
                </c:pt>
                <c:pt idx="8">
                  <c:v>8时</c:v>
                </c:pt>
                <c:pt idx="9">
                  <c:v>9时</c:v>
                </c:pt>
                <c:pt idx="10">
                  <c:v>10时</c:v>
                </c:pt>
                <c:pt idx="11">
                  <c:v>11时</c:v>
                </c:pt>
                <c:pt idx="12">
                  <c:v>12时</c:v>
                </c:pt>
                <c:pt idx="13">
                  <c:v>13时</c:v>
                </c:pt>
                <c:pt idx="14">
                  <c:v>14时</c:v>
                </c:pt>
                <c:pt idx="15">
                  <c:v>15时</c:v>
                </c:pt>
                <c:pt idx="16">
                  <c:v>16时</c:v>
                </c:pt>
                <c:pt idx="17">
                  <c:v>17时</c:v>
                </c:pt>
                <c:pt idx="18">
                  <c:v>18时</c:v>
                </c:pt>
                <c:pt idx="19">
                  <c:v>19时</c:v>
                </c:pt>
                <c:pt idx="20">
                  <c:v>20时</c:v>
                </c:pt>
                <c:pt idx="21">
                  <c:v>21时</c:v>
                </c:pt>
                <c:pt idx="22">
                  <c:v>22时</c:v>
                </c:pt>
                <c:pt idx="23">
                  <c:v>23时</c:v>
                </c:pt>
              </c:strCache>
            </c:strRef>
          </c:cat>
          <c:val>
            <c:numRef>
              <c:f>'Chart Data'!$B$2:$B$25</c:f>
              <c:numCache>
                <c:formatCode>#,##0</c:formatCode>
                <c:ptCount val="24"/>
                <c:pt idx="0">
                  <c:v>697.0965251</c:v>
                </c:pt>
                <c:pt idx="1">
                  <c:v>415.65769231</c:v>
                </c:pt>
                <c:pt idx="2">
                  <c:v>308.84435798</c:v>
                </c:pt>
                <c:pt idx="3">
                  <c:v>368.18217054</c:v>
                </c:pt>
                <c:pt idx="4">
                  <c:v>853.3151751</c:v>
                </c:pt>
                <c:pt idx="5">
                  <c:v>2765.46899225</c:v>
                </c:pt>
                <c:pt idx="6">
                  <c:v>5458.87596899</c:v>
                </c:pt>
                <c:pt idx="7">
                  <c:v>6108.35271318</c:v>
                </c:pt>
                <c:pt idx="8">
                  <c:v>5599.27237354</c:v>
                </c:pt>
                <c:pt idx="9">
                  <c:v>4979.3828125</c:v>
                </c:pt>
                <c:pt idx="10">
                  <c:v>4437.92248062</c:v>
                </c:pt>
                <c:pt idx="11">
                  <c:v>4694.67953668</c:v>
                </c:pt>
                <c:pt idx="12">
                  <c:v>4898.83011583</c:v>
                </c:pt>
                <c:pt idx="13">
                  <c:v>4904.64864865</c:v>
                </c:pt>
                <c:pt idx="14">
                  <c:v>5170.21538462</c:v>
                </c:pt>
                <c:pt idx="15">
                  <c:v>5655.22868217</c:v>
                </c:pt>
                <c:pt idx="16">
                  <c:v>6356.90310078</c:v>
                </c:pt>
                <c:pt idx="17">
                  <c:v>5918.47286822</c:v>
                </c:pt>
                <c:pt idx="18">
                  <c:v>4561.96138996</c:v>
                </c:pt>
                <c:pt idx="19">
                  <c:v>3424.55212355</c:v>
                </c:pt>
                <c:pt idx="20">
                  <c:v>2954.82625483</c:v>
                </c:pt>
                <c:pt idx="21">
                  <c:v>2801.07335907</c:v>
                </c:pt>
                <c:pt idx="22">
                  <c:v>2280.03088803</c:v>
                </c:pt>
                <c:pt idx="23">
                  <c:v>1457.1124031</c:v>
                </c:pt>
              </c:numCache>
            </c:numRef>
          </c:val>
          <c:smooth val="0"/>
        </c:ser>
        <c:ser>
          <c:idx val="1"/>
          <c:order val="1"/>
          <c:tx>
            <c:v>周末</c:v>
          </c:tx>
          <c:spPr>
            <a:solidFill xmlns:a="http://schemas.openxmlformats.org/drawingml/2006/main">
              <a:srgbClr val="B66C24"/>
            </a:solidFill>
            <a:ln xmlns:a="http://schemas.openxmlformats.org/drawingml/2006/main" w="28575">
              <a:solidFill>
                <a:srgbClr val="B66C24"/>
              </a:solidFill>
            </a:ln>
          </c:spPr>
          <c:marker>
            <c:symbol val="none"/>
          </c:marker>
          <c:cat>
            <c:strRef>
              <c:f>'Chart Data'!$C$2:$C$25</c:f>
              <c:strCache>
                <c:ptCount val="24"/>
                <c:pt idx="0">
                  <c:v>0时</c:v>
                </c:pt>
                <c:pt idx="1">
                  <c:v>1时</c:v>
                </c:pt>
                <c:pt idx="2">
                  <c:v>2时</c:v>
                </c:pt>
                <c:pt idx="3">
                  <c:v>3时</c:v>
                </c:pt>
                <c:pt idx="4">
                  <c:v>4时</c:v>
                </c:pt>
                <c:pt idx="5">
                  <c:v>5时</c:v>
                </c:pt>
                <c:pt idx="6">
                  <c:v>6时</c:v>
                </c:pt>
                <c:pt idx="7">
                  <c:v>7时</c:v>
                </c:pt>
                <c:pt idx="8">
                  <c:v>8时</c:v>
                </c:pt>
                <c:pt idx="9">
                  <c:v>9时</c:v>
                </c:pt>
                <c:pt idx="10">
                  <c:v>10时</c:v>
                </c:pt>
                <c:pt idx="11">
                  <c:v>11时</c:v>
                </c:pt>
                <c:pt idx="12">
                  <c:v>12时</c:v>
                </c:pt>
                <c:pt idx="13">
                  <c:v>13时</c:v>
                </c:pt>
                <c:pt idx="14">
                  <c:v>14时</c:v>
                </c:pt>
                <c:pt idx="15">
                  <c:v>15时</c:v>
                </c:pt>
                <c:pt idx="16">
                  <c:v>16时</c:v>
                </c:pt>
                <c:pt idx="17">
                  <c:v>17时</c:v>
                </c:pt>
                <c:pt idx="18">
                  <c:v>18时</c:v>
                </c:pt>
                <c:pt idx="19">
                  <c:v>19时</c:v>
                </c:pt>
                <c:pt idx="20">
                  <c:v>20时</c:v>
                </c:pt>
                <c:pt idx="21">
                  <c:v>21时</c:v>
                </c:pt>
                <c:pt idx="22">
                  <c:v>22时</c:v>
                </c:pt>
                <c:pt idx="23">
                  <c:v>23时</c:v>
                </c:pt>
              </c:strCache>
            </c:strRef>
          </c:cat>
          <c:val>
            <c:numRef>
              <c:f>'Chart Data'!$D$2:$D$25</c:f>
              <c:numCache>
                <c:formatCode>#,##0</c:formatCode>
                <c:ptCount val="24"/>
                <c:pt idx="0">
                  <c:v>1470.15238095</c:v>
                </c:pt>
                <c:pt idx="1">
                  <c:v>897.2952381</c:v>
                </c:pt>
                <c:pt idx="2">
                  <c:v>660.33333333</c:v>
                </c:pt>
                <c:pt idx="3">
                  <c:v>429.11428571</c:v>
                </c:pt>
                <c:pt idx="4">
                  <c:v>421.71428571</c:v>
                </c:pt>
                <c:pt idx="5">
                  <c:v>664.16346154</c:v>
                </c:pt>
                <c:pt idx="6">
                  <c:v>1154.56730769</c:v>
                </c:pt>
                <c:pt idx="7">
                  <c:v>1622.27884615</c:v>
                </c:pt>
                <c:pt idx="8">
                  <c:v>2420.53846154</c:v>
                </c:pt>
                <c:pt idx="9">
                  <c:v>3247.60952381</c:v>
                </c:pt>
                <c:pt idx="10">
                  <c:v>3885.75238095</c:v>
                </c:pt>
                <c:pt idx="11">
                  <c:v>4279.91428571</c:v>
                </c:pt>
                <c:pt idx="12">
                  <c:v>4581.08571429</c:v>
                </c:pt>
                <c:pt idx="13">
                  <c:v>4578.97142857</c:v>
                </c:pt>
                <c:pt idx="14">
                  <c:v>4582.0952381</c:v>
                </c:pt>
                <c:pt idx="15">
                  <c:v>4542.45714286</c:v>
                </c:pt>
                <c:pt idx="16">
                  <c:v>4550.42857143</c:v>
                </c:pt>
                <c:pt idx="17">
                  <c:v>4417.86666667</c:v>
                </c:pt>
                <c:pt idx="18">
                  <c:v>4056.9047619</c:v>
                </c:pt>
                <c:pt idx="19">
                  <c:v>3413.91428571</c:v>
                </c:pt>
                <c:pt idx="20">
                  <c:v>3024.59047619</c:v>
                </c:pt>
                <c:pt idx="21">
                  <c:v>2785.44761905</c:v>
                </c:pt>
                <c:pt idx="22">
                  <c:v>2517.59047619</c:v>
                </c:pt>
                <c:pt idx="23">
                  <c:v>1872.36190476</c:v>
                </c:pt>
              </c:numCache>
            </c:numRef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low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  <c:tickLblSkip val="3"/>
        <c:tickMarkSkip val="3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CCDAD5"/>
              </a:solidFill>
            </a:ln>
          </c:spPr>
        </c:majorGridlines>
        <c:numFmt formatCode="#,##0" sourceLinked="0"/>
        <c:majorTickMark val="none"/>
        <c:minorTickMark val="none"/>
        <c:tickLblPos val="low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EFA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650">
              <a:latin typeface="Microsoft YaHei"/>
              <a:ea typeface="Microsoft YaHei"/>
              <a:cs typeface="Microsoft YaHei"/>
            </a:defRPr>
          </a:pPr>
        </a:p>
      </c:txPr>
    </c:legend>
    <c:plotVisOnly val="1"/>
  </c:chart>
  <c:spPr>
    <a:solidFill xmlns:a="http://schemas.openxmlformats.org/drawingml/2006/main">
      <a:srgbClr val="FFFEFA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varyColors val="0"/>
        <c:ser>
          <c:idx val="0"/>
          <c:order val="0"/>
          <c:tx>
            <c:v>精确小时标签配对</c:v>
          </c:tx>
          <c:spPr>
            <a:solidFill xmlns:a="http://schemas.openxmlformats.org/drawingml/2006/main">
              <a:srgbClr val="087E82"/>
            </a:solidFill>
            <a:ln xmlns:a="http://schemas.openxmlformats.org/drawingml/2006/main" w="28575">
              <a:solidFill>
                <a:srgbClr val="087E82"/>
              </a:solidFill>
            </a:ln>
          </c:spPr>
          <c:marker>
            <c:symbol val="none"/>
          </c:marker>
          <c:cat>
            <c:numRef>
              <c:f>'Chart Data'!$A$2:$A$49</c:f>
              <c:numCache>
                <c:formatCode>General</c:formatCode>
                <c:ptCount val="48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</c:numCache>
            </c:numRef>
          </c:cat>
          <c:val>
            <c:numRef>
              <c:f>'Chart Data'!$B$2:$B$49</c:f>
              <c:numCache>
                <c:formatCode>0.000</c:formatCode>
                <c:ptCount val="48"/>
                <c:pt idx="0">
                  <c:v>0.91088381</c:v>
                </c:pt>
                <c:pt idx="1">
                  <c:v>0.71692676</c:v>
                </c:pt>
                <c:pt idx="2">
                  <c:v>0.50033431</c:v>
                </c:pt>
                <c:pt idx="3">
                  <c:v>0.30047873</c:v>
                </c:pt>
                <c:pt idx="4">
                  <c:v>0.11818528</c:v>
                </c:pt>
                <c:pt idx="5">
                  <c:v>-0.05240419</c:v>
                </c:pt>
                <c:pt idx="6">
                  <c:v>-0.19732679</c:v>
                </c:pt>
                <c:pt idx="7">
                  <c:v>-0.30720456</c:v>
                </c:pt>
                <c:pt idx="8">
                  <c:v>-0.39864383</c:v>
                </c:pt>
                <c:pt idx="9">
                  <c:v>-0.49460289</c:v>
                </c:pt>
                <c:pt idx="10">
                  <c:v>-0.58734595</c:v>
                </c:pt>
                <c:pt idx="11">
                  <c:v>-0.63173206</c:v>
                </c:pt>
                <c:pt idx="12">
                  <c:v>-0.59846774</c:v>
                </c:pt>
                <c:pt idx="13">
                  <c:v>-0.51276074</c:v>
                </c:pt>
                <c:pt idx="14">
                  <c:v>-0.4181307</c:v>
                </c:pt>
                <c:pt idx="15">
                  <c:v>-0.32546301</c:v>
                </c:pt>
                <c:pt idx="16">
                  <c:v>-0.21602909</c:v>
                </c:pt>
                <c:pt idx="17">
                  <c:v>-0.07431938</c:v>
                </c:pt>
                <c:pt idx="18">
                  <c:v>0.09000846</c:v>
                </c:pt>
                <c:pt idx="19">
                  <c:v>0.26299665</c:v>
                </c:pt>
                <c:pt idx="20">
                  <c:v>0.44514089</c:v>
                </c:pt>
                <c:pt idx="21">
                  <c:v>0.63417092</c:v>
                </c:pt>
                <c:pt idx="22">
                  <c:v>0.79759188</c:v>
                </c:pt>
                <c:pt idx="23">
                  <c:v>0.87049399</c:v>
                </c:pt>
                <c:pt idx="24">
                  <c:v>0.80830681</c:v>
                </c:pt>
                <c:pt idx="25">
                  <c:v>0.65186758</c:v>
                </c:pt>
                <c:pt idx="26">
                  <c:v>0.46769098</c:v>
                </c:pt>
                <c:pt idx="27">
                  <c:v>0.29006363</c:v>
                </c:pt>
                <c:pt idx="28">
                  <c:v>0.12076055</c:v>
                </c:pt>
                <c:pt idx="29">
                  <c:v>-0.04369478</c:v>
                </c:pt>
                <c:pt idx="30">
                  <c:v>-0.19049135</c:v>
                </c:pt>
                <c:pt idx="31">
                  <c:v>-0.30962824</c:v>
                </c:pt>
                <c:pt idx="32">
                  <c:v>-0.41142122</c:v>
                </c:pt>
                <c:pt idx="33">
                  <c:v>-0.51087487</c:v>
                </c:pt>
                <c:pt idx="34">
                  <c:v>-0.59948593</c:v>
                </c:pt>
                <c:pt idx="35">
                  <c:v>-0.64008593</c:v>
                </c:pt>
                <c:pt idx="36">
                  <c:v>-0.60916794</c:v>
                </c:pt>
                <c:pt idx="37">
                  <c:v>-0.52634997</c:v>
                </c:pt>
                <c:pt idx="38">
                  <c:v>-0.42856472</c:v>
                </c:pt>
                <c:pt idx="39">
                  <c:v>-0.32877549</c:v>
                </c:pt>
                <c:pt idx="40">
                  <c:v>-0.21474801</c:v>
                </c:pt>
                <c:pt idx="41">
                  <c:v>-0.07409006</c:v>
                </c:pt>
                <c:pt idx="42">
                  <c:v>0.08272646</c:v>
                </c:pt>
                <c:pt idx="43">
                  <c:v>0.24165933</c:v>
                </c:pt>
                <c:pt idx="44">
                  <c:v>0.40152621</c:v>
                </c:pt>
                <c:pt idx="45">
                  <c:v>0.56111155</c:v>
                </c:pt>
                <c:pt idx="46">
                  <c:v>0.69476643</c:v>
                </c:pt>
                <c:pt idx="47">
                  <c:v>0.75297927</c:v>
                </c:pt>
              </c:numCache>
            </c:numRef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low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CCDAD5"/>
              </a:solidFill>
            </a:ln>
          </c:spPr>
        </c:majorGridlines>
        <c:numFmt formatCode="0.000" sourceLinked="0"/>
        <c:majorTickMark val="none"/>
        <c:minorTickMark val="none"/>
        <c:tickLblPos val="low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EFA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650">
              <a:latin typeface="Microsoft YaHei"/>
              <a:ea typeface="Microsoft YaHei"/>
              <a:cs typeface="Microsoft YaHei"/>
            </a:defRPr>
          </a:pPr>
        </a:p>
      </c:txPr>
    </c:legend>
    <c:plotVisOnly val="1"/>
  </c:chart>
  <c:spPr>
    <a:solidFill xmlns:a="http://schemas.openxmlformats.org/drawingml/2006/main">
      <a:srgbClr val="FFFEFA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MAE</c:v>
          </c:tx>
          <c:spPr>
            <a:solidFill xmlns:a="http://schemas.openxmlformats.org/drawingml/2006/main">
              <a:srgbClr val="087E82"/>
            </a:solidFill>
            <a:ln xmlns:a="http://schemas.openxmlformats.org/drawingml/2006/main" w="28575">
              <a:solidFill>
                <a:srgbClr val="087E82"/>
              </a:solidFill>
            </a:ln>
          </c:spPr>
          <c:cat>
            <c:strRef>
              <c:f>'Chart Data'!$A$2:$A$5</c:f>
              <c:strCache>
                <c:ptCount val="4"/>
                <c:pt idx="0">
                  <c:v>星期小时均值</c:v>
                </c:pt>
                <c:pt idx="1">
                  <c:v>上周同期</c:v>
                </c:pt>
                <c:pt idx="2">
                  <c:v>ARIMA</c:v>
                </c:pt>
                <c:pt idx="3">
                  <c:v>SARIMA</c:v>
                </c:pt>
              </c:strCache>
            </c:strRef>
          </c:cat>
          <c:val>
            <c:numRef>
              <c:f>'Chart Data'!$B$2:$B$5</c:f>
              <c:numCache>
                <c:formatCode>#,##0</c:formatCode>
                <c:ptCount val="4"/>
                <c:pt idx="0">
                  <c:v>218.68638313</c:v>
                </c:pt>
                <c:pt idx="1">
                  <c:v>264.05578608</c:v>
                </c:pt>
                <c:pt idx="2">
                  <c:v>416.51301046</c:v>
                </c:pt>
                <c:pt idx="3">
                  <c:v>288.38228678</c:v>
                </c:pt>
              </c:numCache>
            </c:numRef>
          </c:val>
        </c:ser>
        <c:ser>
          <c:idx val="1"/>
          <c:order val="1"/>
          <c:tx>
            <c:v>RMSE</c:v>
          </c:tx>
          <c:spPr>
            <a:solidFill xmlns:a="http://schemas.openxmlformats.org/drawingml/2006/main">
              <a:srgbClr val="B66C24"/>
            </a:solidFill>
            <a:ln xmlns:a="http://schemas.openxmlformats.org/drawingml/2006/main" w="28575">
              <a:solidFill>
                <a:srgbClr val="B66C24"/>
              </a:solidFill>
            </a:ln>
          </c:spPr>
          <c:cat>
            <c:strRef>
              <c:f>'Chart Data'!$C$2:$C$5</c:f>
              <c:strCache>
                <c:ptCount val="4"/>
                <c:pt idx="0">
                  <c:v>星期小时均值</c:v>
                </c:pt>
                <c:pt idx="1">
                  <c:v>上周同期</c:v>
                </c:pt>
                <c:pt idx="2">
                  <c:v>ARIMA</c:v>
                </c:pt>
                <c:pt idx="3">
                  <c:v>SARIMA</c:v>
                </c:pt>
              </c:strCache>
            </c:strRef>
          </c:cat>
          <c:val>
            <c:numRef>
              <c:f>'Chart Data'!$D$2:$D$5</c:f>
              <c:numCache>
                <c:formatCode>#,##0</c:formatCode>
                <c:ptCount val="4"/>
                <c:pt idx="0">
                  <c:v>409.32029435</c:v>
                </c:pt>
                <c:pt idx="1">
                  <c:v>556.98149676</c:v>
                </c:pt>
                <c:pt idx="2">
                  <c:v>546.94082403</c:v>
                </c:pt>
                <c:pt idx="3">
                  <c:v>404.83371576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low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in val="0.0"/>
        </c:scaling>
        <c:delete val="0"/>
        <c:axPos val="l"/>
        <c:majorGridlines>
          <c:spPr>
            <a:ln xmlns:a="http://schemas.openxmlformats.org/drawingml/2006/main" w="9525">
              <a:solidFill>
                <a:srgbClr val="CCDAD5"/>
              </a:solidFill>
            </a:ln>
          </c:spPr>
        </c:majorGridlines>
        <c:numFmt formatCode="#,##0" sourceLinked="0"/>
        <c:majorTickMark val="none"/>
        <c:minorTickMark val="none"/>
        <c:tickLblPos val="low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EFA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650">
              <a:latin typeface="Microsoft YaHei"/>
              <a:ea typeface="Microsoft YaHei"/>
              <a:cs typeface="Microsoft YaHei"/>
            </a:defRPr>
          </a:pPr>
        </a:p>
      </c:txPr>
    </c:legend>
    <c:plotVisOnly val="1"/>
  </c:chart>
  <c:spPr>
    <a:solidFill xmlns:a="http://schemas.openxmlformats.org/drawingml/2006/main">
      <a:srgbClr val="FFFEFA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4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MAE</c:v>
          </c:tx>
          <c:spPr>
            <a:solidFill xmlns:a="http://schemas.openxmlformats.org/drawingml/2006/main">
              <a:srgbClr val="087E82"/>
            </a:solidFill>
            <a:ln xmlns:a="http://schemas.openxmlformats.org/drawingml/2006/main" w="28575">
              <a:solidFill>
                <a:srgbClr val="087E82"/>
              </a:solidFill>
            </a:ln>
          </c:spPr>
          <c:cat>
            <c:strRef>
              <c:f>'Chart Data'!$A$2:$A$4</c:f>
              <c:strCache>
                <c:ptCount val="3"/>
                <c:pt idx="0">
                  <c:v>提前1小时</c:v>
                </c:pt>
                <c:pt idx="1">
                  <c:v>提前3小时</c:v>
                </c:pt>
                <c:pt idx="2">
                  <c:v>提前6小时</c:v>
                </c:pt>
              </c:strCache>
            </c:strRef>
          </c:cat>
          <c:val>
            <c:numRef>
              <c:f>'Chart Data'!$B$2:$B$4</c:f>
              <c:numCache>
                <c:formatCode>#,##0</c:formatCode>
                <c:ptCount val="3"/>
                <c:pt idx="0">
                  <c:v>288.38228678</c:v>
                </c:pt>
                <c:pt idx="1">
                  <c:v>621.82241732</c:v>
                </c:pt>
                <c:pt idx="2">
                  <c:v>732.60540912</c:v>
                </c:pt>
              </c:numCache>
            </c:numRef>
          </c:val>
        </c:ser>
        <c:ser>
          <c:idx val="1"/>
          <c:order val="1"/>
          <c:tx>
            <c:v>RMSE</c:v>
          </c:tx>
          <c:spPr>
            <a:solidFill xmlns:a="http://schemas.openxmlformats.org/drawingml/2006/main">
              <a:srgbClr val="B66C24"/>
            </a:solidFill>
            <a:ln xmlns:a="http://schemas.openxmlformats.org/drawingml/2006/main" w="28575">
              <a:solidFill>
                <a:srgbClr val="B66C24"/>
              </a:solidFill>
            </a:ln>
          </c:spPr>
          <c:cat>
            <c:strRef>
              <c:f>'Chart Data'!$C$2:$C$4</c:f>
              <c:strCache>
                <c:ptCount val="3"/>
                <c:pt idx="0">
                  <c:v>提前1小时</c:v>
                </c:pt>
                <c:pt idx="1">
                  <c:v>提前3小时</c:v>
                </c:pt>
                <c:pt idx="2">
                  <c:v>提前6小时</c:v>
                </c:pt>
              </c:strCache>
            </c:strRef>
          </c:cat>
          <c:val>
            <c:numRef>
              <c:f>'Chart Data'!$D$2:$D$4</c:f>
              <c:numCache>
                <c:formatCode>#,##0</c:formatCode>
                <c:ptCount val="3"/>
                <c:pt idx="0">
                  <c:v>404.83371576</c:v>
                </c:pt>
                <c:pt idx="1">
                  <c:v>874.13149281</c:v>
                </c:pt>
                <c:pt idx="2">
                  <c:v>999.06220082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low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in val="0.0"/>
        </c:scaling>
        <c:delete val="0"/>
        <c:axPos val="l"/>
        <c:majorGridlines>
          <c:spPr>
            <a:ln xmlns:a="http://schemas.openxmlformats.org/drawingml/2006/main" w="9525">
              <a:solidFill>
                <a:srgbClr val="CCDAD5"/>
              </a:solidFill>
            </a:ln>
          </c:spPr>
        </c:majorGridlines>
        <c:numFmt formatCode="#,##0" sourceLinked="0"/>
        <c:majorTickMark val="none"/>
        <c:minorTickMark val="none"/>
        <c:tickLblPos val="low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EFA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650">
              <a:latin typeface="Microsoft YaHei"/>
              <a:ea typeface="Microsoft YaHei"/>
              <a:cs typeface="Microsoft YaHei"/>
            </a:defRPr>
          </a:pPr>
        </a:p>
      </c:txPr>
    </c:legend>
    <c:plotVisOnly val="1"/>
  </c:chart>
  <c:spPr>
    <a:solidFill xmlns:a="http://schemas.openxmlformats.org/drawingml/2006/main">
      <a:srgbClr val="FFFEFA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5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varyColors val="0"/>
        <c:ser>
          <c:idx val="0"/>
          <c:order val="0"/>
          <c:tx>
            <c:v>2017-01-03</c:v>
          </c:tx>
          <c:spPr>
            <a:solidFill xmlns:a="http://schemas.openxmlformats.org/drawingml/2006/main">
              <a:srgbClr val="087E82"/>
            </a:solidFill>
            <a:ln xmlns:a="http://schemas.openxmlformats.org/drawingml/2006/main" w="28575">
              <a:solidFill>
                <a:srgbClr val="087E82"/>
              </a:solidFill>
            </a:ln>
          </c:spPr>
          <c:marker>
            <c:symbol val="none"/>
          </c:marker>
          <c:cat>
            <c:strRef>
              <c:f>'Chart Data'!$A$2:$A$25</c:f>
              <c:strCache>
                <c:ptCount val="24"/>
                <c:pt idx="0">
                  <c:v>0时</c:v>
                </c:pt>
                <c:pt idx="1">
                  <c:v>1时</c:v>
                </c:pt>
                <c:pt idx="2">
                  <c:v>2时</c:v>
                </c:pt>
                <c:pt idx="3">
                  <c:v>3时</c:v>
                </c:pt>
                <c:pt idx="4">
                  <c:v>4时</c:v>
                </c:pt>
                <c:pt idx="5">
                  <c:v>5时</c:v>
                </c:pt>
                <c:pt idx="6">
                  <c:v>6时</c:v>
                </c:pt>
                <c:pt idx="7">
                  <c:v>7时</c:v>
                </c:pt>
                <c:pt idx="8">
                  <c:v>8时</c:v>
                </c:pt>
                <c:pt idx="9">
                  <c:v>9时</c:v>
                </c:pt>
                <c:pt idx="10">
                  <c:v>10时</c:v>
                </c:pt>
                <c:pt idx="11">
                  <c:v>11时</c:v>
                </c:pt>
                <c:pt idx="12">
                  <c:v>12时</c:v>
                </c:pt>
                <c:pt idx="13">
                  <c:v>13时</c:v>
                </c:pt>
                <c:pt idx="14">
                  <c:v>14时</c:v>
                </c:pt>
                <c:pt idx="15">
                  <c:v>15时</c:v>
                </c:pt>
                <c:pt idx="16">
                  <c:v>16时</c:v>
                </c:pt>
                <c:pt idx="17">
                  <c:v>17时</c:v>
                </c:pt>
                <c:pt idx="18">
                  <c:v>18时</c:v>
                </c:pt>
                <c:pt idx="19">
                  <c:v>19时</c:v>
                </c:pt>
                <c:pt idx="20">
                  <c:v>20时</c:v>
                </c:pt>
                <c:pt idx="21">
                  <c:v>21时</c:v>
                </c:pt>
                <c:pt idx="22">
                  <c:v>22时</c:v>
                </c:pt>
                <c:pt idx="23">
                  <c:v>23时</c:v>
                </c:pt>
              </c:strCache>
            </c:strRef>
          </c:cat>
          <c:val>
            <c:numRef>
              <c:f>'Chart Data'!$B$2:$B$25</c:f>
              <c:numCache>
                <c:formatCode>#,##0</c:formatCode>
                <c:ptCount val="24"/>
                <c:pt idx="0">
                  <c:v>716</c:v>
                </c:pt>
                <c:pt idx="1">
                  <c:v>485</c:v>
                </c:pt>
                <c:pt idx="2">
                  <c:v>400</c:v>
                </c:pt>
                <c:pt idx="3">
                  <c:v>483</c:v>
                </c:pt>
                <c:pt idx="4">
                  <c:v>944</c:v>
                </c:pt>
                <c:pt idx="5">
                  <c:v>2755</c:v>
                </c:pt>
                <c:pt idx="6">
                  <c:v>5107</c:v>
                </c:pt>
                <c:pt idx="7">
                  <c:v>6065</c:v>
                </c:pt>
                <c:pt idx="8">
                  <c:v>5338</c:v>
                </c:pt>
                <c:pt idx="9">
                  <c:v>4555</c:v>
                </c:pt>
                <c:pt idx="10">
                  <c:v>3979</c:v>
                </c:pt>
                <c:pt idx="11">
                  <c:v>4008</c:v>
                </c:pt>
                <c:pt idx="12">
                  <c:v>4317</c:v>
                </c:pt>
                <c:pt idx="13">
                  <c:v>4377</c:v>
                </c:pt>
                <c:pt idx="14">
                  <c:v>4863</c:v>
                </c:pt>
                <c:pt idx="15">
                  <c:v>5290</c:v>
                </c:pt>
                <c:pt idx="16">
                  <c:v>6114</c:v>
                </c:pt>
                <c:pt idx="17">
                  <c:v>5854</c:v>
                </c:pt>
                <c:pt idx="18">
                  <c:v>4011</c:v>
                </c:pt>
                <c:pt idx="19">
                  <c:v>2697</c:v>
                </c:pt>
                <c:pt idx="20">
                  <c:v>2169</c:v>
                </c:pt>
                <c:pt idx="21">
                  <c:v>2011</c:v>
                </c:pt>
                <c:pt idx="22">
                  <c:v>1475</c:v>
                </c:pt>
                <c:pt idx="23">
                  <c:v>915</c:v>
                </c:pt>
              </c:numCache>
            </c:numRef>
          </c:val>
          <c:smooth val="0"/>
        </c:ser>
        <c:ser>
          <c:idx val="1"/>
          <c:order val="1"/>
          <c:tx>
            <c:v>2017-01-07</c:v>
          </c:tx>
          <c:spPr>
            <a:solidFill xmlns:a="http://schemas.openxmlformats.org/drawingml/2006/main">
              <a:srgbClr val="B66C24"/>
            </a:solidFill>
            <a:ln xmlns:a="http://schemas.openxmlformats.org/drawingml/2006/main" w="28575">
              <a:solidFill>
                <a:srgbClr val="B66C24"/>
              </a:solidFill>
            </a:ln>
          </c:spPr>
          <c:marker>
            <c:symbol val="none"/>
          </c:marker>
          <c:cat>
            <c:strRef>
              <c:f>'Chart Data'!$C$2:$C$25</c:f>
              <c:strCache>
                <c:ptCount val="24"/>
                <c:pt idx="0">
                  <c:v>0时</c:v>
                </c:pt>
                <c:pt idx="1">
                  <c:v>1时</c:v>
                </c:pt>
                <c:pt idx="2">
                  <c:v>2时</c:v>
                </c:pt>
                <c:pt idx="3">
                  <c:v>3时</c:v>
                </c:pt>
                <c:pt idx="4">
                  <c:v>4时</c:v>
                </c:pt>
                <c:pt idx="5">
                  <c:v>5时</c:v>
                </c:pt>
                <c:pt idx="6">
                  <c:v>6时</c:v>
                </c:pt>
                <c:pt idx="7">
                  <c:v>7时</c:v>
                </c:pt>
                <c:pt idx="8">
                  <c:v>8时</c:v>
                </c:pt>
                <c:pt idx="9">
                  <c:v>9时</c:v>
                </c:pt>
                <c:pt idx="10">
                  <c:v>10时</c:v>
                </c:pt>
                <c:pt idx="11">
                  <c:v>11时</c:v>
                </c:pt>
                <c:pt idx="12">
                  <c:v>12时</c:v>
                </c:pt>
                <c:pt idx="13">
                  <c:v>13时</c:v>
                </c:pt>
                <c:pt idx="14">
                  <c:v>14时</c:v>
                </c:pt>
                <c:pt idx="15">
                  <c:v>15时</c:v>
                </c:pt>
                <c:pt idx="16">
                  <c:v>16时</c:v>
                </c:pt>
                <c:pt idx="17">
                  <c:v>17时</c:v>
                </c:pt>
                <c:pt idx="18">
                  <c:v>18时</c:v>
                </c:pt>
                <c:pt idx="19">
                  <c:v>19时</c:v>
                </c:pt>
                <c:pt idx="20">
                  <c:v>20时</c:v>
                </c:pt>
                <c:pt idx="21">
                  <c:v>21时</c:v>
                </c:pt>
                <c:pt idx="22">
                  <c:v>22时</c:v>
                </c:pt>
                <c:pt idx="23">
                  <c:v>23时</c:v>
                </c:pt>
              </c:strCache>
            </c:strRef>
          </c:cat>
          <c:val>
            <c:numRef>
              <c:f>'Chart Data'!$D$2:$D$25</c:f>
              <c:numCache>
                <c:formatCode>#,##0</c:formatCode>
                <c:ptCount val="24"/>
                <c:pt idx="0">
                  <c:v>1089</c:v>
                </c:pt>
                <c:pt idx="1">
                  <c:v>685</c:v>
                </c:pt>
                <c:pt idx="2">
                  <c:v>663</c:v>
                </c:pt>
                <c:pt idx="3">
                  <c:v>565</c:v>
                </c:pt>
                <c:pt idx="4">
                  <c:v>664</c:v>
                </c:pt>
                <c:pt idx="5">
                  <c:v>886</c:v>
                </c:pt>
                <c:pt idx="6">
                  <c:v>1385</c:v>
                </c:pt>
                <c:pt idx="7">
                  <c:v>1879</c:v>
                </c:pt>
                <c:pt idx="8">
                  <c:v>2653</c:v>
                </c:pt>
                <c:pt idx="9">
                  <c:v>3178</c:v>
                </c:pt>
                <c:pt idx="10">
                  <c:v>3521</c:v>
                </c:pt>
                <c:pt idx="11">
                  <c:v>4085</c:v>
                </c:pt>
                <c:pt idx="12">
                  <c:v>4444</c:v>
                </c:pt>
                <c:pt idx="13">
                  <c:v>4548</c:v>
                </c:pt>
                <c:pt idx="14">
                  <c:v>4800</c:v>
                </c:pt>
                <c:pt idx="15">
                  <c:v>5092</c:v>
                </c:pt>
                <c:pt idx="16">
                  <c:v>4885</c:v>
                </c:pt>
                <c:pt idx="17">
                  <c:v>4572</c:v>
                </c:pt>
                <c:pt idx="18">
                  <c:v>3780</c:v>
                </c:pt>
                <c:pt idx="19">
                  <c:v>3025</c:v>
                </c:pt>
                <c:pt idx="20">
                  <c:v>2751</c:v>
                </c:pt>
                <c:pt idx="21">
                  <c:v>2683</c:v>
                </c:pt>
                <c:pt idx="22">
                  <c:v>2404</c:v>
                </c:pt>
                <c:pt idx="23">
                  <c:v>1757</c:v>
                </c:pt>
              </c:numCache>
            </c:numRef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low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  <c:tickLblSkip val="3"/>
        <c:tickMarkSkip val="3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CCDAD5"/>
              </a:solidFill>
            </a:ln>
          </c:spPr>
        </c:majorGridlines>
        <c:numFmt formatCode="#,##0" sourceLinked="0"/>
        <c:majorTickMark val="none"/>
        <c:minorTickMark val="none"/>
        <c:tickLblPos val="low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EFA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650">
              <a:latin typeface="Microsoft YaHei"/>
              <a:ea typeface="Microsoft YaHei"/>
              <a:cs typeface="Microsoft YaHei"/>
            </a:defRPr>
          </a:pPr>
        </a:p>
      </c:txPr>
    </c:legend>
    <c:plotVisOnly val="1"/>
  </c:chart>
  <c:spPr>
    <a:solidFill xmlns:a="http://schemas.openxmlformats.org/drawingml/2006/main">
      <a:srgbClr val="FFFEFA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12E3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2e02d15e2444e3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第6章">
            <a:extLst xmlns:a="http://schemas.openxmlformats.org/drawingml/2006/main">
              <a:ext uri="{FF2B5EF4-FFF2-40B4-BE49-F238E27FC236}">
                <a16:creationId xmlns:a16="http://schemas.microsoft.com/office/drawing/2014/main" id="{E4A34C6F-4B5B-441E-8FCC-CDEFDD3F8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19225"/>
            <a:ext cx="666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0">
                <a:solidFill>
                  <a:srgbClr val="EABB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0">
                <a:solidFill>
                  <a:srgbClr val="EABB76"/>
                </a:solidFill>
                <a:latin typeface="Microsoft YaHei"/>
                <a:ea typeface="Microsoft YaHei"/>
                <a:cs typeface="Microsoft YaHei"/>
              </a:rPr>
              <a:t>第6章</a:t>
            </a:r>
          </a:p>
        </p:txBody>
      </p:sp>
      <p:sp>
        <p:nvSpPr>
          <p:cNvPr id="3" name="交通时序数据分析">
            <a:extLst xmlns:a="http://schemas.openxmlformats.org/drawingml/2006/main">
              <a:ext uri="{FF2B5EF4-FFF2-40B4-BE49-F238E27FC236}">
                <a16:creationId xmlns:a16="http://schemas.microsoft.com/office/drawing/2014/main" id="{273A57B5-94E3-4FE2-A3A8-99976AFAD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71725"/>
            <a:ext cx="942975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交通时序数据分析</a:t>
            </a:r>
          </a:p>
        </p:txBody>
      </p:sp>
      <p:sp>
        <p:nvSpPr>
          <p:cNvPr id="4" name="交通数据挖掘理论与应用">
            <a:extLst xmlns:a="http://schemas.openxmlformats.org/drawingml/2006/main">
              <a:ext uri="{FF2B5EF4-FFF2-40B4-BE49-F238E27FC236}">
                <a16:creationId xmlns:a16="http://schemas.microsoft.com/office/drawing/2014/main" id="{D74E8424-71F3-48C9-A22C-0F703FB75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33875"/>
            <a:ext cx="10001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D9EC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D9ECE8"/>
                </a:solidFill>
                <a:latin typeface="Microsoft YaHei"/>
                <a:ea typeface="Microsoft YaHei"/>
                <a:cs typeface="Microsoft YaHei"/>
              </a:rPr>
              <a:t>交通数据挖掘理论与应用</a:t>
            </a:r>
          </a:p>
        </p:txBody>
      </p:sp>
      <p:sp>
        <p:nvSpPr>
          <p:cNvPr id="5" name="道路运行准备需要提前多久掌握交通量？">
            <a:extLst xmlns:a="http://schemas.openxmlformats.org/drawingml/2006/main">
              <a:ext uri="{FF2B5EF4-FFF2-40B4-BE49-F238E27FC236}">
                <a16:creationId xmlns:a16="http://schemas.microsoft.com/office/drawing/2014/main" id="{C0BBFEF8-B2A7-426B-8A5C-B1F84F5B9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72075"/>
            <a:ext cx="10287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D9EC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D9ECE8"/>
                </a:solidFill>
                <a:latin typeface="Microsoft YaHei"/>
                <a:ea typeface="Microsoft YaHei"/>
                <a:cs typeface="Microsoft YaHei"/>
              </a:rPr>
              <a:t>道路运行准备需要提前多久掌握交通量？</a:t>
            </a:r>
          </a:p>
        </p:txBody>
      </p:sp>
    </p:spTree>
    <p:extLst>
      <p:ext uri="{BB962C8B-B14F-4D97-AF65-F5344CB8AC3E}">
        <p14:creationId xmlns:p14="http://schemas.microsoft.com/office/powerpoint/2010/main" val="57870148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E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本章学习目标">
            <a:extLst xmlns:a="http://schemas.openxmlformats.org/drawingml/2006/main">
              <a:ext uri="{FF2B5EF4-FFF2-40B4-BE49-F238E27FC236}">
                <a16:creationId xmlns:a16="http://schemas.microsoft.com/office/drawing/2014/main" id="{36CA87C9-EBB9-4841-8184-AD1042EA9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本章学习目标</a:t>
            </a:r>
          </a:p>
        </p:txBody>
      </p:sp>
      <p:sp>
        <p:nvSpPr>
          <p:cNvPr id="2" name="第6章 交通时序数据分析">
            <a:extLst xmlns:a="http://schemas.openxmlformats.org/drawingml/2006/main">
              <a:ext uri="{FF2B5EF4-FFF2-40B4-BE49-F238E27FC236}">
                <a16:creationId xmlns:a16="http://schemas.microsoft.com/office/drawing/2014/main" id="{473A266D-F586-4708-B921-D2EE15E82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rPr>
              <a:t>第6章 交通时序数据分析</a:t>
            </a:r>
          </a:p>
        </p:txBody>
      </p:sp>
      <p:sp>
        <p:nvSpPr>
          <p:cNvPr id="3" name="02">
            <a:extLst xmlns:a="http://schemas.openxmlformats.org/drawingml/2006/main">
              <a:ext uri="{FF2B5EF4-FFF2-40B4-BE49-F238E27FC236}">
                <a16:creationId xmlns:a16="http://schemas.microsoft.com/office/drawing/2014/main" id="{08C4D19B-9456-49BB-B1CA-4D9CAC1F2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429375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4" name="区分预测起点、提前量与目标时刻。">
            <a:extLst xmlns:a="http://schemas.openxmlformats.org/drawingml/2006/main">
              <a:ext uri="{FF2B5EF4-FFF2-40B4-BE49-F238E27FC236}">
                <a16:creationId xmlns:a16="http://schemas.microsoft.com/office/drawing/2014/main" id="{0D97A2F8-B7B4-47D4-A24C-6157D5FB2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2125"/>
            <a:ext cx="108204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区分预测起点、提前量与目标时刻。</a:t>
            </a:r>
          </a:p>
        </p:txBody>
      </p:sp>
      <p:sp>
        <p:nvSpPr>
          <p:cNvPr id="5" name="解释周期性、自相关与ARIMA类模型。">
            <a:extLst xmlns:a="http://schemas.openxmlformats.org/drawingml/2006/main">
              <a:ext uri="{FF2B5EF4-FFF2-40B4-BE49-F238E27FC236}">
                <a16:creationId xmlns:a16="http://schemas.microsoft.com/office/drawing/2014/main" id="{51B04E06-D4BB-4F27-B187-350D2489E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4625"/>
            <a:ext cx="108204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解释周期性、自相关与ARIMA类模型。</a:t>
            </a:r>
          </a:p>
        </p:txBody>
      </p:sp>
      <p:sp>
        <p:nvSpPr>
          <p:cNvPr id="6" name="按共同目标比较周期基线和ARIMA、SARIMA。">
            <a:extLst xmlns:a="http://schemas.openxmlformats.org/drawingml/2006/main">
              <a:ext uri="{FF2B5EF4-FFF2-40B4-BE49-F238E27FC236}">
                <a16:creationId xmlns:a16="http://schemas.microsoft.com/office/drawing/2014/main" id="{806CE9A6-6731-4D1D-8AA8-E5AB618B0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67125"/>
            <a:ext cx="108204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按共同目标比较周期基线和ARIMA、SARIMA。</a:t>
            </a:r>
          </a:p>
        </p:txBody>
      </p:sp>
      <p:sp>
        <p:nvSpPr>
          <p:cNvPr id="7" name="用分时误差与失败样本说明运行应用范围。">
            <a:extLst xmlns:a="http://schemas.openxmlformats.org/drawingml/2006/main">
              <a:ext uri="{FF2B5EF4-FFF2-40B4-BE49-F238E27FC236}">
                <a16:creationId xmlns:a16="http://schemas.microsoft.com/office/drawing/2014/main" id="{0145A5C5-E530-425A-962C-5476764F1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19625"/>
            <a:ext cx="108204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用分时误差与失败样本说明运行应用范围。</a:t>
            </a:r>
          </a:p>
        </p:txBody>
      </p:sp>
      <p:sp>
        <p:nvSpPr>
          <p:cNvPr id="8" name="link">
            <a:extLst xmlns:a="http://schemas.openxmlformats.org/drawingml/2006/main">
              <a:ext uri="{FF2B5EF4-FFF2-40B4-BE49-F238E27FC236}">
                <a16:creationId xmlns:a16="http://schemas.microsoft.com/office/drawing/2014/main" id="{FBE45182-D702-49C9-BD8C-36A629F56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 u="sng">
                <a:solidFill>
                  <a:srgbClr val="112E36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ecabcd50e5994ca5"/>
              </a:rPr>
              <a:t>配套交互课堂与章节实践</a:t>
            </a:r>
          </a:p>
        </p:txBody>
      </p:sp>
    </p:spTree>
    <p:extLst>
      <p:ext uri="{BB962C8B-B14F-4D97-AF65-F5344CB8AC3E}">
        <p14:creationId xmlns:p14="http://schemas.microsoft.com/office/powerpoint/2010/main" val="62460659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E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断面预测与运行准备">
            <a:extLst xmlns:a="http://schemas.openxmlformats.org/drawingml/2006/main">
              <a:ext uri="{FF2B5EF4-FFF2-40B4-BE49-F238E27FC236}">
                <a16:creationId xmlns:a16="http://schemas.microsoft.com/office/drawing/2014/main" id="{C0E9BE0E-D003-4AFF-9E7A-71B13ABF9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断面预测与运行准备</a:t>
            </a:r>
          </a:p>
        </p:txBody>
      </p:sp>
      <p:sp>
        <p:nvSpPr>
          <p:cNvPr id="2" name="第6章 交通时序数据分析   6.1">
            <a:extLst xmlns:a="http://schemas.openxmlformats.org/drawingml/2006/main">
              <a:ext uri="{FF2B5EF4-FFF2-40B4-BE49-F238E27FC236}">
                <a16:creationId xmlns:a16="http://schemas.microsoft.com/office/drawing/2014/main" id="{FDC867C8-5829-4E75-BF8B-2939DD74F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rPr>
              <a:t>第6章 交通时序数据分析   6.1</a:t>
            </a:r>
          </a:p>
        </p:txBody>
      </p:sp>
      <p:sp>
        <p:nvSpPr>
          <p:cNvPr id="3" name="03">
            <a:extLst xmlns:a="http://schemas.openxmlformats.org/drawingml/2006/main">
              <a:ext uri="{FF2B5EF4-FFF2-40B4-BE49-F238E27FC236}">
                <a16:creationId xmlns:a16="http://schemas.microsoft.com/office/drawing/2014/main" id="{D32D9B0C-8A8E-4E31-90BF-590935AFB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429375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4" name="预测提前量应服务于具体管理任务。">
            <a:extLst xmlns:a="http://schemas.openxmlformats.org/drawingml/2006/main">
              <a:ext uri="{FF2B5EF4-FFF2-40B4-BE49-F238E27FC236}">
                <a16:creationId xmlns:a16="http://schemas.microsoft.com/office/drawing/2014/main" id="{7766E706-947D-4B0A-A11E-BAE729B06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08204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rPr>
              <a:t>预测提前量应服务于具体管理任务。</a:t>
            </a:r>
          </a:p>
        </p:txBody>
      </p:sp>
      <p:sp>
        <p:nvSpPr>
          <p:cNvPr id="5" name="临近时段监测和较早的人员准备对时效与误差有不同要求。">
            <a:extLst xmlns:a="http://schemas.openxmlformats.org/drawingml/2006/main">
              <a:ext uri="{FF2B5EF4-FFF2-40B4-BE49-F238E27FC236}">
                <a16:creationId xmlns:a16="http://schemas.microsoft.com/office/drawing/2014/main" id="{47C0A812-9ED3-4933-8EDC-EE1A143CB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90800"/>
            <a:ext cx="108204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临近时段监测和较早的人员准备对时效与误差有不同要求。本章分别研究提前1、</a:t>
            </a:r>
          </a:p>
          <a:p xmlns:a="http://schemas.openxmlformats.org/drawingml/2006/main">
            <a:pPr algn="l">
              <a:defRPr sz="217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3、6小时。</a:t>
            </a:r>
          </a:p>
        </p:txBody>
      </p:sp>
      <p:sp>
        <p:nvSpPr>
          <p:cNvPr id="6" name="小时交通量描述通过断面的车辆规模，没有速度和占有率时">
            <a:extLst xmlns:a="http://schemas.openxmlformats.org/drawingml/2006/main">
              <a:ext uri="{FF2B5EF4-FFF2-40B4-BE49-F238E27FC236}">
                <a16:creationId xmlns:a16="http://schemas.microsoft.com/office/drawing/2014/main" id="{04901C80-1F49-4BA4-8491-F23AEA360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90950"/>
            <a:ext cx="108204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小时交通量描述通过断面的车辆规模，没有速度和占有率时不能直接判定拥堵等级。</a:t>
            </a:r>
          </a:p>
        </p:txBody>
      </p:sp>
      <p:sp>
        <p:nvSpPr>
          <p:cNvPr id="7" name="课堂讨论：若任务是识别拥堵形成，还需同步监测哪些交通">
            <a:extLst xmlns:a="http://schemas.openxmlformats.org/drawingml/2006/main">
              <a:ext uri="{FF2B5EF4-FFF2-40B4-BE49-F238E27FC236}">
                <a16:creationId xmlns:a16="http://schemas.microsoft.com/office/drawing/2014/main" id="{2D8736C3-65ED-4620-95EE-65925822A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08204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rPr>
              <a:t>课堂讨论：若任务是识别拥堵形成，还需同步监测哪些交通参数？</a:t>
            </a:r>
          </a:p>
        </p:txBody>
      </p:sp>
      <p:sp>
        <p:nvSpPr>
          <p:cNvPr id="8" name="link">
            <a:extLst xmlns:a="http://schemas.openxmlformats.org/drawingml/2006/main">
              <a:ext uri="{FF2B5EF4-FFF2-40B4-BE49-F238E27FC236}">
                <a16:creationId xmlns:a16="http://schemas.microsoft.com/office/drawing/2014/main" id="{3140C106-B59A-40F1-847A-E354EB829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 u="sng">
                <a:solidFill>
                  <a:srgbClr val="112E36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d8f88bea78fa44be"/>
              </a:rPr>
              <a:t>打开课堂讲解与配套案例</a:t>
            </a:r>
          </a:p>
        </p:txBody>
      </p:sp>
    </p:spTree>
    <p:extLst>
      <p:ext uri="{BB962C8B-B14F-4D97-AF65-F5344CB8AC3E}">
        <p14:creationId xmlns:p14="http://schemas.microsoft.com/office/powerpoint/2010/main" val="164461920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E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时间索引与缺测">
            <a:extLst xmlns:a="http://schemas.openxmlformats.org/drawingml/2006/main">
              <a:ext uri="{FF2B5EF4-FFF2-40B4-BE49-F238E27FC236}">
                <a16:creationId xmlns:a16="http://schemas.microsoft.com/office/drawing/2014/main" id="{ADDC52B2-38D9-4929-B510-40642B949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时间索引与缺测</a:t>
            </a:r>
          </a:p>
        </p:txBody>
      </p:sp>
      <p:sp>
        <p:nvSpPr>
          <p:cNvPr id="2" name="第6章 交通时序数据分析   6.1 / 6.2">
            <a:extLst xmlns:a="http://schemas.openxmlformats.org/drawingml/2006/main">
              <a:ext uri="{FF2B5EF4-FFF2-40B4-BE49-F238E27FC236}">
                <a16:creationId xmlns:a16="http://schemas.microsoft.com/office/drawing/2014/main" id="{BB751521-6B5B-452B-9C68-502EC5542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rPr>
              <a:t>第6章 交通时序数据分析   6.1 / 6.2</a:t>
            </a:r>
          </a:p>
        </p:txBody>
      </p:sp>
      <p:sp>
        <p:nvSpPr>
          <p:cNvPr id="3" name="04">
            <a:extLst xmlns:a="http://schemas.openxmlformats.org/drawingml/2006/main">
              <a:ext uri="{FF2B5EF4-FFF2-40B4-BE49-F238E27FC236}">
                <a16:creationId xmlns:a16="http://schemas.microsoft.com/office/drawing/2014/main" id="{BDBCEE14-C3E1-4EF1-8F63-4433EAA4A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429375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4" name="相邻文件行不一定是相邻小时。">
            <a:extLst xmlns:a="http://schemas.openxmlformats.org/drawingml/2006/main">
              <a:ext uri="{FF2B5EF4-FFF2-40B4-BE49-F238E27FC236}">
                <a16:creationId xmlns:a16="http://schemas.microsoft.com/office/drawing/2014/main" id="{76DDE706-E2FB-4863-B6E8-A976E8C65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08204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rPr>
              <a:t>相邻文件行不一定是相邻小时。</a:t>
            </a:r>
          </a:p>
        </p:txBody>
      </p:sp>
      <p:sp>
        <p:nvSpPr>
          <p:cNvPr id="5" name="2017年训练段有8,760个本地小时标签，47处缺">
            <a:extLst xmlns:a="http://schemas.openxmlformats.org/drawingml/2006/main">
              <a:ext uri="{FF2B5EF4-FFF2-40B4-BE49-F238E27FC236}">
                <a16:creationId xmlns:a16="http://schemas.microsoft.com/office/drawing/2014/main" id="{D42F48FD-358A-4EBD-832C-219D0B9B1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90800"/>
            <a:ext cx="108204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2017年训练段有8,760个本地小时标签，47处缺口保留为缺失值。</a:t>
            </a:r>
          </a:p>
        </p:txBody>
      </p:sp>
      <p:sp>
        <p:nvSpPr>
          <p:cNvPr id="6" name="按时间标签构建连续索引，明确数据延迟与时区。课程不重">
            <a:extLst xmlns:a="http://schemas.openxmlformats.org/drawingml/2006/main">
              <a:ext uri="{FF2B5EF4-FFF2-40B4-BE49-F238E27FC236}">
                <a16:creationId xmlns:a16="http://schemas.microsoft.com/office/drawing/2014/main" id="{6AFE1240-9F4D-4BF6-A49A-AB696633A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90950"/>
            <a:ext cx="108204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按时间标签构建连续索引，明确数据延迟与时区。课程不重建夏令时，不把缺测写</a:t>
            </a:r>
          </a:p>
          <a:p xmlns:a="http://schemas.openxmlformats.org/drawingml/2006/main">
            <a:pPr algn="l">
              <a:defRPr sz="217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为0。</a:t>
            </a:r>
          </a:p>
        </p:txBody>
      </p:sp>
      <p:sp>
        <p:nvSpPr>
          <p:cNvPr id="7" name="课堂讨论：删去缺测行再计算第24个前序行，仍然代表前">
            <a:extLst xmlns:a="http://schemas.openxmlformats.org/drawingml/2006/main">
              <a:ext uri="{FF2B5EF4-FFF2-40B4-BE49-F238E27FC236}">
                <a16:creationId xmlns:a16="http://schemas.microsoft.com/office/drawing/2014/main" id="{53C71296-1F25-4FAC-BF69-A640E3F2D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08204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rPr>
              <a:t>课堂讨论：删去缺测行再计算第24个前序行，仍然代表前日同期吗？</a:t>
            </a:r>
          </a:p>
        </p:txBody>
      </p:sp>
      <p:sp>
        <p:nvSpPr>
          <p:cNvPr id="8" name="link">
            <a:extLst xmlns:a="http://schemas.openxmlformats.org/drawingml/2006/main">
              <a:ext uri="{FF2B5EF4-FFF2-40B4-BE49-F238E27FC236}">
                <a16:creationId xmlns:a16="http://schemas.microsoft.com/office/drawing/2014/main" id="{E5977B34-C960-45AF-9A66-91E2A2DA9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 u="sng">
                <a:solidFill>
                  <a:srgbClr val="112E36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064a3dc77c474955"/>
              </a:rPr>
              <a:t>打开课堂讲解与配套案例</a:t>
            </a:r>
          </a:p>
        </p:txBody>
      </p:sp>
    </p:spTree>
    <p:extLst>
      <p:ext uri="{BB962C8B-B14F-4D97-AF65-F5344CB8AC3E}">
        <p14:creationId xmlns:p14="http://schemas.microsoft.com/office/powerpoint/2010/main" val="125977064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E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交通量平滑与信息时点">
            <a:extLst xmlns:a="http://schemas.openxmlformats.org/drawingml/2006/main">
              <a:ext uri="{FF2B5EF4-FFF2-40B4-BE49-F238E27FC236}">
                <a16:creationId xmlns:a16="http://schemas.microsoft.com/office/drawing/2014/main" id="{26CC009C-3287-420F-A8B5-EED3C13C8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交通量平滑与信息时点</a:t>
            </a:r>
          </a:p>
        </p:txBody>
      </p:sp>
      <p:sp>
        <p:nvSpPr>
          <p:cNvPr id="2" name="第6章 交通时序数据分析   6.2">
            <a:extLst xmlns:a="http://schemas.openxmlformats.org/drawingml/2006/main">
              <a:ext uri="{FF2B5EF4-FFF2-40B4-BE49-F238E27FC236}">
                <a16:creationId xmlns:a16="http://schemas.microsoft.com/office/drawing/2014/main" id="{D87631F9-EE0C-47E4-86B0-DA62AECFA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rPr>
              <a:t>第6章 交通时序数据分析   6.2</a:t>
            </a:r>
          </a:p>
        </p:txBody>
      </p:sp>
      <p:sp>
        <p:nvSpPr>
          <p:cNvPr id="3" name="05">
            <a:extLst xmlns:a="http://schemas.openxmlformats.org/drawingml/2006/main">
              <a:ext uri="{FF2B5EF4-FFF2-40B4-BE49-F238E27FC236}">
                <a16:creationId xmlns:a16="http://schemas.microsoft.com/office/drawing/2014/main" id="{350CF65E-0BD8-4E6B-8016-43E7C6984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429375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4" name="平滑图与实时预测输入的要求不同。">
            <a:extLst xmlns:a="http://schemas.openxmlformats.org/drawingml/2006/main">
              <a:ext uri="{FF2B5EF4-FFF2-40B4-BE49-F238E27FC236}">
                <a16:creationId xmlns:a16="http://schemas.microsoft.com/office/drawing/2014/main" id="{F53DBF79-149D-4F99-B488-FA3D3CC31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08204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rPr>
              <a:t>平滑图与实时预测输入的要求不同。</a:t>
            </a:r>
          </a:p>
        </p:txBody>
      </p:sp>
      <p:sp>
        <p:nvSpPr>
          <p:cNvPr id="5" name="居中滑动均值使用当前点两侧数据，适合事后描述，不可作">
            <a:extLst xmlns:a="http://schemas.openxmlformats.org/drawingml/2006/main">
              <a:ext uri="{FF2B5EF4-FFF2-40B4-BE49-F238E27FC236}">
                <a16:creationId xmlns:a16="http://schemas.microsoft.com/office/drawing/2014/main" id="{5EDCFDA5-352E-434B-9D56-3BD7A24BC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90800"/>
            <a:ext cx="108204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居中滑动均值使用当前点两侧数据，适合事后描述，不可作为当时已知的预测特征。</a:t>
            </a:r>
          </a:p>
        </p:txBody>
      </p:sp>
      <p:sp>
        <p:nvSpPr>
          <p:cNvPr id="6" name="向后窗口只读取已到达历史，但可能造成高峰响应滞后。需">
            <a:extLst xmlns:a="http://schemas.openxmlformats.org/drawingml/2006/main">
              <a:ext uri="{FF2B5EF4-FFF2-40B4-BE49-F238E27FC236}">
                <a16:creationId xmlns:a16="http://schemas.microsoft.com/office/drawing/2014/main" id="{C1FE0C1A-73F4-4B2D-B326-A1DCFB100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90950"/>
            <a:ext cx="108204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向后窗口只读取已到达历史，但可能造成高峰响应滞后。需说明窗口长度和用途。</a:t>
            </a:r>
          </a:p>
        </p:txBody>
      </p:sp>
      <p:sp>
        <p:nvSpPr>
          <p:cNvPr id="7" name="课堂讨论：在08时发布的预测里，能使用09时观测参与">
            <a:extLst xmlns:a="http://schemas.openxmlformats.org/drawingml/2006/main">
              <a:ext uri="{FF2B5EF4-FFF2-40B4-BE49-F238E27FC236}">
                <a16:creationId xmlns:a16="http://schemas.microsoft.com/office/drawing/2014/main" id="{0603F7F1-9837-4054-84DA-1BCDA634D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08204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rPr>
              <a:t>课堂讨论：在08时发布的预测里，能使用09时观测参与平滑吗？</a:t>
            </a:r>
          </a:p>
        </p:txBody>
      </p:sp>
      <p:sp>
        <p:nvSpPr>
          <p:cNvPr id="8" name="link">
            <a:extLst xmlns:a="http://schemas.openxmlformats.org/drawingml/2006/main">
              <a:ext uri="{FF2B5EF4-FFF2-40B4-BE49-F238E27FC236}">
                <a16:creationId xmlns:a16="http://schemas.microsoft.com/office/drawing/2014/main" id="{41BE3E5E-F15A-48BE-A073-71717CB07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 u="sng">
                <a:solidFill>
                  <a:srgbClr val="112E36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57c0263ec45c42cf"/>
              </a:rPr>
              <a:t>打开课堂讲解与配套案例</a:t>
            </a:r>
          </a:p>
        </p:txBody>
      </p:sp>
    </p:spTree>
    <p:extLst>
      <p:ext uri="{BB962C8B-B14F-4D97-AF65-F5344CB8AC3E}">
        <p14:creationId xmlns:p14="http://schemas.microsoft.com/office/powerpoint/2010/main" val="198770527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E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日周期与周周期">
            <a:extLst xmlns:a="http://schemas.openxmlformats.org/drawingml/2006/main">
              <a:ext uri="{FF2B5EF4-FFF2-40B4-BE49-F238E27FC236}">
                <a16:creationId xmlns:a16="http://schemas.microsoft.com/office/drawing/2014/main" id="{602F8CEE-8F44-40A4-9289-CD0686834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日周期与周周期</a:t>
            </a:r>
          </a:p>
        </p:txBody>
      </p:sp>
      <p:sp>
        <p:nvSpPr>
          <p:cNvPr id="2" name="第6章 交通时序数据分析   6.3">
            <a:extLst xmlns:a="http://schemas.openxmlformats.org/drawingml/2006/main">
              <a:ext uri="{FF2B5EF4-FFF2-40B4-BE49-F238E27FC236}">
                <a16:creationId xmlns:a16="http://schemas.microsoft.com/office/drawing/2014/main" id="{18E55C13-970A-4996-99EE-918D13CF5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rPr>
              <a:t>第6章 交通时序数据分析   6.3</a:t>
            </a:r>
          </a:p>
        </p:txBody>
      </p:sp>
      <p:sp>
        <p:nvSpPr>
          <p:cNvPr id="3" name="06">
            <a:extLst xmlns:a="http://schemas.openxmlformats.org/drawingml/2006/main">
              <a:ext uri="{FF2B5EF4-FFF2-40B4-BE49-F238E27FC236}">
                <a16:creationId xmlns:a16="http://schemas.microsoft.com/office/drawing/2014/main" id="{BEA87C41-49A9-4376-A183-4E69EA143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429375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4" name="交通活动常随钟点和日期类型变化。">
            <a:extLst xmlns:a="http://schemas.openxmlformats.org/drawingml/2006/main">
              <a:ext uri="{FF2B5EF4-FFF2-40B4-BE49-F238E27FC236}">
                <a16:creationId xmlns:a16="http://schemas.microsoft.com/office/drawing/2014/main" id="{040ADBDC-32C2-4DDB-914C-0AF40B7D2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08204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rPr>
              <a:t>交通活动常随钟点和日期类型变化。</a:t>
            </a:r>
          </a:p>
        </p:txBody>
      </p:sp>
      <p:sp>
        <p:nvSpPr>
          <p:cNvPr id="5" name="观察2017年每个钟点的均值，分别比较周一至周五与周">
            <a:extLst xmlns:a="http://schemas.openxmlformats.org/drawingml/2006/main">
              <a:ext uri="{FF2B5EF4-FFF2-40B4-BE49-F238E27FC236}">
                <a16:creationId xmlns:a16="http://schemas.microsoft.com/office/drawing/2014/main" id="{24A6FE33-93B0-4D7B-98EA-442C77E6B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90800"/>
            <a:ext cx="108204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观察2017年每个钟点的均值，分别比较周一至周五与周末。</a:t>
            </a:r>
          </a:p>
        </p:txBody>
      </p:sp>
      <p:sp>
        <p:nvSpPr>
          <p:cNvPr id="6" name="日变化提供基线选择的线索，但均值曲线掩盖个别日的节假">
            <a:extLst xmlns:a="http://schemas.openxmlformats.org/drawingml/2006/main">
              <a:ext uri="{FF2B5EF4-FFF2-40B4-BE49-F238E27FC236}">
                <a16:creationId xmlns:a16="http://schemas.microsoft.com/office/drawing/2014/main" id="{B1D8C5F6-6CB5-4199-8628-DC0614AC0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90950"/>
            <a:ext cx="108204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日变化提供基线选择的线索，但均值曲线掩盖个别日的节假日、天气或异常扰动。</a:t>
            </a:r>
          </a:p>
        </p:txBody>
      </p:sp>
      <p:sp>
        <p:nvSpPr>
          <p:cNvPr id="7" name="课堂讨论：为什么前日同期和上周同期可能给出不同的高峰">
            <a:extLst xmlns:a="http://schemas.openxmlformats.org/drawingml/2006/main">
              <a:ext uri="{FF2B5EF4-FFF2-40B4-BE49-F238E27FC236}">
                <a16:creationId xmlns:a16="http://schemas.microsoft.com/office/drawing/2014/main" id="{AAA00D8F-8E16-45F2-84CF-FF73214C4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08204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rPr>
              <a:t>课堂讨论：为什么前日同期和上周同期可能给出不同的高峰参照？</a:t>
            </a:r>
          </a:p>
        </p:txBody>
      </p:sp>
      <p:sp>
        <p:nvSpPr>
          <p:cNvPr id="8" name="link">
            <a:extLst xmlns:a="http://schemas.openxmlformats.org/drawingml/2006/main">
              <a:ext uri="{FF2B5EF4-FFF2-40B4-BE49-F238E27FC236}">
                <a16:creationId xmlns:a16="http://schemas.microsoft.com/office/drawing/2014/main" id="{7DDC25FE-1F92-42C1-8F54-C5DF67F63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 u="sng">
                <a:solidFill>
                  <a:srgbClr val="112E36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02aa1342b0af4695"/>
              </a:rPr>
              <a:t>打开交互实验，观察参数变化</a:t>
            </a:r>
          </a:p>
        </p:txBody>
      </p:sp>
    </p:spTree>
    <p:extLst>
      <p:ext uri="{BB962C8B-B14F-4D97-AF65-F5344CB8AC3E}">
        <p14:creationId xmlns:p14="http://schemas.microsoft.com/office/powerpoint/2010/main" val="66047058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E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日周期与周周期：计算结果">
            <a:extLst xmlns:a="http://schemas.openxmlformats.org/drawingml/2006/main">
              <a:ext uri="{FF2B5EF4-FFF2-40B4-BE49-F238E27FC236}">
                <a16:creationId xmlns:a16="http://schemas.microsoft.com/office/drawing/2014/main" id="{8838D308-7420-4948-B29C-87B715E73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日周期与周周期：计算结果</a:t>
            </a:r>
          </a:p>
        </p:txBody>
      </p:sp>
      <p:sp>
        <p:nvSpPr>
          <p:cNvPr id="2" name="第6章 交通时序数据分析   6.3">
            <a:extLst xmlns:a="http://schemas.openxmlformats.org/drawingml/2006/main">
              <a:ext uri="{FF2B5EF4-FFF2-40B4-BE49-F238E27FC236}">
                <a16:creationId xmlns:a16="http://schemas.microsoft.com/office/drawing/2014/main" id="{1505AEE8-4FC9-44D5-A229-CBE75C2B9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rPr>
              <a:t>第6章 交通时序数据分析   6.3</a:t>
            </a:r>
          </a:p>
        </p:txBody>
      </p:sp>
      <p:sp>
        <p:nvSpPr>
          <p:cNvPr id="3" name="07">
            <a:extLst xmlns:a="http://schemas.openxmlformats.org/drawingml/2006/main">
              <a:ext uri="{FF2B5EF4-FFF2-40B4-BE49-F238E27FC236}">
                <a16:creationId xmlns:a16="http://schemas.microsoft.com/office/drawing/2014/main" id="{1F73AFEA-C02B-4BD6-8EE7-B28505935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429375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4" name="根据真实观测在浏览器重新计算">
            <a:extLst xmlns:a="http://schemas.openxmlformats.org/drawingml/2006/main">
              <a:ext uri="{FF2B5EF4-FFF2-40B4-BE49-F238E27FC236}">
                <a16:creationId xmlns:a16="http://schemas.microsoft.com/office/drawing/2014/main" id="{079B4149-FCCA-4ED0-ADBA-08EA5C203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10820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rPr>
              <a:t>根据真实观测在浏览器重新计算</a:t>
            </a:r>
          </a:p>
        </p:txBody>
      </p:sp>
      <p:sp>
        <p:nvSpPr>
          <p:cNvPr id="5" name="交通量（辆/小时）">
            <a:extLst xmlns:a="http://schemas.openxmlformats.org/drawingml/2006/main">
              <a:ext uri="{FF2B5EF4-FFF2-40B4-BE49-F238E27FC236}">
                <a16:creationId xmlns:a16="http://schemas.microsoft.com/office/drawing/2014/main" id="{EDE82C1A-8336-4824-852A-3B2E09205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71675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rPr>
              <a:t>交通量（辆/小时）</a:t>
            </a:r>
          </a:p>
        </p:txBody>
      </p:sp>
      <p:graphicFrame>
        <p:nvGraphicFramePr>
          <p:cNvPr id="14" name="Chart"/>
          <p:cNvGraphicFramePr/>
          <p:nvPr/>
        </p:nvGraphicFramePr>
        <p:xfrm>
          <a:off xmlns:a="http://schemas.openxmlformats.org/drawingml/2006/main" x="685800" y="2390775"/>
          <a:ext xmlns:a="http://schemas.openxmlformats.org/drawingml/2006/main" cx="10820400" cy="29432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ca0e6326e2948f9"/>
          </a:graphicData>
        </a:graphic>
      </p:graphicFrame>
      <p:sp>
        <p:nvSpPr>
          <p:cNvPr id="7" name="2017训练段有效小时按组计算，无缺测填0，不把周一">
            <a:extLst xmlns:a="http://schemas.openxmlformats.org/drawingml/2006/main">
              <a:ext uri="{FF2B5EF4-FFF2-40B4-BE49-F238E27FC236}">
                <a16:creationId xmlns:a16="http://schemas.microsoft.com/office/drawing/2014/main" id="{71FC0EC9-944F-40E6-AAA4-A1811EB08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48300"/>
            <a:ext cx="108204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rPr>
              <a:t>2017训练段有效小时按组计算，无缺测填0，不把周一至周五自动视为剔除节假日的工作日。</a:t>
            </a:r>
          </a:p>
        </p:txBody>
      </p:sp>
      <p:sp>
        <p:nvSpPr>
          <p:cNvPr id="8" name="link">
            <a:extLst xmlns:a="http://schemas.openxmlformats.org/drawingml/2006/main">
              <a:ext uri="{FF2B5EF4-FFF2-40B4-BE49-F238E27FC236}">
                <a16:creationId xmlns:a16="http://schemas.microsoft.com/office/drawing/2014/main" id="{29345FC1-5ECE-44E2-B4B7-C058C77C1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198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 u="sng">
                <a:solidFill>
                  <a:srgbClr val="112E36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272775e7617a4462"/>
              </a:rPr>
              <a:t>修改参数并查看完整结果表</a:t>
            </a:r>
          </a:p>
        </p:txBody>
      </p:sp>
    </p:spTree>
    <p:extLst>
      <p:ext uri="{BB962C8B-B14F-4D97-AF65-F5344CB8AC3E}">
        <p14:creationId xmlns:p14="http://schemas.microsoft.com/office/powerpoint/2010/main" val="61796938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E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自相关与时间间隔">
            <a:extLst xmlns:a="http://schemas.openxmlformats.org/drawingml/2006/main">
              <a:ext uri="{FF2B5EF4-FFF2-40B4-BE49-F238E27FC236}">
                <a16:creationId xmlns:a16="http://schemas.microsoft.com/office/drawing/2014/main" id="{FDC31810-66AA-4335-8A96-C570301ED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自相关与时间间隔</a:t>
            </a:r>
          </a:p>
        </p:txBody>
      </p:sp>
      <p:sp>
        <p:nvSpPr>
          <p:cNvPr id="2" name="第6章 交通时序数据分析   6.3">
            <a:extLst xmlns:a="http://schemas.openxmlformats.org/drawingml/2006/main">
              <a:ext uri="{FF2B5EF4-FFF2-40B4-BE49-F238E27FC236}">
                <a16:creationId xmlns:a16="http://schemas.microsoft.com/office/drawing/2014/main" id="{A6FCD7E6-26FE-46EE-AA1F-533B48511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rPr>
              <a:t>第6章 交通时序数据分析   6.3</a:t>
            </a:r>
          </a:p>
        </p:txBody>
      </p:sp>
      <p:sp>
        <p:nvSpPr>
          <p:cNvPr id="3" name="08">
            <a:extLst xmlns:a="http://schemas.openxmlformats.org/drawingml/2006/main">
              <a:ext uri="{FF2B5EF4-FFF2-40B4-BE49-F238E27FC236}">
                <a16:creationId xmlns:a16="http://schemas.microsoft.com/office/drawing/2014/main" id="{E8F25C04-EB90-4CEA-9990-C882A2237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429375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4" name="自相关衡量不同时间位置观测的线性联系。">
            <a:extLst xmlns:a="http://schemas.openxmlformats.org/drawingml/2006/main">
              <a:ext uri="{FF2B5EF4-FFF2-40B4-BE49-F238E27FC236}">
                <a16:creationId xmlns:a16="http://schemas.microsoft.com/office/drawing/2014/main" id="{3B47ADE7-1149-423F-85FA-386574FCE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08204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rPr>
              <a:t>自相关衡量不同时间位置观测的线性联系。</a:t>
            </a:r>
          </a:p>
        </p:txBody>
      </p:sp>
      <p:sp>
        <p:nvSpPr>
          <p:cNvPr id="5" name="本实验按确切小时标签配对，不把缺口两侧记录当成连续小">
            <a:extLst xmlns:a="http://schemas.openxmlformats.org/drawingml/2006/main">
              <a:ext uri="{FF2B5EF4-FFF2-40B4-BE49-F238E27FC236}">
                <a16:creationId xmlns:a16="http://schemas.microsoft.com/office/drawing/2014/main" id="{267C11AA-7BAB-41EA-95CA-94EB7068F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90800"/>
            <a:ext cx="108204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本实验按确切小时标签配对，不把缺口两侧记录当成连续小时。</a:t>
            </a:r>
          </a:p>
        </p:txBody>
      </p:sp>
      <p:sp>
        <p:nvSpPr>
          <p:cNvPr id="6" name="曲线展示训练期的成对Pearson滞后相关，每个滞后">
            <a:extLst xmlns:a="http://schemas.openxmlformats.org/drawingml/2006/main">
              <a:ext uri="{FF2B5EF4-FFF2-40B4-BE49-F238E27FC236}">
                <a16:creationId xmlns:a16="http://schemas.microsoft.com/office/drawing/2014/main" id="{A90A0022-B8C9-46D1-B523-9E9335C8D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90950"/>
            <a:ext cx="108204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曲线展示训练期的成对Pearson滞后相关，每个滞后的样本均值单独计算，不等同</a:t>
            </a:r>
          </a:p>
          <a:p xmlns:a="http://schemas.openxmlformats.org/drawingml/2006/main">
            <a:pPr algn="l">
              <a:defRPr sz="217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于所有软件默认ACF估计量。</a:t>
            </a:r>
          </a:p>
        </p:txBody>
      </p:sp>
      <p:sp>
        <p:nvSpPr>
          <p:cNvPr id="7" name="课堂讨论：24小时或168小时相关较高，可以说明哪些">
            <a:extLst xmlns:a="http://schemas.openxmlformats.org/drawingml/2006/main">
              <a:ext uri="{FF2B5EF4-FFF2-40B4-BE49-F238E27FC236}">
                <a16:creationId xmlns:a16="http://schemas.microsoft.com/office/drawing/2014/main" id="{811A0F3F-7062-4F04-8011-BAF20E1B1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08204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rPr>
              <a:t>课堂讨论：24小时或168小时相关较高，可以说明哪些周期线索？</a:t>
            </a:r>
          </a:p>
        </p:txBody>
      </p:sp>
      <p:sp>
        <p:nvSpPr>
          <p:cNvPr id="8" name="link">
            <a:extLst xmlns:a="http://schemas.openxmlformats.org/drawingml/2006/main">
              <a:ext uri="{FF2B5EF4-FFF2-40B4-BE49-F238E27FC236}">
                <a16:creationId xmlns:a16="http://schemas.microsoft.com/office/drawing/2014/main" id="{FB6A0888-5C61-4253-AF28-F52A16D1E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 u="sng">
                <a:solidFill>
                  <a:srgbClr val="112E36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7802ecea2e30432f"/>
              </a:rPr>
              <a:t>打开交互实验，观察参数变化</a:t>
            </a:r>
          </a:p>
        </p:txBody>
      </p:sp>
    </p:spTree>
    <p:extLst>
      <p:ext uri="{BB962C8B-B14F-4D97-AF65-F5344CB8AC3E}">
        <p14:creationId xmlns:p14="http://schemas.microsoft.com/office/powerpoint/2010/main" val="168526720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E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自相关与时间间隔：计算结果">
            <a:extLst xmlns:a="http://schemas.openxmlformats.org/drawingml/2006/main">
              <a:ext uri="{FF2B5EF4-FFF2-40B4-BE49-F238E27FC236}">
                <a16:creationId xmlns:a16="http://schemas.microsoft.com/office/drawing/2014/main" id="{83088260-430E-46BE-919F-BA1933729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自相关与时间间隔：计算结果</a:t>
            </a:r>
          </a:p>
        </p:txBody>
      </p:sp>
      <p:sp>
        <p:nvSpPr>
          <p:cNvPr id="2" name="第6章 交通时序数据分析   6.3">
            <a:extLst xmlns:a="http://schemas.openxmlformats.org/drawingml/2006/main">
              <a:ext uri="{FF2B5EF4-FFF2-40B4-BE49-F238E27FC236}">
                <a16:creationId xmlns:a16="http://schemas.microsoft.com/office/drawing/2014/main" id="{986946A8-FB14-4528-8F81-0D4BD5BAA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rPr>
              <a:t>第6章 交通时序数据分析   6.3</a:t>
            </a:r>
          </a:p>
        </p:txBody>
      </p:sp>
      <p:sp>
        <p:nvSpPr>
          <p:cNvPr id="3" name="09">
            <a:extLst xmlns:a="http://schemas.openxmlformats.org/drawingml/2006/main">
              <a:ext uri="{FF2B5EF4-FFF2-40B4-BE49-F238E27FC236}">
                <a16:creationId xmlns:a16="http://schemas.microsoft.com/office/drawing/2014/main" id="{98DE8FFA-9952-48CC-B056-6D9F2B938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429375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4" name="根据真实观测在浏览器重新计算">
            <a:extLst xmlns:a="http://schemas.openxmlformats.org/drawingml/2006/main">
              <a:ext uri="{FF2B5EF4-FFF2-40B4-BE49-F238E27FC236}">
                <a16:creationId xmlns:a16="http://schemas.microsoft.com/office/drawing/2014/main" id="{8603B79A-128F-493A-BD29-5B1E5773B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10820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rPr>
              <a:t>根据真实观测在浏览器重新计算</a:t>
            </a:r>
          </a:p>
        </p:txBody>
      </p:sp>
      <p:sp>
        <p:nvSpPr>
          <p:cNvPr id="5" name="默认配置：最大滞后（小时）：48">
            <a:extLst xmlns:a="http://schemas.openxmlformats.org/drawingml/2006/main">
              <a:ext uri="{FF2B5EF4-FFF2-40B4-BE49-F238E27FC236}">
                <a16:creationId xmlns:a16="http://schemas.microsoft.com/office/drawing/2014/main" id="{C0C2FF8B-42BA-45EA-86D4-1A919D194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108204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rPr>
              <a:t>默认配置：最大滞后（小时）：48</a:t>
            </a:r>
          </a:p>
        </p:txBody>
      </p:sp>
      <p:sp>
        <p:nvSpPr>
          <p:cNvPr id="6" name="相关系数">
            <a:extLst xmlns:a="http://schemas.openxmlformats.org/drawingml/2006/main">
              <a:ext uri="{FF2B5EF4-FFF2-40B4-BE49-F238E27FC236}">
                <a16:creationId xmlns:a16="http://schemas.microsoft.com/office/drawing/2014/main" id="{CD4391D9-BD8E-46A8-90B1-79EA16A3E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rPr>
              <a:t>相关系数</a:t>
            </a:r>
          </a:p>
        </p:txBody>
      </p:sp>
      <p:graphicFrame>
        <p:nvGraphicFramePr>
          <p:cNvPr id="16" name="Chart"/>
          <p:cNvGraphicFramePr/>
          <p:nvPr/>
        </p:nvGraphicFramePr>
        <p:xfrm>
          <a:off xmlns:a="http://schemas.openxmlformats.org/drawingml/2006/main" x="685800" y="2390775"/>
          <a:ext xmlns:a="http://schemas.openxmlformats.org/drawingml/2006/main" cx="10820400" cy="29432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9ab28b527a1475f"/>
          </a:graphicData>
        </a:graphic>
      </p:graphicFrame>
      <p:sp>
        <p:nvSpPr>
          <p:cNvPr id="8" name="每个滞后分别计算成对均值与相关，不等同于所有软件默认">
            <a:extLst xmlns:a="http://schemas.openxmlformats.org/drawingml/2006/main">
              <a:ext uri="{FF2B5EF4-FFF2-40B4-BE49-F238E27FC236}">
                <a16:creationId xmlns:a16="http://schemas.microsoft.com/office/drawing/2014/main" id="{AA379F52-B04D-428E-AB9E-0EA6DAB9F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48300"/>
            <a:ext cx="108204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rPr>
              <a:t>每个滞后分别计算成对均值与相关，不等同于所有软件默认ACF。</a:t>
            </a:r>
          </a:p>
        </p:txBody>
      </p:sp>
      <p:sp>
        <p:nvSpPr>
          <p:cNvPr id="9" name="link">
            <a:extLst xmlns:a="http://schemas.openxmlformats.org/drawingml/2006/main">
              <a:ext uri="{FF2B5EF4-FFF2-40B4-BE49-F238E27FC236}">
                <a16:creationId xmlns:a16="http://schemas.microsoft.com/office/drawing/2014/main" id="{01297109-4EA0-42BD-B688-242DD0102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198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 u="sng">
                <a:solidFill>
                  <a:srgbClr val="112E36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a6e3c41cd58946b5"/>
              </a:rPr>
              <a:t>修改参数并查看完整结果表</a:t>
            </a:r>
          </a:p>
        </p:txBody>
      </p:sp>
    </p:spTree>
    <p:extLst>
      <p:ext uri="{BB962C8B-B14F-4D97-AF65-F5344CB8AC3E}">
        <p14:creationId xmlns:p14="http://schemas.microsoft.com/office/powerpoint/2010/main" val="142308688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E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平稳性与残差检验">
            <a:extLst xmlns:a="http://schemas.openxmlformats.org/drawingml/2006/main">
              <a:ext uri="{FF2B5EF4-FFF2-40B4-BE49-F238E27FC236}">
                <a16:creationId xmlns:a16="http://schemas.microsoft.com/office/drawing/2014/main" id="{9C5E9174-FA5E-47A9-BFD2-11BA35A10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平稳性与残差检验</a:t>
            </a:r>
          </a:p>
        </p:txBody>
      </p:sp>
      <p:sp>
        <p:nvSpPr>
          <p:cNvPr id="2" name="第6章 交通时序数据分析   6.4">
            <a:extLst xmlns:a="http://schemas.openxmlformats.org/drawingml/2006/main">
              <a:ext uri="{FF2B5EF4-FFF2-40B4-BE49-F238E27FC236}">
                <a16:creationId xmlns:a16="http://schemas.microsoft.com/office/drawing/2014/main" id="{855DD6F0-CF56-474C-A019-61408B8DD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rPr>
              <a:t>第6章 交通时序数据分析   6.4</a:t>
            </a:r>
          </a:p>
        </p:txBody>
      </p:sp>
      <p:sp>
        <p:nvSpPr>
          <p:cNvPr id="3" name="10">
            <a:extLst xmlns:a="http://schemas.openxmlformats.org/drawingml/2006/main">
              <a:ext uri="{FF2B5EF4-FFF2-40B4-BE49-F238E27FC236}">
                <a16:creationId xmlns:a16="http://schemas.microsoft.com/office/drawing/2014/main" id="{4ACA60E5-1F38-4E78-B136-FD95346ED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429375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4" name="检验结果需要结合模型和观测范围。">
            <a:extLst xmlns:a="http://schemas.openxmlformats.org/drawingml/2006/main">
              <a:ext uri="{FF2B5EF4-FFF2-40B4-BE49-F238E27FC236}">
                <a16:creationId xmlns:a16="http://schemas.microsoft.com/office/drawing/2014/main" id="{3519CCE3-F650-469E-9059-CFBC6F867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08204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rPr>
              <a:t>检验结果需要结合模型和观测范围。</a:t>
            </a:r>
          </a:p>
        </p:txBody>
      </p:sp>
      <p:sp>
        <p:nvSpPr>
          <p:cNvPr id="5" name="ADF的原假设涉及单位根，拒绝单位根不等于不存在季节">
            <a:extLst xmlns:a="http://schemas.openxmlformats.org/drawingml/2006/main">
              <a:ext uri="{FF2B5EF4-FFF2-40B4-BE49-F238E27FC236}">
                <a16:creationId xmlns:a16="http://schemas.microsoft.com/office/drawing/2014/main" id="{560D642D-B039-415B-BF5B-BD866A5E0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90800"/>
            <a:ext cx="108204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ADF的原假设涉及单位根，拒绝单位根不等于不存在季节性、异方差或结构突变。</a:t>
            </a:r>
          </a:p>
        </p:txBody>
      </p:sp>
      <p:sp>
        <p:nvSpPr>
          <p:cNvPr id="6" name="Ljung–Box检验检查一组滞后上的剩余相关。p值">
            <a:extLst xmlns:a="http://schemas.openxmlformats.org/drawingml/2006/main">
              <a:ext uri="{FF2B5EF4-FFF2-40B4-BE49-F238E27FC236}">
                <a16:creationId xmlns:a16="http://schemas.microsoft.com/office/drawing/2014/main" id="{6A775E49-1496-4A14-A68D-47361EF12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90950"/>
            <a:ext cx="108204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Ljung–Box检验检查一组滞后上的剩余相关。p值很小提示残差仍含结构，不等于</a:t>
            </a:r>
          </a:p>
          <a:p xmlns:a="http://schemas.openxmlformats.org/drawingml/2006/main">
            <a:pPr algn="l">
              <a:defRPr sz="217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模型完全没有预测用途。</a:t>
            </a:r>
          </a:p>
        </p:txBody>
      </p:sp>
      <p:sp>
        <p:nvSpPr>
          <p:cNvPr id="7" name="课堂讨论：为什么一次检验不能代替时间图、残差图与留出">
            <a:extLst xmlns:a="http://schemas.openxmlformats.org/drawingml/2006/main">
              <a:ext uri="{FF2B5EF4-FFF2-40B4-BE49-F238E27FC236}">
                <a16:creationId xmlns:a16="http://schemas.microsoft.com/office/drawing/2014/main" id="{5F789597-DFC3-4317-A389-223F49867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08204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rPr>
              <a:t>课堂讨论：为什么一次检验不能代替时间图、残差图与留出误差？</a:t>
            </a:r>
          </a:p>
        </p:txBody>
      </p:sp>
      <p:sp>
        <p:nvSpPr>
          <p:cNvPr id="8" name="link">
            <a:extLst xmlns:a="http://schemas.openxmlformats.org/drawingml/2006/main">
              <a:ext uri="{FF2B5EF4-FFF2-40B4-BE49-F238E27FC236}">
                <a16:creationId xmlns:a16="http://schemas.microsoft.com/office/drawing/2014/main" id="{B56BDF69-BD9E-40FC-8F00-33B9C8DB9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 u="sng">
                <a:solidFill>
                  <a:srgbClr val="112E36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404c076d5dfe446b"/>
              </a:rPr>
              <a:t>打开课堂讲解与配套案例</a:t>
            </a:r>
          </a:p>
        </p:txBody>
      </p:sp>
    </p:spTree>
    <p:extLst>
      <p:ext uri="{BB962C8B-B14F-4D97-AF65-F5344CB8AC3E}">
        <p14:creationId xmlns:p14="http://schemas.microsoft.com/office/powerpoint/2010/main" val="107829859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E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AR、MA与ARIMA">
            <a:extLst xmlns:a="http://schemas.openxmlformats.org/drawingml/2006/main">
              <a:ext uri="{FF2B5EF4-FFF2-40B4-BE49-F238E27FC236}">
                <a16:creationId xmlns:a16="http://schemas.microsoft.com/office/drawing/2014/main" id="{1A879421-351B-4FA7-A261-EAF13164D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AR、MA与ARIMA</a:t>
            </a:r>
          </a:p>
        </p:txBody>
      </p:sp>
      <p:sp>
        <p:nvSpPr>
          <p:cNvPr id="2" name="第6章 交通时序数据分析   6.5">
            <a:extLst xmlns:a="http://schemas.openxmlformats.org/drawingml/2006/main">
              <a:ext uri="{FF2B5EF4-FFF2-40B4-BE49-F238E27FC236}">
                <a16:creationId xmlns:a16="http://schemas.microsoft.com/office/drawing/2014/main" id="{C990D065-43A0-40CE-B087-D36E468EC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rPr>
              <a:t>第6章 交通时序数据分析   6.5</a:t>
            </a:r>
          </a:p>
        </p:txBody>
      </p:sp>
      <p:sp>
        <p:nvSpPr>
          <p:cNvPr id="3" name="11">
            <a:extLst xmlns:a="http://schemas.openxmlformats.org/drawingml/2006/main">
              <a:ext uri="{FF2B5EF4-FFF2-40B4-BE49-F238E27FC236}">
                <a16:creationId xmlns:a16="http://schemas.microsoft.com/office/drawing/2014/main" id="{DD77859C-A2BA-427C-B14D-0CF635824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429375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4" name="自回归和误差项描述不同的时间依赖。">
            <a:extLst xmlns:a="http://schemas.openxmlformats.org/drawingml/2006/main">
              <a:ext uri="{FF2B5EF4-FFF2-40B4-BE49-F238E27FC236}">
                <a16:creationId xmlns:a16="http://schemas.microsoft.com/office/drawing/2014/main" id="{79A2EF44-786A-4DAD-969A-06CF69F38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08204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rPr>
              <a:t>自回归和误差项描述不同的时间依赖。</a:t>
            </a:r>
          </a:p>
        </p:txBody>
      </p:sp>
      <p:sp>
        <p:nvSpPr>
          <p:cNvPr id="5" name="y_t = c + φ₁y_(t−1) + φ₂y_">
            <a:extLst xmlns:a="http://schemas.openxmlformats.org/drawingml/2006/main">
              <a:ext uri="{FF2B5EF4-FFF2-40B4-BE49-F238E27FC236}">
                <a16:creationId xmlns:a16="http://schemas.microsoft.com/office/drawing/2014/main" id="{71B89130-3F6D-4824-AD53-4F8AFA0B3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09850"/>
            <a:ext cx="10820400" cy="1076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y_t = c + φ₁y_(t−1) + φ₂y_(t−2) + ε_t</a:t>
            </a:r>
          </a:p>
        </p:txBody>
      </p:sp>
      <p:sp>
        <p:nvSpPr>
          <p:cNvPr id="6" name="y_t：小时交通量。c：截距。φ₁、φ₂：自回归系数">
            <a:extLst xmlns:a="http://schemas.openxmlformats.org/drawingml/2006/main">
              <a:ext uri="{FF2B5EF4-FFF2-40B4-BE49-F238E27FC236}">
                <a16:creationId xmlns:a16="http://schemas.microsoft.com/office/drawing/2014/main" id="{8AACD0D8-BE40-447F-A16B-1A47B723D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4335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rPr>
              <a:t>y_t：小时交通量。c：截距。φ₁、φ₂：自回归系数。ε_t：创新误差。</a:t>
            </a:r>
          </a:p>
        </p:txBody>
      </p:sp>
      <p:sp>
        <p:nvSpPr>
          <p:cNvPr id="7" name="AR使用过去观测，MA使用过去创新误差。ARIMA中">
            <a:extLst xmlns:a="http://schemas.openxmlformats.org/drawingml/2006/main">
              <a:ext uri="{FF2B5EF4-FFF2-40B4-BE49-F238E27FC236}">
                <a16:creationId xmlns:a16="http://schemas.microsoft.com/office/drawing/2014/main" id="{92718B35-3DE6-4958-92BD-20D0A95EF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29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AR使用过去观测，MA使用过去创新误差。ARIMA中的d表示差分阶数，不是预测提前小时数。</a:t>
            </a:r>
          </a:p>
        </p:txBody>
      </p:sp>
      <p:sp>
        <p:nvSpPr>
          <p:cNvPr id="8" name="link">
            <a:extLst xmlns:a="http://schemas.openxmlformats.org/drawingml/2006/main">
              <a:ext uri="{FF2B5EF4-FFF2-40B4-BE49-F238E27FC236}">
                <a16:creationId xmlns:a16="http://schemas.microsoft.com/office/drawing/2014/main" id="{596A855B-F7D6-446A-BFFF-1BE9BD2E6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 u="sng">
                <a:solidFill>
                  <a:srgbClr val="112E36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a9706d00d63c4a65"/>
              </a:rPr>
              <a:t>公式解释与交通问题讨论</a:t>
            </a:r>
          </a:p>
        </p:txBody>
      </p:sp>
    </p:spTree>
    <p:extLst>
      <p:ext uri="{BB962C8B-B14F-4D97-AF65-F5344CB8AC3E}">
        <p14:creationId xmlns:p14="http://schemas.microsoft.com/office/powerpoint/2010/main" val="198297338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E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日周期SARIMA">
            <a:extLst xmlns:a="http://schemas.openxmlformats.org/drawingml/2006/main">
              <a:ext uri="{FF2B5EF4-FFF2-40B4-BE49-F238E27FC236}">
                <a16:creationId xmlns:a16="http://schemas.microsoft.com/office/drawing/2014/main" id="{A120BDF3-85ED-4190-AF0E-ED38CDFFB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日周期SARIMA</a:t>
            </a:r>
          </a:p>
        </p:txBody>
      </p:sp>
      <p:sp>
        <p:nvSpPr>
          <p:cNvPr id="2" name="第6章 交通时序数据分析   6.5">
            <a:extLst xmlns:a="http://schemas.openxmlformats.org/drawingml/2006/main">
              <a:ext uri="{FF2B5EF4-FFF2-40B4-BE49-F238E27FC236}">
                <a16:creationId xmlns:a16="http://schemas.microsoft.com/office/drawing/2014/main" id="{F053289B-B515-4A1C-BFCA-B5666D2F3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rPr>
              <a:t>第6章 交通时序数据分析   6.5</a:t>
            </a:r>
          </a:p>
        </p:txBody>
      </p:sp>
      <p:sp>
        <p:nvSpPr>
          <p:cNvPr id="3" name="12">
            <a:extLst xmlns:a="http://schemas.openxmlformats.org/drawingml/2006/main">
              <a:ext uri="{FF2B5EF4-FFF2-40B4-BE49-F238E27FC236}">
                <a16:creationId xmlns:a16="http://schemas.microsoft.com/office/drawing/2014/main" id="{5D98DDBC-D5DE-4602-9257-CF0CA7EDF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429375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sp>
        <p:nvSpPr>
          <p:cNvPr id="4" name="季节项让模型利用前一日的关联结构。">
            <a:extLst xmlns:a="http://schemas.openxmlformats.org/drawingml/2006/main">
              <a:ext uri="{FF2B5EF4-FFF2-40B4-BE49-F238E27FC236}">
                <a16:creationId xmlns:a16="http://schemas.microsoft.com/office/drawing/2014/main" id="{39C44E4A-2EB7-4144-8340-AA6795B69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08204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rPr>
              <a:t>季节项让模型利用前一日的关联结构。</a:t>
            </a:r>
          </a:p>
        </p:txBody>
      </p:sp>
      <p:sp>
        <p:nvSpPr>
          <p:cNvPr id="5" name="本轮固定SARIMA(2,0,0)(1,0,0)₂₄">
            <a:extLst xmlns:a="http://schemas.openxmlformats.org/drawingml/2006/main">
              <a:ext uri="{FF2B5EF4-FFF2-40B4-BE49-F238E27FC236}">
                <a16:creationId xmlns:a16="http://schemas.microsoft.com/office/drawing/2014/main" id="{3A9F2705-B60D-407B-A7A4-7B083A733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90800"/>
            <a:ext cx="108204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本轮固定SARIMA(2,0,0)(1,0,0)₂₄，以24小时表示日周期。</a:t>
            </a:r>
          </a:p>
        </p:txBody>
      </p:sp>
      <p:sp>
        <p:nvSpPr>
          <p:cNvPr id="6" name="季节AR项与非季节AR项组合会产生交叉滞后，不能把完">
            <a:extLst xmlns:a="http://schemas.openxmlformats.org/drawingml/2006/main">
              <a:ext uri="{FF2B5EF4-FFF2-40B4-BE49-F238E27FC236}">
                <a16:creationId xmlns:a16="http://schemas.microsoft.com/office/drawing/2014/main" id="{DC65FF4E-0E70-4A5C-96B6-38008EBEA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90950"/>
            <a:ext cx="108204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季节AR项与非季节AR项组合会产生交叉滞后，不能把完整模型简化成只增加一个</a:t>
            </a:r>
          </a:p>
          <a:p xmlns:a="http://schemas.openxmlformats.org/drawingml/2006/main">
            <a:pPr algn="l">
              <a:defRPr sz="217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第24小时特征。</a:t>
            </a:r>
          </a:p>
        </p:txBody>
      </p:sp>
      <p:sp>
        <p:nvSpPr>
          <p:cNvPr id="7" name="课堂讨论：如果某道路的周末差异显著，24小时周期模型">
            <a:extLst xmlns:a="http://schemas.openxmlformats.org/drawingml/2006/main">
              <a:ext uri="{FF2B5EF4-FFF2-40B4-BE49-F238E27FC236}">
                <a16:creationId xmlns:a16="http://schemas.microsoft.com/office/drawing/2014/main" id="{29AB1C68-0C39-47F8-AE46-E00FF958B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08204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rPr>
              <a:t>课堂讨论：如果某道路的周末差异显著，24小时周期模型还可能缺少什么？</a:t>
            </a:r>
          </a:p>
        </p:txBody>
      </p:sp>
      <p:sp>
        <p:nvSpPr>
          <p:cNvPr id="8" name="link">
            <a:extLst xmlns:a="http://schemas.openxmlformats.org/drawingml/2006/main">
              <a:ext uri="{FF2B5EF4-FFF2-40B4-BE49-F238E27FC236}">
                <a16:creationId xmlns:a16="http://schemas.microsoft.com/office/drawing/2014/main" id="{68B0F731-81F6-4603-80CF-DD6C6A2CB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 u="sng">
                <a:solidFill>
                  <a:srgbClr val="112E36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b955ab58ce7a4b97"/>
              </a:rPr>
              <a:t>打开课堂讲解与配套案例</a:t>
            </a:r>
          </a:p>
        </p:txBody>
      </p:sp>
    </p:spTree>
    <p:extLst>
      <p:ext uri="{BB962C8B-B14F-4D97-AF65-F5344CB8AC3E}">
        <p14:creationId xmlns:p14="http://schemas.microsoft.com/office/powerpoint/2010/main" val="174072361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E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预测起点与共同目标">
            <a:extLst xmlns:a="http://schemas.openxmlformats.org/drawingml/2006/main">
              <a:ext uri="{FF2B5EF4-FFF2-40B4-BE49-F238E27FC236}">
                <a16:creationId xmlns:a16="http://schemas.microsoft.com/office/drawing/2014/main" id="{AD125574-C527-4F97-9685-F2A7FD627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预测起点与共同目标</a:t>
            </a:r>
          </a:p>
        </p:txBody>
      </p:sp>
      <p:sp>
        <p:nvSpPr>
          <p:cNvPr id="2" name="第6章 交通时序数据分析   6.8">
            <a:extLst xmlns:a="http://schemas.openxmlformats.org/drawingml/2006/main">
              <a:ext uri="{FF2B5EF4-FFF2-40B4-BE49-F238E27FC236}">
                <a16:creationId xmlns:a16="http://schemas.microsoft.com/office/drawing/2014/main" id="{8CD0DBBC-2EEE-4C92-AF25-D5B076BE9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rPr>
              <a:t>第6章 交通时序数据分析   6.8</a:t>
            </a:r>
          </a:p>
        </p:txBody>
      </p:sp>
      <p:sp>
        <p:nvSpPr>
          <p:cNvPr id="3" name="13">
            <a:extLst xmlns:a="http://schemas.openxmlformats.org/drawingml/2006/main">
              <a:ext uri="{FF2B5EF4-FFF2-40B4-BE49-F238E27FC236}">
                <a16:creationId xmlns:a16="http://schemas.microsoft.com/office/drawing/2014/main" id="{F552BB17-FF78-40B9-BB89-395F53C60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429375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sp>
        <p:nvSpPr>
          <p:cNvPr id="4" name="比较提前量时必须固定被预测的时刻。">
            <a:extLst xmlns:a="http://schemas.openxmlformats.org/drawingml/2006/main">
              <a:ext uri="{FF2B5EF4-FFF2-40B4-BE49-F238E27FC236}">
                <a16:creationId xmlns:a16="http://schemas.microsoft.com/office/drawing/2014/main" id="{51649925-D536-42F2-9330-D8B5B52C7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08204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rPr>
              <a:t>比较提前量时必须固定被预测的时刻。</a:t>
            </a:r>
          </a:p>
        </p:txBody>
      </p:sp>
      <p:sp>
        <p:nvSpPr>
          <p:cNvPr id="5" name="目标是12时，提前1、3、6小时分别只能使用11、0">
            <a:extLst xmlns:a="http://schemas.openxmlformats.org/drawingml/2006/main">
              <a:ext uri="{FF2B5EF4-FFF2-40B4-BE49-F238E27FC236}">
                <a16:creationId xmlns:a16="http://schemas.microsoft.com/office/drawing/2014/main" id="{F2FC082D-ECA1-42D5-89AE-8DE47D3A3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90800"/>
            <a:ext cx="108204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目标是12时，提前1、3、6小时分别只能使用11、09、06时及以前的信息。</a:t>
            </a:r>
          </a:p>
        </p:txBody>
      </p:sp>
      <p:sp>
        <p:nvSpPr>
          <p:cNvPr id="6" name="本协议采用起点的过滤状态递推，不使用包含未来观测的平">
            <a:extLst xmlns:a="http://schemas.openxmlformats.org/drawingml/2006/main">
              <a:ext uri="{FF2B5EF4-FFF2-40B4-BE49-F238E27FC236}">
                <a16:creationId xmlns:a16="http://schemas.microsoft.com/office/drawing/2014/main" id="{977675EE-2E45-41A5-9600-9F219DD60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90950"/>
            <a:ext cx="108204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本协议采用起点的过滤状态递推，不使用包含未来观测的平滑状态；共同目标固定</a:t>
            </a:r>
          </a:p>
          <a:p xmlns:a="http://schemas.openxmlformats.org/drawingml/2006/main">
            <a:pPr algn="l">
              <a:defRPr sz="217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为2,169个。</a:t>
            </a:r>
          </a:p>
        </p:txBody>
      </p:sp>
      <p:sp>
        <p:nvSpPr>
          <p:cNvPr id="7" name="课堂讨论：为什么同一个目标时刻要对应三个不同的信息截">
            <a:extLst xmlns:a="http://schemas.openxmlformats.org/drawingml/2006/main">
              <a:ext uri="{FF2B5EF4-FFF2-40B4-BE49-F238E27FC236}">
                <a16:creationId xmlns:a16="http://schemas.microsoft.com/office/drawing/2014/main" id="{84FA45A6-D2EF-44D2-9F1F-63D397D15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08204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rPr>
              <a:t>课堂讨论：为什么同一个目标时刻要对应三个不同的信息截止时刻？</a:t>
            </a:r>
          </a:p>
        </p:txBody>
      </p:sp>
      <p:sp>
        <p:nvSpPr>
          <p:cNvPr id="8" name="link">
            <a:extLst xmlns:a="http://schemas.openxmlformats.org/drawingml/2006/main">
              <a:ext uri="{FF2B5EF4-FFF2-40B4-BE49-F238E27FC236}">
                <a16:creationId xmlns:a16="http://schemas.microsoft.com/office/drawing/2014/main" id="{975A7744-0167-4434-8008-A2EF8ABFE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 u="sng">
                <a:solidFill>
                  <a:srgbClr val="112E36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287efb1400bb41f5"/>
              </a:rPr>
              <a:t>打开交互实验，观察参数变化</a:t>
            </a:r>
          </a:p>
        </p:txBody>
      </p:sp>
    </p:spTree>
    <p:extLst>
      <p:ext uri="{BB962C8B-B14F-4D97-AF65-F5344CB8AC3E}">
        <p14:creationId xmlns:p14="http://schemas.microsoft.com/office/powerpoint/2010/main" val="1063376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E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预测起点与共同目标：计算结果">
            <a:extLst xmlns:a="http://schemas.openxmlformats.org/drawingml/2006/main">
              <a:ext uri="{FF2B5EF4-FFF2-40B4-BE49-F238E27FC236}">
                <a16:creationId xmlns:a16="http://schemas.microsoft.com/office/drawing/2014/main" id="{58C7E510-8411-49F0-B0AF-998E045E5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预测起点与共同目标：计算结果</a:t>
            </a:r>
          </a:p>
        </p:txBody>
      </p:sp>
      <p:sp>
        <p:nvSpPr>
          <p:cNvPr id="2" name="第6章 交通时序数据分析   6.8">
            <a:extLst xmlns:a="http://schemas.openxmlformats.org/drawingml/2006/main">
              <a:ext uri="{FF2B5EF4-FFF2-40B4-BE49-F238E27FC236}">
                <a16:creationId xmlns:a16="http://schemas.microsoft.com/office/drawing/2014/main" id="{0E5BAA00-2AF4-4B50-A0FD-ACB9AD765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rPr>
              <a:t>第6章 交通时序数据分析   6.8</a:t>
            </a:r>
          </a:p>
        </p:txBody>
      </p:sp>
      <p:sp>
        <p:nvSpPr>
          <p:cNvPr id="3" name="14">
            <a:extLst xmlns:a="http://schemas.openxmlformats.org/drawingml/2006/main">
              <a:ext uri="{FF2B5EF4-FFF2-40B4-BE49-F238E27FC236}">
                <a16:creationId xmlns:a16="http://schemas.microsoft.com/office/drawing/2014/main" id="{948EE973-AA20-4616-904E-DA75B143D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429375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sp>
        <p:nvSpPr>
          <p:cNvPr id="4" name="根据真实观测在浏览器重新计算">
            <a:extLst xmlns:a="http://schemas.openxmlformats.org/drawingml/2006/main">
              <a:ext uri="{FF2B5EF4-FFF2-40B4-BE49-F238E27FC236}">
                <a16:creationId xmlns:a16="http://schemas.microsoft.com/office/drawing/2014/main" id="{73E6F11A-EF53-49AA-9B45-958CC7FDA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10820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rPr>
              <a:t>根据真实观测在浏览器重新计算</a:t>
            </a:r>
          </a:p>
        </p:txBody>
      </p:sp>
      <p:sp>
        <p:nvSpPr>
          <p:cNvPr id="5" name="默认配置：提前小时：3">
            <a:extLst xmlns:a="http://schemas.openxmlformats.org/drawingml/2006/main">
              <a:ext uri="{FF2B5EF4-FFF2-40B4-BE49-F238E27FC236}">
                <a16:creationId xmlns:a16="http://schemas.microsoft.com/office/drawing/2014/main" id="{6A8F35AC-BC2A-4872-82D9-F6E4DFC46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108204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rPr>
              <a:t>默认配置：提前小时：3</a:t>
            </a:r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685800" y="2333625"/>
          <a:ext xmlns:a="http://schemas.openxmlformats.org/drawingml/2006/main" cx="10820400" cy="29718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3606800"/>
                <a:gridCol w="3606800"/>
                <a:gridCol w="3606800"/>
              </a:tblGrid>
              <a:tr h="4953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目标本地标签</a:t>
                      </a:r>
                    </a:p>
                  </a:txBody>
                  <a:tcPr marL="91440" marR="91440" marT="45720" marB="45720" anchor="ctr">
                    <a:solidFill>
                      <a:srgbClr val="112E3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最后可用小时标签</a:t>
                      </a:r>
                    </a:p>
                  </a:txBody>
                  <a:tcPr marL="91440" marR="91440" marT="45720" marB="45720" anchor="ctr">
                    <a:solidFill>
                      <a:srgbClr val="112E3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提前小时</a:t>
                      </a:r>
                    </a:p>
                  </a:txBody>
                  <a:tcPr marL="91440" marR="91440" marT="45720" marB="45720" anchor="ctr">
                    <a:solidFill>
                      <a:srgbClr val="112E36"/>
                    </a:solidFill>
                  </a:tcPr>
                </a:tc>
              </a:tr>
              <a:tr h="4953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12E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2018-07-01T00:00</a:t>
                      </a:r>
                    </a:p>
                  </a:txBody>
                  <a:tcPr marL="91440" marR="91440" marT="45720" marB="45720" anchor="ctr">
                    <a:solidFill>
                      <a:srgbClr val="FFFE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12E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2018-06-30T21:00</a:t>
                      </a:r>
                    </a:p>
                  </a:txBody>
                  <a:tcPr marL="91440" marR="91440" marT="45720" marB="45720" anchor="ctr">
                    <a:solidFill>
                      <a:srgbClr val="FFFE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12E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</a:t>
                      </a:r>
                    </a:p>
                  </a:txBody>
                  <a:tcPr marL="91440" marR="91440" marT="45720" marB="45720" anchor="ctr">
                    <a:solidFill>
                      <a:srgbClr val="FFFEFA"/>
                    </a:solidFill>
                  </a:tcPr>
                </a:tc>
              </a:tr>
              <a:tr h="4953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12E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2018-07-01T01:00</a:t>
                      </a:r>
                    </a:p>
                  </a:txBody>
                  <a:tcPr marL="91440" marR="91440" marT="45720" marB="45720" anchor="ctr">
                    <a:solidFill>
                      <a:srgbClr val="EDF4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12E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2018-06-30T22:00</a:t>
                      </a:r>
                    </a:p>
                  </a:txBody>
                  <a:tcPr marL="91440" marR="91440" marT="45720" marB="45720" anchor="ctr">
                    <a:solidFill>
                      <a:srgbClr val="EDF4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12E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</a:t>
                      </a:r>
                    </a:p>
                  </a:txBody>
                  <a:tcPr marL="91440" marR="91440" marT="45720" marB="45720" anchor="ctr">
                    <a:solidFill>
                      <a:srgbClr val="EDF4F0"/>
                    </a:solidFill>
                  </a:tcPr>
                </a:tc>
              </a:tr>
              <a:tr h="4953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12E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2018-07-01T02:00</a:t>
                      </a:r>
                    </a:p>
                  </a:txBody>
                  <a:tcPr marL="91440" marR="91440" marT="45720" marB="45720" anchor="ctr">
                    <a:solidFill>
                      <a:srgbClr val="FFFE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12E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2018-06-30T23:00</a:t>
                      </a:r>
                    </a:p>
                  </a:txBody>
                  <a:tcPr marL="91440" marR="91440" marT="45720" marB="45720" anchor="ctr">
                    <a:solidFill>
                      <a:srgbClr val="FFFE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12E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</a:t>
                      </a:r>
                    </a:p>
                  </a:txBody>
                  <a:tcPr marL="91440" marR="91440" marT="45720" marB="45720" anchor="ctr">
                    <a:solidFill>
                      <a:srgbClr val="FFFEFA"/>
                    </a:solidFill>
                  </a:tcPr>
                </a:tc>
              </a:tr>
              <a:tr h="4953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12E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2018-07-01T03:00</a:t>
                      </a:r>
                    </a:p>
                  </a:txBody>
                  <a:tcPr marL="91440" marR="91440" marT="45720" marB="45720" anchor="ctr">
                    <a:solidFill>
                      <a:srgbClr val="EDF4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12E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2018-07-01T00:00</a:t>
                      </a:r>
                    </a:p>
                  </a:txBody>
                  <a:tcPr marL="91440" marR="91440" marT="45720" marB="45720" anchor="ctr">
                    <a:solidFill>
                      <a:srgbClr val="EDF4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12E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</a:t>
                      </a:r>
                    </a:p>
                  </a:txBody>
                  <a:tcPr marL="91440" marR="91440" marT="45720" marB="45720" anchor="ctr">
                    <a:solidFill>
                      <a:srgbClr val="EDF4F0"/>
                    </a:solidFill>
                  </a:tcPr>
                </a:tc>
              </a:tr>
              <a:tr h="4953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12E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2018-07-01T04:00</a:t>
                      </a:r>
                    </a:p>
                  </a:txBody>
                  <a:tcPr marL="91440" marR="91440" marT="45720" marB="45720" anchor="ctr">
                    <a:solidFill>
                      <a:srgbClr val="FFFE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12E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2018-07-01T01:00</a:t>
                      </a:r>
                    </a:p>
                  </a:txBody>
                  <a:tcPr marL="91440" marR="91440" marT="45720" marB="45720" anchor="ctr">
                    <a:solidFill>
                      <a:srgbClr val="FFFE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12E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</a:t>
                      </a:r>
                    </a:p>
                  </a:txBody>
                  <a:tcPr marL="91440" marR="91440" marT="45720" marB="45720" anchor="ctr">
                    <a:solidFill>
                      <a:srgbClr val="FFFEFA"/>
                    </a:solidFill>
                  </a:tcPr>
                </a:tc>
              </a:tr>
            </a:tbl>
          </a:graphicData>
        </a:graphic>
      </p:graphicFrame>
      <p:sp>
        <p:nvSpPr>
          <p:cNvPr id="7" name="本页展示前5条共同预测目标，网页提供前8条及完整评价">
            <a:extLst xmlns:a="http://schemas.openxmlformats.org/drawingml/2006/main">
              <a:ext uri="{FF2B5EF4-FFF2-40B4-BE49-F238E27FC236}">
                <a16:creationId xmlns:a16="http://schemas.microsoft.com/office/drawing/2014/main" id="{9BF33D43-D4B1-47E6-8672-F253192A9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86400"/>
            <a:ext cx="10820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rPr>
              <a:t>本页展示前5条共同预测目标，网页提供前8条及完整评价结果。</a:t>
            </a:r>
          </a:p>
        </p:txBody>
      </p:sp>
      <p:sp>
        <p:nvSpPr>
          <p:cNvPr id="8" name="link">
            <a:extLst xmlns:a="http://schemas.openxmlformats.org/drawingml/2006/main">
              <a:ext uri="{FF2B5EF4-FFF2-40B4-BE49-F238E27FC236}">
                <a16:creationId xmlns:a16="http://schemas.microsoft.com/office/drawing/2014/main" id="{7B7F814B-754F-4E70-B10E-CDAAEBE3F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198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 u="sng">
                <a:solidFill>
                  <a:srgbClr val="112E36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4d60fe899c8141b0"/>
              </a:rPr>
              <a:t>修改参数并查看完整结果表</a:t>
            </a:r>
          </a:p>
        </p:txBody>
      </p:sp>
    </p:spTree>
    <p:extLst>
      <p:ext uri="{BB962C8B-B14F-4D97-AF65-F5344CB8AC3E}">
        <p14:creationId xmlns:p14="http://schemas.microsoft.com/office/powerpoint/2010/main" val="1366292075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E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周期基线与模型成绩">
            <a:extLst xmlns:a="http://schemas.openxmlformats.org/drawingml/2006/main">
              <a:ext uri="{FF2B5EF4-FFF2-40B4-BE49-F238E27FC236}">
                <a16:creationId xmlns:a16="http://schemas.microsoft.com/office/drawing/2014/main" id="{95C806CB-8975-41B9-AF29-4401F89B5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周期基线与模型成绩</a:t>
            </a:r>
          </a:p>
        </p:txBody>
      </p:sp>
      <p:sp>
        <p:nvSpPr>
          <p:cNvPr id="2" name="第6章 交通时序数据分析   6.5 / 6.8">
            <a:extLst xmlns:a="http://schemas.openxmlformats.org/drawingml/2006/main">
              <a:ext uri="{FF2B5EF4-FFF2-40B4-BE49-F238E27FC236}">
                <a16:creationId xmlns:a16="http://schemas.microsoft.com/office/drawing/2014/main" id="{088C76B6-A538-464C-B275-27D74AFA6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rPr>
              <a:t>第6章 交通时序数据分析   6.5 / 6.8</a:t>
            </a:r>
          </a:p>
        </p:txBody>
      </p:sp>
      <p:sp>
        <p:nvSpPr>
          <p:cNvPr id="3" name="15">
            <a:extLst xmlns:a="http://schemas.openxmlformats.org/drawingml/2006/main">
              <a:ext uri="{FF2B5EF4-FFF2-40B4-BE49-F238E27FC236}">
                <a16:creationId xmlns:a16="http://schemas.microsoft.com/office/drawing/2014/main" id="{D03CA640-5B6B-4E77-A8B0-2CE0FF020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429375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  <p:sp>
        <p:nvSpPr>
          <p:cNvPr id="4" name="复杂模型是否有用，需要同口径比较。">
            <a:extLst xmlns:a="http://schemas.openxmlformats.org/drawingml/2006/main">
              <a:ext uri="{FF2B5EF4-FFF2-40B4-BE49-F238E27FC236}">
                <a16:creationId xmlns:a16="http://schemas.microsoft.com/office/drawing/2014/main" id="{D4D18007-7768-486E-A274-879B266BA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08204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rPr>
              <a:t>复杂模型是否有用，需要同口径比较。</a:t>
            </a:r>
          </a:p>
        </p:txBody>
      </p:sp>
      <p:sp>
        <p:nvSpPr>
          <p:cNvPr id="5" name="训练期星期小时均值、上周同期、ARIMA与SARIM">
            <a:extLst xmlns:a="http://schemas.openxmlformats.org/drawingml/2006/main">
              <a:ext uri="{FF2B5EF4-FFF2-40B4-BE49-F238E27FC236}">
                <a16:creationId xmlns:a16="http://schemas.microsoft.com/office/drawing/2014/main" id="{1C50199F-3E37-4829-BBDC-45484A673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90800"/>
            <a:ext cx="108204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训练期星期小时均值、上周同期、ARIMA与SARIMA使用相同目标。</a:t>
            </a:r>
          </a:p>
        </p:txBody>
      </p:sp>
      <p:sp>
        <p:nvSpPr>
          <p:cNvPr id="6" name="本页基于冻结预测实际重算误差，切换提前量或重点时段不">
            <a:extLst xmlns:a="http://schemas.openxmlformats.org/drawingml/2006/main">
              <a:ext uri="{FF2B5EF4-FFF2-40B4-BE49-F238E27FC236}">
                <a16:creationId xmlns:a16="http://schemas.microsoft.com/office/drawing/2014/main" id="{535A795A-D56C-48A5-AD3F-534B27F34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90950"/>
            <a:ext cx="108204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本页基于冻结预测实际重算误差，切换提前量或重点时段不会重新拟合模型。</a:t>
            </a:r>
          </a:p>
        </p:txBody>
      </p:sp>
      <p:sp>
        <p:nvSpPr>
          <p:cNvPr id="7" name="课堂讨论：同一模型MAE较低而RMSE较高，意味着哪">
            <a:extLst xmlns:a="http://schemas.openxmlformats.org/drawingml/2006/main">
              <a:ext uri="{FF2B5EF4-FFF2-40B4-BE49-F238E27FC236}">
                <a16:creationId xmlns:a16="http://schemas.microsoft.com/office/drawing/2014/main" id="{116A97D2-4BA2-4D70-AF31-92E13E0C6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08204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rPr>
              <a:t>课堂讨论：同一模型MAE较低而RMSE较高，意味着哪类错误仍需关注？</a:t>
            </a:r>
          </a:p>
        </p:txBody>
      </p:sp>
      <p:sp>
        <p:nvSpPr>
          <p:cNvPr id="8" name="link">
            <a:extLst xmlns:a="http://schemas.openxmlformats.org/drawingml/2006/main">
              <a:ext uri="{FF2B5EF4-FFF2-40B4-BE49-F238E27FC236}">
                <a16:creationId xmlns:a16="http://schemas.microsoft.com/office/drawing/2014/main" id="{1B62FDC0-FE3D-455D-B526-C0504B22F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 u="sng">
                <a:solidFill>
                  <a:srgbClr val="112E36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ac8c514579f742a0"/>
              </a:rPr>
              <a:t>打开交互实验，观察参数变化</a:t>
            </a:r>
          </a:p>
        </p:txBody>
      </p:sp>
    </p:spTree>
    <p:extLst>
      <p:ext uri="{BB962C8B-B14F-4D97-AF65-F5344CB8AC3E}">
        <p14:creationId xmlns:p14="http://schemas.microsoft.com/office/powerpoint/2010/main" val="277333378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E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周期基线与模型成绩：计算结果">
            <a:extLst xmlns:a="http://schemas.openxmlformats.org/drawingml/2006/main">
              <a:ext uri="{FF2B5EF4-FFF2-40B4-BE49-F238E27FC236}">
                <a16:creationId xmlns:a16="http://schemas.microsoft.com/office/drawing/2014/main" id="{65D33B3B-E941-45E8-95D9-E9C2678A8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周期基线与模型成绩：计算结果</a:t>
            </a:r>
          </a:p>
        </p:txBody>
      </p:sp>
      <p:sp>
        <p:nvSpPr>
          <p:cNvPr id="2" name="第6章 交通时序数据分析   6.5 / 6.8">
            <a:extLst xmlns:a="http://schemas.openxmlformats.org/drawingml/2006/main">
              <a:ext uri="{FF2B5EF4-FFF2-40B4-BE49-F238E27FC236}">
                <a16:creationId xmlns:a16="http://schemas.microsoft.com/office/drawing/2014/main" id="{309FF251-6477-4EDB-9D11-C0B68E3F3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rPr>
              <a:t>第6章 交通时序数据分析   6.5 / 6.8</a:t>
            </a:r>
          </a:p>
        </p:txBody>
      </p:sp>
      <p:sp>
        <p:nvSpPr>
          <p:cNvPr id="3" name="16">
            <a:extLst xmlns:a="http://schemas.openxmlformats.org/drawingml/2006/main">
              <a:ext uri="{FF2B5EF4-FFF2-40B4-BE49-F238E27FC236}">
                <a16:creationId xmlns:a16="http://schemas.microsoft.com/office/drawing/2014/main" id="{EA0BCF5A-CFC4-46CC-8D68-E7A3EFEA8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429375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  <p:sp>
        <p:nvSpPr>
          <p:cNvPr id="4" name="根据冻结预测重新计算；不在浏览器拟合模型">
            <a:extLst xmlns:a="http://schemas.openxmlformats.org/drawingml/2006/main">
              <a:ext uri="{FF2B5EF4-FFF2-40B4-BE49-F238E27FC236}">
                <a16:creationId xmlns:a16="http://schemas.microsoft.com/office/drawing/2014/main" id="{F2D6A74B-455D-466C-B146-5653BFDF4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10820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rPr>
              <a:t>根据冻结预测重新计算；不在浏览器拟合模型</a:t>
            </a:r>
          </a:p>
        </p:txBody>
      </p:sp>
      <p:sp>
        <p:nvSpPr>
          <p:cNvPr id="5" name="默认配置：提前小时：1，评价时段：全天">
            <a:extLst xmlns:a="http://schemas.openxmlformats.org/drawingml/2006/main">
              <a:ext uri="{FF2B5EF4-FFF2-40B4-BE49-F238E27FC236}">
                <a16:creationId xmlns:a16="http://schemas.microsoft.com/office/drawing/2014/main" id="{1977012E-EB05-4CF6-9ECA-CD7FAFEC0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108204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rPr>
              <a:t>默认配置：提前小时：1，评价时段：全天</a:t>
            </a:r>
          </a:p>
        </p:txBody>
      </p:sp>
      <p:sp>
        <p:nvSpPr>
          <p:cNvPr id="6" name="误差（辆/小时）">
            <a:extLst xmlns:a="http://schemas.openxmlformats.org/drawingml/2006/main">
              <a:ext uri="{FF2B5EF4-FFF2-40B4-BE49-F238E27FC236}">
                <a16:creationId xmlns:a16="http://schemas.microsoft.com/office/drawing/2014/main" id="{29256B7A-D0FE-4CD9-B7C6-D70C58BDE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rPr>
              <a:t>误差（辆/小时）</a:t>
            </a:r>
          </a:p>
        </p:txBody>
      </p:sp>
      <p:graphicFrame>
        <p:nvGraphicFramePr>
          <p:cNvPr id="16" name="Chart"/>
          <p:cNvGraphicFramePr/>
          <p:nvPr/>
        </p:nvGraphicFramePr>
        <p:xfrm>
          <a:off xmlns:a="http://schemas.openxmlformats.org/drawingml/2006/main" x="685800" y="2390775"/>
          <a:ext xmlns:a="http://schemas.openxmlformats.org/drawingml/2006/main" cx="10820400" cy="29432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bb30f4aaa0240a6"/>
          </a:graphicData>
        </a:graphic>
      </p:graphicFrame>
      <p:sp>
        <p:nvSpPr>
          <p:cNvPr id="8" name="全年训练2017年；验证2018年上半年；测试7—9">
            <a:extLst xmlns:a="http://schemas.openxmlformats.org/drawingml/2006/main">
              <a:ext uri="{FF2B5EF4-FFF2-40B4-BE49-F238E27FC236}">
                <a16:creationId xmlns:a16="http://schemas.microsoft.com/office/drawing/2014/main" id="{3EB74DD2-5D3D-4EDA-B60C-8F1274772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48300"/>
            <a:ext cx="108204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rPr>
              <a:t>全年训练2017年；验证2018年上半年；测试7—9月。</a:t>
            </a:r>
          </a:p>
        </p:txBody>
      </p:sp>
      <p:sp>
        <p:nvSpPr>
          <p:cNvPr id="9" name="link">
            <a:extLst xmlns:a="http://schemas.openxmlformats.org/drawingml/2006/main">
              <a:ext uri="{FF2B5EF4-FFF2-40B4-BE49-F238E27FC236}">
                <a16:creationId xmlns:a16="http://schemas.microsoft.com/office/drawing/2014/main" id="{86325495-B2D3-4509-B878-D8B25DEA9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198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 u="sng">
                <a:solidFill>
                  <a:srgbClr val="112E36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9c9cfcc7ef1149dd"/>
              </a:rPr>
              <a:t>修改参数并查看完整结果表</a:t>
            </a:r>
          </a:p>
        </p:txBody>
      </p:sp>
    </p:spTree>
    <p:extLst>
      <p:ext uri="{BB962C8B-B14F-4D97-AF65-F5344CB8AC3E}">
        <p14:creationId xmlns:p14="http://schemas.microsoft.com/office/powerpoint/2010/main" val="1935026020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E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提前量与误差增长">
            <a:extLst xmlns:a="http://schemas.openxmlformats.org/drawingml/2006/main">
              <a:ext uri="{FF2B5EF4-FFF2-40B4-BE49-F238E27FC236}">
                <a16:creationId xmlns:a16="http://schemas.microsoft.com/office/drawing/2014/main" id="{F61C920C-7DE6-4119-8808-7B8B1800F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提前量与误差增长</a:t>
            </a:r>
          </a:p>
        </p:txBody>
      </p:sp>
      <p:sp>
        <p:nvSpPr>
          <p:cNvPr id="2" name="第6章 交通时序数据分析   6.8">
            <a:extLst xmlns:a="http://schemas.openxmlformats.org/drawingml/2006/main">
              <a:ext uri="{FF2B5EF4-FFF2-40B4-BE49-F238E27FC236}">
                <a16:creationId xmlns:a16="http://schemas.microsoft.com/office/drawing/2014/main" id="{0EE5EF1F-E91D-4C8B-A123-7151E19E7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rPr>
              <a:t>第6章 交通时序数据分析   6.8</a:t>
            </a:r>
          </a:p>
        </p:txBody>
      </p:sp>
      <p:sp>
        <p:nvSpPr>
          <p:cNvPr id="3" name="17">
            <a:extLst xmlns:a="http://schemas.openxmlformats.org/drawingml/2006/main">
              <a:ext uri="{FF2B5EF4-FFF2-40B4-BE49-F238E27FC236}">
                <a16:creationId xmlns:a16="http://schemas.microsoft.com/office/drawing/2014/main" id="{0CBDF63E-80CD-4A0B-BBD4-0D6AA8820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429375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rPr>
              <a:t>17</a:t>
            </a:r>
          </a:p>
        </p:txBody>
      </p:sp>
      <p:sp>
        <p:nvSpPr>
          <p:cNvPr id="4" name="多步预测的信息减少与误差累积应分别考虑。">
            <a:extLst xmlns:a="http://schemas.openxmlformats.org/drawingml/2006/main">
              <a:ext uri="{FF2B5EF4-FFF2-40B4-BE49-F238E27FC236}">
                <a16:creationId xmlns:a16="http://schemas.microsoft.com/office/drawing/2014/main" id="{5E9CF47C-0ED3-4D3D-8D2A-4A92459D1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08204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rPr>
              <a:t>多步预测的信息减少与误差累积应分别考虑。</a:t>
            </a:r>
          </a:p>
        </p:txBody>
      </p:sp>
      <p:sp>
        <p:nvSpPr>
          <p:cNvPr id="5" name="比较同一模型在1、3、6小时的误差，并始终使用共同目">
            <a:extLst xmlns:a="http://schemas.openxmlformats.org/drawingml/2006/main">
              <a:ext uri="{FF2B5EF4-FFF2-40B4-BE49-F238E27FC236}">
                <a16:creationId xmlns:a16="http://schemas.microsoft.com/office/drawing/2014/main" id="{73B23F98-F39B-4129-8472-1FA672865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90800"/>
            <a:ext cx="108204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比较同一模型在1、3、6小时的误差，并始终使用共同目标与相同分组。</a:t>
            </a:r>
          </a:p>
        </p:txBody>
      </p:sp>
      <p:sp>
        <p:nvSpPr>
          <p:cNvPr id="6" name="上周同期对这些提前量可能给出相同预测，因为参照观测在">
            <a:extLst xmlns:a="http://schemas.openxmlformats.org/drawingml/2006/main">
              <a:ext uri="{FF2B5EF4-FFF2-40B4-BE49-F238E27FC236}">
                <a16:creationId xmlns:a16="http://schemas.microsoft.com/office/drawing/2014/main" id="{5F772E18-47DD-4899-A422-EF9F88703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90950"/>
            <a:ext cx="108204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上周同期对这些提前量可能给出相同预测，因为参照观测在三个起点都已可用。</a:t>
            </a:r>
          </a:p>
        </p:txBody>
      </p:sp>
      <p:sp>
        <p:nvSpPr>
          <p:cNvPr id="7" name="课堂讨论：为什么提前量变长时，基线误差可能完全不变？">
            <a:extLst xmlns:a="http://schemas.openxmlformats.org/drawingml/2006/main">
              <a:ext uri="{FF2B5EF4-FFF2-40B4-BE49-F238E27FC236}">
                <a16:creationId xmlns:a16="http://schemas.microsoft.com/office/drawing/2014/main" id="{4271C603-6C60-479D-8C9A-494EBEDD3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08204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rPr>
              <a:t>课堂讨论：为什么提前量变长时，基线误差可能完全不变？</a:t>
            </a:r>
          </a:p>
        </p:txBody>
      </p:sp>
      <p:sp>
        <p:nvSpPr>
          <p:cNvPr id="8" name="link">
            <a:extLst xmlns:a="http://schemas.openxmlformats.org/drawingml/2006/main">
              <a:ext uri="{FF2B5EF4-FFF2-40B4-BE49-F238E27FC236}">
                <a16:creationId xmlns:a16="http://schemas.microsoft.com/office/drawing/2014/main" id="{64788BAF-FA55-4B9A-BD70-470FCC60A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 u="sng">
                <a:solidFill>
                  <a:srgbClr val="112E36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80c391ea82db4d89"/>
              </a:rPr>
              <a:t>打开交互实验，观察参数变化</a:t>
            </a:r>
          </a:p>
        </p:txBody>
      </p:sp>
    </p:spTree>
    <p:extLst>
      <p:ext uri="{BB962C8B-B14F-4D97-AF65-F5344CB8AC3E}">
        <p14:creationId xmlns:p14="http://schemas.microsoft.com/office/powerpoint/2010/main" val="1145388622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E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提前量与误差增长：计算结果">
            <a:extLst xmlns:a="http://schemas.openxmlformats.org/drawingml/2006/main">
              <a:ext uri="{FF2B5EF4-FFF2-40B4-BE49-F238E27FC236}">
                <a16:creationId xmlns:a16="http://schemas.microsoft.com/office/drawing/2014/main" id="{1142EC47-DB77-414D-93BA-A6A0F408F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提前量与误差增长：计算结果</a:t>
            </a:r>
          </a:p>
        </p:txBody>
      </p:sp>
      <p:sp>
        <p:nvSpPr>
          <p:cNvPr id="2" name="第6章 交通时序数据分析   6.8">
            <a:extLst xmlns:a="http://schemas.openxmlformats.org/drawingml/2006/main">
              <a:ext uri="{FF2B5EF4-FFF2-40B4-BE49-F238E27FC236}">
                <a16:creationId xmlns:a16="http://schemas.microsoft.com/office/drawing/2014/main" id="{163CF127-2028-4731-8063-1025C2195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rPr>
              <a:t>第6章 交通时序数据分析   6.8</a:t>
            </a:r>
          </a:p>
        </p:txBody>
      </p:sp>
      <p:sp>
        <p:nvSpPr>
          <p:cNvPr id="3" name="18">
            <a:extLst xmlns:a="http://schemas.openxmlformats.org/drawingml/2006/main">
              <a:ext uri="{FF2B5EF4-FFF2-40B4-BE49-F238E27FC236}">
                <a16:creationId xmlns:a16="http://schemas.microsoft.com/office/drawing/2014/main" id="{C21B7BFA-0FB1-41E9-A2F1-4CE7797EF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429375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rPr>
              <a:t>18</a:t>
            </a:r>
          </a:p>
        </p:txBody>
      </p:sp>
      <p:sp>
        <p:nvSpPr>
          <p:cNvPr id="4" name="根据冻结预测重新计算；不在浏览器拟合模型">
            <a:extLst xmlns:a="http://schemas.openxmlformats.org/drawingml/2006/main">
              <a:ext uri="{FF2B5EF4-FFF2-40B4-BE49-F238E27FC236}">
                <a16:creationId xmlns:a16="http://schemas.microsoft.com/office/drawing/2014/main" id="{4DDEE802-F808-4C9A-B530-F5F90907F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10820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rPr>
              <a:t>根据冻结预测重新计算；不在浏览器拟合模型</a:t>
            </a:r>
          </a:p>
        </p:txBody>
      </p:sp>
      <p:sp>
        <p:nvSpPr>
          <p:cNvPr id="5" name="默认配置：预测方法：SARIMA，评价时段：全天">
            <a:extLst xmlns:a="http://schemas.openxmlformats.org/drawingml/2006/main">
              <a:ext uri="{FF2B5EF4-FFF2-40B4-BE49-F238E27FC236}">
                <a16:creationId xmlns:a16="http://schemas.microsoft.com/office/drawing/2014/main" id="{5C7A7256-CA92-43DD-AAAB-3CC2533C9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108204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rPr>
              <a:t>默认配置：预测方法：SARIMA，评价时段：全天</a:t>
            </a:r>
          </a:p>
        </p:txBody>
      </p:sp>
      <p:sp>
        <p:nvSpPr>
          <p:cNvPr id="6" name="误差（辆/小时）">
            <a:extLst xmlns:a="http://schemas.openxmlformats.org/drawingml/2006/main">
              <a:ext uri="{FF2B5EF4-FFF2-40B4-BE49-F238E27FC236}">
                <a16:creationId xmlns:a16="http://schemas.microsoft.com/office/drawing/2014/main" id="{F224DB5D-FEBB-40EC-B81F-86D46BF68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rPr>
              <a:t>误差（辆/小时）</a:t>
            </a:r>
          </a:p>
        </p:txBody>
      </p:sp>
      <p:graphicFrame>
        <p:nvGraphicFramePr>
          <p:cNvPr id="16" name="Chart"/>
          <p:cNvGraphicFramePr/>
          <p:nvPr/>
        </p:nvGraphicFramePr>
        <p:xfrm>
          <a:off xmlns:a="http://schemas.openxmlformats.org/drawingml/2006/main" x="685800" y="2390775"/>
          <a:ext xmlns:a="http://schemas.openxmlformats.org/drawingml/2006/main" cx="10820400" cy="29432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254b5cc4fc54a7d"/>
          </a:graphicData>
        </a:graphic>
      </p:graphicFrame>
      <p:sp>
        <p:nvSpPr>
          <p:cNvPr id="8" name="全年训练2017年；验证2018年上半年；测试7—9">
            <a:extLst xmlns:a="http://schemas.openxmlformats.org/drawingml/2006/main">
              <a:ext uri="{FF2B5EF4-FFF2-40B4-BE49-F238E27FC236}">
                <a16:creationId xmlns:a16="http://schemas.microsoft.com/office/drawing/2014/main" id="{914956C6-278D-40F4-8286-A8E31E86D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48300"/>
            <a:ext cx="108204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rPr>
              <a:t>全年训练2017年；验证2018年上半年；测试7—9月。</a:t>
            </a:r>
          </a:p>
        </p:txBody>
      </p:sp>
      <p:sp>
        <p:nvSpPr>
          <p:cNvPr id="9" name="link">
            <a:extLst xmlns:a="http://schemas.openxmlformats.org/drawingml/2006/main">
              <a:ext uri="{FF2B5EF4-FFF2-40B4-BE49-F238E27FC236}">
                <a16:creationId xmlns:a16="http://schemas.microsoft.com/office/drawing/2014/main" id="{0DBA8F27-B8AE-4460-84C6-F3A31955A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198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 u="sng">
                <a:solidFill>
                  <a:srgbClr val="112E36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99e1c65ee8fe4de7"/>
              </a:rPr>
              <a:t>修改参数并查看完整结果表</a:t>
            </a:r>
          </a:p>
        </p:txBody>
      </p:sp>
    </p:spTree>
    <p:extLst>
      <p:ext uri="{BB962C8B-B14F-4D97-AF65-F5344CB8AC3E}">
        <p14:creationId xmlns:p14="http://schemas.microsoft.com/office/powerpoint/2010/main" val="1101385964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E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LSTM与交通数据窗口">
            <a:extLst xmlns:a="http://schemas.openxmlformats.org/drawingml/2006/main">
              <a:ext uri="{FF2B5EF4-FFF2-40B4-BE49-F238E27FC236}">
                <a16:creationId xmlns:a16="http://schemas.microsoft.com/office/drawing/2014/main" id="{7866E4C8-F633-4415-8509-1FDA83CCC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LSTM与交通数据窗口</a:t>
            </a:r>
          </a:p>
        </p:txBody>
      </p:sp>
      <p:sp>
        <p:nvSpPr>
          <p:cNvPr id="2" name="第6章 交通时序数据分析   6.6">
            <a:extLst xmlns:a="http://schemas.openxmlformats.org/drawingml/2006/main">
              <a:ext uri="{FF2B5EF4-FFF2-40B4-BE49-F238E27FC236}">
                <a16:creationId xmlns:a16="http://schemas.microsoft.com/office/drawing/2014/main" id="{2E491C40-94E1-4FF5-834F-C107EE4AF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rPr>
              <a:t>第6章 交通时序数据分析   6.6</a:t>
            </a:r>
          </a:p>
        </p:txBody>
      </p:sp>
      <p:sp>
        <p:nvSpPr>
          <p:cNvPr id="3" name="19">
            <a:extLst xmlns:a="http://schemas.openxmlformats.org/drawingml/2006/main">
              <a:ext uri="{FF2B5EF4-FFF2-40B4-BE49-F238E27FC236}">
                <a16:creationId xmlns:a16="http://schemas.microsoft.com/office/drawing/2014/main" id="{C79FF54A-B2F4-4F1E-B507-BB0A12861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429375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rPr>
              <a:t>19</a:t>
            </a:r>
          </a:p>
        </p:txBody>
      </p:sp>
      <p:sp>
        <p:nvSpPr>
          <p:cNvPr id="4" name="序列网络仍然需要明确输入和标签。">
            <a:extLst xmlns:a="http://schemas.openxmlformats.org/drawingml/2006/main">
              <a:ext uri="{FF2B5EF4-FFF2-40B4-BE49-F238E27FC236}">
                <a16:creationId xmlns:a16="http://schemas.microsoft.com/office/drawing/2014/main" id="{2A03A228-3DA8-41FD-9B35-C8DEDCEFC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08204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rPr>
              <a:t>序列网络仍然需要明确输入和标签。</a:t>
            </a:r>
          </a:p>
        </p:txBody>
      </p:sp>
      <p:sp>
        <p:nvSpPr>
          <p:cNvPr id="5" name="长度L的历史窗口对应给定提前量h的标签，窗口构建必须">
            <a:extLst xmlns:a="http://schemas.openxmlformats.org/drawingml/2006/main">
              <a:ext uri="{FF2B5EF4-FFF2-40B4-BE49-F238E27FC236}">
                <a16:creationId xmlns:a16="http://schemas.microsoft.com/office/drawing/2014/main" id="{D5CEA532-D085-4E77-8830-FD893FCCD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90800"/>
            <a:ext cx="108204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长度L的历史窗口对应给定提前量h的标签，窗口构建必须排除目标之后的观测。</a:t>
            </a:r>
          </a:p>
        </p:txBody>
      </p:sp>
      <p:sp>
        <p:nvSpPr>
          <p:cNvPr id="6" name="LSTM门控机制处理历史信息保留，但不能自动解决缺测">
            <a:extLst xmlns:a="http://schemas.openxmlformats.org/drawingml/2006/main">
              <a:ext uri="{FF2B5EF4-FFF2-40B4-BE49-F238E27FC236}">
                <a16:creationId xmlns:a16="http://schemas.microsoft.com/office/drawing/2014/main" id="{522AC0DC-E969-471E-B705-B1EF92FCA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90950"/>
            <a:ext cx="108204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LSTM门控机制处理历史信息保留，但不能自动解决缺测、泄漏或小样本问题。此</a:t>
            </a:r>
          </a:p>
          <a:p xmlns:a="http://schemas.openxmlformats.org/drawingml/2006/main">
            <a:pPr algn="l">
              <a:defRPr sz="217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课未声称完成LSTM训练。</a:t>
            </a:r>
          </a:p>
        </p:txBody>
      </p:sp>
      <p:sp>
        <p:nvSpPr>
          <p:cNvPr id="7" name="课堂讨论：换成深度模型后，哪些时间切分和基线规则仍然">
            <a:extLst xmlns:a="http://schemas.openxmlformats.org/drawingml/2006/main">
              <a:ext uri="{FF2B5EF4-FFF2-40B4-BE49-F238E27FC236}">
                <a16:creationId xmlns:a16="http://schemas.microsoft.com/office/drawing/2014/main" id="{726872A3-1428-4B5A-8313-0B00FA8D5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08204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rPr>
              <a:t>课堂讨论：换成深度模型后，哪些时间切分和基线规则仍然不能改变？</a:t>
            </a:r>
          </a:p>
        </p:txBody>
      </p:sp>
      <p:sp>
        <p:nvSpPr>
          <p:cNvPr id="8" name="link">
            <a:extLst xmlns:a="http://schemas.openxmlformats.org/drawingml/2006/main">
              <a:ext uri="{FF2B5EF4-FFF2-40B4-BE49-F238E27FC236}">
                <a16:creationId xmlns:a16="http://schemas.microsoft.com/office/drawing/2014/main" id="{642C254C-7026-43B7-8980-30A008506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 u="sng">
                <a:solidFill>
                  <a:srgbClr val="112E36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ddab1e9f14fb4a30"/>
              </a:rPr>
              <a:t>打开课堂讲解与配套案例</a:t>
            </a:r>
          </a:p>
        </p:txBody>
      </p:sp>
    </p:spTree>
    <p:extLst>
      <p:ext uri="{BB962C8B-B14F-4D97-AF65-F5344CB8AC3E}">
        <p14:creationId xmlns:p14="http://schemas.microsoft.com/office/powerpoint/2010/main" val="1624529353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E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交通日变化曲线的相似性">
            <a:extLst xmlns:a="http://schemas.openxmlformats.org/drawingml/2006/main">
              <a:ext uri="{FF2B5EF4-FFF2-40B4-BE49-F238E27FC236}">
                <a16:creationId xmlns:a16="http://schemas.microsoft.com/office/drawing/2014/main" id="{D360D731-D359-4548-8151-AE8FD9821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交通日变化曲线的相似性</a:t>
            </a:r>
          </a:p>
        </p:txBody>
      </p:sp>
      <p:sp>
        <p:nvSpPr>
          <p:cNvPr id="2" name="第6章 交通时序数据分析   6.7">
            <a:extLst xmlns:a="http://schemas.openxmlformats.org/drawingml/2006/main">
              <a:ext uri="{FF2B5EF4-FFF2-40B4-BE49-F238E27FC236}">
                <a16:creationId xmlns:a16="http://schemas.microsoft.com/office/drawing/2014/main" id="{6A892C79-DFFA-4397-A333-4EFD81ACF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rPr>
              <a:t>第6章 交通时序数据分析   6.7</a:t>
            </a:r>
          </a:p>
        </p:txBody>
      </p:sp>
      <p:sp>
        <p:nvSpPr>
          <p:cNvPr id="3" name="20">
            <a:extLst xmlns:a="http://schemas.openxmlformats.org/drawingml/2006/main">
              <a:ext uri="{FF2B5EF4-FFF2-40B4-BE49-F238E27FC236}">
                <a16:creationId xmlns:a16="http://schemas.microsoft.com/office/drawing/2014/main" id="{7E96CC7C-3596-4968-A181-A864EF5EF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429375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rPr>
              <a:t>20</a:t>
            </a:r>
          </a:p>
        </p:txBody>
      </p:sp>
      <p:sp>
        <p:nvSpPr>
          <p:cNvPr id="4" name="DTW允许局部时间伸缩后比较形态。">
            <a:extLst xmlns:a="http://schemas.openxmlformats.org/drawingml/2006/main">
              <a:ext uri="{FF2B5EF4-FFF2-40B4-BE49-F238E27FC236}">
                <a16:creationId xmlns:a16="http://schemas.microsoft.com/office/drawing/2014/main" id="{4D290885-8F0F-44F7-8BD5-16910BBBF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08204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rPr>
              <a:t>DTW允许局部时间伸缩后比较形态。</a:t>
            </a:r>
          </a:p>
        </p:txBody>
      </p:sp>
      <p:sp>
        <p:nvSpPr>
          <p:cNvPr id="5" name="对2017年两个完整日期的24小时交通量计算DTW，">
            <a:extLst xmlns:a="http://schemas.openxmlformats.org/drawingml/2006/main">
              <a:ext uri="{FF2B5EF4-FFF2-40B4-BE49-F238E27FC236}">
                <a16:creationId xmlns:a16="http://schemas.microsoft.com/office/drawing/2014/main" id="{90EE1301-D5F9-4B2A-81E4-23511250B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90800"/>
            <a:ext cx="108204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对2017年两个完整日期的24小时交通量计算DTW，观察允许错位的范围如何影响距</a:t>
            </a:r>
          </a:p>
          <a:p xmlns:a="http://schemas.openxmlformats.org/drawingml/2006/main">
            <a:pPr algn="l">
              <a:defRPr sz="217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离。</a:t>
            </a:r>
          </a:p>
        </p:txBody>
      </p:sp>
      <p:sp>
        <p:nvSpPr>
          <p:cNvPr id="6" name="原始尺度比较兼有交通量规模差异，标准化后侧重形态。过">
            <a:extLst xmlns:a="http://schemas.openxmlformats.org/drawingml/2006/main">
              <a:ext uri="{FF2B5EF4-FFF2-40B4-BE49-F238E27FC236}">
                <a16:creationId xmlns:a16="http://schemas.microsoft.com/office/drawing/2014/main" id="{18B2E64B-49EA-44EB-ADA6-0C95C7F32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90950"/>
            <a:ext cx="108204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原始尺度比较兼有交通量规模差异，标准化后侧重形态。过宽错位会掩盖高峰时间</a:t>
            </a:r>
          </a:p>
          <a:p xmlns:a="http://schemas.openxmlformats.org/drawingml/2006/main">
            <a:pPr algn="l">
              <a:defRPr sz="217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变化。</a:t>
            </a:r>
          </a:p>
        </p:txBody>
      </p:sp>
      <p:sp>
        <p:nvSpPr>
          <p:cNvPr id="7" name="课堂讨论：若管理部门关心准确的高峰到达时刻，是否应允">
            <a:extLst xmlns:a="http://schemas.openxmlformats.org/drawingml/2006/main">
              <a:ext uri="{FF2B5EF4-FFF2-40B4-BE49-F238E27FC236}">
                <a16:creationId xmlns:a16="http://schemas.microsoft.com/office/drawing/2014/main" id="{A0251644-04C2-43CF-B0FA-5981B35E1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08204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rPr>
              <a:t>课堂讨论：若管理部门关心准确的高峰到达时刻，是否应允许无限时间伸缩？</a:t>
            </a:r>
          </a:p>
        </p:txBody>
      </p:sp>
      <p:sp>
        <p:nvSpPr>
          <p:cNvPr id="8" name="link">
            <a:extLst xmlns:a="http://schemas.openxmlformats.org/drawingml/2006/main">
              <a:ext uri="{FF2B5EF4-FFF2-40B4-BE49-F238E27FC236}">
                <a16:creationId xmlns:a16="http://schemas.microsoft.com/office/drawing/2014/main" id="{B7E1676B-EF1C-458A-8DD6-790E630AE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 u="sng">
                <a:solidFill>
                  <a:srgbClr val="112E36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945a3c7c5bf64660"/>
              </a:rPr>
              <a:t>打开交互实验，观察参数变化</a:t>
            </a:r>
          </a:p>
        </p:txBody>
      </p:sp>
    </p:spTree>
    <p:extLst>
      <p:ext uri="{BB962C8B-B14F-4D97-AF65-F5344CB8AC3E}">
        <p14:creationId xmlns:p14="http://schemas.microsoft.com/office/powerpoint/2010/main" val="1783100565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E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交通日变化曲线的相似性：计算结果">
            <a:extLst xmlns:a="http://schemas.openxmlformats.org/drawingml/2006/main">
              <a:ext uri="{FF2B5EF4-FFF2-40B4-BE49-F238E27FC236}">
                <a16:creationId xmlns:a16="http://schemas.microsoft.com/office/drawing/2014/main" id="{FA7C20C6-634B-4855-A271-CACEE0E9F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交通日变化曲线的相似性：计算结果</a:t>
            </a:r>
          </a:p>
        </p:txBody>
      </p:sp>
      <p:sp>
        <p:nvSpPr>
          <p:cNvPr id="2" name="第6章 交通时序数据分析   6.7">
            <a:extLst xmlns:a="http://schemas.openxmlformats.org/drawingml/2006/main">
              <a:ext uri="{FF2B5EF4-FFF2-40B4-BE49-F238E27FC236}">
                <a16:creationId xmlns:a16="http://schemas.microsoft.com/office/drawing/2014/main" id="{CC5708A2-8205-4516-B406-DD6446909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rPr>
              <a:t>第6章 交通时序数据分析   6.7</a:t>
            </a:r>
          </a:p>
        </p:txBody>
      </p:sp>
      <p:sp>
        <p:nvSpPr>
          <p:cNvPr id="3" name="21">
            <a:extLst xmlns:a="http://schemas.openxmlformats.org/drawingml/2006/main">
              <a:ext uri="{FF2B5EF4-FFF2-40B4-BE49-F238E27FC236}">
                <a16:creationId xmlns:a16="http://schemas.microsoft.com/office/drawing/2014/main" id="{C4A71952-17B4-4E90-9DC2-97A34469B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429375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rPr>
              <a:t>21</a:t>
            </a:r>
          </a:p>
        </p:txBody>
      </p:sp>
      <p:sp>
        <p:nvSpPr>
          <p:cNvPr id="4" name="根据真实观测在浏览器重新计算">
            <a:extLst xmlns:a="http://schemas.openxmlformats.org/drawingml/2006/main">
              <a:ext uri="{FF2B5EF4-FFF2-40B4-BE49-F238E27FC236}">
                <a16:creationId xmlns:a16="http://schemas.microsoft.com/office/drawing/2014/main" id="{3123E55B-0530-485B-909F-A3C205D45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10820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rPr>
              <a:t>根据真实观测在浏览器重新计算</a:t>
            </a:r>
          </a:p>
        </p:txBody>
      </p:sp>
      <p:sp>
        <p:nvSpPr>
          <p:cNvPr id="5" name="默认配置：2017年1月日期A：3，2017年1月日">
            <a:extLst xmlns:a="http://schemas.openxmlformats.org/drawingml/2006/main">
              <a:ext uri="{FF2B5EF4-FFF2-40B4-BE49-F238E27FC236}">
                <a16:creationId xmlns:a16="http://schemas.microsoft.com/office/drawing/2014/main" id="{2CE10FB6-6DD4-408A-B4F1-60DEA437B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108204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rPr>
              <a:t>默认配置：2017年1月日期A：3，2017年1月日期B：7，最大允许错位（小时）：3，曲线尺度：原始交通量</a:t>
            </a:r>
          </a:p>
        </p:txBody>
      </p:sp>
      <p:sp>
        <p:nvSpPr>
          <p:cNvPr id="6" name="辆/小时">
            <a:extLst xmlns:a="http://schemas.openxmlformats.org/drawingml/2006/main">
              <a:ext uri="{FF2B5EF4-FFF2-40B4-BE49-F238E27FC236}">
                <a16:creationId xmlns:a16="http://schemas.microsoft.com/office/drawing/2014/main" id="{C586893A-7915-4C4F-A281-101A09BBC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rPr>
              <a:t>辆/小时</a:t>
            </a:r>
          </a:p>
        </p:txBody>
      </p:sp>
      <p:graphicFrame>
        <p:nvGraphicFramePr>
          <p:cNvPr id="16" name="Chart"/>
          <p:cNvGraphicFramePr/>
          <p:nvPr/>
        </p:nvGraphicFramePr>
        <p:xfrm>
          <a:off xmlns:a="http://schemas.openxmlformats.org/drawingml/2006/main" x="685800" y="2390775"/>
          <a:ext xmlns:a="http://schemas.openxmlformats.org/drawingml/2006/main" cx="10820400" cy="29432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3324e5aa63f4e77"/>
          </a:graphicData>
        </a:graphic>
      </p:graphicFrame>
      <p:sp>
        <p:nvSpPr>
          <p:cNvPr id="8" name="DTW累计绝对代价=14049.000，允许错位±3">
            <a:extLst xmlns:a="http://schemas.openxmlformats.org/drawingml/2006/main">
              <a:ext uri="{FF2B5EF4-FFF2-40B4-BE49-F238E27FC236}">
                <a16:creationId xmlns:a16="http://schemas.microsoft.com/office/drawing/2014/main" id="{E10A8C8B-7190-41EE-93FA-FB58F1BF4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48300"/>
            <a:ext cx="108204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rPr>
              <a:t>DTW累计绝对代价=14049.000，允许错位±3小时，未按路径长度归一化。</a:t>
            </a:r>
          </a:p>
        </p:txBody>
      </p:sp>
      <p:sp>
        <p:nvSpPr>
          <p:cNvPr id="9" name="link">
            <a:extLst xmlns:a="http://schemas.openxmlformats.org/drawingml/2006/main">
              <a:ext uri="{FF2B5EF4-FFF2-40B4-BE49-F238E27FC236}">
                <a16:creationId xmlns:a16="http://schemas.microsoft.com/office/drawing/2014/main" id="{D9D3DA14-2A68-463A-B176-8E11147AC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198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 u="sng">
                <a:solidFill>
                  <a:srgbClr val="112E36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ea899a8ba41b4417"/>
              </a:rPr>
              <a:t>修改参数并查看完整结果表</a:t>
            </a:r>
          </a:p>
        </p:txBody>
      </p:sp>
    </p:spTree>
    <p:extLst>
      <p:ext uri="{BB962C8B-B14F-4D97-AF65-F5344CB8AC3E}">
        <p14:creationId xmlns:p14="http://schemas.microsoft.com/office/powerpoint/2010/main" val="1619914195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E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重点时段与失败样本">
            <a:extLst xmlns:a="http://schemas.openxmlformats.org/drawingml/2006/main">
              <a:ext uri="{FF2B5EF4-FFF2-40B4-BE49-F238E27FC236}">
                <a16:creationId xmlns:a16="http://schemas.microsoft.com/office/drawing/2014/main" id="{82284A0F-3036-448B-8533-D5FA506CD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重点时段与失败样本</a:t>
            </a:r>
          </a:p>
        </p:txBody>
      </p:sp>
      <p:sp>
        <p:nvSpPr>
          <p:cNvPr id="2" name="第6章 交通时序数据分析   6.8">
            <a:extLst xmlns:a="http://schemas.openxmlformats.org/drawingml/2006/main">
              <a:ext uri="{FF2B5EF4-FFF2-40B4-BE49-F238E27FC236}">
                <a16:creationId xmlns:a16="http://schemas.microsoft.com/office/drawing/2014/main" id="{64DB9C8A-40C6-40DC-B52D-1C0FFE184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rPr>
              <a:t>第6章 交通时序数据分析   6.8</a:t>
            </a:r>
          </a:p>
        </p:txBody>
      </p:sp>
      <p:sp>
        <p:nvSpPr>
          <p:cNvPr id="3" name="22">
            <a:extLst xmlns:a="http://schemas.openxmlformats.org/drawingml/2006/main">
              <a:ext uri="{FF2B5EF4-FFF2-40B4-BE49-F238E27FC236}">
                <a16:creationId xmlns:a16="http://schemas.microsoft.com/office/drawing/2014/main" id="{4D735278-7F12-4E4F-9CD1-953739CD4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429375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rPr>
              <a:t>22</a:t>
            </a:r>
          </a:p>
        </p:txBody>
      </p:sp>
      <p:sp>
        <p:nvSpPr>
          <p:cNvPr id="4" name="失败诊断应落到具体交通时段。">
            <a:extLst xmlns:a="http://schemas.openxmlformats.org/drawingml/2006/main">
              <a:ext uri="{FF2B5EF4-FFF2-40B4-BE49-F238E27FC236}">
                <a16:creationId xmlns:a16="http://schemas.microsoft.com/office/drawing/2014/main" id="{70142196-6639-457A-AB49-C060FCD96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08204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rPr>
              <a:t>失败诊断应落到具体交通时段。</a:t>
            </a:r>
          </a:p>
        </p:txBody>
      </p:sp>
      <p:sp>
        <p:nvSpPr>
          <p:cNvPr id="5" name="平均误差不能代替高峰保障分析，应查看逐小时预测与实测">
            <a:extLst xmlns:a="http://schemas.openxmlformats.org/drawingml/2006/main">
              <a:ext uri="{FF2B5EF4-FFF2-40B4-BE49-F238E27FC236}">
                <a16:creationId xmlns:a16="http://schemas.microsoft.com/office/drawing/2014/main" id="{ED42EF8F-FB44-4802-B296-5F8A8FCF3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90800"/>
            <a:ext cx="108204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平均误差不能代替高峰保障分析，应查看逐小时预测与实测、样本数及有符号偏差。</a:t>
            </a:r>
          </a:p>
        </p:txBody>
      </p:sp>
      <p:sp>
        <p:nvSpPr>
          <p:cNvPr id="6" name="节假日或异常波动可以作为调查线索，现有资料不足时不把">
            <a:extLst xmlns:a="http://schemas.openxmlformats.org/drawingml/2006/main">
              <a:ext uri="{FF2B5EF4-FFF2-40B4-BE49-F238E27FC236}">
                <a16:creationId xmlns:a16="http://schemas.microsoft.com/office/drawing/2014/main" id="{87FDAA31-5EF2-4807-965E-5394AD7B4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90950"/>
            <a:ext cx="108204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节假日或异常波动可以作为调查线索，现有资料不足时不把误差归因于已确认的事</a:t>
            </a:r>
          </a:p>
          <a:p xmlns:a="http://schemas.openxmlformats.org/drawingml/2006/main">
            <a:pPr algn="l">
              <a:defRPr sz="217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故或天气机制。</a:t>
            </a:r>
          </a:p>
        </p:txBody>
      </p:sp>
      <p:sp>
        <p:nvSpPr>
          <p:cNvPr id="7" name="课堂讨论：你会补充什么资料来核查一个预测明显失准的小">
            <a:extLst xmlns:a="http://schemas.openxmlformats.org/drawingml/2006/main">
              <a:ext uri="{FF2B5EF4-FFF2-40B4-BE49-F238E27FC236}">
                <a16:creationId xmlns:a16="http://schemas.microsoft.com/office/drawing/2014/main" id="{DED4905A-9D0F-4C4B-807F-2BF794D2C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08204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rPr>
              <a:t>课堂讨论：你会补充什么资料来核查一个预测明显失准的小时？</a:t>
            </a:r>
          </a:p>
        </p:txBody>
      </p:sp>
      <p:sp>
        <p:nvSpPr>
          <p:cNvPr id="8" name="link">
            <a:extLst xmlns:a="http://schemas.openxmlformats.org/drawingml/2006/main">
              <a:ext uri="{FF2B5EF4-FFF2-40B4-BE49-F238E27FC236}">
                <a16:creationId xmlns:a16="http://schemas.microsoft.com/office/drawing/2014/main" id="{99FEF50B-CEEC-4C30-BCFE-7BE92B8AD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 u="sng">
                <a:solidFill>
                  <a:srgbClr val="112E36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df82834985f94d72"/>
              </a:rPr>
              <a:t>打开课堂讲解与配套案例</a:t>
            </a:r>
          </a:p>
        </p:txBody>
      </p:sp>
    </p:spTree>
    <p:extLst>
      <p:ext uri="{BB962C8B-B14F-4D97-AF65-F5344CB8AC3E}">
        <p14:creationId xmlns:p14="http://schemas.microsoft.com/office/powerpoint/2010/main" val="1122461327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E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预测评价的代码复核">
            <a:extLst xmlns:a="http://schemas.openxmlformats.org/drawingml/2006/main">
              <a:ext uri="{FF2B5EF4-FFF2-40B4-BE49-F238E27FC236}">
                <a16:creationId xmlns:a16="http://schemas.microsoft.com/office/drawing/2014/main" id="{2ED14207-6E65-4A08-9880-E45BF86A3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预测评价的代码复核</a:t>
            </a:r>
          </a:p>
        </p:txBody>
      </p:sp>
      <p:sp>
        <p:nvSpPr>
          <p:cNvPr id="2" name="第6章 交通时序数据分析   综合">
            <a:extLst xmlns:a="http://schemas.openxmlformats.org/drawingml/2006/main">
              <a:ext uri="{FF2B5EF4-FFF2-40B4-BE49-F238E27FC236}">
                <a16:creationId xmlns:a16="http://schemas.microsoft.com/office/drawing/2014/main" id="{8554E1F2-FAC0-42A4-B1FD-721808D94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rPr>
              <a:t>第6章 交通时序数据分析   综合</a:t>
            </a:r>
          </a:p>
        </p:txBody>
      </p:sp>
      <p:sp>
        <p:nvSpPr>
          <p:cNvPr id="3" name="23">
            <a:extLst xmlns:a="http://schemas.openxmlformats.org/drawingml/2006/main">
              <a:ext uri="{FF2B5EF4-FFF2-40B4-BE49-F238E27FC236}">
                <a16:creationId xmlns:a16="http://schemas.microsoft.com/office/drawing/2014/main" id="{0043EB88-C74D-4C12-9EB3-0859EF8D9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429375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rPr>
              <a:t>23</a:t>
            </a:r>
          </a:p>
        </p:txBody>
      </p:sp>
      <p:sp>
        <p:nvSpPr>
          <p:cNvPr id="4" name="固定目标，修改模型与提前量。">
            <a:extLst xmlns:a="http://schemas.openxmlformats.org/drawingml/2006/main">
              <a:ext uri="{FF2B5EF4-FFF2-40B4-BE49-F238E27FC236}">
                <a16:creationId xmlns:a16="http://schemas.microsoft.com/office/drawing/2014/main" id="{F14EB122-719F-4726-9405-1C44C2709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08204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rPr>
              <a:t>固定目标，修改模型与提前量。</a:t>
            </a:r>
          </a:p>
        </p:txBody>
      </p:sp>
      <p:sp>
        <p:nvSpPr>
          <p:cNvPr id="5" name="// JavaScript：本机实际执行，可修改参数">
            <a:extLst xmlns:a="http://schemas.openxmlformats.org/drawingml/2006/main">
              <a:ext uri="{FF2B5EF4-FFF2-40B4-BE49-F238E27FC236}">
                <a16:creationId xmlns:a16="http://schemas.microsoft.com/office/drawing/2014/main" id="{1BC52479-1F29-4E1F-A9AF-A76E7E49B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28875"/>
            <a:ext cx="7429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2E36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12E36"/>
                </a:solidFill>
                <a:latin typeface="Consolas"/>
                <a:ea typeface="Consolas"/>
                <a:cs typeface="Consolas"/>
              </a:rPr>
              <a:t>// JavaScript：本机实际执行，可修改参数。</a:t>
            </a:r>
          </a:p>
          <a:p xmlns:a="http://schemas.openxmlformats.org/drawingml/2006/main">
            <a:pPr algn="l">
              <a:defRPr sz="1725" b="0">
                <a:solidFill>
                  <a:srgbClr val="112E36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12E36"/>
                </a:solidFill>
                <a:latin typeface="Consolas"/>
                <a:ea typeface="Consolas"/>
                <a:cs typeface="Consolas"/>
              </a:rPr>
              <a:t>// data为本章真实快照；runLab为公开计算模块。</a:t>
            </a:r>
          </a:p>
          <a:p xmlns:a="http://schemas.openxmlformats.org/drawingml/2006/main">
            <a:pPr algn="l">
              <a:defRPr sz="1725" b="0">
                <a:solidFill>
                  <a:srgbClr val="112E36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12E36"/>
                </a:solidFill>
                <a:latin typeface="Consolas"/>
                <a:ea typeface="Consolas"/>
                <a:cs typeface="Consolas"/>
              </a:rPr>
              <a:t>const result = runLab("forecast-models", data, {</a:t>
            </a:r>
          </a:p>
          <a:p xmlns:a="http://schemas.openxmlformats.org/drawingml/2006/main">
            <a:pPr algn="l">
              <a:defRPr sz="1725" b="0">
                <a:solidFill>
                  <a:srgbClr val="112E36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12E36"/>
                </a:solidFill>
                <a:latin typeface="Consolas"/>
                <a:ea typeface="Consolas"/>
                <a:cs typeface="Consolas"/>
              </a:rPr>
              <a:t>  "horizon": 3,</a:t>
            </a:r>
          </a:p>
          <a:p xmlns:a="http://schemas.openxmlformats.org/drawingml/2006/main">
            <a:pPr algn="l">
              <a:defRPr sz="1725" b="0">
                <a:solidFill>
                  <a:srgbClr val="112E36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12E36"/>
                </a:solidFill>
                <a:latin typeface="Consolas"/>
                <a:ea typeface="Consolas"/>
                <a:cs typeface="Consolas"/>
              </a:rPr>
              <a:t>  "period": "morning"</a:t>
            </a:r>
          </a:p>
          <a:p xmlns:a="http://schemas.openxmlformats.org/drawingml/2006/main">
            <a:pPr algn="l">
              <a:defRPr sz="1725" b="0">
                <a:solidFill>
                  <a:srgbClr val="112E36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12E36"/>
                </a:solidFill>
                <a:latin typeface="Consolas"/>
                <a:ea typeface="Consolas"/>
                <a:cs typeface="Consolas"/>
              </a:rPr>
              <a:t>});</a:t>
            </a:r>
          </a:p>
          <a:p xmlns:a="http://schemas.openxmlformats.org/drawingml/2006/main">
            <a:pPr algn="l">
              <a:defRPr sz="1725" b="0">
                <a:solidFill>
                  <a:srgbClr val="112E36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12E36"/>
                </a:solidFill>
                <a:latin typeface="Consolas"/>
                <a:ea typeface="Consolas"/>
                <a:cs typeface="Consolas"/>
              </a:rPr>
              <a:t>print(result.columns);</a:t>
            </a:r>
          </a:p>
          <a:p xmlns:a="http://schemas.openxmlformats.org/drawingml/2006/main">
            <a:pPr algn="l">
              <a:defRPr sz="1725" b="0">
                <a:solidFill>
                  <a:srgbClr val="112E36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12E36"/>
                </a:solidFill>
                <a:latin typeface="Consolas"/>
                <a:ea typeface="Consolas"/>
                <a:cs typeface="Consolas"/>
              </a:rPr>
              <a:t>print(result.rows);</a:t>
            </a:r>
          </a:p>
          <a:p xmlns:a="http://schemas.openxmlformats.org/drawingml/2006/main">
            <a:pPr algn="l">
              <a:defRPr sz="1725" b="0">
                <a:solidFill>
                  <a:srgbClr val="112E36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12E36"/>
                </a:solidFill>
                <a:latin typeface="Consolas"/>
                <a:ea typeface="Consolas"/>
                <a:cs typeface="Consolas"/>
              </a:rPr>
              <a:t>print(result.note);</a:t>
            </a:r>
          </a:p>
        </p:txBody>
      </p:sp>
      <p:sp>
        <p:nvSpPr>
          <p:cNvPr id="6" name="JavaScript在网页中实际执行。&#10;&#10;Pytho">
            <a:extLst xmlns:a="http://schemas.openxmlformats.org/drawingml/2006/main">
              <a:ext uri="{FF2B5EF4-FFF2-40B4-BE49-F238E27FC236}">
                <a16:creationId xmlns:a16="http://schemas.microsoft.com/office/drawing/2014/main" id="{FF2DF76D-B502-4DC4-8A70-E39F76C52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2447925"/>
            <a:ext cx="2857500" cy="2524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JavaScript在网页中实际执行。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02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Python模型训练使用本章完整工作本。</a:t>
            </a:r>
          </a:p>
        </p:txBody>
      </p:sp>
      <p:sp>
        <p:nvSpPr>
          <p:cNvPr id="7" name="link">
            <a:extLst xmlns:a="http://schemas.openxmlformats.org/drawingml/2006/main">
              <a:ext uri="{FF2B5EF4-FFF2-40B4-BE49-F238E27FC236}">
                <a16:creationId xmlns:a16="http://schemas.microsoft.com/office/drawing/2014/main" id="{2A0CD8EF-1784-4D0E-91C8-4EBB8A0B0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 u="sng">
                <a:solidFill>
                  <a:srgbClr val="112E36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d2f65735835a4368"/>
              </a:rPr>
              <a:t>打开代码编辑器，修改参数并运行</a:t>
            </a:r>
          </a:p>
        </p:txBody>
      </p:sp>
    </p:spTree>
    <p:extLst>
      <p:ext uri="{BB962C8B-B14F-4D97-AF65-F5344CB8AC3E}">
        <p14:creationId xmlns:p14="http://schemas.microsoft.com/office/powerpoint/2010/main" val="1943605666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E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道路运行预测适用性报告">
            <a:extLst xmlns:a="http://schemas.openxmlformats.org/drawingml/2006/main">
              <a:ext uri="{FF2B5EF4-FFF2-40B4-BE49-F238E27FC236}">
                <a16:creationId xmlns:a16="http://schemas.microsoft.com/office/drawing/2014/main" id="{997D019C-47A2-48E1-AF83-4DD52366B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道路运行预测适用性报告</a:t>
            </a:r>
          </a:p>
        </p:txBody>
      </p:sp>
      <p:sp>
        <p:nvSpPr>
          <p:cNvPr id="2" name="第6章 交通时序数据分析   综合">
            <a:extLst xmlns:a="http://schemas.openxmlformats.org/drawingml/2006/main">
              <a:ext uri="{FF2B5EF4-FFF2-40B4-BE49-F238E27FC236}">
                <a16:creationId xmlns:a16="http://schemas.microsoft.com/office/drawing/2014/main" id="{B25055BB-435C-4B8F-93DD-4573878BE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rPr>
              <a:t>第6章 交通时序数据分析   综合</a:t>
            </a:r>
          </a:p>
        </p:txBody>
      </p:sp>
      <p:sp>
        <p:nvSpPr>
          <p:cNvPr id="3" name="24">
            <a:extLst xmlns:a="http://schemas.openxmlformats.org/drawingml/2006/main">
              <a:ext uri="{FF2B5EF4-FFF2-40B4-BE49-F238E27FC236}">
                <a16:creationId xmlns:a16="http://schemas.microsoft.com/office/drawing/2014/main" id="{03059D71-5BCB-49E5-B364-72FFA3CA4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429375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rPr>
              <a:t>24</a:t>
            </a:r>
          </a:p>
        </p:txBody>
      </p:sp>
      <p:sp>
        <p:nvSpPr>
          <p:cNvPr id="4" name="成果应说明预测能支持哪类运行准备。">
            <a:extLst xmlns:a="http://schemas.openxmlformats.org/drawingml/2006/main">
              <a:ext uri="{FF2B5EF4-FFF2-40B4-BE49-F238E27FC236}">
                <a16:creationId xmlns:a16="http://schemas.microsoft.com/office/drawing/2014/main" id="{06CFE2C1-0C5E-4ABD-812E-69414F7A5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08204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rPr>
              <a:t>成果应说明预测能支持哪类运行准备。</a:t>
            </a:r>
          </a:p>
        </p:txBody>
      </p:sp>
      <p:sp>
        <p:nvSpPr>
          <p:cNvPr id="5" name="提交四方法、三提前量预测，给出总体与重点时段的误差，">
            <a:extLst xmlns:a="http://schemas.openxmlformats.org/drawingml/2006/main">
              <a:ext uri="{FF2B5EF4-FFF2-40B4-BE49-F238E27FC236}">
                <a16:creationId xmlns:a16="http://schemas.microsoft.com/office/drawing/2014/main" id="{663FDB8B-0671-4F36-87CB-37EEE3713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90800"/>
            <a:ext cx="108204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提交四方法、三提前量预测，给出总体与重点时段的误差，并复核一个失败时段。</a:t>
            </a:r>
          </a:p>
        </p:txBody>
      </p:sp>
      <p:sp>
        <p:nvSpPr>
          <p:cNvPr id="6" name="说明单断面、历史年份、缺少速度与事件资料的限制，为第">
            <a:extLst xmlns:a="http://schemas.openxmlformats.org/drawingml/2006/main">
              <a:ext uri="{FF2B5EF4-FFF2-40B4-BE49-F238E27FC236}">
                <a16:creationId xmlns:a16="http://schemas.microsoft.com/office/drawing/2014/main" id="{D3C7D477-39E2-4E56-A165-5EC106452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90950"/>
            <a:ext cx="108204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说明单断面、历史年份、缺少速度与事件资料的限制，为第7章多区域预测保留同</a:t>
            </a:r>
          </a:p>
          <a:p xmlns:a="http://schemas.openxmlformats.org/drawingml/2006/main">
            <a:pPr algn="l">
              <a:defRPr sz="217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样的评价纪律。</a:t>
            </a:r>
          </a:p>
        </p:txBody>
      </p:sp>
      <p:sp>
        <p:nvSpPr>
          <p:cNvPr id="7" name="课堂讨论：哪些管理任务可以参考本结果，哪些任务仍需额">
            <a:extLst xmlns:a="http://schemas.openxmlformats.org/drawingml/2006/main">
              <a:ext uri="{FF2B5EF4-FFF2-40B4-BE49-F238E27FC236}">
                <a16:creationId xmlns:a16="http://schemas.microsoft.com/office/drawing/2014/main" id="{FB6442F9-13D0-4A27-A407-701EAD185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08204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rPr>
              <a:t>课堂讨论：哪些管理任务可以参考本结果，哪些任务仍需额外验证？</a:t>
            </a:r>
          </a:p>
        </p:txBody>
      </p:sp>
      <p:sp>
        <p:nvSpPr>
          <p:cNvPr id="8" name="link">
            <a:extLst xmlns:a="http://schemas.openxmlformats.org/drawingml/2006/main">
              <a:ext uri="{FF2B5EF4-FFF2-40B4-BE49-F238E27FC236}">
                <a16:creationId xmlns:a16="http://schemas.microsoft.com/office/drawing/2014/main" id="{515B3BA5-A0B7-4CC5-9ED1-980507427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 u="sng">
                <a:solidFill>
                  <a:srgbClr val="112E36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9824f5c5e1fb4e84"/>
              </a:rPr>
              <a:t>打开课堂讲解与配套案例</a:t>
            </a:r>
          </a:p>
        </p:txBody>
      </p:sp>
    </p:spTree>
    <p:extLst>
      <p:ext uri="{BB962C8B-B14F-4D97-AF65-F5344CB8AC3E}">
        <p14:creationId xmlns:p14="http://schemas.microsoft.com/office/powerpoint/2010/main" val="1511051477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E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课程资源与数据来源">
            <a:extLst xmlns:a="http://schemas.openxmlformats.org/drawingml/2006/main">
              <a:ext uri="{FF2B5EF4-FFF2-40B4-BE49-F238E27FC236}">
                <a16:creationId xmlns:a16="http://schemas.microsoft.com/office/drawing/2014/main" id="{92A40E1C-1472-48F2-AC47-8D1454723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课程资源与数据来源</a:t>
            </a:r>
          </a:p>
        </p:txBody>
      </p:sp>
      <p:sp>
        <p:nvSpPr>
          <p:cNvPr id="2" name="第6章 交通时序数据分析">
            <a:extLst xmlns:a="http://schemas.openxmlformats.org/drawingml/2006/main">
              <a:ext uri="{FF2B5EF4-FFF2-40B4-BE49-F238E27FC236}">
                <a16:creationId xmlns:a16="http://schemas.microsoft.com/office/drawing/2014/main" id="{2F5BC7A9-3D2A-4B2F-A5CA-7A2EAE0C9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rPr>
              <a:t>第6章 交通时序数据分析</a:t>
            </a:r>
          </a:p>
        </p:txBody>
      </p:sp>
      <p:sp>
        <p:nvSpPr>
          <p:cNvPr id="3" name="25">
            <a:extLst xmlns:a="http://schemas.openxmlformats.org/drawingml/2006/main">
              <a:ext uri="{FF2B5EF4-FFF2-40B4-BE49-F238E27FC236}">
                <a16:creationId xmlns:a16="http://schemas.microsoft.com/office/drawing/2014/main" id="{2F7D3ED5-D427-4593-A6AC-00CC2A3BD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429375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rPr>
              <a:t>25</a:t>
            </a:r>
          </a:p>
        </p:txBody>
      </p:sp>
      <p:sp>
        <p:nvSpPr>
          <p:cNvPr id="4" name="link">
            <a:extLst xmlns:a="http://schemas.openxmlformats.org/drawingml/2006/main">
              <a:ext uri="{FF2B5EF4-FFF2-40B4-BE49-F238E27FC236}">
                <a16:creationId xmlns:a16="http://schemas.microsoft.com/office/drawing/2014/main" id="{F5C6A50A-136E-4F1D-A75F-C1182BF46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288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 u="sng">
                <a:solidFill>
                  <a:srgbClr val="112E36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b570c7cb67814b7c"/>
              </a:rPr>
              <a:t>本章交互课堂</a:t>
            </a:r>
          </a:p>
        </p:txBody>
      </p:sp>
      <p:sp>
        <p:nvSpPr>
          <p:cNvPr id="5" name="link">
            <a:extLst xmlns:a="http://schemas.openxmlformats.org/drawingml/2006/main">
              <a:ext uri="{FF2B5EF4-FFF2-40B4-BE49-F238E27FC236}">
                <a16:creationId xmlns:a16="http://schemas.microsoft.com/office/drawing/2014/main" id="{841784D6-144B-4845-A8B9-B25976384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146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 u="sng">
                <a:solidFill>
                  <a:srgbClr val="112E36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9a9219f8f8a74675"/>
              </a:rPr>
              <a:t>本章完整Python项目与工作本</a:t>
            </a:r>
          </a:p>
        </p:txBody>
      </p:sp>
      <p:sp>
        <p:nvSpPr>
          <p:cNvPr id="6" name="link">
            <a:extLst xmlns:a="http://schemas.openxmlformats.org/drawingml/2006/main">
              <a:ext uri="{FF2B5EF4-FFF2-40B4-BE49-F238E27FC236}">
                <a16:creationId xmlns:a16="http://schemas.microsoft.com/office/drawing/2014/main" id="{D67BE46C-12CD-4707-8AC6-39D2C2A6F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004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 u="sng">
                <a:solidFill>
                  <a:srgbClr val="112E36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4a2813e6536645b3"/>
              </a:rPr>
              <a:t>交通工程案例库</a:t>
            </a:r>
          </a:p>
        </p:txBody>
      </p:sp>
      <p:sp>
        <p:nvSpPr>
          <p:cNvPr id="7" name="John Hogue (2019) / UCI I-">
            <a:extLst xmlns:a="http://schemas.openxmlformats.org/drawingml/2006/main">
              <a:ext uri="{FF2B5EF4-FFF2-40B4-BE49-F238E27FC236}">
                <a16:creationId xmlns:a16="http://schemas.microsoft.com/office/drawing/2014/main" id="{B4E75CB9-9B68-4FDD-B74A-8946A3969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52900"/>
            <a:ext cx="108204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John Hogue (2019) / UCI I-94，CC BY 4.0</a:t>
            </a:r>
          </a:p>
        </p:txBody>
      </p:sp>
      <p:sp>
        <p:nvSpPr>
          <p:cNvPr id="8" name="输入范围、数据处理与许可详见课堂说明。&#10;课堂代码MI">
            <a:extLst xmlns:a="http://schemas.openxmlformats.org/drawingml/2006/main">
              <a:ext uri="{FF2B5EF4-FFF2-40B4-BE49-F238E27FC236}">
                <a16:creationId xmlns:a16="http://schemas.microsoft.com/office/drawing/2014/main" id="{8C307FEC-C62C-4B13-A7E5-24FB62748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05400"/>
            <a:ext cx="108204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rPr>
              <a:t>输入范围、数据处理与许可详见课堂说明。</a:t>
            </a:r>
          </a:p>
          <a:p xmlns:a="http://schemas.openxmlformats.org/drawingml/2006/main">
            <a:pPr algn="l">
              <a:defRPr sz="187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rPr>
              <a:t>课堂代码MIT，原创讲解CC BY-SA 4.0，第三方材料保留原许可。</a:t>
            </a:r>
          </a:p>
        </p:txBody>
      </p:sp>
    </p:spTree>
    <p:extLst>
      <p:ext uri="{BB962C8B-B14F-4D97-AF65-F5344CB8AC3E}">
        <p14:creationId xmlns:p14="http://schemas.microsoft.com/office/powerpoint/2010/main" val="160640894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2026-09-17T02:43:01.1470000Z</dcterms:created>
  <dcterms:modified xsi:type="dcterms:W3CDTF">2026-09-17T02:43:01.1470000Z</dcterms:modified>
</coreProperties>
</file>