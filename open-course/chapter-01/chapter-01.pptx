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1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2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3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slides/charts/chart4.xml" ContentType="application/vnd.openxmlformats-officedocument.drawingml.chart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8323a3ec914925" /><Relationship Type="http://schemas.openxmlformats.org/officeDocument/2006/relationships/extended-properties" Target="/docProps/app.xml" Id="Rfffe9cd113334567" /><Relationship Type="http://schemas.openxmlformats.org/officeDocument/2006/relationships/officeDocument" Target="/ppt/presentation.xml" Id="Rf93927788e6d4d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859310baff4060"/>
  </p:sldMasterIdLst>
  <p:notesMasterIdLst>
    <p:notesMasterId xmlns:r="http://schemas.openxmlformats.org/officeDocument/2006/relationships" r:id="Rb733e65b2ee44ae4"/>
  </p:notesMasterIdLst>
  <p:sldIdLst>
    <p:sldId xmlns:r="http://schemas.openxmlformats.org/officeDocument/2006/relationships" id="256" r:id="Rcb3d94cf9e3d4169"/>
    <p:sldId xmlns:r="http://schemas.openxmlformats.org/officeDocument/2006/relationships" id="257" r:id="R9bcaea804a5d4a99"/>
    <p:sldId xmlns:r="http://schemas.openxmlformats.org/officeDocument/2006/relationships" id="258" r:id="Rc29451557a5b44c7"/>
    <p:sldId xmlns:r="http://schemas.openxmlformats.org/officeDocument/2006/relationships" id="259" r:id="R863c6b6402db4531"/>
    <p:sldId xmlns:r="http://schemas.openxmlformats.org/officeDocument/2006/relationships" id="260" r:id="R93253e78bab54715"/>
    <p:sldId xmlns:r="http://schemas.openxmlformats.org/officeDocument/2006/relationships" id="261" r:id="Ra62820c4a8ae43ba"/>
    <p:sldId xmlns:r="http://schemas.openxmlformats.org/officeDocument/2006/relationships" id="262" r:id="R5448e7c9cd8c437d"/>
    <p:sldId xmlns:r="http://schemas.openxmlformats.org/officeDocument/2006/relationships" id="263" r:id="R33b1954d1e294272"/>
    <p:sldId xmlns:r="http://schemas.openxmlformats.org/officeDocument/2006/relationships" id="264" r:id="R1d8b276f69234d18"/>
    <p:sldId xmlns:r="http://schemas.openxmlformats.org/officeDocument/2006/relationships" id="265" r:id="R3ca9d7992fdd455c"/>
    <p:sldId xmlns:r="http://schemas.openxmlformats.org/officeDocument/2006/relationships" id="266" r:id="R09a281ccf35547a6"/>
    <p:sldId xmlns:r="http://schemas.openxmlformats.org/officeDocument/2006/relationships" id="267" r:id="Rfb43528f0e6b46a1"/>
    <p:sldId xmlns:r="http://schemas.openxmlformats.org/officeDocument/2006/relationships" id="268" r:id="R10f3edd67fdf46dc"/>
    <p:sldId xmlns:r="http://schemas.openxmlformats.org/officeDocument/2006/relationships" id="269" r:id="R590d164887824bbb"/>
    <p:sldId xmlns:r="http://schemas.openxmlformats.org/officeDocument/2006/relationships" id="270" r:id="Rbc27b8f10e014124"/>
    <p:sldId xmlns:r="http://schemas.openxmlformats.org/officeDocument/2006/relationships" id="271" r:id="Rd8afeb30ab284d6f"/>
    <p:sldId xmlns:r="http://schemas.openxmlformats.org/officeDocument/2006/relationships" id="272" r:id="Racf1c17073504913"/>
    <p:sldId xmlns:r="http://schemas.openxmlformats.org/officeDocument/2006/relationships" id="273" r:id="R2e0ca3db4b904dc9"/>
    <p:sldId xmlns:r="http://schemas.openxmlformats.org/officeDocument/2006/relationships" id="274" r:id="Rc2005fecad984b11"/>
    <p:sldId xmlns:r="http://schemas.openxmlformats.org/officeDocument/2006/relationships" id="275" r:id="R30bf6a68b5c74dc4"/>
    <p:sldId xmlns:r="http://schemas.openxmlformats.org/officeDocument/2006/relationships" id="276" r:id="Rbe48b900ec4b4d7a"/>
    <p:sldId xmlns:r="http://schemas.openxmlformats.org/officeDocument/2006/relationships" id="277" r:id="R4504f16c3f304e77"/>
    <p:sldId xmlns:r="http://schemas.openxmlformats.org/officeDocument/2006/relationships" id="278" r:id="Rb38312794a144a8b"/>
    <p:sldId xmlns:r="http://schemas.openxmlformats.org/officeDocument/2006/relationships" id="279" r:id="Rc05e4eb633a94ef1"/>
    <p:sldId xmlns:r="http://schemas.openxmlformats.org/officeDocument/2006/relationships" id="280" r:id="Ref46535c77a04ff7"/>
    <p:sldId xmlns:r="http://schemas.openxmlformats.org/officeDocument/2006/relationships" id="281" r:id="Rb7d8087117424cde"/>
    <p:sldId xmlns:r="http://schemas.openxmlformats.org/officeDocument/2006/relationships" id="282" r:id="Rea4b18db33b54bdb"/>
    <p:sldId xmlns:r="http://schemas.openxmlformats.org/officeDocument/2006/relationships" id="283" r:id="R030bb399d9174331"/>
    <p:sldId xmlns:r="http://schemas.openxmlformats.org/officeDocument/2006/relationships" id="284" r:id="R52f5df86b5a84204"/>
    <p:sldId xmlns:r="http://schemas.openxmlformats.org/officeDocument/2006/relationships" id="285" r:id="R16d62ac727fe4886"/>
    <p:sldId xmlns:r="http://schemas.openxmlformats.org/officeDocument/2006/relationships" id="286" r:id="Rd3f68ae70cfd490a"/>
    <p:sldId xmlns:r="http://schemas.openxmlformats.org/officeDocument/2006/relationships" id="287" r:id="Rf3d6522ddd93412d"/>
    <p:sldId xmlns:r="http://schemas.openxmlformats.org/officeDocument/2006/relationships" id="288" r:id="R2181a08e1f5743cf"/>
    <p:sldId xmlns:r="http://schemas.openxmlformats.org/officeDocument/2006/relationships" id="289" r:id="R1a9045c8f133453e"/>
    <p:sldId xmlns:r="http://schemas.openxmlformats.org/officeDocument/2006/relationships" id="290" r:id="R11c7bdd2a9454ccf"/>
    <p:sldId xmlns:r="http://schemas.openxmlformats.org/officeDocument/2006/relationships" id="291" r:id="Re6f0b9852e384d03"/>
    <p:sldId xmlns:r="http://schemas.openxmlformats.org/officeDocument/2006/relationships" id="292" r:id="Rcc2098dbb7274928"/>
    <p:sldId xmlns:r="http://schemas.openxmlformats.org/officeDocument/2006/relationships" id="293" r:id="R723acdccda6e41f7"/>
    <p:sldId xmlns:r="http://schemas.openxmlformats.org/officeDocument/2006/relationships" id="294" r:id="R324c947a9d304317"/>
    <p:sldId xmlns:r="http://schemas.openxmlformats.org/officeDocument/2006/relationships" id="295" r:id="R8df530269ec44ac2"/>
    <p:sldId xmlns:r="http://schemas.openxmlformats.org/officeDocument/2006/relationships" id="296" r:id="R859ec670ca5c45f6"/>
    <p:sldId xmlns:r="http://schemas.openxmlformats.org/officeDocument/2006/relationships" id="297" r:id="Rccfc00af6ac546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a95b73831b4b55" /><Relationship Type="http://schemas.openxmlformats.org/officeDocument/2006/relationships/slideMaster" Target="/ppt/slideMasters/slideMaster1.xml" Id="R1e859310baff4060" /><Relationship Type="http://schemas.openxmlformats.org/officeDocument/2006/relationships/notesMaster" Target="/ppt/notesMasters/notesMaster1.xml" Id="Rb733e65b2ee44ae4" /><Relationship Type="http://schemas.openxmlformats.org/officeDocument/2006/relationships/presProps" Target="/ppt/presProps.xml" Id="Rf22cb3a70dc8419e" /><Relationship Type="http://schemas.openxmlformats.org/officeDocument/2006/relationships/tableStyles" Target="/ppt/tableStyles.xml" Id="R7a501ad562104c51" /><Relationship Type="http://schemas.openxmlformats.org/officeDocument/2006/relationships/slide" Target="/ppt/slides/slide1.xml" Id="Rcb3d94cf9e3d4169" /><Relationship Type="http://schemas.openxmlformats.org/officeDocument/2006/relationships/slide" Target="/ppt/slides/slide2.xml" Id="R9bcaea804a5d4a99" /><Relationship Type="http://schemas.openxmlformats.org/officeDocument/2006/relationships/slide" Target="/ppt/slides/slide3.xml" Id="Rc29451557a5b44c7" /><Relationship Type="http://schemas.openxmlformats.org/officeDocument/2006/relationships/slide" Target="/ppt/slides/slide4.xml" Id="R863c6b6402db4531" /><Relationship Type="http://schemas.openxmlformats.org/officeDocument/2006/relationships/slide" Target="/ppt/slides/slide5.xml" Id="R93253e78bab54715" /><Relationship Type="http://schemas.openxmlformats.org/officeDocument/2006/relationships/slide" Target="/ppt/slides/slide6.xml" Id="Ra62820c4a8ae43ba" /><Relationship Type="http://schemas.openxmlformats.org/officeDocument/2006/relationships/slide" Target="/ppt/slides/slide7.xml" Id="R5448e7c9cd8c437d" /><Relationship Type="http://schemas.openxmlformats.org/officeDocument/2006/relationships/slide" Target="/ppt/slides/slide8.xml" Id="R33b1954d1e294272" /><Relationship Type="http://schemas.openxmlformats.org/officeDocument/2006/relationships/slide" Target="/ppt/slides/slide9.xml" Id="R1d8b276f69234d18" /><Relationship Type="http://schemas.openxmlformats.org/officeDocument/2006/relationships/slide" Target="/ppt/slides/slide10.xml" Id="R3ca9d7992fdd455c" /><Relationship Type="http://schemas.openxmlformats.org/officeDocument/2006/relationships/slide" Target="/ppt/slides/slide11.xml" Id="R09a281ccf35547a6" /><Relationship Type="http://schemas.openxmlformats.org/officeDocument/2006/relationships/slide" Target="/ppt/slides/slide12.xml" Id="Rfb43528f0e6b46a1" /><Relationship Type="http://schemas.openxmlformats.org/officeDocument/2006/relationships/slide" Target="/ppt/slides/slide13.xml" Id="R10f3edd67fdf46dc" /><Relationship Type="http://schemas.openxmlformats.org/officeDocument/2006/relationships/slide" Target="/ppt/slides/slide14.xml" Id="R590d164887824bbb" /><Relationship Type="http://schemas.openxmlformats.org/officeDocument/2006/relationships/slide" Target="/ppt/slides/slide15.xml" Id="Rbc27b8f10e014124" /><Relationship Type="http://schemas.openxmlformats.org/officeDocument/2006/relationships/slide" Target="/ppt/slides/slide16.xml" Id="Rd8afeb30ab284d6f" /><Relationship Type="http://schemas.openxmlformats.org/officeDocument/2006/relationships/slide" Target="/ppt/slides/slide17.xml" Id="Racf1c17073504913" /><Relationship Type="http://schemas.openxmlformats.org/officeDocument/2006/relationships/slide" Target="/ppt/slides/slide18.xml" Id="R2e0ca3db4b904dc9" /><Relationship Type="http://schemas.openxmlformats.org/officeDocument/2006/relationships/slide" Target="/ppt/slides/slide19.xml" Id="Rc2005fecad984b11" /><Relationship Type="http://schemas.openxmlformats.org/officeDocument/2006/relationships/slide" Target="/ppt/slides/slide20.xml" Id="R30bf6a68b5c74dc4" /><Relationship Type="http://schemas.openxmlformats.org/officeDocument/2006/relationships/slide" Target="/ppt/slides/slide21.xml" Id="Rbe48b900ec4b4d7a" /><Relationship Type="http://schemas.openxmlformats.org/officeDocument/2006/relationships/slide" Target="/ppt/slides/slide22.xml" Id="R4504f16c3f304e77" /><Relationship Type="http://schemas.openxmlformats.org/officeDocument/2006/relationships/slide" Target="/ppt/slides/slide23.xml" Id="Rb38312794a144a8b" /><Relationship Type="http://schemas.openxmlformats.org/officeDocument/2006/relationships/slide" Target="/ppt/slides/slide24.xml" Id="Rc05e4eb633a94ef1" /><Relationship Type="http://schemas.openxmlformats.org/officeDocument/2006/relationships/slide" Target="/ppt/slides/slide25.xml" Id="Ref46535c77a04ff7" /><Relationship Type="http://schemas.openxmlformats.org/officeDocument/2006/relationships/slide" Target="/ppt/slides/slide26.xml" Id="Rb7d8087117424cde" /><Relationship Type="http://schemas.openxmlformats.org/officeDocument/2006/relationships/slide" Target="/ppt/slides/slide27.xml" Id="Rea4b18db33b54bdb" /><Relationship Type="http://schemas.openxmlformats.org/officeDocument/2006/relationships/slide" Target="/ppt/slides/slide28.xml" Id="R030bb399d9174331" /><Relationship Type="http://schemas.openxmlformats.org/officeDocument/2006/relationships/slide" Target="/ppt/slides/slide29.xml" Id="R52f5df86b5a84204" /><Relationship Type="http://schemas.openxmlformats.org/officeDocument/2006/relationships/slide" Target="/ppt/slides/slide30.xml" Id="R16d62ac727fe4886" /><Relationship Type="http://schemas.openxmlformats.org/officeDocument/2006/relationships/slide" Target="/ppt/slides/slide31.xml" Id="Rd3f68ae70cfd490a" /><Relationship Type="http://schemas.openxmlformats.org/officeDocument/2006/relationships/slide" Target="/ppt/slides/slide32.xml" Id="Rf3d6522ddd93412d" /><Relationship Type="http://schemas.openxmlformats.org/officeDocument/2006/relationships/slide" Target="/ppt/slides/slide33.xml" Id="R2181a08e1f5743cf" /><Relationship Type="http://schemas.openxmlformats.org/officeDocument/2006/relationships/slide" Target="/ppt/slides/slide34.xml" Id="R1a9045c8f133453e" /><Relationship Type="http://schemas.openxmlformats.org/officeDocument/2006/relationships/slide" Target="/ppt/slides/slide35.xml" Id="R11c7bdd2a9454ccf" /><Relationship Type="http://schemas.openxmlformats.org/officeDocument/2006/relationships/slide" Target="/ppt/slides/slide36.xml" Id="Re6f0b9852e384d03" /><Relationship Type="http://schemas.openxmlformats.org/officeDocument/2006/relationships/slide" Target="/ppt/slides/slide37.xml" Id="Rcc2098dbb7274928" /><Relationship Type="http://schemas.openxmlformats.org/officeDocument/2006/relationships/slide" Target="/ppt/slides/slide38.xml" Id="R723acdccda6e41f7" /><Relationship Type="http://schemas.openxmlformats.org/officeDocument/2006/relationships/slide" Target="/ppt/slides/slide39.xml" Id="R324c947a9d304317" /><Relationship Type="http://schemas.openxmlformats.org/officeDocument/2006/relationships/slide" Target="/ppt/slides/slide40.xml" Id="R8df530269ec44ac2" /><Relationship Type="http://schemas.openxmlformats.org/officeDocument/2006/relationships/slide" Target="/ppt/slides/slide41.xml" Id="R859ec670ca5c45f6" /><Relationship Type="http://schemas.openxmlformats.org/officeDocument/2006/relationships/slide" Target="/ppt/slides/slide42.xml" Id="Rccfc00af6ac546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10740e982844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5fa9e2c35545ec" /><Relationship Type="http://schemas.openxmlformats.org/officeDocument/2006/relationships/notesMaster" Target="/ppt/notesMasters/notesMaster1.xml" Id="Rab0d40bc08994b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778d1a2fd84862" /><Relationship Type="http://schemas.openxmlformats.org/officeDocument/2006/relationships/notesMaster" Target="/ppt/notesMasters/notesMaster1.xml" Id="Rdb8c3f01c7bc4b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91d33b132642e6" /><Relationship Type="http://schemas.openxmlformats.org/officeDocument/2006/relationships/notesMaster" Target="/ppt/notesMasters/notesMaster1.xml" Id="Rd271aedfeacb4f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8e9999ef1948ef" /><Relationship Type="http://schemas.openxmlformats.org/officeDocument/2006/relationships/notesMaster" Target="/ppt/notesMasters/notesMaster1.xml" Id="Rdd3ef176669344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c8026d9aa54f13" /><Relationship Type="http://schemas.openxmlformats.org/officeDocument/2006/relationships/notesMaster" Target="/ppt/notesMasters/notesMaster1.xml" Id="R28bccf4c125c40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a28849a659407f" /><Relationship Type="http://schemas.openxmlformats.org/officeDocument/2006/relationships/notesMaster" Target="/ppt/notesMasters/notesMaster1.xml" Id="R922803af80844e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96dbcf4d3c459e" /><Relationship Type="http://schemas.openxmlformats.org/officeDocument/2006/relationships/notesMaster" Target="/ppt/notesMasters/notesMaster1.xml" Id="Ra14a75c708a94a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1faf135c494dd5" /><Relationship Type="http://schemas.openxmlformats.org/officeDocument/2006/relationships/notesMaster" Target="/ppt/notesMasters/notesMaster1.xml" Id="R01757314317341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8b3e70f02a436b" /><Relationship Type="http://schemas.openxmlformats.org/officeDocument/2006/relationships/notesMaster" Target="/ppt/notesMasters/notesMaster1.xml" Id="Rccc75ff9448448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455fa169ab4644" /><Relationship Type="http://schemas.openxmlformats.org/officeDocument/2006/relationships/notesMaster" Target="/ppt/notesMasters/notesMaster1.xml" Id="Re83f5bca14ff4e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b6bd7a5dc94d13" /><Relationship Type="http://schemas.openxmlformats.org/officeDocument/2006/relationships/notesMaster" Target="/ppt/notesMasters/notesMaster1.xml" Id="Rd8720723da1042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28255ca2d246ac" /><Relationship Type="http://schemas.openxmlformats.org/officeDocument/2006/relationships/notesMaster" Target="/ppt/notesMasters/notesMaster1.xml" Id="Rbefd7618fbff42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c38c1799a04b01" /><Relationship Type="http://schemas.openxmlformats.org/officeDocument/2006/relationships/notesMaster" Target="/ppt/notesMasters/notesMaster1.xml" Id="Red3e7316aded495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a4748d2cb64ca3" /><Relationship Type="http://schemas.openxmlformats.org/officeDocument/2006/relationships/notesMaster" Target="/ppt/notesMasters/notesMaster1.xml" Id="R45808843b46b4cf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7c082c422e44169" /><Relationship Type="http://schemas.openxmlformats.org/officeDocument/2006/relationships/notesMaster" Target="/ppt/notesMasters/notesMaster1.xml" Id="R161a3a13e2ae47c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267dba94405422a" /><Relationship Type="http://schemas.openxmlformats.org/officeDocument/2006/relationships/notesMaster" Target="/ppt/notesMasters/notesMaster1.xml" Id="R32234ca60e6d49c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bbf440245df49eb" /><Relationship Type="http://schemas.openxmlformats.org/officeDocument/2006/relationships/notesMaster" Target="/ppt/notesMasters/notesMaster1.xml" Id="R4c6d34a6435a43f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0352dbb7332445b" /><Relationship Type="http://schemas.openxmlformats.org/officeDocument/2006/relationships/notesMaster" Target="/ppt/notesMasters/notesMaster1.xml" Id="Rdc26eb04bafc451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b9f5d3ecc8b4cb8" /><Relationship Type="http://schemas.openxmlformats.org/officeDocument/2006/relationships/notesMaster" Target="/ppt/notesMasters/notesMaster1.xml" Id="R96ae922c5b13437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6391cae7a524442" /><Relationship Type="http://schemas.openxmlformats.org/officeDocument/2006/relationships/notesMaster" Target="/ppt/notesMasters/notesMaster1.xml" Id="R3b1903d738674be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ac353897f964a7a" /><Relationship Type="http://schemas.openxmlformats.org/officeDocument/2006/relationships/notesMaster" Target="/ppt/notesMasters/notesMaster1.xml" Id="R7687892d58f4433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fe386bed1dc488e" /><Relationship Type="http://schemas.openxmlformats.org/officeDocument/2006/relationships/notesMaster" Target="/ppt/notesMasters/notesMaster1.xml" Id="Rb4ae486a29514cc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375c1e83c174c3c" /><Relationship Type="http://schemas.openxmlformats.org/officeDocument/2006/relationships/notesMaster" Target="/ppt/notesMasters/notesMaster1.xml" Id="Ra4572165b64a411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d1b9c764c0e481e" /><Relationship Type="http://schemas.openxmlformats.org/officeDocument/2006/relationships/notesMaster" Target="/ppt/notesMasters/notesMaster1.xml" Id="R975ff20621bc450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68d111075274869" /><Relationship Type="http://schemas.openxmlformats.org/officeDocument/2006/relationships/notesMaster" Target="/ppt/notesMasters/notesMaster1.xml" Id="R8e6a5d4f8b2d4d8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c6a1b9fba2445c7" /><Relationship Type="http://schemas.openxmlformats.org/officeDocument/2006/relationships/notesMaster" Target="/ppt/notesMasters/notesMaster1.xml" Id="R527b392b03d44b1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432579017b84b8a" /><Relationship Type="http://schemas.openxmlformats.org/officeDocument/2006/relationships/notesMaster" Target="/ppt/notesMasters/notesMaster1.xml" Id="R7ccf82bbcffa48c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e6ed5b8fb66429f" /><Relationship Type="http://schemas.openxmlformats.org/officeDocument/2006/relationships/notesMaster" Target="/ppt/notesMasters/notesMaster1.xml" Id="Rd54ed0d09a224da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2ec256f46e147f9" /><Relationship Type="http://schemas.openxmlformats.org/officeDocument/2006/relationships/notesMaster" Target="/ppt/notesMasters/notesMaster1.xml" Id="Rf00d5eb1e432450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8e181cc22b5437f" /><Relationship Type="http://schemas.openxmlformats.org/officeDocument/2006/relationships/notesMaster" Target="/ppt/notesMasters/notesMaster1.xml" Id="R8f85b16483c0497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e078b643e214758" /><Relationship Type="http://schemas.openxmlformats.org/officeDocument/2006/relationships/notesMaster" Target="/ppt/notesMasters/notesMaster1.xml" Id="Rfeff29aa92d1439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8fdb5070bcf4675" /><Relationship Type="http://schemas.openxmlformats.org/officeDocument/2006/relationships/notesMaster" Target="/ppt/notesMasters/notesMaster1.xml" Id="R52695a8290e641b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bf7d26af2dc4199" /><Relationship Type="http://schemas.openxmlformats.org/officeDocument/2006/relationships/notesMaster" Target="/ppt/notesMasters/notesMaster1.xml" Id="R555520c1a5e7495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f070b647b764a51" /><Relationship Type="http://schemas.openxmlformats.org/officeDocument/2006/relationships/notesMaster" Target="/ppt/notesMasters/notesMaster1.xml" Id="Reb5ddb0a7f384f5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f01040fa8b54b3e" /><Relationship Type="http://schemas.openxmlformats.org/officeDocument/2006/relationships/notesMaster" Target="/ppt/notesMasters/notesMaster1.xml" Id="R6045c0c998d24f8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175f824ccc14278" /><Relationship Type="http://schemas.openxmlformats.org/officeDocument/2006/relationships/notesMaster" Target="/ppt/notesMasters/notesMaster1.xml" Id="R3bd53b452a7e465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9f5995219064cb8" /><Relationship Type="http://schemas.openxmlformats.org/officeDocument/2006/relationships/notesMaster" Target="/ppt/notesMasters/notesMaster1.xml" Id="R1f878e37bb174ce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19b60e900e04248" /><Relationship Type="http://schemas.openxmlformats.org/officeDocument/2006/relationships/notesMaster" Target="/ppt/notesMasters/notesMaster1.xml" Id="R3600a92eb29e481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74295606667462e" /><Relationship Type="http://schemas.openxmlformats.org/officeDocument/2006/relationships/notesMaster" Target="/ppt/notesMasters/notesMaster1.xml" Id="Red6950583fac483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f8bfecd521a45e1" /><Relationship Type="http://schemas.openxmlformats.org/officeDocument/2006/relationships/notesMaster" Target="/ppt/notesMasters/notesMaster1.xml" Id="R77ce4c808b7848e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b16163fbaa84fb2" /><Relationship Type="http://schemas.openxmlformats.org/officeDocument/2006/relationships/notesMaster" Target="/ppt/notesMasters/notesMaster1.xml" Id="R4886178b9e36478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4c807ee3531452d" /><Relationship Type="http://schemas.openxmlformats.org/officeDocument/2006/relationships/notesMaster" Target="/ppt/notesMasters/notesMaster1.xml" Id="R466f826bef694b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交通数据挖掘</a:t>
            </a:r>
          </a:p>
          <a:p xmlns:a="http://schemas.openxmlformats.org/drawingml/2006/main">
            <a:r>
              <a:t>教材对应：start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课前打开网页，检查本地数据加载。说明本章建立问题意识，不要求学生掌握后续章节的全部算法。封面为AI生成的概念插画，不代表实际地点。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本节课的学习目标</a:t>
            </a:r>
          </a:p>
          <a:p xmlns:a="http://schemas.openxmlformats.org/drawingml/2006/main">
            <a:r>
              <a:t>教材对应：start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5分钟导入。请学生说出最近一次遇到的拥堵或打车经历，挑一个贯穿课堂。说明90分钟为建议教学时长，部分拓展活动可课后完成。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前方没有事故，为什么车队仍会停下来？</a:t>
            </a:r>
          </a:p>
          <a:p xmlns:a="http://schemas.openxmlformats.org/drawingml/2006/main">
            <a:r>
              <a:t>教材对应：1.1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邀请学生举手投票：一定有事故，或可能由车队内部扰动产生。网页动画是延迟响应的简化演示，参数没有根据实测标定，不能用来推算真实通行能力。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Vanderbilt：环形道路实验与适用边界</a:t>
            </a:r>
          </a:p>
          <a:p xmlns:a="http://schemas.openxmlformats.org/drawingml/2006/main">
            <a:r>
              <a:t>https://news.vanderbilt.edu/2018/04/30/expert-autonomous-vehicles-could-help-traffic-but-not-anytime-soon/</a:t>
            </a:r>
          </a:p>
          <a:p xmlns:a="http://schemas.openxmlformats.org/drawingml/2006/main">
            <a:r>
              <a:t>2018年官方科普。封闭环道实验不能直接等同于复杂城市路网。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视频观察：减速波的传播</a:t>
            </a:r>
          </a:p>
          <a:p xmlns:a="http://schemas.openxmlformats.org/drawingml/2006/main">
            <a:r>
              <a:t>教材对应：1.1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播放约2分钟。学生观察后用一句话描述，不立即要求给出原因。离线时使用上一页动画并朗读备用说明。视频不随文件分发，需联网访问官方平台。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Vanderbilt：环形道路实验与适用边界</a:t>
            </a:r>
          </a:p>
          <a:p xmlns:a="http://schemas.openxmlformats.org/drawingml/2006/main">
            <a:r>
              <a:t>https://news.vanderbilt.edu/2018/04/30/expert-autonomous-vehicles-could-help-traffic-but-not-anytime-soon/</a:t>
            </a:r>
          </a:p>
          <a:p xmlns:a="http://schemas.openxmlformats.org/drawingml/2006/main">
            <a:r>
              <a:t>2018年官方科普。封闭环道实验不能直接等同于复杂城市路网。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交通数据挖掘的基本认识</a:t>
            </a:r>
          </a:p>
          <a:p xmlns:a="http://schemas.openxmlformats.org/drawingml/2006/main">
            <a:r>
              <a:t>教材对应：1.1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对应1.1.1。先解释变量、特征、模型，再使用这些名词。举例：同一个速度字段在不同任务里可能是输入，也可能是目标。挖掘出关联不等于证明原因。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《交通数据挖掘理论与应用》清洁合稿，第1章</a:t>
            </a:r>
          </a:p>
          <a:p xmlns:a="http://schemas.openxmlformats.org/drawingml/2006/main">
            <a:r>
              <a:t>以用户提供的最新清洁合稿为基础，按1.1—1.6组织。书稿未作修改。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典型任务与交通问题</a:t>
            </a:r>
          </a:p>
          <a:p xmlns:a="http://schemas.openxmlformats.org/drawingml/2006/main">
            <a:r>
              <a:t>教材对应：1.1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对应1.1.4。不要把预测局限为数值回归。聚类通常没有现成类别标签。决策问题还需要控制变量和约束，不由一个预测分数自动产生。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《交通数据挖掘理论与应用》清洁合稿，第1章</a:t>
            </a:r>
          </a:p>
          <a:p xmlns:a="http://schemas.openxmlformats.org/drawingml/2006/main">
            <a:r>
              <a:t>以用户提供的最新清洁合稿为基础，按1.1—1.6组织。书稿未作修改。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同一个路口，可以提出不同任务</a:t>
            </a:r>
          </a:p>
          <a:p xmlns:a="http://schemas.openxmlformats.org/drawingml/2006/main">
            <a:r>
              <a:t>教材对应：1.1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学生两人一组完成配对。讨论为什么不能仅凭“用了摄像头”就决定模型类别。网页逐题反馈，不需要拖拽，也支持键盘操作。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数据采集方式与研究范围</a:t>
            </a:r>
          </a:p>
          <a:p xmlns:a="http://schemas.openxmlformats.org/drawingml/2006/main">
            <a:r>
              <a:t>教材对应：1.1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对应1.1.2—1.1.3。由技术发展转到研究意义：提高运行诊断和决策依据，但数据密度提高不会自动消除代表性偏差。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《交通数据挖掘理论与应用》清洁合稿，第1章</a:t>
            </a:r>
          </a:p>
          <a:p xmlns:a="http://schemas.openxmlformats.org/drawingml/2006/main">
            <a:r>
              <a:t>以用户提供的最新清洁合稿为基础，按1.1—1.6组织。书稿未作修改。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车少，就一定通畅吗？</a:t>
            </a:r>
          </a:p>
          <a:p xmlns:a="http://schemas.openxmlformats.org/drawingml/2006/main">
            <a:r>
              <a:t>教材对应：1.2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对应1.2.1。先定义交通量为指定时间通过断面的车辆数，速度表示运动快慢。让学生提出补充观测，例如速度、占有率或排队长度。本页是概念情境，不是I-94数据分析结论。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《交通数据挖掘理论与应用》清洁合稿，第1章</a:t>
            </a:r>
          </a:p>
          <a:p xmlns:a="http://schemas.openxmlformats.org/drawingml/2006/main">
            <a:r>
              <a:t>以用户提供的最新清洁合稿为基础，按1.1—1.6组织。书稿未作修改。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事故多的道路，风险一定更高吗？</a:t>
            </a:r>
          </a:p>
          <a:p xmlns:a="http://schemas.openxmlformats.org/drawingml/2006/main">
            <a:r>
              <a:t>教材对应：1.2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4分钟。先只让学生看事故数投票，再补充分母。网页调整暴露量并重新比较。不要把简单比率当成显著性检验或完整因果分析。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一条记录的含义决定分析口径</a:t>
            </a:r>
          </a:p>
          <a:p xmlns:a="http://schemas.openxmlformats.org/drawingml/2006/main">
            <a:r>
              <a:t>教材对应：1.2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对应1.2.2。用午夜没有记录说明缺失不等于零。代码语法正确并不保证观察对象定义正确。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《交通数据挖掘理论与应用》清洁合稿，第1章</a:t>
            </a:r>
          </a:p>
          <a:p xmlns:a="http://schemas.openxmlformats.org/drawingml/2006/main">
            <a:r>
              <a:t>以用户提供的最新清洁合稿为基础，按1.1—1.6组织。书稿未作修改。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理论、工具与数理基础的分工</a:t>
            </a:r>
          </a:p>
          <a:p xmlns:a="http://schemas.openxmlformats.org/drawingml/2006/main">
            <a:r>
              <a:t>教材对应：1.2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对应1.2.1—1.2.3。用事故率例子串联：交通知识选择暴露量，工具统一观察期，统计知识处理估计的不稳定性。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《交通数据挖掘理论与应用》清洁合稿，第1章</a:t>
            </a:r>
          </a:p>
          <a:p xmlns:a="http://schemas.openxmlformats.org/drawingml/2006/main">
            <a:r>
              <a:t>以用户提供的最新清洁合稿为基础，按1.1—1.6组织。书稿未作修改。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交通数据分析的四个阶段</a:t>
            </a:r>
          </a:p>
          <a:p xmlns:a="http://schemas.openxmlformats.org/drawingml/2006/main">
            <a:r>
              <a:t>教材对应：1.2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对应1.2.4，保留教材四阶段结构。后续用8:00预测8:30的情境检验每一阶段是否交代充分。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《交通数据挖掘理论与应用》清洁合稿，第1章</a:t>
            </a:r>
          </a:p>
          <a:p xmlns:a="http://schemas.openxmlformats.org/drawingml/2006/main">
            <a:r>
              <a:t>以用户提供的最新清洁合稿为基础，按1.1—1.6组织。书稿未作修改。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8:00预测8:30，哪些信息能用？</a:t>
            </a:r>
          </a:p>
          <a:p xmlns:a="http://schemas.openxmlformats.org/drawingml/2006/main">
            <a:r>
              <a:t>教材对应：1.2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让学生独立勾选。正确为第一、第三项。解释未来天气“预报”与未来天气“实测”区别，防止把全部未来指向信息一律排除。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真实案例：一条高速公路的小时交通量</a:t>
            </a:r>
          </a:p>
          <a:p xmlns:a="http://schemas.openxmlformats.org/drawingml/2006/main">
            <a:r>
              <a:t>教材对应：1.2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为保持可重复，网页使用随课件打包的固定快照，不实时查询接口。温度转换为摄氏度仅为方便阅读，不改变原交通量值。部分年份覆盖不完整。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UCI：Metro Interstate Traffic Volume</a:t>
            </a:r>
          </a:p>
          <a:p xmlns:a="http://schemas.openxmlformats.org/drawingml/2006/main">
            <a:r>
              <a:t>https://archive.ics.uci.edu/dataset/492/metro+interstate+traffic+volume</a:t>
            </a:r>
          </a:p>
          <a:p xmlns:a="http://schemas.openxmlformats.org/drawingml/2006/main">
            <a:r>
              <a:t>John Hogue，2019，DOI 10.24432/C5X60B，CC BY 4.0。课件合并同一小时的重复天气记录，不补齐缺失小时。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48,204行，不等于48,204个小时</a:t>
            </a:r>
          </a:p>
          <a:p xmlns:a="http://schemas.openxmlformats.org/drawingml/2006/main">
            <a:r>
              <a:t>教材对应：1.2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数据核验发现重复时间标签对应的交通量没有冲突。保留的不同小时标签仍不自动解决时区或夏令时歧义。本课件按源文件本地时间标签工作，不声称重建了完整UTC时间轴。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UCI：Metro Interstate Traffic Volume</a:t>
            </a:r>
          </a:p>
          <a:p xmlns:a="http://schemas.openxmlformats.org/drawingml/2006/main">
            <a:r>
              <a:t>https://archive.ics.uci.edu/dataset/492/metro+interstate+traffic+volume</a:t>
            </a:r>
          </a:p>
          <a:p xmlns:a="http://schemas.openxmlformats.org/drawingml/2006/main">
            <a:r>
              <a:t>John Hogue，2019，DOI 10.24432/C5X60B，CC BY 4.0。课件合并同一小时的重复天气记录，不补齐缺失小时。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平日与周末的流量节律</a:t>
            </a:r>
          </a:p>
          <a:p xmlns:a="http://schemas.openxmlformats.org/drawingml/2006/main">
            <a:r>
              <a:t>教材对应：1.2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约4分钟互动。请学生找平日与周末差别最大的时段，再说明均值掩盖了哪些每日变化。网页有数据表和CSV，保证图与数可核对。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UCI：Metro Interstate Traffic Volume</a:t>
            </a:r>
          </a:p>
          <a:p xmlns:a="http://schemas.openxmlformats.org/drawingml/2006/main">
            <a:r>
              <a:t>https://archive.ics.uci.edu/dataset/492/metro+interstate+traffic+volume</a:t>
            </a:r>
          </a:p>
          <a:p xmlns:a="http://schemas.openxmlformats.org/drawingml/2006/main">
            <a:r>
              <a:t>John Hogue，2019，DOI 10.24432/C5X60B，CC BY 4.0。课件合并同一小时的重复天气记录，不补齐缺失小时。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夜间出行：谁还在路上？</a:t>
            </a:r>
          </a:p>
          <a:p xmlns:a="http://schemas.openxmlformats.org/drawingml/2006/main">
            <a:r>
              <a:t>教材对应：1.3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衔接1.3.2时序数据。可提出多个解释，但不把合理故事当作证据。图来自同一I-94真实快照，本页是不同教学问题，不把它包装成另一数据集。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UCI：Metro Interstate Traffic Volume</a:t>
            </a:r>
          </a:p>
          <a:p xmlns:a="http://schemas.openxmlformats.org/drawingml/2006/main">
            <a:r>
              <a:t>https://archive.ics.uci.edu/dataset/492/metro+interstate+traffic+volume</a:t>
            </a:r>
          </a:p>
          <a:p xmlns:a="http://schemas.openxmlformats.org/drawingml/2006/main">
            <a:r>
              <a:t>John Hogue，2019，DOI 10.24432/C5X60B，CC BY 4.0。课件合并同一小时的重复天气记录，不补齐缺失小时。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雨天流量低，是下雨造成的吗？</a:t>
            </a:r>
          </a:p>
          <a:p xmlns:a="http://schemas.openxmlformats.org/drawingml/2006/main">
            <a:r>
              <a:t>教材对应：1.3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网页选择Rain和Clear并选择小时。两天气集合可能重叠，因为同一小时保留多个标签。学生可以发现总体均值与分时均值不同，但不能据此声称已经控制全部混杂因素。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UCI：Metro Interstate Traffic Volume</a:t>
            </a:r>
          </a:p>
          <a:p xmlns:a="http://schemas.openxmlformats.org/drawingml/2006/main">
            <a:r>
              <a:t>https://archive.ics.uci.edu/dataset/492/metro+interstate+traffic+volume</a:t>
            </a:r>
          </a:p>
          <a:p xmlns:a="http://schemas.openxmlformats.org/drawingml/2006/main">
            <a:r>
              <a:t>John Hogue，2019，DOI 10.24432/C5X60B，CC BY 4.0。课件合并同一小时的重复天气记录，不补齐缺失小时。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表格型数据：一行是一趟车，还是一个人？</a:t>
            </a:r>
          </a:p>
          <a:p xmlns:a="http://schemas.openxmlformats.org/drawingml/2006/main">
            <a:r>
              <a:t>教材对应：1.3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对应1.3.1。用行程记录展示字段结构。本课程汇总的是记录条数，不依赖乘客人数和车费质量。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NYC TLC：Trip Record Data</a:t>
            </a:r>
          </a:p>
          <a:p xmlns:a="http://schemas.openxmlformats.org/drawingml/2006/main">
            <a:r>
              <a:t>https://www.nyc.gov/site/tlc/about/tlc-trip-record-data.page</a:t>
            </a:r>
          </a:p>
          <a:p xmlns:a="http://schemas.openxmlformats.org/drawingml/2006/main">
            <a:r>
              <a:t>2024年1月绿出租车。按上车时间保留当月记录，只发布汇总统计。原始数据遵循纽约市开放数据条款，TLC不保证记录准确性。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《交通数据挖掘理论与应用》清洁合稿，第1章</a:t>
            </a:r>
          </a:p>
          <a:p xmlns:a="http://schemas.openxmlformats.org/drawingml/2006/main">
            <a:r>
              <a:t>以用户提供的最新清洁合稿为基础，按1.1—1.6组织。书稿未作修改。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打车最热的地方，就是居民出行最多的地方？</a:t>
            </a:r>
          </a:p>
          <a:p xmlns:a="http://schemas.openxmlformats.org/drawingml/2006/main">
            <a:r>
              <a:t>教材对应：1.3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约3分钟。聚合只按上车行政区、小时和日类型。图中的Manhattan最多只支持该绿出租车样本结论。EWR是机场分区，Unknown为未知，不应混进纽约市五行政区后改名。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NYC TLC：Trip Record Data</a:t>
            </a:r>
          </a:p>
          <a:p xmlns:a="http://schemas.openxmlformats.org/drawingml/2006/main">
            <a:r>
              <a:t>https://www.nyc.gov/site/tlc/about/tlc-trip-record-data.page</a:t>
            </a:r>
          </a:p>
          <a:p xmlns:a="http://schemas.openxmlformats.org/drawingml/2006/main">
            <a:r>
              <a:t>2024年1月绿出租车。按上车时间保留当月记录，只发布汇总统计。原始数据遵循纽约市开放数据条款，TLC不保证记录准确性。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位置数据：点多的地方意味着什么？</a:t>
            </a:r>
          </a:p>
          <a:p xmlns:a="http://schemas.openxmlformats.org/drawingml/2006/main">
            <a:r>
              <a:t>教材对应：1.3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对应1.3.3。让学生思考红灯前点密集究竟反映车辆多，还是停留久。OD指起点与终点；地图匹配指把位置观测关联到道路。避免未解释就使用缩写。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 Research：T-Drive轨迹样本</a:t>
            </a:r>
          </a:p>
          <a:p xmlns:a="http://schemas.openxmlformats.org/drawingml/2006/main">
            <a:r>
              <a:t>https://www.microsoft.com/en-us/research/publication/t-drive-trajectory-data-sample/</a:t>
            </a:r>
          </a:p>
          <a:p xmlns:a="http://schemas.openxmlformats.org/drawingml/2006/main">
            <a:r>
              <a:t>用于讨论出租车GPS轨迹的空间覆盖和采样限制，本课件不分发个人轨迹。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《交通数据挖掘理论与应用》清洁合稿，第1章</a:t>
            </a:r>
          </a:p>
          <a:p xmlns:a="http://schemas.openxmlformats.org/drawingml/2006/main">
            <a:r>
              <a:t>以用户提供的最新清洁合稿为基础，按1.1—1.6组织。书稿未作修改。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时序数据：时间顺序本身就是信息</a:t>
            </a:r>
          </a:p>
          <a:p xmlns:a="http://schemas.openxmlformats.org/drawingml/2006/main">
            <a:r>
              <a:t>教材对应：1.3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对应1.3.2。网页仅比较1、3、6小时均值，避免把原小时数据插值伪造成5分钟实测。选择缺失日期时提示缺口，不把缺测小时按零补齐。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UCI：Metro Interstate Traffic Volume</a:t>
            </a:r>
          </a:p>
          <a:p xmlns:a="http://schemas.openxmlformats.org/drawingml/2006/main">
            <a:r>
              <a:t>https://archive.ics.uci.edu/dataset/492/metro+interstate+traffic+volume</a:t>
            </a:r>
          </a:p>
          <a:p xmlns:a="http://schemas.openxmlformats.org/drawingml/2006/main">
            <a:r>
              <a:t>John Hogue，2019，DOI 10.24432/C5X60B，CC BY 4.0。课件合并同一小时的重复天气记录，不补齐缺失小时。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《交通数据挖掘理论与应用》清洁合稿，第1章</a:t>
            </a:r>
          </a:p>
          <a:p xmlns:a="http://schemas.openxmlformats.org/drawingml/2006/main">
            <a:r>
              <a:t>以用户提供的最新清洁合稿为基础，按1.1—1.6组织。书稿未作修改。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时空数据：多条道路一起变化</a:t>
            </a:r>
          </a:p>
          <a:p xmlns:a="http://schemas.openxmlformats.org/drawingml/2006/main">
            <a:r>
              <a:t>教材对应：1.3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对应1.3.4。邻接矩阵只在学生理解节点和连接后介绍为“记录节点关系的表”。空间关系应说明构造依据。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《交通数据挖掘理论与应用》清洁合稿，第1章</a:t>
            </a:r>
          </a:p>
          <a:p xmlns:a="http://schemas.openxmlformats.org/drawingml/2006/main">
            <a:r>
              <a:t>以用户提供的最新清洁合稿为基础，按1.1—1.6组织。书稿未作修改。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影像任务的输出有什么不同？</a:t>
            </a:r>
          </a:p>
          <a:p xmlns:a="http://schemas.openxmlformats.org/drawingml/2006/main">
            <a:r>
              <a:t>教材对应：1.3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对应1.3.5。本章只建立概念，具体CNN、YOLO等模型留到第8章。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《交通数据挖掘理论与应用》清洁合稿，第1章</a:t>
            </a:r>
          </a:p>
          <a:p xmlns:a="http://schemas.openxmlformats.org/drawingml/2006/main">
            <a:r>
              <a:t>以用户提供的最新清洁合稿为基础，按1.1—1.6组织。书稿未作修改。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白天会识别，晚上也一定会吗？</a:t>
            </a:r>
          </a:p>
          <a:p xmlns:a="http://schemas.openxmlformats.org/drawingml/2006/main">
            <a:r>
              <a:t>教材对应：1.3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让学生打开官方演示入口，描述可见差异而非猜测模型精度。指出本页讨论的是分布差异：训练与使用时输入条件改变。涉及教学演示，不用于道路安全决策。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BDD100K官方论文（CVPR 2020）</a:t>
            </a:r>
          </a:p>
          <a:p xmlns:a="http://schemas.openxmlformats.org/drawingml/2006/main">
            <a:r>
              <a:t>https://openaccess.thecvf.com/content_CVPR_2020/html/Yu_BDD100K_A_Diverse_Driving_Dataset_for_Heterogeneous_Multitask_Learning_CVPR_2020_paper.html</a:t>
            </a:r>
          </a:p>
          <a:p xmlns:a="http://schemas.openxmlformats.org/drawingml/2006/main">
            <a:r>
              <a:t>Fisher Yu等。多场景驾驶影像与多任务标注，夜间案例用于讨论训练与使用环境的差异。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BDD100K官方工具与演示入口</a:t>
            </a:r>
          </a:p>
          <a:p xmlns:a="http://schemas.openxmlformats.org/drawingml/2006/main">
            <a:r>
              <a:t>https://github.com/bdd100k/bdd100k</a:t>
            </a:r>
          </a:p>
          <a:p xmlns:a="http://schemas.openxmlformats.org/drawingml/2006/main">
            <a:r>
              <a:t>工具代码许可与数据许可分开核对。本课件未重传影像数据。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同一辆车出现三次，要数几辆？</a:t>
            </a:r>
          </a:p>
          <a:p xmlns:a="http://schemas.openxmlformats.org/drawingml/2006/main">
            <a:r>
              <a:t>教材对应：1.3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网页采用明确标注的三帧教学坐标，支持逐帧查看和计数方式比较。该演示不运行目标检测网络，也不冒充真实视频识别。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多源融合先要回答“对得上吗”</a:t>
            </a:r>
          </a:p>
          <a:p xmlns:a="http://schemas.openxmlformats.org/drawingml/2006/main">
            <a:r>
              <a:t>教材对应：1.3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对应1.3.6。引导学生回看时间泄漏练习，说明数据融合也受当时可获得性约束。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《交通数据挖掘理论与应用》清洁合稿，第1章</a:t>
            </a:r>
          </a:p>
          <a:p xmlns:a="http://schemas.openxmlformats.org/drawingml/2006/main">
            <a:r>
              <a:t>以用户提供的最新清洁合稿为基础，按1.1—1.6组织。书稿未作修改。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公开数据集的选择</a:t>
            </a:r>
          </a:p>
          <a:p xmlns:a="http://schemas.openxmlformats.org/drawingml/2006/main">
            <a:r>
              <a:t>教材对应：1.4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对应1.4。不要求学生背诵16个名称，而是能查观察单位、标签与使用许可。不要把所有公开数据说成无条件开源。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《交通数据挖掘理论与应用》清洁合稿，第1章</a:t>
            </a:r>
          </a:p>
          <a:p xmlns:a="http://schemas.openxmlformats.org/drawingml/2006/main">
            <a:r>
              <a:t>以用户提供的最新清洁合稿为基础，按1.1—1.6组织。书稿未作修改。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UCI：Metro Interstate Traffic Volume</a:t>
            </a:r>
          </a:p>
          <a:p xmlns:a="http://schemas.openxmlformats.org/drawingml/2006/main">
            <a:r>
              <a:t>https://archive.ics.uci.edu/dataset/492/metro+interstate+traffic+volume</a:t>
            </a:r>
          </a:p>
          <a:p xmlns:a="http://schemas.openxmlformats.org/drawingml/2006/main">
            <a:r>
              <a:t>John Hogue，2019，DOI 10.24432/C5X60B，CC BY 4.0。课件合并同一小时的重复天气记录，不补齐缺失小时。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NYC TLC：Trip Record Data</a:t>
            </a:r>
          </a:p>
          <a:p xmlns:a="http://schemas.openxmlformats.org/drawingml/2006/main">
            <a:r>
              <a:t>https://www.nyc.gov/site/tlc/about/tlc-trip-record-data.page</a:t>
            </a:r>
          </a:p>
          <a:p xmlns:a="http://schemas.openxmlformats.org/drawingml/2006/main">
            <a:r>
              <a:t>2024年1月绿出租车。按上车时间保留当月记录，只发布汇总统计。原始数据遵循纽约市开放数据条款，TLC不保证记录准确性。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highD数据申请与许可</a:t>
            </a:r>
          </a:p>
          <a:p xmlns:a="http://schemas.openxmlformats.org/drawingml/2006/main">
            <a:r>
              <a:t>https://levelxdata.com/highd-dataset/</a:t>
            </a:r>
          </a:p>
          <a:p xmlns:a="http://schemas.openxmlformats.org/drawingml/2006/main">
            <a:r>
              <a:t>按官方条款申请非商业用途。不随本课件分发原始或修改后的数据集。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BDD100K官方论文（CVPR 2020）</a:t>
            </a:r>
          </a:p>
          <a:p xmlns:a="http://schemas.openxmlformats.org/drawingml/2006/main">
            <a:r>
              <a:t>https://openaccess.thecvf.com/content_CVPR_2020/html/Yu_BDD100K_A_Diverse_Driving_Dataset_for_Heterogeneous_Multitask_Learning_CVPR_2020_paper.html</a:t>
            </a:r>
          </a:p>
          <a:p xmlns:a="http://schemas.openxmlformats.org/drawingml/2006/main">
            <a:r>
              <a:t>Fisher Yu等。多场景驾驶影像与多任务标注，夜间案例用于讨论训练与使用环境的差异。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视频观察：俯视影像中的车辆轨迹</a:t>
            </a:r>
          </a:p>
          <a:p xmlns:a="http://schemas.openxmlformats.org/drawingml/2006/main">
            <a:r>
              <a:t>教材对应：1.4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播放约1分钟。学生描述得到速度还缺什么：时间间隔和坐标尺度。坐标、时间、身份三个要素为后续轨迹分析奠定基础。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RWTH Aachen：highD官方介绍与演示</a:t>
            </a:r>
          </a:p>
          <a:p xmlns:a="http://schemas.openxmlformats.org/drawingml/2006/main">
            <a:r>
              <a:t>https://www.ika.rwth-aachen.de/en/competences/projects/automated-driving/highd-dataset.html</a:t>
            </a:r>
          </a:p>
          <a:p xmlns:a="http://schemas.openxmlformats.org/drawingml/2006/main">
            <a:r>
              <a:t>德国高速公路无人机轨迹。视频只链接官方播放器，不下载或重传。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highD数据申请与许可</a:t>
            </a:r>
          </a:p>
          <a:p xmlns:a="http://schemas.openxmlformats.org/drawingml/2006/main">
            <a:r>
              <a:t>https://levelxdata.com/highd-dataset/</a:t>
            </a:r>
          </a:p>
          <a:p xmlns:a="http://schemas.openxmlformats.org/drawingml/2006/main">
            <a:r>
              <a:t>按官方条款申请非商业用途。不随本课件分发原始或修改后的数据集。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为校园夜间过街选择数据</a:t>
            </a:r>
          </a:p>
          <a:p xmlns:a="http://schemas.openxmlformats.org/drawingml/2006/main">
            <a:r>
              <a:t>教材对应：1.4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这是数据方案讨论，不要求学生拍摄或公开校园个人影像。若后续开展实地采集，需先落实隐私、授权和研究伦理安排。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公开可访问与允许再分发</a:t>
            </a:r>
          </a:p>
          <a:p xmlns:a="http://schemas.openxmlformats.org/drawingml/2006/main">
            <a:r>
              <a:t>教材对应：1.4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本页不是法律意见。向学生示范“能下载”与“可以公开镜像”不同。视频播放仍受平台和权利人条件约束。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UCI：Metro Interstate Traffic Volume</a:t>
            </a:r>
          </a:p>
          <a:p xmlns:a="http://schemas.openxmlformats.org/drawingml/2006/main">
            <a:r>
              <a:t>https://archive.ics.uci.edu/dataset/492/metro+interstate+traffic+volume</a:t>
            </a:r>
          </a:p>
          <a:p xmlns:a="http://schemas.openxmlformats.org/drawingml/2006/main">
            <a:r>
              <a:t>John Hogue，2019，DOI 10.24432/C5X60B，CC BY 4.0。课件合并同一小时的重复天气记录，不补齐缺失小时。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NYC TLC：Trip Record Data</a:t>
            </a:r>
          </a:p>
          <a:p xmlns:a="http://schemas.openxmlformats.org/drawingml/2006/main">
            <a:r>
              <a:t>https://www.nyc.gov/site/tlc/about/tlc-trip-record-data.page</a:t>
            </a:r>
          </a:p>
          <a:p xmlns:a="http://schemas.openxmlformats.org/drawingml/2006/main">
            <a:r>
              <a:t>2024年1月绿出租车。按上车时间保留当月记录，只发布汇总统计。原始数据遵循纽约市开放数据条款，TLC不保证记录准确性。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highD数据申请与许可</a:t>
            </a:r>
          </a:p>
          <a:p xmlns:a="http://schemas.openxmlformats.org/drawingml/2006/main">
            <a:r>
              <a:t>https://levelxdata.com/highd-dataset/</a:t>
            </a:r>
          </a:p>
          <a:p xmlns:a="http://schemas.openxmlformats.org/drawingml/2006/main">
            <a:r>
              <a:t>按官方条款申请非商业用途。不随本课件分发原始或修改后的数据集。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方法选择从任务与结构出发</a:t>
            </a:r>
          </a:p>
          <a:p xmlns:a="http://schemas.openxmlformats.org/drawingml/2006/main">
            <a:r>
              <a:t>教材对应：1.5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对应1.5各小节。先讲为什么选择，再简述代表性名称。避免把学科分类、模型复杂度和数据结构混作互斥的一层分类。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《交通数据挖掘理论与应用》清洁合稿，第1章</a:t>
            </a:r>
          </a:p>
          <a:p xmlns:a="http://schemas.openxmlformats.org/drawingml/2006/main">
            <a:r>
              <a:t>以用户提供的最新清洁合稿为基础，按1.1—1.6组织。书稿未作修改。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简单基线也能回答重要问题</a:t>
            </a:r>
          </a:p>
          <a:p xmlns:a="http://schemas.openxmlformats.org/drawingml/2006/main">
            <a:r>
              <a:t>教材对应：1.5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两种方法都只使用2017年计算参数，再预测2018年，测试集6533个小时。全局均值MAE1723.8，星期几×小时均值259.2。这是教学基线比较，不是最新方法榜单。解释MAE为预测值与观测值绝对差的平均。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UCI：Metro Interstate Traffic Volume</a:t>
            </a:r>
          </a:p>
          <a:p xmlns:a="http://schemas.openxmlformats.org/drawingml/2006/main">
            <a:r>
              <a:t>https://archive.ics.uci.edu/dataset/492/metro+interstate+traffic+volume</a:t>
            </a:r>
          </a:p>
          <a:p xmlns:a="http://schemas.openxmlformats.org/drawingml/2006/main">
            <a:r>
              <a:t>John Hogue，2019，DOI 10.24432/C5X60B，CC BY 4.0。课件合并同一小时的重复天气记录，不补齐缺失小时。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整体误差小，早高峰就一定可靠吗？</a:t>
            </a:r>
          </a:p>
          <a:p xmlns:a="http://schemas.openxmlformats.org/drawingml/2006/main">
            <a:r>
              <a:t>教材对应：1.5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请学生从网页选择某个小时，比较两个基线。误差分组后样本量变小，应展示样本数。数据集时间划分与训练内部小批次打乱不是同一件事。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《交通数据挖掘理论与应用》清洁合稿，第1章</a:t>
            </a:r>
          </a:p>
          <a:p xmlns:a="http://schemas.openxmlformats.org/drawingml/2006/main">
            <a:r>
              <a:t>以用户提供的最新清洁合稿为基础，按1.1—1.6组织。书稿未作修改。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UCI：Metro Interstate Traffic Volume</a:t>
            </a:r>
          </a:p>
          <a:p xmlns:a="http://schemas.openxmlformats.org/drawingml/2006/main">
            <a:r>
              <a:t>https://archive.ics.uci.edu/dataset/492/metro+interstate+traffic+volume</a:t>
            </a:r>
          </a:p>
          <a:p xmlns:a="http://schemas.openxmlformats.org/drawingml/2006/main">
            <a:r>
              <a:t>John Hogue，2019，DOI 10.24432/C5X60B，CC BY 4.0。课件合并同一小时的重复天气记录，不补齐缺失小时。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描述、预测与因果解释</a:t>
            </a:r>
          </a:p>
          <a:p xmlns:a="http://schemas.openxmlformats.org/drawingml/2006/main">
            <a:r>
              <a:t>教材对应：1.5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本页不展开因果推断公式。让学生给前面的夜间、天气与控制案例分别选择可以支持的表述。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《交通数据挖掘理论与应用》清洁合稿，第1章</a:t>
            </a:r>
          </a:p>
          <a:p xmlns:a="http://schemas.openxmlformats.org/drawingml/2006/main">
            <a:r>
              <a:t>以用户提供的最新清洁合稿为基础，按1.1—1.6组织。书稿未作修改。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视频讨论：研究控制器进入真实道路</a:t>
            </a:r>
          </a:p>
          <a:p xmlns:a="http://schemas.openxmlformats.org/drawingml/2006/main">
            <a:r>
              <a:t>教材对应：1.5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选看约2分钟，作为拓展视频。时间不足可课后观看。学生提出至少一个控制条件和一个评价指标，例如同等需求下的速度波动或延误。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Vanderbilt：Quantum Potential交通实验视频</a:t>
            </a:r>
          </a:p>
          <a:p xmlns:a="http://schemas.openxmlformats.org/drawingml/2006/main">
            <a:r>
              <a:t>https://www.vanderbilt.edu/quantumpotential/video-series/less-traffic/</a:t>
            </a:r>
          </a:p>
          <a:p xmlns:a="http://schemas.openxmlformats.org/drawingml/2006/main">
            <a:r>
              <a:t>I-24开放道路实验介绍。控制效果与实验设计、参与比例和交通环境有关。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Vanderbilt：商用自适应巡航的道路测试</a:t>
            </a:r>
          </a:p>
          <a:p xmlns:a="http://schemas.openxmlformats.org/drawingml/2006/main">
            <a:r>
              <a:t>https://news.vanderbilt.edu/2019/05/07/road-test-proves-adaptive-cruise-control-can-add-to-traffic-jam-problem/</a:t>
            </a:r>
          </a:p>
          <a:p xmlns:a="http://schemas.openxmlformats.org/drawingml/2006/main">
            <a:r>
              <a:t>2019年研究报告。具体控制器和实验条件决定结果，不能泛化为所有自动驾驶系统。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本书的学习路线</a:t>
            </a:r>
          </a:p>
          <a:p xmlns:a="http://schemas.openxmlformats.org/drawingml/2006/main">
            <a:r>
              <a:t>教材对应：1.6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对应1.6。说明本课件增加的案例是课堂教学材料，没有写回理论书稿。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《交通数据挖掘理论与应用》清洁合稿，第1章</a:t>
            </a:r>
          </a:p>
          <a:p xmlns:a="http://schemas.openxmlformats.org/drawingml/2006/main">
            <a:r>
              <a:t>以用户提供的最新清洁合稿为基础，按1.1—1.6组织。书稿未作修改。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现有开源实践课程</a:t>
            </a:r>
          </a:p>
          <a:p xmlns:a="http://schemas.openxmlformats.org/drawingml/2006/main">
            <a:r>
              <a:t>https://lilinchao.github.io/traffic-book-practice/open-course/</a:t>
            </a:r>
          </a:p>
          <a:p xmlns:a="http://schemas.openxmlformats.org/drawingml/2006/main">
            <a:r>
              <a:t>本课件为独立的第一章课堂入口，不替换已有实践。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小组任务：给出一页研究方案</a:t>
            </a:r>
          </a:p>
          <a:p xmlns:a="http://schemas.openxmlformats.org/drawingml/2006/main">
            <a:r>
              <a:t>教材对应：1.6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小组讨论约4分钟，可延伸为课后作业。评分建议：问题明确25分，数据适配25分，评价可行25分，边界与伦理25分。不要要求学生未经授权采集个人数据。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课堂检验：你能识别这些判断吗？</a:t>
            </a:r>
          </a:p>
          <a:p xmlns:a="http://schemas.openxmlformats.org/drawingml/2006/main">
            <a:r>
              <a:t>教材对应：1.6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约3分钟快速测验。可先选4题课堂投票，其余课后。成绩仅本地练习用，不自动上传，也不应直接作为正式考核成绩。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面对一份交通数据，先问四个问题</a:t>
            </a:r>
          </a:p>
          <a:p xmlns:a="http://schemas.openxmlformats.org/drawingml/2006/main">
            <a:r>
              <a:t>教材对应：1.6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让一位学生用其中一个案例回答四问，检查是否真正形成完整推理链。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《交通数据挖掘理论与应用》清洁合稿，第1章</a:t>
            </a:r>
          </a:p>
          <a:p xmlns:a="http://schemas.openxmlformats.org/drawingml/2006/main">
            <a:r>
              <a:t>以用户提供的最新清洁合稿为基础，按1.1—1.6组织。书稿未作修改。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课后入口与资料来源</a:t>
            </a:r>
          </a:p>
          <a:p xmlns:a="http://schemas.openxmlformats.org/drawingml/2006/main">
            <a:r>
              <a:t>教材对应：1.6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教学提示</a:t>
            </a:r>
          </a:p>
          <a:p xmlns:a="http://schemas.openxmlformats.org/drawingml/2006/main">
            <a:r>
              <a:t>作者提供的书稿是课程结构基础。详细来源与许可见网页资料页。封面图由内置图像工具生成，作为概念插画使用，不代表真实地点或观测证据。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在线同页</a:t>
            </a:r>
          </a:p>
          <a:p xmlns:a="http://schemas.openxmlformats.org/drawingml/2006/main">
            <a:r>
              <a:t>https://lilinchao.github.io/traffic-book-practice/open-course/chapter-01/#s41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UCI：Metro Interstate Traffic Volume</a:t>
            </a:r>
          </a:p>
          <a:p xmlns:a="http://schemas.openxmlformats.org/drawingml/2006/main">
            <a:r>
              <a:t>https://archive.ics.uci.edu/dataset/492/metro+interstate+traffic+volume</a:t>
            </a:r>
          </a:p>
          <a:p xmlns:a="http://schemas.openxmlformats.org/drawingml/2006/main">
            <a:r>
              <a:t>John Hogue，2019，DOI 10.24432/C5X60B，CC BY 4.0。课件合并同一小时的重复天气记录，不补齐缺失小时。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NYC TLC：Trip Record Data</a:t>
            </a:r>
          </a:p>
          <a:p xmlns:a="http://schemas.openxmlformats.org/drawingml/2006/main">
            <a:r>
              <a:t>https://www.nyc.gov/site/tlc/about/tlc-trip-record-data.page</a:t>
            </a:r>
          </a:p>
          <a:p xmlns:a="http://schemas.openxmlformats.org/drawingml/2006/main">
            <a:r>
              <a:t>2024年1月绿出租车。按上车时间保留当月记录，只发布汇总统计。原始数据遵循纽约市开放数据条款，TLC不保证记录准确性。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Vanderbilt：环形道路实验与适用边界</a:t>
            </a:r>
          </a:p>
          <a:p xmlns:a="http://schemas.openxmlformats.org/drawingml/2006/main">
            <a:r>
              <a:t>https://news.vanderbilt.edu/2018/04/30/expert-autonomous-vehicles-could-help-traffic-but-not-anytime-soon/</a:t>
            </a:r>
          </a:p>
          <a:p xmlns:a="http://schemas.openxmlformats.org/drawingml/2006/main">
            <a:r>
              <a:t>2018年官方科普。封闭环道实验不能直接等同于复杂城市路网。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RWTH Aachen：highD官方介绍与演示</a:t>
            </a:r>
          </a:p>
          <a:p xmlns:a="http://schemas.openxmlformats.org/drawingml/2006/main">
            <a:r>
              <a:t>https://www.ika.rwth-aachen.de/en/competences/projects/automated-driving/highd-dataset.html</a:t>
            </a:r>
          </a:p>
          <a:p xmlns:a="http://schemas.openxmlformats.org/drawingml/2006/main">
            <a:r>
              <a:t>德国高速公路无人机轨迹。视频只链接官方播放器，不下载或重传。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BDD100K官方论文（CVPR 2020）</a:t>
            </a:r>
          </a:p>
          <a:p xmlns:a="http://schemas.openxmlformats.org/drawingml/2006/main">
            <a:r>
              <a:t>https://openaccess.thecvf.com/content_CVPR_2020/html/Yu_BDD100K_A_Diverse_Driving_Dataset_for_Heterogeneous_Multitask_Learning_CVPR_2020_paper.html</a:t>
            </a:r>
          </a:p>
          <a:p xmlns:a="http://schemas.openxmlformats.org/drawingml/2006/main">
            <a:r>
              <a:t>Fisher Yu等。多场景驾驶影像与多任务标注，夜间案例用于讨论训练与使用环境的差异。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现有开源实践课程</a:t>
            </a:r>
          </a:p>
          <a:p xmlns:a="http://schemas.openxmlformats.org/drawingml/2006/main">
            <a:r>
              <a:t>https://lilinchao.github.io/traffic-book-practice/open-course/</a:t>
            </a:r>
          </a:p>
          <a:p xmlns:a="http://schemas.openxmlformats.org/drawingml/2006/main">
            <a:r>
              <a:t>本课件为独立的第一章课堂入口，不替换已有实践。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2ba27d53547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8712d191334a47" /><Relationship Type="http://schemas.openxmlformats.org/officeDocument/2006/relationships/slideLayout" Target="/ppt/slideLayouts/slideLayout1.xml" Id="R5d8a64eca8ee4e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8a64eca8ee4e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d4da4025247b3" /><Relationship Type="http://schemas.openxmlformats.org/officeDocument/2006/relationships/image" Target="/ppt/media/image.png" Id="Re04a5742f79748b4" /><Relationship Type="http://schemas.openxmlformats.org/officeDocument/2006/relationships/notesSlide" Target="/ppt/notesSlides/notesSlide1.xml" Id="Ra8e6fd51d67340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7939ce681401d" /><Relationship Type="http://schemas.openxmlformats.org/officeDocument/2006/relationships/notesSlide" Target="/ppt/notesSlides/notesSlide2.xml" Id="R9391993c748741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c0b38f8354fca" /><Relationship Type="http://schemas.openxmlformats.org/officeDocument/2006/relationships/hyperlink" Target="https://lilinchao.github.io/traffic-book-practice/open-course/chapter-01/#s2" TargetMode="External" Id="Rf9668f28ecf24196" /><Relationship Type="http://schemas.openxmlformats.org/officeDocument/2006/relationships/notesSlide" Target="/ppt/notesSlides/notesSlide3.xml" Id="R734e4219fd2d4c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2cee17f464918" /><Relationship Type="http://schemas.openxmlformats.org/officeDocument/2006/relationships/hyperlink" Target="https://www.youtube.com/watch?v=bcx-v7og8Zc" TargetMode="External" Id="Rac2b12bdacbc4016" /><Relationship Type="http://schemas.openxmlformats.org/officeDocument/2006/relationships/hyperlink" Target="https://lilinchao.github.io/traffic-book-practice/open-course/chapter-01/#s3" TargetMode="External" Id="R326e851589ed4eaf" /><Relationship Type="http://schemas.openxmlformats.org/officeDocument/2006/relationships/notesSlide" Target="/ppt/notesSlides/notesSlide4.xml" Id="R9e93cc31fbff48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15c21b63046e5" /><Relationship Type="http://schemas.openxmlformats.org/officeDocument/2006/relationships/notesSlide" Target="/ppt/notesSlides/notesSlide5.xml" Id="R88da03d60d604d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5d243096e41b2" /><Relationship Type="http://schemas.openxmlformats.org/officeDocument/2006/relationships/notesSlide" Target="/ppt/notesSlides/notesSlide6.xml" Id="Rfebdef41e4834c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cba9c614e46e8" /><Relationship Type="http://schemas.openxmlformats.org/officeDocument/2006/relationships/hyperlink" Target="https://lilinchao.github.io/traffic-book-practice/open-course/chapter-01/#s6" TargetMode="External" Id="R4edce23167524130" /><Relationship Type="http://schemas.openxmlformats.org/officeDocument/2006/relationships/notesSlide" Target="/ppt/notesSlides/notesSlide7.xml" Id="Rfeec5e17af8146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a5a50489e4e74" /><Relationship Type="http://schemas.openxmlformats.org/officeDocument/2006/relationships/notesSlide" Target="/ppt/notesSlides/notesSlide8.xml" Id="R739c7970c03e40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a79c276b84a6a" /><Relationship Type="http://schemas.openxmlformats.org/officeDocument/2006/relationships/notesSlide" Target="/ppt/notesSlides/notesSlide9.xml" Id="R8df9f244b7ea46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400511d5d4e52" /><Relationship Type="http://schemas.openxmlformats.org/officeDocument/2006/relationships/hyperlink" Target="https://lilinchao.github.io/traffic-book-practice/open-course/chapter-01/#s9" TargetMode="External" Id="R5048465b5259404e" /><Relationship Type="http://schemas.openxmlformats.org/officeDocument/2006/relationships/notesSlide" Target="/ppt/notesSlides/notesSlide10.xml" Id="Rcc0660aca7084f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677b61ea946b0" /><Relationship Type="http://schemas.openxmlformats.org/officeDocument/2006/relationships/notesSlide" Target="/ppt/notesSlides/notesSlide11.xml" Id="Rf0d76388889c485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3a64d22f54308" /><Relationship Type="http://schemas.openxmlformats.org/officeDocument/2006/relationships/notesSlide" Target="/ppt/notesSlides/notesSlide12.xml" Id="R7a430de4e2ce456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c094137cb42af" /><Relationship Type="http://schemas.openxmlformats.org/officeDocument/2006/relationships/notesSlide" Target="/ppt/notesSlides/notesSlide13.xml" Id="R07db075262f4449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f252aa4e14819" /><Relationship Type="http://schemas.openxmlformats.org/officeDocument/2006/relationships/hyperlink" Target="https://lilinchao.github.io/traffic-book-practice/open-course/chapter-01/#s13" TargetMode="External" Id="R0e63a2690cff4ff7" /><Relationship Type="http://schemas.openxmlformats.org/officeDocument/2006/relationships/notesSlide" Target="/ppt/notesSlides/notesSlide14.xml" Id="Rcd5406583eea486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29c8f31c44e60" /><Relationship Type="http://schemas.openxmlformats.org/officeDocument/2006/relationships/notesSlide" Target="/ppt/notesSlides/notesSlide15.xml" Id="Rccee5822d916414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b3746d3704cfd" /><Relationship Type="http://schemas.openxmlformats.org/officeDocument/2006/relationships/notesSlide" Target="/ppt/notesSlides/notesSlide16.xml" Id="R8f577878905b4e8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e0d3d7e2647d8" /><Relationship Type="http://schemas.openxmlformats.org/officeDocument/2006/relationships/chart" Target="/ppt/slides/charts/chart1.xml" Id="Ra55233a26a264500" /><Relationship Type="http://schemas.openxmlformats.org/officeDocument/2006/relationships/hyperlink" Target="https://lilinchao.github.io/traffic-book-practice/open-course/chapter-01/#s16" TargetMode="External" Id="R14523336fd334035" /><Relationship Type="http://schemas.openxmlformats.org/officeDocument/2006/relationships/notesSlide" Target="/ppt/notesSlides/notesSlide17.xml" Id="Rc4941c0ba479426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4e7efa43a4039" /><Relationship Type="http://schemas.openxmlformats.org/officeDocument/2006/relationships/chart" Target="/ppt/slides/charts/chart2.xml" Id="R8e4d6dcc6d494e9e" /><Relationship Type="http://schemas.openxmlformats.org/officeDocument/2006/relationships/notesSlide" Target="/ppt/notesSlides/notesSlide18.xml" Id="Ree2b2d2761354cc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7a58e659d4b3f" /><Relationship Type="http://schemas.openxmlformats.org/officeDocument/2006/relationships/hyperlink" Target="https://lilinchao.github.io/traffic-book-practice/open-course/chapter-01/#s18" TargetMode="External" Id="R488ab89b4c3d4473" /><Relationship Type="http://schemas.openxmlformats.org/officeDocument/2006/relationships/notesSlide" Target="/ppt/notesSlides/notesSlide19.xml" Id="R1fb999c4b48d42c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6e365a9f04fa3" /><Relationship Type="http://schemas.openxmlformats.org/officeDocument/2006/relationships/notesSlide" Target="/ppt/notesSlides/notesSlide20.xml" Id="R015e72ef36cd432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ed748d6e64699" /><Relationship Type="http://schemas.openxmlformats.org/officeDocument/2006/relationships/chart" Target="/ppt/slides/charts/chart3.xml" Id="R0fc530fdfe8d42cc" /><Relationship Type="http://schemas.openxmlformats.org/officeDocument/2006/relationships/hyperlink" Target="https://lilinchao.github.io/traffic-book-practice/open-course/chapter-01/#s20" TargetMode="External" Id="Rcfaeee412ff04805" /><Relationship Type="http://schemas.openxmlformats.org/officeDocument/2006/relationships/notesSlide" Target="/ppt/notesSlides/notesSlide21.xml" Id="R2a1f0844c249446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38dc6c16c4140" /><Relationship Type="http://schemas.openxmlformats.org/officeDocument/2006/relationships/notesSlide" Target="/ppt/notesSlides/notesSlide22.xml" Id="R1e154224c34149b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b9bb26df04ee1" /><Relationship Type="http://schemas.openxmlformats.org/officeDocument/2006/relationships/hyperlink" Target="https://lilinchao.github.io/traffic-book-practice/open-course/chapter-01/#s22" TargetMode="External" Id="R71863c0c0b6a4695" /><Relationship Type="http://schemas.openxmlformats.org/officeDocument/2006/relationships/notesSlide" Target="/ppt/notesSlides/notesSlide23.xml" Id="Rfd99f9c9edc34db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aad1ee8644e8e" /><Relationship Type="http://schemas.openxmlformats.org/officeDocument/2006/relationships/notesSlide" Target="/ppt/notesSlides/notesSlide24.xml" Id="Rbf04709b8a00475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4553d6d034622" /><Relationship Type="http://schemas.openxmlformats.org/officeDocument/2006/relationships/notesSlide" Target="/ppt/notesSlides/notesSlide25.xml" Id="R2cd2651b04844ed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fab21336a443c" /><Relationship Type="http://schemas.openxmlformats.org/officeDocument/2006/relationships/notesSlide" Target="/ppt/notesSlides/notesSlide26.xml" Id="Ra049ce90973247b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43468c2304d19" /><Relationship Type="http://schemas.openxmlformats.org/officeDocument/2006/relationships/hyperlink" Target="https://lilinchao.github.io/traffic-book-practice/open-course/chapter-01/#s26" TargetMode="External" Id="R2714142f1c5a4036" /><Relationship Type="http://schemas.openxmlformats.org/officeDocument/2006/relationships/notesSlide" Target="/ppt/notesSlides/notesSlide27.xml" Id="R7c6aa22ce3414ca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b5720e388472a" /><Relationship Type="http://schemas.openxmlformats.org/officeDocument/2006/relationships/notesSlide" Target="/ppt/notesSlides/notesSlide28.xml" Id="R053f06b84de3476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92020f3bd44b4" /><Relationship Type="http://schemas.openxmlformats.org/officeDocument/2006/relationships/notesSlide" Target="/ppt/notesSlides/notesSlide29.xml" Id="R7c89b93927ce467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789e4e284420f" /><Relationship Type="http://schemas.openxmlformats.org/officeDocument/2006/relationships/hyperlink" Target="https://www.youtube.com/watch?v=L_buu-lqJVo" TargetMode="External" Id="R3c973505a62c4364" /><Relationship Type="http://schemas.openxmlformats.org/officeDocument/2006/relationships/hyperlink" Target="https://lilinchao.github.io/traffic-book-practice/open-course/chapter-01/#s29" TargetMode="External" Id="Ra7dc94fe63344d9a" /><Relationship Type="http://schemas.openxmlformats.org/officeDocument/2006/relationships/notesSlide" Target="/ppt/notesSlides/notesSlide30.xml" Id="R5bbae52edc88450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720793b504a6b" /><Relationship Type="http://schemas.openxmlformats.org/officeDocument/2006/relationships/hyperlink" Target="https://lilinchao.github.io/traffic-book-practice/open-course/chapter-01/#s30" TargetMode="External" Id="Rb374714aab61403e" /><Relationship Type="http://schemas.openxmlformats.org/officeDocument/2006/relationships/notesSlide" Target="/ppt/notesSlides/notesSlide31.xml" Id="R6d347e8e754c42e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625081ac249e7" /><Relationship Type="http://schemas.openxmlformats.org/officeDocument/2006/relationships/notesSlide" Target="/ppt/notesSlides/notesSlide32.xml" Id="Re8240ff849b049e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a73e7403a4995" /><Relationship Type="http://schemas.openxmlformats.org/officeDocument/2006/relationships/notesSlide" Target="/ppt/notesSlides/notesSlide33.xml" Id="R94ce6e6fd0f94b9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a4309eff54de1" /><Relationship Type="http://schemas.openxmlformats.org/officeDocument/2006/relationships/chart" Target="/ppt/slides/charts/chart4.xml" Id="R47a4316435574eac" /><Relationship Type="http://schemas.openxmlformats.org/officeDocument/2006/relationships/hyperlink" Target="https://lilinchao.github.io/traffic-book-practice/open-course/chapter-01/#s33" TargetMode="External" Id="Rffd1da107ad34b6b" /><Relationship Type="http://schemas.openxmlformats.org/officeDocument/2006/relationships/notesSlide" Target="/ppt/notesSlides/notesSlide34.xml" Id="R941388416ca34e9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7707c9c324fd5" /><Relationship Type="http://schemas.openxmlformats.org/officeDocument/2006/relationships/notesSlide" Target="/ppt/notesSlides/notesSlide35.xml" Id="R2fe85a5500dc4bd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85419df9a498b" /><Relationship Type="http://schemas.openxmlformats.org/officeDocument/2006/relationships/notesSlide" Target="/ppt/notesSlides/notesSlide36.xml" Id="Rcbd8fb77f8c6468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42a9195d14c30" /><Relationship Type="http://schemas.openxmlformats.org/officeDocument/2006/relationships/hyperlink" Target="https://www.youtube.com/watch?v=SnROMkdXYJc" TargetMode="External" Id="Ree34035cbafd4289" /><Relationship Type="http://schemas.openxmlformats.org/officeDocument/2006/relationships/hyperlink" Target="https://lilinchao.github.io/traffic-book-practice/open-course/chapter-01/#s36" TargetMode="External" Id="R315157de55ca4418" /><Relationship Type="http://schemas.openxmlformats.org/officeDocument/2006/relationships/notesSlide" Target="/ppt/notesSlides/notesSlide37.xml" Id="R1e4a52e2b6b8444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bbdd16041448b" /><Relationship Type="http://schemas.openxmlformats.org/officeDocument/2006/relationships/notesSlide" Target="/ppt/notesSlides/notesSlide38.xml" Id="Rf0c6bf46b3f8423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22af209c94bdb" /><Relationship Type="http://schemas.openxmlformats.org/officeDocument/2006/relationships/notesSlide" Target="/ppt/notesSlides/notesSlide39.xml" Id="R2f626670b27e4bc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a355ebdd846db" /><Relationship Type="http://schemas.openxmlformats.org/officeDocument/2006/relationships/hyperlink" Target="https://lilinchao.github.io/traffic-book-practice/open-course/chapter-01/#s39" TargetMode="External" Id="R76b2cd62412b4857" /><Relationship Type="http://schemas.openxmlformats.org/officeDocument/2006/relationships/notesSlide" Target="/ppt/notesSlides/notesSlide40.xml" Id="R79ce57a1203c494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8b37e888d48ec" /><Relationship Type="http://schemas.openxmlformats.org/officeDocument/2006/relationships/notesSlide" Target="/ppt/notesSlides/notesSlide41.xml" Id="Rf356cd83ed34454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17b3efaa742db" /><Relationship Type="http://schemas.openxmlformats.org/officeDocument/2006/relationships/hyperlink" Target="https://lilinchao.github.io/traffic-book-practice/open-course/chapter-01/" TargetMode="External" Id="Rf16e630428bb4dba" /><Relationship Type="http://schemas.openxmlformats.org/officeDocument/2006/relationships/notesSlide" Target="/ppt/notesSlides/notesSlide42.xml" Id="R50e9622b9ec0440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平日</c:v>
          </c:tx>
          <c:spPr>
            <a:ln xmlns:a="http://schemas.openxmlformats.org/drawingml/2006/main" w="28575">
              <a:solidFill>
                <a:srgbClr val="087E82"/>
              </a:solidFill>
            </a:ln>
          </c:spPr>
          <c:marker>
            <c:symbol val="none"/>
          </c:marker>
          <c:cat>
            <c:strRef>
              <c:f>'Chart Data'!$A$2:$A$25</c:f>
              <c:strCache>
                <c:ptCount val="24"/>
                <c:pt idx="0">
                  <c:v>0时</c:v>
                </c:pt>
                <c:pt idx="1">
                  <c:v>1时</c:v>
                </c:pt>
                <c:pt idx="2">
                  <c:v>2时</c:v>
                </c:pt>
                <c:pt idx="3">
                  <c:v>3时</c:v>
                </c:pt>
                <c:pt idx="4">
                  <c:v>4时</c:v>
                </c:pt>
                <c:pt idx="5">
                  <c:v>5时</c:v>
                </c:pt>
                <c:pt idx="6">
                  <c:v>6时</c:v>
                </c:pt>
                <c:pt idx="7">
                  <c:v>7时</c:v>
                </c:pt>
                <c:pt idx="8">
                  <c:v>8时</c:v>
                </c:pt>
                <c:pt idx="9">
                  <c:v>9时</c:v>
                </c:pt>
                <c:pt idx="10">
                  <c:v>10时</c:v>
                </c:pt>
                <c:pt idx="11">
                  <c:v>11时</c:v>
                </c:pt>
                <c:pt idx="12">
                  <c:v>12时</c:v>
                </c:pt>
                <c:pt idx="13">
                  <c:v>13时</c:v>
                </c:pt>
                <c:pt idx="14">
                  <c:v>14时</c:v>
                </c:pt>
                <c:pt idx="15">
                  <c:v>15时</c:v>
                </c:pt>
                <c:pt idx="16">
                  <c:v>16时</c:v>
                </c:pt>
                <c:pt idx="17">
                  <c:v>17时</c:v>
                </c:pt>
                <c:pt idx="18">
                  <c:v>18时</c:v>
                </c:pt>
                <c:pt idx="19">
                  <c:v>19时</c:v>
                </c:pt>
                <c:pt idx="20">
                  <c:v>20时</c:v>
                </c:pt>
                <c:pt idx="21">
                  <c:v>21时</c:v>
                </c:pt>
                <c:pt idx="22">
                  <c:v>22时</c:v>
                </c:pt>
                <c:pt idx="23">
                  <c:v>23时</c:v>
                </c:pt>
              </c:strCache>
            </c:strRef>
          </c:cat>
          <c:val>
            <c:numRef>
              <c:f>'Chart Data'!$B$2:$B$25</c:f>
              <c:numCache>
                <c:formatCode>#,##0</c:formatCode>
                <c:ptCount val="24"/>
                <c:pt idx="0">
                  <c:v>640.5</c:v>
                </c:pt>
                <c:pt idx="1">
                  <c:v>391.5</c:v>
                </c:pt>
                <c:pt idx="2">
                  <c:v>297.8</c:v>
                </c:pt>
                <c:pt idx="3">
                  <c:v>364.3</c:v>
                </c:pt>
                <c:pt idx="4">
                  <c:v>874.9</c:v>
                </c:pt>
                <c:pt idx="5">
                  <c:v>2834.3</c:v>
                </c:pt>
                <c:pt idx="6">
                  <c:v>5366.4</c:v>
                </c:pt>
                <c:pt idx="7">
                  <c:v>6074.8</c:v>
                </c:pt>
                <c:pt idx="8">
                  <c:v>5514</c:v>
                </c:pt>
                <c:pt idx="9">
                  <c:v>4922.8</c:v>
                </c:pt>
                <c:pt idx="10">
                  <c:v>4416.6</c:v>
                </c:pt>
                <c:pt idx="11">
                  <c:v>4642.3</c:v>
                </c:pt>
                <c:pt idx="12">
                  <c:v>4854.5</c:v>
                </c:pt>
                <c:pt idx="13">
                  <c:v>4828.6</c:v>
                </c:pt>
                <c:pt idx="14">
                  <c:v>5090.1</c:v>
                </c:pt>
                <c:pt idx="15">
                  <c:v>5657</c:v>
                </c:pt>
                <c:pt idx="16">
                  <c:v>6358.1</c:v>
                </c:pt>
                <c:pt idx="17">
                  <c:v>5792.1</c:v>
                </c:pt>
                <c:pt idx="18">
                  <c:v>4473.1</c:v>
                </c:pt>
                <c:pt idx="19">
                  <c:v>3371.4</c:v>
                </c:pt>
                <c:pt idx="20">
                  <c:v>2942.9</c:v>
                </c:pt>
                <c:pt idx="21">
                  <c:v>2715.8</c:v>
                </c:pt>
                <c:pt idx="22">
                  <c:v>2158.7</c:v>
                </c:pt>
                <c:pt idx="23">
                  <c:v>1430.6</c:v>
                </c:pt>
              </c:numCache>
            </c:numRef>
          </c:val>
          <c:smooth val="0"/>
        </c:ser>
        <c:ser>
          <c:idx val="1"/>
          <c:order val="1"/>
          <c:tx>
            <c:v>周末</c:v>
          </c:tx>
          <c:spPr>
            <a:ln xmlns:a="http://schemas.openxmlformats.org/drawingml/2006/main" w="28575">
              <a:solidFill>
                <a:srgbClr val="C07824"/>
              </a:solidFill>
            </a:ln>
          </c:spPr>
          <c:marker>
            <c:symbol val="none"/>
          </c:marker>
          <c:cat>
            <c:strRef>
              <c:f>'Chart Data'!$C$2:$C$25</c:f>
              <c:strCache>
                <c:ptCount val="24"/>
                <c:pt idx="0">
                  <c:v>0时</c:v>
                </c:pt>
                <c:pt idx="1">
                  <c:v>1时</c:v>
                </c:pt>
                <c:pt idx="2">
                  <c:v>2时</c:v>
                </c:pt>
                <c:pt idx="3">
                  <c:v>3时</c:v>
                </c:pt>
                <c:pt idx="4">
                  <c:v>4时</c:v>
                </c:pt>
                <c:pt idx="5">
                  <c:v>5时</c:v>
                </c:pt>
                <c:pt idx="6">
                  <c:v>6时</c:v>
                </c:pt>
                <c:pt idx="7">
                  <c:v>7时</c:v>
                </c:pt>
                <c:pt idx="8">
                  <c:v>8时</c:v>
                </c:pt>
                <c:pt idx="9">
                  <c:v>9时</c:v>
                </c:pt>
                <c:pt idx="10">
                  <c:v>10时</c:v>
                </c:pt>
                <c:pt idx="11">
                  <c:v>11时</c:v>
                </c:pt>
                <c:pt idx="12">
                  <c:v>12时</c:v>
                </c:pt>
                <c:pt idx="13">
                  <c:v>13时</c:v>
                </c:pt>
                <c:pt idx="14">
                  <c:v>14时</c:v>
                </c:pt>
                <c:pt idx="15">
                  <c:v>15时</c:v>
                </c:pt>
                <c:pt idx="16">
                  <c:v>16时</c:v>
                </c:pt>
                <c:pt idx="17">
                  <c:v>17时</c:v>
                </c:pt>
                <c:pt idx="18">
                  <c:v>18时</c:v>
                </c:pt>
                <c:pt idx="19">
                  <c:v>19时</c:v>
                </c:pt>
                <c:pt idx="20">
                  <c:v>20时</c:v>
                </c:pt>
                <c:pt idx="21">
                  <c:v>21时</c:v>
                </c:pt>
                <c:pt idx="22">
                  <c:v>22时</c:v>
                </c:pt>
                <c:pt idx="23">
                  <c:v>23时</c:v>
                </c:pt>
              </c:strCache>
            </c:strRef>
          </c:cat>
          <c:val>
            <c:numRef>
              <c:f>'Chart Data'!$D$2:$D$25</c:f>
              <c:numCache>
                <c:formatCode>#,##0</c:formatCode>
                <c:ptCount val="24"/>
                <c:pt idx="0">
                  <c:v>1306</c:v>
                </c:pt>
                <c:pt idx="1">
                  <c:v>792.1</c:v>
                </c:pt>
                <c:pt idx="2">
                  <c:v>596.2</c:v>
                </c:pt>
                <c:pt idx="3">
                  <c:v>389.7</c:v>
                </c:pt>
                <c:pt idx="4">
                  <c:v>382.3</c:v>
                </c:pt>
                <c:pt idx="5">
                  <c:v>633.7</c:v>
                </c:pt>
                <c:pt idx="6">
                  <c:v>1128.7</c:v>
                </c:pt>
                <c:pt idx="7">
                  <c:v>1634.9</c:v>
                </c:pt>
                <c:pt idx="8">
                  <c:v>2430.6</c:v>
                </c:pt>
                <c:pt idx="9">
                  <c:v>3218.7</c:v>
                </c:pt>
                <c:pt idx="10">
                  <c:v>3780.2</c:v>
                </c:pt>
                <c:pt idx="11">
                  <c:v>4162.7</c:v>
                </c:pt>
                <c:pt idx="12">
                  <c:v>4474.8</c:v>
                </c:pt>
                <c:pt idx="13">
                  <c:v>4456.4</c:v>
                </c:pt>
                <c:pt idx="14">
                  <c:v>4444.7</c:v>
                </c:pt>
                <c:pt idx="15">
                  <c:v>4363.1</c:v>
                </c:pt>
                <c:pt idx="16">
                  <c:v>4383.1</c:v>
                </c:pt>
                <c:pt idx="17">
                  <c:v>4172.7</c:v>
                </c:pt>
                <c:pt idx="18">
                  <c:v>3817.5</c:v>
                </c:pt>
                <c:pt idx="19">
                  <c:v>3281.9</c:v>
                </c:pt>
                <c:pt idx="20">
                  <c:v>2929.6</c:v>
                </c:pt>
                <c:pt idx="21">
                  <c:v>2775.3</c:v>
                </c:pt>
                <c:pt idx="22">
                  <c:v>2421.3</c:v>
                </c:pt>
                <c:pt idx="23">
                  <c:v>1716.7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2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2DD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EF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EFA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平日</c:v>
          </c:tx>
          <c:spPr>
            <a:ln xmlns:a="http://schemas.openxmlformats.org/drawingml/2006/main" w="28575">
              <a:solidFill>
                <a:srgbClr val="087E82"/>
              </a:solidFill>
            </a:ln>
          </c:spPr>
          <c:marker>
            <c:symbol val="none"/>
          </c:marker>
          <c:cat>
            <c:strRef>
              <c:f>'Chart Data'!$A$2:$A$7</c:f>
              <c:strCache>
                <c:ptCount val="6"/>
                <c:pt idx="0">
                  <c:v>0时</c:v>
                </c:pt>
                <c:pt idx="1">
                  <c:v>1时</c:v>
                </c:pt>
                <c:pt idx="2">
                  <c:v>2时</c:v>
                </c:pt>
                <c:pt idx="3">
                  <c:v>3时</c:v>
                </c:pt>
                <c:pt idx="4">
                  <c:v>4时</c:v>
                </c:pt>
                <c:pt idx="5">
                  <c:v>5时</c:v>
                </c:pt>
              </c:strCache>
            </c:strRef>
          </c:cat>
          <c:val>
            <c:numRef>
              <c:f>'Chart Data'!$B$2:$B$7</c:f>
              <c:numCache>
                <c:formatCode>#,##0</c:formatCode>
                <c:ptCount val="6"/>
                <c:pt idx="0">
                  <c:v>640.5</c:v>
                </c:pt>
                <c:pt idx="1">
                  <c:v>391.5</c:v>
                </c:pt>
                <c:pt idx="2">
                  <c:v>297.8</c:v>
                </c:pt>
                <c:pt idx="3">
                  <c:v>364.3</c:v>
                </c:pt>
                <c:pt idx="4">
                  <c:v>874.9</c:v>
                </c:pt>
                <c:pt idx="5">
                  <c:v>2834.3</c:v>
                </c:pt>
              </c:numCache>
            </c:numRef>
          </c:val>
          <c:smooth val="0"/>
        </c:ser>
        <c:ser>
          <c:idx val="1"/>
          <c:order val="1"/>
          <c:tx>
            <c:v>周末</c:v>
          </c:tx>
          <c:spPr>
            <a:ln xmlns:a="http://schemas.openxmlformats.org/drawingml/2006/main" w="28575">
              <a:solidFill>
                <a:srgbClr val="C07824"/>
              </a:solidFill>
            </a:ln>
          </c:spPr>
          <c:marker>
            <c:symbol val="none"/>
          </c:marker>
          <c:cat>
            <c:strRef>
              <c:f>'Chart Data'!$C$2:$C$7</c:f>
              <c:strCache>
                <c:ptCount val="6"/>
                <c:pt idx="0">
                  <c:v>0时</c:v>
                </c:pt>
                <c:pt idx="1">
                  <c:v>1时</c:v>
                </c:pt>
                <c:pt idx="2">
                  <c:v>2时</c:v>
                </c:pt>
                <c:pt idx="3">
                  <c:v>3时</c:v>
                </c:pt>
                <c:pt idx="4">
                  <c:v>4时</c:v>
                </c:pt>
                <c:pt idx="5">
                  <c:v>5时</c:v>
                </c:pt>
              </c:strCache>
            </c:strRef>
          </c:cat>
          <c:val>
            <c:numRef>
              <c:f>'Chart Data'!$D$2:$D$7</c:f>
              <c:numCache>
                <c:formatCode>#,##0</c:formatCode>
                <c:ptCount val="6"/>
                <c:pt idx="0">
                  <c:v>1306</c:v>
                </c:pt>
                <c:pt idx="1">
                  <c:v>792.1</c:v>
                </c:pt>
                <c:pt idx="2">
                  <c:v>596.2</c:v>
                </c:pt>
                <c:pt idx="3">
                  <c:v>389.7</c:v>
                </c:pt>
                <c:pt idx="4">
                  <c:v>382.3</c:v>
                </c:pt>
                <c:pt idx="5">
                  <c:v>633.7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2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2DD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EF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EFA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行程记录</c:v>
          </c:tx>
          <c:spPr>
            <a:solidFill xmlns:a="http://schemas.openxmlformats.org/drawingml/2006/main">
              <a:srgbClr val="087E82"/>
            </a:solidFill>
          </c:spPr>
          <c:cat>
            <c:strRef>
              <c:f>'Chart Data'!$A$2:$A$6</c:f>
              <c:strCache>
                <c:ptCount val="5"/>
                <c:pt idx="0">
                  <c:v>曼哈顿</c:v>
                </c:pt>
                <c:pt idx="1">
                  <c:v>皇后区</c:v>
                </c:pt>
                <c:pt idx="2">
                  <c:v>布鲁克林</c:v>
                </c:pt>
                <c:pt idx="3">
                  <c:v>布朗克斯</c:v>
                </c:pt>
                <c:pt idx="4">
                  <c:v>斯塔滕岛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32846</c:v>
                </c:pt>
                <c:pt idx="1">
                  <c:v>14937</c:v>
                </c:pt>
                <c:pt idx="2">
                  <c:v>7747</c:v>
                </c:pt>
                <c:pt idx="3">
                  <c:v>870</c:v>
                </c:pt>
                <c:pt idx="4">
                  <c:v>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2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2DD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EFA"/>
        </a:solidFill>
      </c:spPr>
    </c:plotArea>
    <c:plotVisOnly val="1"/>
  </c:chart>
  <c:spPr>
    <a:solidFill xmlns:a="http://schemas.openxmlformats.org/drawingml/2006/main">
      <a:srgbClr val="FFFEFA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测试集MAE</c:v>
          </c:tx>
          <c:spPr>
            <a:solidFill xmlns:a="http://schemas.openxmlformats.org/drawingml/2006/main">
              <a:srgbClr val="087E82"/>
            </a:solidFill>
          </c:spPr>
          <c:cat>
            <c:strRef>
              <c:f>'Chart Data'!$A$2:$A$3</c:f>
              <c:strCache>
                <c:ptCount val="2"/>
                <c:pt idx="0">
                  <c:v>全局均值</c:v>
                </c:pt>
                <c:pt idx="1">
                  <c:v>星期几×小时</c:v>
                </c:pt>
              </c:strCache>
            </c:strRef>
          </c:cat>
          <c:val>
            <c:numRef>
              <c:f>'Chart Data'!$B$2:$B$3</c:f>
              <c:numCache>
                <c:formatCode>#,##0.0</c:formatCode>
                <c:ptCount val="2"/>
                <c:pt idx="0">
                  <c:v>1723.8</c:v>
                </c:pt>
                <c:pt idx="1">
                  <c:v>259.2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2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2DD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EFA"/>
        </a:solidFill>
      </c:spPr>
    </c:plotArea>
    <c:plotVisOnly val="1"/>
  </c:chart>
  <c:spPr>
    <a:solidFill xmlns:a="http://schemas.openxmlformats.org/drawingml/2006/main">
      <a:srgbClr val="FFFEFA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4a5742f79748b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BB77354F-31CA-4D3B-9771-DE85365F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rPr>
              <a:t>第1章  绪论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DED9FE87-3A07-4AFE-9865-20D1D9D0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771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交通数据挖掘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CDAB86A8-3A62-4638-9EF5-B1A0D565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571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D7E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7E7E6"/>
                </a:solidFill>
                <a:latin typeface="Microsoft YaHei"/>
                <a:ea typeface="Microsoft YaHei"/>
                <a:cs typeface="Microsoft YaHei"/>
              </a:rPr>
              <a:t>交通问题如何变成</a:t>
            </a:r>
          </a:p>
          <a:p xmlns:a="http://schemas.openxmlformats.org/drawingml/2006/main">
            <a:pPr>
              <a:defRPr sz="2250" b="0">
                <a:solidFill>
                  <a:srgbClr val="D7E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7E7E6"/>
                </a:solidFill>
                <a:latin typeface="Microsoft YaHei"/>
                <a:ea typeface="Microsoft YaHei"/>
                <a:cs typeface="Microsoft YaHei"/>
              </a:rPr>
              <a:t>可检验的数据分析任务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23BF4AF-220F-4FA5-BCD9-C6C2A50E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EE1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CEE1DE"/>
                </a:solidFill>
                <a:latin typeface="Microsoft YaHei"/>
                <a:ea typeface="Microsoft YaHei"/>
                <a:cs typeface="Microsoft YaHei"/>
              </a:rPr>
              <a:t>开放课堂  /  理论与案例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E33D24DF-E74D-4D23-B7D6-311569D0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3D5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3D5D5"/>
                </a:solidFill>
                <a:latin typeface="Microsoft YaHei"/>
                <a:ea typeface="Microsoft YaHei"/>
                <a:cs typeface="Microsoft YaHei"/>
              </a:rPr>
              <a:t>概念插画</a:t>
            </a:r>
          </a:p>
        </p:txBody>
      </p:sp>
    </p:spTree>
    <p:extLst>
      <p:ext uri="{BB962C8B-B14F-4D97-AF65-F5344CB8AC3E}">
        <p14:creationId xmlns:p14="http://schemas.microsoft.com/office/powerpoint/2010/main" val="9802187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53A4C0BA-3B79-4C7C-8628-EE230519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CHAPTER 01   /   课程导览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D8C70A5-7361-46C1-B638-30275AB5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本节课的学习目标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1E0A629-609D-4C3D-9F6B-8A83AC91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8777D89-AA45-4A20-89BA-53349BA9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1032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把一个交通现象表述为明确的数据分析任务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D91F1BE-C75C-433A-B150-AAFC52D2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A72851A-CA03-45BE-AFE0-278CA165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90825"/>
            <a:ext cx="1032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判断记录的对象、时间尺度和空间范围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C04CE8B-EC32-4C94-88CE-33D40FD8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6DBB535-BB90-4A95-8AE6-B15BBA64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1032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为任务选择合适的数据与基本方法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FE70183F-A489-4908-972B-6FE6E732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5636000-C67D-4FDA-92DB-3444A053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1032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区分样本结论、预测能力和因果解释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4FB5B04-39D8-4480-A82B-0955E80B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课堂主线：问题定义、数据依据、方法选择、解释边界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6E8E0011-7D2B-406B-A51A-9F86CC39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7741B285-4795-44D0-A33F-D9D0266A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02 / 42</a:t>
            </a:r>
          </a:p>
        </p:txBody>
      </p:sp>
    </p:spTree>
    <p:extLst>
      <p:ext uri="{BB962C8B-B14F-4D97-AF65-F5344CB8AC3E}">
        <p14:creationId xmlns:p14="http://schemas.microsoft.com/office/powerpoint/2010/main" val="5186086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2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F3F1E9F6-8F2F-4D21-B47F-21FA64EE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rPr>
              <a:t>01 无事故拥堵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49EB5E4-FF7A-45A6-837E-E2CC968C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前方没有事故，为什么车队仍会停下来？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95C2CD4-87DA-4752-A84E-66478C15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BF8112F-1AE5-4651-A759-F8C2E497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102298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D5E3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D5E3E0"/>
                </a:solidFill>
                <a:latin typeface="Microsoft YaHei"/>
                <a:ea typeface="Microsoft YaHei"/>
                <a:cs typeface="Microsoft YaHei"/>
              </a:rPr>
              <a:t>每辆车都只做了一个小小的减速动作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92F85D6-2961-4DAD-9E7F-86EB644E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A6F2F31-62E3-4CE4-8EAE-CF909141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102298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D5E3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D5E3E0"/>
                </a:solidFill>
                <a:latin typeface="Microsoft YaHei"/>
                <a:ea typeface="Microsoft YaHei"/>
                <a:cs typeface="Microsoft YaHei"/>
              </a:rPr>
              <a:t>后车的反应，会不会把这个变化放大？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3DB48DC-0B27-4114-B5CB-F01B990E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rPr>
              <a:t>先描述现象，再寻找可观察的证据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A079E43-BE52-4599-BA7C-9AFFB847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1C9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1C9C9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5B0FCA7-86D2-4EB0-8A13-16011950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1C9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1C9C9"/>
                </a:solidFill>
                <a:latin typeface="Microsoft YaHei"/>
                <a:ea typeface="Microsoft YaHei"/>
                <a:cs typeface="Microsoft YaHei"/>
              </a:rPr>
              <a:t>03 / 42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286FF432-BF99-4238-A327-CA816E67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64198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0B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0BE7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9668f28ecf24196"/>
              </a:rPr>
              <a:t>打开本页交互练习</a:t>
            </a:r>
          </a:p>
        </p:txBody>
      </p:sp>
    </p:spTree>
    <p:extLst>
      <p:ext uri="{BB962C8B-B14F-4D97-AF65-F5344CB8AC3E}">
        <p14:creationId xmlns:p14="http://schemas.microsoft.com/office/powerpoint/2010/main" val="14694412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07951605-A198-49D9-A666-0E5CE2D6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CHAPTER 01   /   1.1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C0C4CB2-4CDF-4DD2-98C2-4D9156CE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视频观察：减速波的传播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9CA23EE-4E1F-4BE4-9C41-69E29133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143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7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B0AA470-ECB1-4B59-A776-23569E16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视频观察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4EF4DF6-BB7A-4E93-8389-7536655A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选看约2分钟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FD4B2C9-F10B-4A96-8A4B-4A20E139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c2b12bdacbc4016"/>
              </a:rPr>
              <a:t>打开官方视频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5E50232-E9E5-4D75-AB3B-0695A934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26e851589ed4eaf"/>
              </a:rPr>
              <a:t>机构发布页与备用讲解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0E14C7F-9F5E-4F1D-BE81-39C87C63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38375"/>
            <a:ext cx="7086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观察同一辆车，不要只盯着道路的一点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C5B3A08-0886-4590-9020-67BF3279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7086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记录减速发生的先后顺序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6E60D5E-4802-4961-B20F-59829828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57625"/>
            <a:ext cx="7086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思考环道实验省略了哪些现实条件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1CAEFA74-EE1B-470C-9B0A-FE98A327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57750"/>
            <a:ext cx="708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看前后车辆的速度变化：车辆前进的方向与减速波传播的方向一样吗？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C91BA814-6B70-4098-8C58-9AFD2286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封闭环道的现象，需要进一步检验能否推广到真实路网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399154C3-A7CF-4AB1-8520-B785C57A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8B2355C1-3E7F-4D98-AFCB-9FB258EB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04 / 42</a:t>
            </a:r>
          </a:p>
        </p:txBody>
      </p:sp>
    </p:spTree>
    <p:extLst>
      <p:ext uri="{BB962C8B-B14F-4D97-AF65-F5344CB8AC3E}">
        <p14:creationId xmlns:p14="http://schemas.microsoft.com/office/powerpoint/2010/main" val="10057676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D3A84A90-D31F-4FB7-9FFB-B1BC828D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CHAPTER 01   /   1.1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E1E78D2-CE18-4751-9593-72748135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交通数据挖掘的基本认识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048D86F-2173-43BD-B24E-1190DD00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围绕交通问题，从数据中识别规律、建立模型并解释结果。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CF3753C-41CA-4A83-8D76-F1C09C4A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变量：记录了什么，例如速度、时刻和道路类型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FCAFC10-3931-416B-9880-53DA7487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特征：为当前任务构造的输入，例如过去15分钟平均速度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3CE5B6B-4425-42BD-8B7D-E1D25C8D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模型：描述关系或形成预测的规则与参数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B2AA099-3EE6-4D94-A704-1FA1769A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领域知识约束问题定义，也约束结果解释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36593C6-68BC-45EE-A477-91F41D91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FDDCFAF-3F07-47AD-ADCB-DB38C689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05 / 42</a:t>
            </a:r>
          </a:p>
        </p:txBody>
      </p:sp>
    </p:spTree>
    <p:extLst>
      <p:ext uri="{BB962C8B-B14F-4D97-AF65-F5344CB8AC3E}">
        <p14:creationId xmlns:p14="http://schemas.microsoft.com/office/powerpoint/2010/main" val="12903713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7F669730-2C13-4A6B-911C-EA2D124B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CHAPTER 01   /   1.1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EA0F682-564E-41A7-A6C0-34BA2C77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典型任务与交通问题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47850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38400"/>
                <a:gridCol w="4572000"/>
                <a:gridCol w="3962400"/>
              </a:tblGrid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交通问题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典型输出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描述与发现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哪里、何时经常排队？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分布与规律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分类与识别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这段道路是否拥堵？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类别或概率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回归与预测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下一时段有多少车辆？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数值或未来状态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聚类与异常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哪些路段变化相似？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分组或异常提示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优化与决策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怎样安排信号配时？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满足约束的方案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6B676C68-1DB5-401B-9CA3-40B675B8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预测可以输出类别；决策还需要目标和约束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64FA757-F030-4A51-B0F3-50558853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64B4BFB-3329-46C9-9A4E-44CEF2A6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06 / 42</a:t>
            </a:r>
          </a:p>
        </p:txBody>
      </p:sp>
    </p:spTree>
    <p:extLst>
      <p:ext uri="{BB962C8B-B14F-4D97-AF65-F5344CB8AC3E}">
        <p14:creationId xmlns:p14="http://schemas.microsoft.com/office/powerpoint/2010/main" val="12859912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2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D0B42ECC-3A83-4EBE-8B9D-567C91C7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rPr>
              <a:t>02 路口任务配对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CC3CA6C-88B6-4153-BDB9-79D31F1F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同一个路口，可以提出不同任务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ED3C270-E3F5-47CD-B43D-762B303D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AED63E1-1150-4981-8000-7DC7485F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1022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D5E3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D5E3E0"/>
                </a:solidFill>
                <a:latin typeface="Microsoft YaHei"/>
                <a:ea typeface="Microsoft YaHei"/>
                <a:cs typeface="Microsoft YaHei"/>
              </a:rPr>
              <a:t>统计昨日每小时的排队次数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3963794-C6E7-49EA-A4ED-A1DD9957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7C65999-2722-4B63-92DB-8E73F81D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62275"/>
            <a:ext cx="1022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D5E3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D5E3E0"/>
                </a:solidFill>
                <a:latin typeface="Microsoft YaHei"/>
                <a:ea typeface="Microsoft YaHei"/>
                <a:cs typeface="Microsoft YaHei"/>
              </a:rPr>
              <a:t>判断当前画面是否存在行人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3A680C8-702B-4CF3-AA03-2D324DF7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9C91DCC-B42E-409A-BCEE-2D18058C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86175"/>
            <a:ext cx="1022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D5E3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D5E3E0"/>
                </a:solidFill>
                <a:latin typeface="Microsoft YaHei"/>
                <a:ea typeface="Microsoft YaHei"/>
                <a:cs typeface="Microsoft YaHei"/>
              </a:rPr>
              <a:t>预测明天早高峰的进口流量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9E59730-4CCD-4C86-BEE6-405C307A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5BED219-B8D5-4437-8095-4ADE8612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0075"/>
            <a:ext cx="1022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D5E3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D5E3E0"/>
                </a:solidFill>
                <a:latin typeface="Microsoft YaHei"/>
                <a:ea typeface="Microsoft YaHei"/>
                <a:cs typeface="Microsoft YaHei"/>
              </a:rPr>
              <a:t>给一天的流量曲线分组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46A0B0A5-CCCC-4D81-A30A-16EF060A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rPr>
              <a:t>数据相同，研究目标不同，输出和评价也会改变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4FB02C68-A5CD-456A-BFA9-42AD8A17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1C9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1C9C9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2106D3F9-B2B4-45D9-944B-1444A0AC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1C9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1C9C9"/>
                </a:solidFill>
                <a:latin typeface="Microsoft YaHei"/>
                <a:ea typeface="Microsoft YaHei"/>
                <a:cs typeface="Microsoft YaHei"/>
              </a:rPr>
              <a:t>07 / 42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6761FEEC-8250-4D8F-AD9C-C9B03382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64198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0B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0BE7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edce23167524130"/>
              </a:rPr>
              <a:t>打开本页交互练习</a:t>
            </a:r>
          </a:p>
        </p:txBody>
      </p:sp>
    </p:spTree>
    <p:extLst>
      <p:ext uri="{BB962C8B-B14F-4D97-AF65-F5344CB8AC3E}">
        <p14:creationId xmlns:p14="http://schemas.microsoft.com/office/powerpoint/2010/main" val="19506539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18C642FD-82EF-486D-AF2A-5D76E741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CHAPTER 01   /   1.1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5D038C4-C4F7-4587-8603-16DFBD9D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数据采集方式与研究范围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47850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38400"/>
                <a:gridCol w="4572000"/>
                <a:gridCol w="3962400"/>
              </a:tblGrid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采集方式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可以观察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仍可能遗漏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人工调查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特定地点与对象的细节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长时间和大范围变化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固定检测器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固定断面的连续变化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路网其他位置与完整路径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GPS与交易记录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部分参与者的时空活动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未使用该服务的人群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影像与多源融合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对象、环境与动态关系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遮挡、误差和数据对齐问题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A91E9FAF-F4BA-44B9-95E8-4FB98D92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记录更多，仍然需要检查覆盖范围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E639038B-441B-4632-8482-F6C374CC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8BF5BDF-B85D-471B-AC07-E9B8897D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08 / 42</a:t>
            </a:r>
          </a:p>
        </p:txBody>
      </p:sp>
    </p:spTree>
    <p:extLst>
      <p:ext uri="{BB962C8B-B14F-4D97-AF65-F5344CB8AC3E}">
        <p14:creationId xmlns:p14="http://schemas.microsoft.com/office/powerpoint/2010/main" val="5597696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EC251B76-9080-4ECD-A991-046BACFF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03 流量与交通状态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FDB1304-B99E-4471-BA01-8990F614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车少，就一定通畅吗？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FB40263-5F13-4236-B938-F56AAD36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2D6C7DE-442A-457F-95EE-4EC9F0DF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102298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夜间需求较低时，车少可能伴随较高速度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0D922C4-CF6B-4392-8E5E-9F7E1DA2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28ED586-B975-4CF7-8F5A-6772CE14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102298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严重拥堵时，断面通过车辆也可能减少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C1794A4-0A03-4D68-A9E0-9B5ED99E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7D2E270-70DD-4E17-9043-93A0D2BE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38625"/>
            <a:ext cx="102298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同样的流量，可能对应不同交通状态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9581466-FC0A-44CF-9AE0-C30C02C4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交通量与速度需要结合交通状态解释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F9FAF19-607F-4363-AC51-047E56CC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A8724446-0C06-4181-BFFB-24877965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09 / 42</a:t>
            </a:r>
          </a:p>
        </p:txBody>
      </p:sp>
    </p:spTree>
    <p:extLst>
      <p:ext uri="{BB962C8B-B14F-4D97-AF65-F5344CB8AC3E}">
        <p14:creationId xmlns:p14="http://schemas.microsoft.com/office/powerpoint/2010/main" val="3780732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9AC4EBD0-00C8-4C0D-984B-3D45FE12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04 事故数量与风险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0EEF552-DB07-4A4D-9492-B05C32FF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事故多的道路，风险一定更高吗？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47850"/>
          <a:ext xmlns:a="http://schemas.openxmlformats.org/drawingml/2006/main" cx="10972800" cy="1628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66950"/>
                <a:gridCol w="2190750"/>
                <a:gridCol w="3257550"/>
                <a:gridCol w="3257550"/>
              </a:tblGrid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教学示例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事故数/年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行驶暴露量/年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每百万车公里事故数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道路A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20起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1000万车公里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2起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道路B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10起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200万车公里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5起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F00758CA-67BD-430B-BC37-61EFDD9D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分子是事故数，分母是车辆行驶暴露量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2D4D2E1D-08B2-4EFD-9675-F49B42C7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两路段的观察期与事故统计口径应一致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29F96FA-073B-4E46-9677-50B29E19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以上为教学数值，不是实际道路观测；小样本还需考虑不确定性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0C8F9B4D-1D32-46EE-9C1F-2A7AF11A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A6C10379-B215-470E-B07F-4DA246C0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10 / 42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0BBE1039-1EA3-4B7C-9668-E8C850D0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64198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048465b5259404e"/>
              </a:rPr>
              <a:t>打开本页交互练习</a:t>
            </a:r>
          </a:p>
        </p:txBody>
      </p:sp>
    </p:spTree>
    <p:extLst>
      <p:ext uri="{BB962C8B-B14F-4D97-AF65-F5344CB8AC3E}">
        <p14:creationId xmlns:p14="http://schemas.microsoft.com/office/powerpoint/2010/main" val="20407763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0CFEDA68-FA93-4ADC-8484-F912FE13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CHAPTER 01   /   1.2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5A48F62-648A-4503-A840-315815EC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一条记录的含义决定分析口径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47850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7162800"/>
              </a:tblGrid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需要明确的定义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一行代表什么？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一次行程、一个断面小时，还是一场事故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时间是什么？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发生时间、上报时间，还是数据入库时间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单位是什么？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km/h与m/s、小时计数与5分钟计数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缺失意味着什么？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没有记录与观测值为零需要区分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DBE6EB15-9145-4F9A-9989-2A00069D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这些定义应在计算前写进数据字典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D3C14750-3B93-49B2-AD61-34B52C4C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13703FE-1B89-451E-BEF4-FC9E690A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11 / 42</a:t>
            </a:r>
          </a:p>
        </p:txBody>
      </p:sp>
    </p:spTree>
    <p:extLst>
      <p:ext uri="{BB962C8B-B14F-4D97-AF65-F5344CB8AC3E}">
        <p14:creationId xmlns:p14="http://schemas.microsoft.com/office/powerpoint/2010/main" val="11699054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426768AF-E647-4F95-BE7C-15DA9302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CHAPTER 01   /   1.2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D3B4E1D-8B45-41BB-9EB0-89509F0E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理论、工具与数理基础的分工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585D7A8-6186-47D3-AEED-559B40D1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D30A0D5-06A1-4847-8EF4-B57768F5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1032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交通理论：判断变量是否有交通含义、结果是否合理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9EE31B4-A23C-465C-9812-C7C9822D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FD4ECBC-DCF1-49AF-9549-514C9603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90825"/>
            <a:ext cx="1032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数据组织与工具：整理时间、空间、单位和样本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1EDE4EB-8DE6-4168-B572-4E40F857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0C793F2-B0BD-4E74-89A5-21B63A3A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1032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数理基础：表达关系、估计参数并描述不确定性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F52CDA46-5B28-4146-BBD6-ABCF8403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本章先理解各自作用，数学细节在第3章展开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A733083-6607-4593-98AF-60077DA6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595DF367-C16B-49A5-966E-2B2EF8DA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12 / 42</a:t>
            </a:r>
          </a:p>
        </p:txBody>
      </p:sp>
    </p:spTree>
    <p:extLst>
      <p:ext uri="{BB962C8B-B14F-4D97-AF65-F5344CB8AC3E}">
        <p14:creationId xmlns:p14="http://schemas.microsoft.com/office/powerpoint/2010/main" val="10560396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F9085DEC-D824-4506-8EF3-93908FCA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CHAPTER 01   /   1.2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8C441AB-15BF-48D4-BD94-09919010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交通数据分析的四个阶段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57A2C3A-2540-4B9D-A4CA-AF98F1C4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CE0BB8F-2E68-4EDD-9697-8438C6DE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1032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问题定义与任务设计：预测哪条路、哪个时段、什么指标？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ED9196A-7C4A-4EAC-9E69-76CFFADB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3FD34BD-AF2A-4A49-A447-01874F77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90825"/>
            <a:ext cx="1032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数据准备与特征构建：哪些输入在预测时已经可用？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4939C67-065A-4378-803D-1BE01756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3659EC3-8356-423A-9DBE-5E88C067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1032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模型构建与分析：与什么简单方法进行比较？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B19E5A1-A724-4E56-A47F-B357F365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61A5FB83-8F79-4FCB-AD38-867E2147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1032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结果解释与应用：哪些情境会出错，能否支持使用？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45B976BD-FA58-48EC-94B8-24ECCB25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阶段之间允许反馈与修正，不是一次性直线流程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B77C5668-BFB7-4085-BC0E-137113F5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5425232C-7DCD-4804-9EDE-2C1DF175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13 / 42</a:t>
            </a:r>
          </a:p>
        </p:txBody>
      </p:sp>
    </p:spTree>
    <p:extLst>
      <p:ext uri="{BB962C8B-B14F-4D97-AF65-F5344CB8AC3E}">
        <p14:creationId xmlns:p14="http://schemas.microsoft.com/office/powerpoint/2010/main" val="21026695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DFAE9E24-7B18-436B-8CDD-990E03A1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05 时间穿越的预测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6A0B812-FC89-4D7C-BA47-E2997F37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8:00预测8:30，哪些信息能用？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EA411CD-CA0B-4359-A666-47045AEB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AFF4C29-771C-4A5E-AE9E-6A48510A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1022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7:55已收到的速度记录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181965F-A24F-4C41-9ED3-B86FB472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47CE26C-F9C2-448A-9495-D4DA3F13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62275"/>
            <a:ext cx="1022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8:40才上报、但标称发生于7:50的事故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B4816BF-2D4D-4156-B4AF-A63BFEE2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8F123F3-C20F-4675-95C1-D418517D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86175"/>
            <a:ext cx="1022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7:30发布的8:30天气预报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D7E0EB5-77EB-4400-8FF2-F66FB53C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3427AD6-12A3-4BEA-AA69-5CCE77A8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0075"/>
            <a:ext cx="1022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事后整理的8:30实际降雨量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7B94F48E-ABC3-40CC-9F9C-76E88DE9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使用事件时间与数据可获得时间共同判断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B81D3191-9EFB-4233-BEF7-02F872C8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94274CDA-A441-43AF-9024-ED208C68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14 / 42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A8A89E23-4457-4742-9FDA-479BB2B9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64198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e63a2690cff4ff7"/>
              </a:rPr>
              <a:t>打开本页交互练习</a:t>
            </a:r>
          </a:p>
        </p:txBody>
      </p:sp>
    </p:spTree>
    <p:extLst>
      <p:ext uri="{BB962C8B-B14F-4D97-AF65-F5344CB8AC3E}">
        <p14:creationId xmlns:p14="http://schemas.microsoft.com/office/powerpoint/2010/main" val="7161407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71AE46D0-8719-4D8A-B273-9CC8DBC3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06 I-94的日变化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5A47443-E65E-4514-A41C-E35D168C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真实案例：一条高速公路的小时交通量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1D4FE1A-4ACB-453D-BACA-D742B8E7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Metro Interstate Traffic Volume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C8401FF-1107-463C-AA90-065AAB12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美国I-94西向ATR301检测点，2012—2018年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50524E2-D300-4359-96C9-59689208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交通量单位：辆/小时；温度原单位：K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1645E4D-3F45-4567-8544-0428AA20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天气、节假日和时间字段可辅助描述变化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816EFEA-234F-4D05-A91B-20A97331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单个方向、单个检测点，不能代表整座城市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3027C41-49AF-4B23-898A-071A2CFD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1A0E7AB-EE93-449A-A5A0-332279B6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15 / 42</a:t>
            </a:r>
          </a:p>
        </p:txBody>
      </p:sp>
    </p:spTree>
    <p:extLst>
      <p:ext uri="{BB962C8B-B14F-4D97-AF65-F5344CB8AC3E}">
        <p14:creationId xmlns:p14="http://schemas.microsoft.com/office/powerpoint/2010/main" val="4135622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139E85C0-EB35-4CE4-B42C-FB789CA0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CHAPTER 01   /   1.2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519B4F4-900F-4158-A320-5A848BC8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48,204行，不等于48,204个小时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04C77AA-3AFA-4BFA-BC01-FD1341BE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48,204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556D644-2251-44CD-AFC9-1A80283B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原始记录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D89D202-1B4B-449F-99B0-F59A8579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14312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40,575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704F030-F2CB-4619-9DAD-099E0B4F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43250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不同本地小时标签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086302C-92D6-4884-B9E2-9242114F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4312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7,629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DBCC36F-8855-48C5-B55D-85B9DA29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合并的重复记录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0E1E481-2FE2-4C30-8961-8542181E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同一小时可能出现多条天气描述，交通量相同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BDC5CD3-F31D-444E-9A21-40E75456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按小时合并，保留天气标签集合，不填补时间缺口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2CCA93E-0D1F-47B8-BCB6-8071D12A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去重依据是观测定义，不是机械地删掉看起来相似的行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9CE7B09-BDB7-4A17-8A02-200C4371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E0ED39FE-E1B3-488A-938B-61B07622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16 / 42</a:t>
            </a:r>
          </a:p>
        </p:txBody>
      </p:sp>
    </p:spTree>
    <p:extLst>
      <p:ext uri="{BB962C8B-B14F-4D97-AF65-F5344CB8AC3E}">
        <p14:creationId xmlns:p14="http://schemas.microsoft.com/office/powerpoint/2010/main" val="4909857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6CF7DE2E-4E87-4591-BE6E-691DD01A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CHAPTER 01   /   1.2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F6AE463-06D0-41CB-AEC9-14EB50E7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平日与周末的流量节律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B2DBED7-3F04-4BCB-80BF-AA1F90F5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平均交通量（辆/小时）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71500" y="2171700"/>
          <a:ext xmlns:a="http://schemas.openxmlformats.org/drawingml/2006/main" cx="80962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5233a26a264500"/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366CCF5-F9DF-4725-B080-22C8D174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86000"/>
            <a:ext cx="25431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2018年1—9月，逐小时分组均值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02CA557-D36B-4072-8A80-EDAE37C0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95650"/>
            <a:ext cx="25431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平日指周一至周五，未剔除节假日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9E970608-0EC5-44A4-B9A2-46CE6F82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切换月份和天气，检查规律是否稳定；不同组的样本数也要看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616F3CD-07A9-413F-B497-7349F4E6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A64D9284-FB7E-4E62-AC54-70705547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17 / 42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B0556DE5-3DB0-488D-B6D2-262FB30B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64198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4523336fd334035"/>
              </a:rPr>
              <a:t>打开本页交互练习</a:t>
            </a:r>
          </a:p>
        </p:txBody>
      </p:sp>
    </p:spTree>
    <p:extLst>
      <p:ext uri="{BB962C8B-B14F-4D97-AF65-F5344CB8AC3E}">
        <p14:creationId xmlns:p14="http://schemas.microsoft.com/office/powerpoint/2010/main" val="3274857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A888D18B-1D6D-467D-A7DB-6A36287B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07 夜间流量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B94095B-0986-4F34-B452-B4EAB4D5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夜间出行：谁还在路上？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8C28748-00C8-4770-9379-AE227605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平均交通量（辆/小时）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71500" y="2171700"/>
          <a:ext xmlns:a="http://schemas.openxmlformats.org/drawingml/2006/main" cx="80962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4d6dcc6d494e9e"/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2334FFE8-8847-4524-A21D-FD6B55DF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86000"/>
            <a:ext cx="25431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对比凌晨0—5时的平日与周末均值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A216D94-92BC-4972-9FBE-B8446596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95650"/>
            <a:ext cx="25431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数据能描述车辆通过量，但不能直接告诉我们出行目的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BEC999AF-414F-4420-82F8-592A90F6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关于夜生活、物流或轮班的解释，需要额外数据验证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D8554563-3073-46BA-9813-7257D883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18EC93C5-A0D0-4445-B5FE-B322271E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18 / 42</a:t>
            </a:r>
          </a:p>
        </p:txBody>
      </p:sp>
    </p:spTree>
    <p:extLst>
      <p:ext uri="{BB962C8B-B14F-4D97-AF65-F5344CB8AC3E}">
        <p14:creationId xmlns:p14="http://schemas.microsoft.com/office/powerpoint/2010/main" val="10383481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95B342A6-105B-4B39-BC16-DD7A9493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08 天气与交通量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CF7144C-11CA-47D6-BBB0-93CA42A4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雨天流量低，是下雨造成的吗？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5FC2E95-C060-4D39-BBDF-A82CBF8F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38757CB-E682-4FD2-A5C8-1DBAB986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102298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先比较同一小时附近的观测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CFDF32A-085E-447F-B217-10757082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D6AE13B-BB79-4BDA-B360-DAE2B6AB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102298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再检查季节、平日与周末的组成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3BB5186-7AE4-45D0-88AF-A6A1363D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EBA5011-B3AF-40F0-A72B-E2D40802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38625"/>
            <a:ext cx="102298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遇到小样本天气组，保留不确定性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AAB01F4-E9C5-479D-B2D9-90B8B58C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筛选可以帮助描述关联，不能单靠分组均值证明因果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CC81407D-CA7E-4E9C-8861-247D29D2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05542EEC-7F66-4417-B01B-46CB1D1A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19 / 42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867E7F12-DCE0-475B-97A8-63228073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64198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88ab89b4c3d4473"/>
              </a:rPr>
              <a:t>打开本页交互练习</a:t>
            </a:r>
          </a:p>
        </p:txBody>
      </p:sp>
    </p:spTree>
    <p:extLst>
      <p:ext uri="{BB962C8B-B14F-4D97-AF65-F5344CB8AC3E}">
        <p14:creationId xmlns:p14="http://schemas.microsoft.com/office/powerpoint/2010/main" val="30769599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08F851C4-3751-4B3C-B84A-43B394D0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CHAPTER 01   /   1.3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00AB1FD-4541-484F-B5FE-10F44979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表格型数据：一行是一趟车，还是一个人？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47850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7162800"/>
              </a:tblGrid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字段示例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在TLC行程数据中的含义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上车时间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这次行程开始的时间记录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上车分区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出租车区域编号，不是乘客住址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行程距离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车辆行程距离，不是居民一天出行距离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乘客人数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可能缺失或不准确，不能自动代替行程数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EF86F0DC-3C6A-405F-A937-3AB50D88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先定义观察单位，再解释汇总结果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888BE15-055F-4BFA-BD7D-917B98A0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EFA8E48-C8F7-4652-8342-FAB4CF63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20 / 42</a:t>
            </a:r>
          </a:p>
        </p:txBody>
      </p:sp>
    </p:spTree>
    <p:extLst>
      <p:ext uri="{BB962C8B-B14F-4D97-AF65-F5344CB8AC3E}">
        <p14:creationId xmlns:p14="http://schemas.microsoft.com/office/powerpoint/2010/main" val="148233521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05C354CE-5CC8-4FCF-B00E-84853E89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09 出租车的样本偏差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E0E5AC0-1654-499F-95F6-C545A15D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打车最热的地方，就是居民出行最多的地方？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FB6EAB8-E8FB-4C60-9798-34E2C4C5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纽约五行政区的绿出租车上车记录（条）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71500" y="2171700"/>
          <a:ext xmlns:a="http://schemas.openxmlformats.org/drawingml/2006/main" cx="80962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c530fdfe8d42cc"/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9EB0263-2A36-4B3D-A6CE-98382A9E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86000"/>
            <a:ext cx="25431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真实数据：纽约2024年1月绿出租车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F6D8A94-32D8-4DF3-B20F-DF84416A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95650"/>
            <a:ext cx="25431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按上车时间保留56,549条当月记录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37CE8190-B438-4AEE-A99C-8C1C22AB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305300"/>
            <a:ext cx="25431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另有144条其他或未知地区记录，未画入此图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DFD4F786-73FB-4E2F-A094-79C96644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服务范围、车辆供给与出行方式选择，会改变记录的分布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0C8D9029-B481-4850-A882-05F5E2FC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EC0B4A7B-FA0D-487B-AECE-FF91BE0F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21 / 42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CAA59DD8-DE13-4B90-870F-73D8273F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64198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faeee412ff04805"/>
              </a:rPr>
              <a:t>打开本页交互练习</a:t>
            </a:r>
          </a:p>
        </p:txBody>
      </p:sp>
    </p:spTree>
    <p:extLst>
      <p:ext uri="{BB962C8B-B14F-4D97-AF65-F5344CB8AC3E}">
        <p14:creationId xmlns:p14="http://schemas.microsoft.com/office/powerpoint/2010/main" val="12331847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F1241693-290B-47A6-BF46-3537835E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CHAPTER 01   /   1.3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99494E4-B241-4171-B459-973E2EB9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位置数据：点多的地方意味着什么？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BE03EFD-800B-445F-9A98-7481DB8A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T-Drive中的出租车GPS轨迹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9D727BD-25E1-4D7A-98B2-7EEEA8C1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点：车辆在某时刻的位置观测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DE26079-5DF4-4AB7-85CC-9677668E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线：按车辆与时间组织后的路径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ECB21C7-8CC0-4C7C-8843-037F2056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区域：行政区、交通小区或道路服务范围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A50C1F5-194B-4F8B-A694-5486D2B2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点密度受停留、采样间隔和车辆覆盖共同影响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C809F6B-3E27-4B72-8781-27618262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5524485-8014-42A0-B813-B211C510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22 / 42</a:t>
            </a:r>
          </a:p>
        </p:txBody>
      </p:sp>
    </p:spTree>
    <p:extLst>
      <p:ext uri="{BB962C8B-B14F-4D97-AF65-F5344CB8AC3E}">
        <p14:creationId xmlns:p14="http://schemas.microsoft.com/office/powerpoint/2010/main" val="102584687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C89C92F4-7F4E-4604-A19C-BE7BCEAB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10 时间粒度的选择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D70BC6D-8CE9-4D26-91AE-7BB47206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时序数据：时间顺序本身就是信息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E04A04D-A30F-45D5-8C95-BE40C5BC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02174D8-F428-46FE-99F0-1D4E2A91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1032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同一对象反复观测，才能讨论滞后和周期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4BC0EC9-2DFC-453B-82F0-1C85FE6E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5BBF10A-DD0A-4A9E-9B9F-2DC4D455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90825"/>
            <a:ext cx="1032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5分钟均值会保留较短变化，小时均值可能平滑尖峰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53D9D05-DD93-4D5E-8F88-656F7CA1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79CFD95-12CA-40B2-8DD2-A370560E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1032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记录中断与真实的低流量，需要分开识别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8EB6AB2-C05A-46A6-94BC-C657EE92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网页示例用I-94真实小时数据聚合，不能还原分钟级尖峰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6CBD037-73FB-45D9-98A5-7BC66D21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2497AE22-455B-4907-8DBD-14A883F6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23 / 42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ABD32F5D-0D3A-4499-9123-661EBE36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64198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1863c0c0b6a4695"/>
              </a:rPr>
              <a:t>打开本页交互练习</a:t>
            </a:r>
          </a:p>
        </p:txBody>
      </p:sp>
    </p:spTree>
    <p:extLst>
      <p:ext uri="{BB962C8B-B14F-4D97-AF65-F5344CB8AC3E}">
        <p14:creationId xmlns:p14="http://schemas.microsoft.com/office/powerpoint/2010/main" val="50322939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79514A32-3977-4B38-98DD-29C64C45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CHAPTER 01   /   1.3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B721BF4-AC3F-4445-979F-EFE4D277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时空数据：多条道路一起变化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76FA55D-F99B-4CF6-8386-2A9B4337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同一时间看空间差异，同一道路看时间演变。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C1539B2-BD8C-4CE1-ACF8-55165C99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节点：道路、检测点或站点等观测对象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01168BE-B1A8-4DC9-A3D8-F5B2FA9C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时间轴：按统一采样间隔组织观测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6D0B4EA-29B9-4DAA-92F8-63C6BA93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空间关系：相邻、距离或道路连接关系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90F94F0-2C8E-4C03-AB74-64BB62C2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把多条独立曲线放在一起，并不自动建立空间联系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1F8FA98-39EE-4829-9AA2-F451BE1A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931CECD-D4E9-4A02-AEAB-9658F9DD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24 / 42</a:t>
            </a:r>
          </a:p>
        </p:txBody>
      </p:sp>
    </p:spTree>
    <p:extLst>
      <p:ext uri="{BB962C8B-B14F-4D97-AF65-F5344CB8AC3E}">
        <p14:creationId xmlns:p14="http://schemas.microsoft.com/office/powerpoint/2010/main" val="49321637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7E28156C-96B2-4231-A1B8-B85078B5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CHAPTER 01   /   1.3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F88BF4-F828-434B-9D29-BA29C79C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影像任务的输出有什么不同？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47850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38400"/>
                <a:gridCol w="4572000"/>
                <a:gridCol w="3962400"/>
              </a:tblGrid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交通用途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分类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整张图的类别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场景或天气识别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目标框与类别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车辆、行人的位置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分割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像素所属区域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可行驶区域或车道区域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跟踪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跨帧身份与轨迹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通行计数与运动分析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FBD6D36B-F343-498B-80E8-A60E67FA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计数需要跨时间的规则，不能把每帧检测框直接相加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E251B5C-5420-4518-8EA0-41F49E3E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E860142-00B0-4830-B152-A45CE64A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25 / 42</a:t>
            </a:r>
          </a:p>
        </p:txBody>
      </p:sp>
    </p:spTree>
    <p:extLst>
      <p:ext uri="{BB962C8B-B14F-4D97-AF65-F5344CB8AC3E}">
        <p14:creationId xmlns:p14="http://schemas.microsoft.com/office/powerpoint/2010/main" val="36885636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C0BD39EC-42E4-4978-9BA1-B3E6238C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11 夜间交通感知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FD4C951-8B27-410B-81AB-307469C6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白天会识别，晚上也一定会吗？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72E8934-3256-45C8-9EFB-66915148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D9F01D0-87AF-4769-BB0E-7627A53F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102298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低照度、车灯眩光和运动模糊改变影像条件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D06A0BC-54A1-4E7A-AC1C-02F9AB9D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E9C8822-524F-4728-AAE8-9DFCF0AE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102298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训练样本需要覆盖实际使用环境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D8514A7-42B7-48AD-834D-72FE2088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18FED1C-4FC2-4A46-938A-B08E2D31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38625"/>
            <a:ext cx="102298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夜间应单独检查漏检、误检与跟踪中断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E8AE8A6-7F6B-4A6C-855E-98E48DF1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BDD100K提供多种驾驶环境；本课件未对某模型进行实测排名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18659BD-BB05-4C39-957D-E0A6742F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934A173-35C7-4C12-8EE4-CCDC1C40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26 / 42</a:t>
            </a:r>
          </a:p>
        </p:txBody>
      </p:sp>
    </p:spTree>
    <p:extLst>
      <p:ext uri="{BB962C8B-B14F-4D97-AF65-F5344CB8AC3E}">
        <p14:creationId xmlns:p14="http://schemas.microsoft.com/office/powerpoint/2010/main" val="208944125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C9316F0D-450F-4D47-950A-A178DF80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12 检测与通行计数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071062F-F561-4576-AB1C-FF976323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同一辆车出现三次，要数几辆？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C2085D5-0C4E-4A2A-90BD-E79CE7FD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405D984-8640-489F-AEEC-109A84D0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102298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车辆A在连续三帧中都有检测框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9A5BCC6-8196-4E93-AB9E-F52CC70B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C7D08F1-B063-4331-8A56-4EC312A7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102298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车辆B只在最后一帧中出现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3006436-416D-42D7-A05C-CA0C568E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BD57CD0-AFAD-48F2-B370-D519975F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38625"/>
            <a:ext cx="102298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计数线只统计指定方向的完整跨越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E3C22A9-C094-486E-8D0A-0C938C6A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目标身份、方向与跨线事件共同决定计数结果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C269814-7C75-40D9-B4CC-DD98647F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0B2AF97C-DE9F-47F0-B30A-87737A0C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27 / 42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CA4033C5-810B-451C-AE93-E380591B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64198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714142f1c5a4036"/>
              </a:rPr>
              <a:t>打开本页交互练习</a:t>
            </a:r>
          </a:p>
        </p:txBody>
      </p:sp>
    </p:spTree>
    <p:extLst>
      <p:ext uri="{BB962C8B-B14F-4D97-AF65-F5344CB8AC3E}">
        <p14:creationId xmlns:p14="http://schemas.microsoft.com/office/powerpoint/2010/main" val="167690370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FD4B218F-B187-46A8-B109-9BFEF533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CHAPTER 01   /   1.3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8FDC149-3F36-4617-A64F-76CAD78A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多源融合先要回答“对得上吗”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47850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7162800"/>
              </a:tblGrid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待关联数据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必须核对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路段速度与天气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时间间隔、发布时间、天气覆盖区域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GPS与道路网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坐标参考、定位误差与道路匹配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视频与检测器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视角覆盖、断面位置与采样时钟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事件与运行状态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发生时刻、上报时刻及事件影响范围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04772E3C-D632-4D81-949D-C846DD0B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表格、空间和时间结构可以同时存在，数据类型并非互斥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B69B2B8-A401-462E-9B8B-B4EC87D9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AB49370-297B-4D22-9775-9B1B5DE6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28 / 42</a:t>
            </a:r>
          </a:p>
        </p:txBody>
      </p:sp>
    </p:spTree>
    <p:extLst>
      <p:ext uri="{BB962C8B-B14F-4D97-AF65-F5344CB8AC3E}">
        <p14:creationId xmlns:p14="http://schemas.microsoft.com/office/powerpoint/2010/main" val="7746667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A9B88D0D-8180-4C1A-8C39-D012D42C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CHAPTER 01   /   1.4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A75B6D7-9A86-49B0-B6B8-4E81FE17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公开数据集的选择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47850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38400"/>
                <a:gridCol w="4572000"/>
                <a:gridCol w="3962400"/>
              </a:tblGrid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想研究什么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可优先考察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关键限制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单断面小时变化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Metro Interstate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单点、单方向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出租车行程分布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NYC TLC、T-Drive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样本不覆盖所有出行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车辆跟驰与换道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highD、NGSIM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场景与测量误差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路网状态预测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METR-LA、PEMS-BAY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节点、图与数据划分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交通影像感知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BDD100K、Cityscapes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标注任务与场景差异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0E7052B2-6345-44BB-8A0E-61334D93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完整目录见教材1.4；课堂选少数数据集深入判断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CA7CE33-2CBC-4E48-B910-94D78F02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01653DF-9CAD-4F12-8BCE-FE54D087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29 / 42</a:t>
            </a:r>
          </a:p>
        </p:txBody>
      </p:sp>
    </p:spTree>
    <p:extLst>
      <p:ext uri="{BB962C8B-B14F-4D97-AF65-F5344CB8AC3E}">
        <p14:creationId xmlns:p14="http://schemas.microsoft.com/office/powerpoint/2010/main" val="120551942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12BB7301-60CA-4BB6-9265-EF1AE7E6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CHAPTER 01   /   1.4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872F49D-42A3-4BF2-AAF2-DF9264CA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视频观察：俯视影像中的车辆轨迹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7410955-15D3-4859-8E9C-C10FE432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143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7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AD4DFAB-1353-4732-BB65-9E17161B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视频观察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6801D56-19C9-447C-926C-0499B8D0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选看约1分钟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3A08646-9CEC-4FDA-9B68-DB100BBF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c973505a62c4364"/>
              </a:rPr>
              <a:t>打开官方视频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B609295-6161-47CD-A174-D12EF85E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7dc94fe63344d9a"/>
              </a:rPr>
              <a:t>机构发布页与备用讲解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A369A8D-6AE9-4B33-91EB-185339E1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38375"/>
            <a:ext cx="7086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高处视角有助于观察车道和换道过程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F056B15-D85B-49FE-9741-50CB9BAF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7086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连续帧支持位置随时间变化的分析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E99FEC3-92A2-44CB-A57D-03261775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57625"/>
            <a:ext cx="7086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德国高速场景不等于城市路口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B8B62D31-B920-4343-BC9F-58354AF0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57750"/>
            <a:ext cx="708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观察一辆车的编号、位置和车道变化。哪个信息只能通过连续帧得到？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9BB357C3-86F6-447C-B7E4-6A90BA0D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highD采用申请制使用条款，课程只链接官方演示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13C8A506-CD83-4784-BCBF-421D4643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A4497107-3B16-4875-B476-442BA5E3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30 / 42</a:t>
            </a:r>
          </a:p>
        </p:txBody>
      </p:sp>
    </p:spTree>
    <p:extLst>
      <p:ext uri="{BB962C8B-B14F-4D97-AF65-F5344CB8AC3E}">
        <p14:creationId xmlns:p14="http://schemas.microsoft.com/office/powerpoint/2010/main" val="48567494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3B299A4F-7BC0-4629-8BFB-7BDBDBCA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CHAPTER 01   /   1.4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6A2200C-C676-4EB0-B8EB-50F5AC71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为校园夜间过街选择数据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9EAAA92-B4BF-4D64-9325-B109FD9A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B453DD2-582D-4B2F-8636-963B4178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102298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目标：理解行人在夜间的过街行为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8CD7683-7E6B-48DC-BA5B-303C5E51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A612EC2-BD93-47B6-A8EB-1EDD9860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102298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候选：高速公路车辆轨迹、白天街景分割、夜间路口视频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95F736D-1601-4EEF-93CD-E7036B0D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CF1533B-6A2C-463B-89A5-21230BD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38625"/>
            <a:ext cx="102298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检查对象、场景、时间和所需标注是否匹配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B94165B-8A74-4ED2-B9E7-1A296C84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相近的“交通”主题，仍可能对应完全不同的研究对象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3D22670-2A1C-435E-98A1-AEB886F5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A64D914-8C2B-4FA7-8B63-63C99DFB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31 / 42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961CE62D-DD6B-4843-9A4B-DAB399F7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64198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374714aab61403e"/>
              </a:rPr>
              <a:t>打开本页交互练习</a:t>
            </a:r>
          </a:p>
        </p:txBody>
      </p:sp>
    </p:spTree>
    <p:extLst>
      <p:ext uri="{BB962C8B-B14F-4D97-AF65-F5344CB8AC3E}">
        <p14:creationId xmlns:p14="http://schemas.microsoft.com/office/powerpoint/2010/main" val="169248268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952701F6-AC6D-4321-A495-BEBC7E6C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CHAPTER 01   /   1.4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4B592C2-EB61-420C-A1FE-EEECF6E3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公开可访问与允许再分发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970FB64-3265-46C5-9828-F6659213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6D6D284-2CBA-48A3-BA97-BFFB2D1D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1032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核对访问与使用条件，记录版本和下载日期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DA24C26-B85C-4571-87AB-FDAC5F10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9A83CCA-56FC-416F-A4DA-38CBBE11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90825"/>
            <a:ext cx="1032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代码许可、原始数据许可、视频版权分别检查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EBF5D25-84AE-49B6-B70E-68F903BB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4043A79-AA6A-4806-AE70-2DEB6D57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1032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发布课程时保留来源、处理步骤和适用边界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307DD2F-0166-4C67-BA53-5953E232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FD7B422-0DD6-4F3C-8341-36AC484D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1032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涉及位置或影像时，尽量使用汇总结果与匿名数据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ACDA4C3D-E1DB-4187-9D2D-EEA28232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本课件分发UCI许可数据及TLC汇总，不重传第三方视频和highD原始数据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C0E8DADB-CD0D-48A2-9383-EE813C82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A4E526C5-3008-4BC4-ACD1-3E419167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32 / 42</a:t>
            </a:r>
          </a:p>
        </p:txBody>
      </p:sp>
    </p:spTree>
    <p:extLst>
      <p:ext uri="{BB962C8B-B14F-4D97-AF65-F5344CB8AC3E}">
        <p14:creationId xmlns:p14="http://schemas.microsoft.com/office/powerpoint/2010/main" val="174022662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185E0282-F07D-43BE-BA82-D4687BCB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CHAPTER 01   /   1.5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9801232-63C3-497C-87E2-1A8ED783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方法选择从任务与结构出发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47850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38400"/>
                <a:gridCol w="4572000"/>
                <a:gridCol w="3962400"/>
              </a:tblGrid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侧重点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方法例子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在交通中怎样使用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关系与不确定性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统计模型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解释变量关系与误差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分类或数值估计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机器学习、深度学习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识别状态或预测指标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空间关系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空间统计与空间模型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研究集聚和空间差异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时间依赖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时序方法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刻画周期、趋势与滞后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空间与时间共同变化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时空方法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分析路网联动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C691CB53-CC70-4D9B-ACA3-05132159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分类相互交叉：深度学习属于机器学习，也能处理时空问题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B3E39EA2-6C9A-48AE-800A-474C9259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95F5665-F009-4D3B-8C18-6C544A82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33 / 42</a:t>
            </a:r>
          </a:p>
        </p:txBody>
      </p:sp>
    </p:spTree>
    <p:extLst>
      <p:ext uri="{BB962C8B-B14F-4D97-AF65-F5344CB8AC3E}">
        <p14:creationId xmlns:p14="http://schemas.microsoft.com/office/powerpoint/2010/main" val="77540079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B553886F-7266-4EDB-9C50-1E00C5D3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13 不用复杂模型的预测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ADDD3D0-846B-42E6-98CE-9F120692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简单基线也能回答重要问题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04FA1C0-9708-43F2-95B7-A33A7E7F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平均绝对误差（辆/小时）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71500" y="2171700"/>
          <a:ext xmlns:a="http://schemas.openxmlformats.org/drawingml/2006/main" cx="80962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a4316435574eac"/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D9DD2E3A-3F31-4015-88AE-86660152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86000"/>
            <a:ext cx="25431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2017年训练，2018年1至9月测试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8A91265-AA7D-491D-ADB0-79D3774C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95650"/>
            <a:ext cx="25431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对比全局均值与星期几×小时均值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07BCC79C-71C6-45CF-A8D7-9CF9CAD7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305300"/>
            <a:ext cx="25431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MAE为平均绝对误差，单位是辆/小时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9B300CEB-EB62-41E3-8230-1052D01B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结果只针对本数据与该时间划分，不能代表所有道路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31DC3605-0E35-4215-85B4-E6478399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9AA61347-0D85-4113-9176-C9623241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34 / 42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839207CF-C7BD-4B53-8680-8E6AA300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64198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fd1da107ad34b6b"/>
              </a:rPr>
              <a:t>打开本页交互练习</a:t>
            </a:r>
          </a:p>
        </p:txBody>
      </p:sp>
    </p:spTree>
    <p:extLst>
      <p:ext uri="{BB962C8B-B14F-4D97-AF65-F5344CB8AC3E}">
        <p14:creationId xmlns:p14="http://schemas.microsoft.com/office/powerpoint/2010/main" val="128743245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893C22B1-DBAF-4347-AC53-2EE48C2F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CHAPTER 01   /   1.5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9580876-E564-4E38-B011-FAA745F0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整体误差小，早高峰就一定可靠吗？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B8A82A6-DB8E-4C91-9A39-1177264F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2ACB132-C028-46AC-AA13-63E6C11D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102298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不同方法使用相同目标、样本划分与指标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A6A961D-1E0F-4ABC-B36C-C6D1F28D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E5A569F-F3F5-4CD7-AEB4-DFEB0EEC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102298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分别检查高峰、夜间和异常事件的误差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52CD4B5-8D76-4FB8-9F95-1649807A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AB4E8FF-6F72-4EEB-8F6E-BFDCBE76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38625"/>
            <a:ext cx="102298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同时考虑误差大小、适用条件与部署成本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8C513E3-88DA-4ABB-969E-D4FC23D3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网页可查看基线逐小时测试误差，留意均值掩盖的差异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A0879E7C-8501-4A0C-8EC3-6A722EFD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6039E021-C2F6-4550-BA5D-5EA11361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35 / 42</a:t>
            </a:r>
          </a:p>
        </p:txBody>
      </p:sp>
    </p:spTree>
    <p:extLst>
      <p:ext uri="{BB962C8B-B14F-4D97-AF65-F5344CB8AC3E}">
        <p14:creationId xmlns:p14="http://schemas.microsoft.com/office/powerpoint/2010/main" val="91567351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8EB8EDDF-5415-4106-9CED-BB3940EA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CHAPTER 01   /   1.5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67BDCEE-A70B-402E-919E-FD34DA3C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描述、预测与因果解释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47850"/>
          <a:ext xmlns:a="http://schemas.openxmlformats.org/drawingml/2006/main" cx="10972800" cy="2171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7162800"/>
              </a:tblGrid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表述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需要什么证据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雨天样本平均流量更低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定义清楚的分组统计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用已知信息预测下一小时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向未来的独立评价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某项措施导致拥堵减少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考虑对照、混杂与实施条件的研究设计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BB4AA5EA-B94A-4804-A8BA-A435CD9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同一组数据可以支持的结论，有明确边界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E2E8492-721F-445A-92EE-C06C3A89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7754479-0479-4F4E-992C-4780EED3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36 / 42</a:t>
            </a:r>
          </a:p>
        </p:txBody>
      </p:sp>
    </p:spTree>
    <p:extLst>
      <p:ext uri="{BB962C8B-B14F-4D97-AF65-F5344CB8AC3E}">
        <p14:creationId xmlns:p14="http://schemas.microsoft.com/office/powerpoint/2010/main" val="127952830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C5E81E0D-C605-4B24-8CAE-E391D54F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CHAPTER 01   /   1.5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D04C9CD-30A6-4504-BDAB-8B6AE27D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视频讨论：研究控制器进入真实道路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D6A988B-9C1A-4338-8C32-689DB62A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143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7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A845DD9-B4B0-41F2-96CE-D2978755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视频观察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66B2550-57D9-428E-BF71-081D344C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选看约2分钟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47AFDF7-61EB-46E7-BB79-9EEB2091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e34035cbafd4289"/>
              </a:rPr>
              <a:t>打开官方视频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461550D-C43F-478C-9BE5-896FA160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15157de55ca4418"/>
              </a:rPr>
              <a:t>机构发布页与备用讲解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C6B50E5-B726-4290-90BD-3A55C777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38375"/>
            <a:ext cx="7086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开放道路增加了合流、换道与交通组成变化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FC62119-06A4-4D2D-8BEA-FBF6E1C6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7086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商用巡航控制与研究控制策略不能混为一谈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0066466B-5ABB-4EE9-831E-52FBA577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57625"/>
            <a:ext cx="7086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评价需要交代条件，而非只展示顺畅片段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4781AA18-58D6-4276-A991-0BCA6940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57750"/>
            <a:ext cx="708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与环道相比，开放道路增加了哪些干扰？需要什么对照，才能讨论控制效果？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051FDC7E-7B63-4ECC-A2FA-C15295B7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观看问题：怎样区分“看起来有效”与“有证据支持”？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7C12C400-BB72-4355-A4C4-A00142D4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1AE30C14-C223-41D6-A556-D2AA4156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37 / 42</a:t>
            </a:r>
          </a:p>
        </p:txBody>
      </p:sp>
    </p:spTree>
    <p:extLst>
      <p:ext uri="{BB962C8B-B14F-4D97-AF65-F5344CB8AC3E}">
        <p14:creationId xmlns:p14="http://schemas.microsoft.com/office/powerpoint/2010/main" val="86537102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D4A17183-8782-4134-863C-DC72A9AF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CHAPTER 01   /   1.6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65B0DC6-0C42-432D-A42A-20BE4C25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本书的学习路线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47850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7162800"/>
              </a:tblGrid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基础部分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数据与方法部分</a:t>
                      </a:r>
                    </a:p>
                  </a:txBody>
                  <a:tcPr marL="91440" marR="91440" marT="45720" marB="45720" anchor="ctr">
                    <a:solidFill>
                      <a:srgbClr val="112E36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第1章：问题与整体框架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第4章：表格型数据分析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第2章：数据组织与工具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第5章：位置数据分析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第3章：数学基础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第6章：时序数据分析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贯穿全书：解释与检验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第7章：时空数据分析</a:t>
                      </a:r>
                    </a:p>
                  </a:txBody>
                  <a:tcPr marL="91440" marR="91440" marT="45720" marB="45720" anchor="ctr">
                    <a:solidFill>
                      <a:srgbClr val="FFFEFA"/>
                    </a:solidFill>
                  </a:tcPr>
                </a:tc>
              </a:tr>
              <a:tr h="542925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理论与实践相互对应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112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第8章：影像数据分析</a:t>
                      </a:r>
                    </a:p>
                  </a:txBody>
                  <a:tcPr marL="91440" marR="91440" marT="45720" marB="45720" anchor="ctr">
                    <a:solidFill>
                      <a:srgbClr val="F0F5F3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C50B3100-1656-4AAA-A5F7-CBCBBB2D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书中建立理论框架，在线课程承担操作和探索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BA4B430A-5E28-4F7B-BFF2-E26B50DB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C092816-33C5-4FDE-B2FB-0A14AFB2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38 / 42</a:t>
            </a:r>
          </a:p>
        </p:txBody>
      </p:sp>
    </p:spTree>
    <p:extLst>
      <p:ext uri="{BB962C8B-B14F-4D97-AF65-F5344CB8AC3E}">
        <p14:creationId xmlns:p14="http://schemas.microsoft.com/office/powerpoint/2010/main" val="179860612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A5F8D872-3800-4452-9C20-9887F8A7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CHAPTER 01   /   1.6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4543BA8-69E1-4FB7-8ABA-79B93658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小组任务：给出一页研究方案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D3BD9A4-F381-43AE-B1B9-995C6EAD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649D463-D17E-44E0-A88F-75EBAB24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1032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选择一个现象：夜间出行、校园拥堵或公交等候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5425925-AAB8-4893-84FA-EF5FD431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63E3DB5-EA32-4ED2-945E-F215F0A3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90825"/>
            <a:ext cx="1032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写清研究对象、时段、空间范围与输出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1F37C01-AAF9-4850-B0C3-4FF2B461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55AF182-4A43-424D-BE6B-E7DD1F94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1032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说明数据来源、观察单位与可能遗漏的人群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8D785E1-3424-4705-BBDE-39326F12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C35DCBFF-B2EF-430F-90B5-B5F93D45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1032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提出一个简单方法、评价办法和不能回答的问题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4A5E3632-DF6B-41DA-845A-C2DCF4FA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提交一页即可：重点是研究问题清楚、数据与结论匹配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EC687EAD-4164-45D7-9DD5-9AC75EC1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B258DADC-D97C-44CF-A191-1F3FF134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39 / 42</a:t>
            </a:r>
          </a:p>
        </p:txBody>
      </p:sp>
    </p:spTree>
    <p:extLst>
      <p:ext uri="{BB962C8B-B14F-4D97-AF65-F5344CB8AC3E}">
        <p14:creationId xmlns:p14="http://schemas.microsoft.com/office/powerpoint/2010/main" val="131673732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7C74485E-8CEC-4317-B6BF-E69B6F94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CHAPTER 01   /   1.6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7C89718-7C3A-4D1D-9DA8-8985F041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课堂检验：你能识别这些判断吗？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BC8482A-2EE4-46C8-A351-CFCF9AC3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B83D488-D250-4C05-8E69-8DA7D4E9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1022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记录多就代表需求大？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15135AB-4376-42BD-9F17-CE94906E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F9D8BE0-7CF9-42DB-A35A-9D66A70D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62275"/>
            <a:ext cx="1022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8:40上报的信息可以用于8:00预测？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3C5CFE6-2955-4FD7-BF6D-1AE1961C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A24FBEC-A066-48E6-A6AC-56992A9E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86175"/>
            <a:ext cx="1022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白天精度足以证明夜间表现？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2523F87-A378-4DDA-ADDB-2229EFF7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C532A7C-C3B3-4059-BC0F-472E4F7F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0075"/>
            <a:ext cx="1022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公开数据一定允许再分发？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412A0C0D-4B55-49EA-8229-19AD9926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在线测验共8题，答后可看解释，进度只保存在当前浏览器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64C29DA5-2472-48E7-90B6-C7417FAE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C8F5D8D8-511D-44F0-9955-BC60C09C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40 / 42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F4DF1456-E1F8-4581-8E89-A31B523F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64198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6b2cd62412b4857"/>
              </a:rPr>
              <a:t>打开本页交互练习</a:t>
            </a:r>
          </a:p>
        </p:txBody>
      </p:sp>
    </p:spTree>
    <p:extLst>
      <p:ext uri="{BB962C8B-B14F-4D97-AF65-F5344CB8AC3E}">
        <p14:creationId xmlns:p14="http://schemas.microsoft.com/office/powerpoint/2010/main" val="28461245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112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54DE8E8E-9565-48EE-8C41-3D85653A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rPr>
              <a:t>CHAPTER 01   /   1.6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12A9796-5E49-4921-BB14-01CA4721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面对一份交通数据，先问四个问题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514C8AB-1C7F-4207-905A-39DAA9AC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D70DE12-1916-4A44-B964-A7A067BC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33600"/>
            <a:ext cx="1003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研究问题是什么？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F648518-B89E-4EF2-AD02-D67D6038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7FE6469-238D-4914-BE41-6C8E3C61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1003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数据结构与覆盖是什么？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D9489BD-EEE8-488A-9C8A-212672BA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FD79474-FC80-4FD7-B748-B51EE4CD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1003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方法依赖哪些假设？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F24A855C-E101-4B6F-8045-761D4157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788914E-27A6-437F-8F89-014B92D7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1003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结果有什么交通含义和使用边界？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7B4AEF1C-6362-4E7B-89DB-1DB9315C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DBD78"/>
                </a:solidFill>
                <a:latin typeface="Microsoft YaHei"/>
                <a:ea typeface="Microsoft YaHei"/>
                <a:cs typeface="Microsoft YaHei"/>
              </a:rPr>
              <a:t>下一章：把数据整理成可以信任的分析输入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D2D41C2E-2A9E-44C8-B0D8-3927B574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1C9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1C9C9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1D8DF05A-CC7A-474E-BFF1-8BD7333A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1C9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1C9C9"/>
                </a:solidFill>
                <a:latin typeface="Microsoft YaHei"/>
                <a:ea typeface="Microsoft YaHei"/>
                <a:cs typeface="Microsoft YaHei"/>
              </a:rPr>
              <a:t>41 / 42</a:t>
            </a:r>
          </a:p>
        </p:txBody>
      </p:sp>
    </p:spTree>
    <p:extLst>
      <p:ext uri="{BB962C8B-B14F-4D97-AF65-F5344CB8AC3E}">
        <p14:creationId xmlns:p14="http://schemas.microsoft.com/office/powerpoint/2010/main" val="60813131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5D8D4A39-58FF-47FD-8B93-E5821C8C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CHAPTER 01   /   1.6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370EF9F-8EC0-45C5-BD6E-4D39BE4E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课后入口与资料来源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9571E13-CA1A-47C1-9F31-C95CC2E1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39B65B4-F1B9-4085-8810-41BEE3E9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1032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配套网页：真实数据筛选、课堂互动与视频入口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5BCA3BE-D8B4-4B24-A015-CF39765D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1E415FF-FC8A-4852-8F27-0C49E10F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90825"/>
            <a:ext cx="1032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可下载本地课件包、CSV与数据处理代码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8124457-968B-48C0-B301-728F591F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FB2E88A-759C-4E93-8B35-A1843D57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1032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官方资料：UCI、NYC TLC、Vanderbilt、RWTH、BDD100K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408C384-E6CE-45D8-80C1-AB1EE9F3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核心交互可离线运行，外部视频和官方资料需要网络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06765593-608D-46A6-85D3-26106C31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16e630428bb4dba"/>
              </a:rPr>
              <a:t>打开第一章在线课堂与资料目录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10117AF-020E-4C8E-BA62-850F965C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交通数据挖掘理论与应用  /  第1章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82BB0494-8DBF-4F47-8086-6E84A0A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6686D"/>
                </a:solidFill>
                <a:latin typeface="Microsoft YaHei"/>
                <a:ea typeface="Microsoft YaHei"/>
                <a:cs typeface="Microsoft YaHei"/>
              </a:rPr>
              <a:t>42 / 42</a:t>
            </a:r>
          </a:p>
        </p:txBody>
      </p:sp>
    </p:spTree>
    <p:extLst>
      <p:ext uri="{BB962C8B-B14F-4D97-AF65-F5344CB8AC3E}">
        <p14:creationId xmlns:p14="http://schemas.microsoft.com/office/powerpoint/2010/main" val="7585981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2026-09-14T08:50:51.8120000Z</dcterms:created>
  <dcterms:modified xsi:type="dcterms:W3CDTF">2026-09-14T08:50:51.8120000Z</dcterms:modified>
</coreProperties>
</file>